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6858000" cy="9144000" type="screen4x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0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6D7E"/>
    <a:srgbClr val="806D7E"/>
    <a:srgbClr val="7A6F68"/>
    <a:srgbClr val="465568"/>
    <a:srgbClr val="A7829E"/>
    <a:srgbClr val="7A6F8E"/>
    <a:srgbClr val="F3B2AA"/>
    <a:srgbClr val="679857"/>
    <a:srgbClr val="83C16D"/>
    <a:srgbClr val="185F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1"/>
    <p:restoredTop sz="94668"/>
  </p:normalViewPr>
  <p:slideViewPr>
    <p:cSldViewPr snapToGrid="0" snapToObjects="1" showGuides="1">
      <p:cViewPr>
        <p:scale>
          <a:sx n="130" d="100"/>
          <a:sy n="130" d="100"/>
        </p:scale>
        <p:origin x="1776" y="48"/>
      </p:cViewPr>
      <p:guideLst>
        <p:guide orient="horz" pos="2185"/>
        <p:guide pos="30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25F4C-ABD3-A040-A569-191A8E1E0F5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0B6D9-4D94-1E46-8D85-9C05392B2F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0B6D9-4D94-1E46-8D85-9C05392B2F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696" y="90408"/>
            <a:ext cx="196215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111827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(a)</a:t>
            </a:r>
            <a:endParaRPr sz="1200" b="1" dirty="0">
              <a:solidFill>
                <a:srgbClr val="111827"/>
              </a:solidFill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411480" y="2876938"/>
            <a:ext cx="5961888" cy="0"/>
          </a:xfrm>
          <a:prstGeom prst="line">
            <a:avLst/>
          </a:prstGeom>
          <a:ln w="15240">
            <a:solidFill>
              <a:srgbClr val="1118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矩形 271"/>
          <p:cNvSpPr>
            <a:spLocks noGrp="1"/>
          </p:cNvSpPr>
          <p:nvPr/>
        </p:nvSpPr>
        <p:spPr>
          <a:xfrm>
            <a:off x="75565" y="2798199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B1F2A"/>
                </a:solidFill>
                <a:latin typeface="Comic Sans MS" panose="030F0702030302020204" pitchFamily="66" charset="0"/>
                <a:ea typeface="Aptos"/>
                <a:cs typeface="Comic Sans MS" panose="030F0702030302020204" pitchFamily="66" charset="0"/>
              </a:rPr>
              <a:t>(b)</a:t>
            </a:r>
            <a:endParaRPr sz="1200" b="1" dirty="0">
              <a:solidFill>
                <a:srgbClr val="0B1F2A"/>
              </a:solidFill>
              <a:latin typeface="Comic Sans MS" panose="030F0702030302020204" pitchFamily="66" charset="0"/>
              <a:ea typeface="Aptos"/>
              <a:cs typeface="Comic Sans MS" panose="030F0702030302020204" pitchFamily="66" charset="0"/>
            </a:endParaRPr>
          </a:p>
        </p:txBody>
      </p:sp>
      <p:sp>
        <p:nvSpPr>
          <p:cNvPr id="229" name="五角星 228"/>
          <p:cNvSpPr/>
          <p:nvPr/>
        </p:nvSpPr>
        <p:spPr>
          <a:xfrm>
            <a:off x="5535632" y="227546"/>
            <a:ext cx="227000" cy="201168"/>
          </a:xfrm>
          <a:prstGeom prst="star5">
            <a:avLst/>
          </a:prstGeom>
          <a:solidFill>
            <a:srgbClr val="A9647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-64135" y="306705"/>
            <a:ext cx="6418580" cy="2522855"/>
            <a:chOff x="-101" y="267"/>
            <a:chExt cx="10108" cy="3973"/>
          </a:xfrm>
        </p:grpSpPr>
        <p:sp>
          <p:nvSpPr>
            <p:cNvPr id="4" name="Rectangle 3"/>
            <p:cNvSpPr/>
            <p:nvPr/>
          </p:nvSpPr>
          <p:spPr>
            <a:xfrm>
              <a:off x="1007" y="511"/>
              <a:ext cx="9000" cy="328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F97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007" y="2974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503" y="2829"/>
              <a:ext cx="266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000000"/>
                  </a:solidFill>
                  <a:latin typeface="Arial" panose="020B0604020202020204"/>
                </a:rPr>
                <a:t>85</a:t>
              </a:r>
              <a:endParaRPr sz="1200" b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007" y="2153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03" y="2008"/>
              <a:ext cx="266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000000"/>
                  </a:solidFill>
                  <a:latin typeface="Arial" panose="020B0604020202020204"/>
                </a:rPr>
                <a:t>90</a:t>
              </a:r>
              <a:endParaRPr sz="1200" b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1007" y="1332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03" y="1187"/>
              <a:ext cx="266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000000"/>
                  </a:solidFill>
                  <a:latin typeface="Arial" panose="020B0604020202020204"/>
                </a:rPr>
                <a:t>95</a:t>
              </a:r>
              <a:endParaRPr sz="1200" b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007" y="511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03" y="367"/>
              <a:ext cx="399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 dirty="0">
                  <a:solidFill>
                    <a:srgbClr val="000000"/>
                  </a:solidFill>
                  <a:latin typeface="Arial" panose="020B0604020202020204"/>
                </a:rPr>
                <a:t>100</a:t>
              </a:r>
              <a:endParaRPr sz="1200" b="0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43" y="1721"/>
              <a:ext cx="360" cy="64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ACC (%)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81" y="295"/>
              <a:ext cx="259" cy="173"/>
            </a:xfrm>
            <a:prstGeom prst="rect">
              <a:avLst/>
            </a:prstGeom>
            <a:solidFill>
              <a:srgbClr val="17365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98" y="267"/>
              <a:ext cx="1584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 dirty="0">
                  <a:solidFill>
                    <a:srgbClr val="111827"/>
                  </a:solidFill>
                  <a:latin typeface="Arial" panose="020B0604020202020204"/>
                </a:rPr>
                <a:t>Student</a:t>
              </a:r>
              <a:endParaRPr sz="800" b="1" dirty="0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69" y="295"/>
              <a:ext cx="259" cy="173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85" y="300"/>
              <a:ext cx="1093" cy="19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Best logits KD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356" y="295"/>
              <a:ext cx="259" cy="173"/>
            </a:xfrm>
            <a:prstGeom prst="rect">
              <a:avLst/>
            </a:prstGeom>
            <a:solidFill>
              <a:srgbClr val="BFD3EF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73" y="267"/>
              <a:ext cx="1584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Best Feature KD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343" y="295"/>
              <a:ext cx="259" cy="173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60" y="299"/>
              <a:ext cx="1058" cy="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 dirty="0">
                  <a:solidFill>
                    <a:srgbClr val="111827"/>
                  </a:solidFill>
                  <a:latin typeface="Arial" panose="020B0604020202020204"/>
                </a:rPr>
                <a:t>TMSKD</a:t>
              </a:r>
              <a:r>
                <a:rPr lang="en-US" sz="800" b="1" dirty="0">
                  <a:solidFill>
                    <a:srgbClr val="111827"/>
                  </a:solidFill>
                  <a:latin typeface="Arial" panose="020B0604020202020204"/>
                </a:rPr>
                <a:t>(Ours)</a:t>
              </a:r>
              <a:endParaRPr sz="800" b="1" dirty="0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447" y="3181"/>
              <a:ext cx="346" cy="614"/>
            </a:xfrm>
            <a:prstGeom prst="rect">
              <a:avLst/>
            </a:prstGeom>
            <a:solidFill>
              <a:srgbClr val="17365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25" y="2864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83.7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893" y="1848"/>
              <a:ext cx="346" cy="1947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71" y="1531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91.9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40" y="1733"/>
              <a:ext cx="346" cy="2062"/>
            </a:xfrm>
            <a:prstGeom prst="rect">
              <a:avLst/>
            </a:prstGeom>
            <a:solidFill>
              <a:srgbClr val="BFD3EF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18" y="1416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92.6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786" y="1593"/>
              <a:ext cx="346" cy="2201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64" y="1276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93.4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03" y="3982"/>
              <a:ext cx="1800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1">
                  <a:solidFill>
                    <a:srgbClr val="111827"/>
                  </a:solidFill>
                  <a:latin typeface="Arial" panose="020B0604020202020204"/>
                </a:rPr>
                <a:t>DeepShip</a:t>
              </a:r>
              <a:endParaRPr sz="10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623" y="2737"/>
              <a:ext cx="346" cy="1057"/>
            </a:xfrm>
            <a:prstGeom prst="rect">
              <a:avLst/>
            </a:prstGeom>
            <a:solidFill>
              <a:srgbClr val="17365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01" y="2421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86.4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069" y="2148"/>
              <a:ext cx="346" cy="1647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947" y="1831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90.0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516" y="2237"/>
              <a:ext cx="346" cy="1558"/>
            </a:xfrm>
            <a:prstGeom prst="rect">
              <a:avLst/>
            </a:prstGeom>
            <a:solidFill>
              <a:srgbClr val="BFD3EF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394" y="1920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89.5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962" y="1761"/>
              <a:ext cx="346" cy="2034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840" y="1444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92.4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79" y="3982"/>
              <a:ext cx="1800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1">
                  <a:solidFill>
                    <a:srgbClr val="111827"/>
                  </a:solidFill>
                  <a:latin typeface="Arial" panose="020B0604020202020204"/>
                </a:rPr>
                <a:t>ShipsEar</a:t>
              </a:r>
              <a:endParaRPr sz="10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30" name="五角星 229"/>
            <p:cNvSpPr/>
            <p:nvPr/>
          </p:nvSpPr>
          <p:spPr>
            <a:xfrm>
              <a:off x="8187" y="1332"/>
              <a:ext cx="357" cy="317"/>
            </a:xfrm>
            <a:prstGeom prst="star5">
              <a:avLst/>
            </a:prstGeom>
            <a:solidFill>
              <a:srgbClr val="A9647D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1" name="五角星 230"/>
            <p:cNvSpPr/>
            <p:nvPr/>
          </p:nvSpPr>
          <p:spPr>
            <a:xfrm>
              <a:off x="4011" y="1168"/>
              <a:ext cx="357" cy="317"/>
            </a:xfrm>
            <a:prstGeom prst="star5">
              <a:avLst/>
            </a:prstGeom>
            <a:solidFill>
              <a:srgbClr val="A9647D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542290" y="3141345"/>
            <a:ext cx="5414010" cy="3972560"/>
            <a:chOff x="854" y="4947"/>
            <a:chExt cx="8526" cy="6256"/>
          </a:xfrm>
        </p:grpSpPr>
        <p:sp>
          <p:nvSpPr>
            <p:cNvPr id="289" name="圆角矩形 288"/>
            <p:cNvSpPr>
              <a:spLocks noGrp="1"/>
            </p:cNvSpPr>
            <p:nvPr/>
          </p:nvSpPr>
          <p:spPr>
            <a:xfrm>
              <a:off x="3508" y="5177"/>
              <a:ext cx="1994" cy="1179"/>
            </a:xfrm>
            <a:prstGeom prst="roundRect">
              <a:avLst>
                <a:gd name="adj" fmla="val 13514"/>
              </a:avLst>
            </a:prstGeom>
            <a:solidFill>
              <a:srgbClr val="FFEDEB"/>
            </a:solidFill>
            <a:ln w="13335">
              <a:solidFill>
                <a:srgbClr val="F3B1AA"/>
              </a:solidFill>
              <a:prstDash val="solid"/>
            </a:ln>
          </p:spPr>
          <p:txBody>
            <a:bodyPr/>
            <a:lstStyle/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endParaRPr lang="en-US" sz="1425" b="1" dirty="0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31" name="圆角右箭头 130"/>
            <p:cNvSpPr>
              <a:spLocks noGrp="1"/>
            </p:cNvSpPr>
            <p:nvPr/>
          </p:nvSpPr>
          <p:spPr>
            <a:xfrm>
              <a:off x="1682" y="5578"/>
              <a:ext cx="1691" cy="698"/>
            </a:xfrm>
            <a:prstGeom prst="bentArrow">
              <a:avLst>
                <a:gd name="adj1" fmla="val 25000"/>
                <a:gd name="adj2" fmla="val 25000"/>
                <a:gd name="adj3" fmla="val 22388"/>
                <a:gd name="adj4" fmla="val 43750"/>
              </a:avLst>
            </a:prstGeom>
            <a:solidFill>
              <a:srgbClr val="7A6F68"/>
            </a:solidFill>
            <a:ln w="762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854" y="6776"/>
              <a:ext cx="1944" cy="1272"/>
              <a:chOff x="784361" y="3193395"/>
              <a:chExt cx="1234440" cy="807676"/>
            </a:xfrm>
          </p:grpSpPr>
          <p:grpSp>
            <p:nvGrpSpPr>
              <p:cNvPr id="344" name="组合 343"/>
              <p:cNvGrpSpPr/>
              <p:nvPr/>
            </p:nvGrpSpPr>
            <p:grpSpPr>
              <a:xfrm>
                <a:off x="784361" y="3315271"/>
                <a:ext cx="1234440" cy="685800"/>
                <a:chOff x="792" y="6941"/>
                <a:chExt cx="1944" cy="1080"/>
              </a:xfrm>
            </p:grpSpPr>
            <p:sp>
              <p:nvSpPr>
                <p:cNvPr id="66" name="Rounded Rectangle 65"/>
                <p:cNvSpPr/>
                <p:nvPr/>
              </p:nvSpPr>
              <p:spPr>
                <a:xfrm>
                  <a:off x="792" y="6941"/>
                  <a:ext cx="1944" cy="1080"/>
                </a:xfrm>
                <a:prstGeom prst="roundRect">
                  <a:avLst/>
                </a:prstGeom>
                <a:solidFill>
                  <a:srgbClr val="F9FBFE"/>
                </a:solidFill>
                <a:ln w="12700">
                  <a:solidFill>
                    <a:srgbClr val="D9E3F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72" name="Connector 71"/>
                <p:cNvCxnSpPr/>
                <p:nvPr/>
              </p:nvCxnSpPr>
              <p:spPr>
                <a:xfrm>
                  <a:off x="1022" y="7531"/>
                  <a:ext cx="24" cy="85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Connector 72"/>
                <p:cNvCxnSpPr/>
                <p:nvPr/>
              </p:nvCxnSpPr>
              <p:spPr>
                <a:xfrm>
                  <a:off x="1046" y="7616"/>
                  <a:ext cx="24" cy="6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Connector 73"/>
                <p:cNvCxnSpPr/>
                <p:nvPr/>
              </p:nvCxnSpPr>
              <p:spPr>
                <a:xfrm>
                  <a:off x="1070" y="7678"/>
                  <a:ext cx="24" cy="7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Connector 74"/>
                <p:cNvCxnSpPr/>
                <p:nvPr/>
              </p:nvCxnSpPr>
              <p:spPr>
                <a:xfrm flipV="1">
                  <a:off x="1094" y="7627"/>
                  <a:ext cx="24" cy="5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Connector 75"/>
                <p:cNvCxnSpPr/>
                <p:nvPr/>
              </p:nvCxnSpPr>
              <p:spPr>
                <a:xfrm flipV="1">
                  <a:off x="1118" y="7522"/>
                  <a:ext cx="24" cy="105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Connector 76"/>
                <p:cNvCxnSpPr/>
                <p:nvPr/>
              </p:nvCxnSpPr>
              <p:spPr>
                <a:xfrm flipV="1">
                  <a:off x="1142" y="7413"/>
                  <a:ext cx="24" cy="108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Connector 77"/>
                <p:cNvCxnSpPr/>
                <p:nvPr/>
              </p:nvCxnSpPr>
              <p:spPr>
                <a:xfrm flipV="1">
                  <a:off x="1166" y="7350"/>
                  <a:ext cx="24" cy="64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Connector 78"/>
                <p:cNvCxnSpPr/>
                <p:nvPr/>
              </p:nvCxnSpPr>
              <p:spPr>
                <a:xfrm>
                  <a:off x="1190" y="7350"/>
                  <a:ext cx="24" cy="10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Connector 79"/>
                <p:cNvCxnSpPr/>
                <p:nvPr/>
              </p:nvCxnSpPr>
              <p:spPr>
                <a:xfrm>
                  <a:off x="1214" y="7359"/>
                  <a:ext cx="24" cy="7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Connector 80"/>
                <p:cNvCxnSpPr/>
                <p:nvPr/>
              </p:nvCxnSpPr>
              <p:spPr>
                <a:xfrm>
                  <a:off x="1237" y="7438"/>
                  <a:ext cx="24" cy="11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Connector 81"/>
                <p:cNvCxnSpPr/>
                <p:nvPr/>
              </p:nvCxnSpPr>
              <p:spPr>
                <a:xfrm>
                  <a:off x="1261" y="7550"/>
                  <a:ext cx="24" cy="97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Connector 82"/>
                <p:cNvCxnSpPr/>
                <p:nvPr/>
              </p:nvCxnSpPr>
              <p:spPr>
                <a:xfrm>
                  <a:off x="1285" y="7647"/>
                  <a:ext cx="24" cy="4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Connector 83"/>
                <p:cNvCxnSpPr/>
                <p:nvPr/>
              </p:nvCxnSpPr>
              <p:spPr>
                <a:xfrm flipV="1">
                  <a:off x="1309" y="7667"/>
                  <a:ext cx="24" cy="2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Connector 84"/>
                <p:cNvCxnSpPr/>
                <p:nvPr/>
              </p:nvCxnSpPr>
              <p:spPr>
                <a:xfrm flipV="1">
                  <a:off x="1333" y="7595"/>
                  <a:ext cx="24" cy="7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Connector 85"/>
                <p:cNvCxnSpPr/>
                <p:nvPr/>
              </p:nvCxnSpPr>
              <p:spPr>
                <a:xfrm flipV="1">
                  <a:off x="1357" y="7511"/>
                  <a:ext cx="24" cy="84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Connector 86"/>
                <p:cNvCxnSpPr/>
                <p:nvPr/>
              </p:nvCxnSpPr>
              <p:spPr>
                <a:xfrm flipV="1">
                  <a:off x="1381" y="7449"/>
                  <a:ext cx="24" cy="6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Connector 87"/>
                <p:cNvCxnSpPr/>
                <p:nvPr/>
              </p:nvCxnSpPr>
              <p:spPr>
                <a:xfrm flipV="1">
                  <a:off x="1405" y="7429"/>
                  <a:ext cx="24" cy="20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Connector 88"/>
                <p:cNvCxnSpPr/>
                <p:nvPr/>
              </p:nvCxnSpPr>
              <p:spPr>
                <a:xfrm>
                  <a:off x="1429" y="7429"/>
                  <a:ext cx="24" cy="2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Connector 89"/>
                <p:cNvCxnSpPr/>
                <p:nvPr/>
              </p:nvCxnSpPr>
              <p:spPr>
                <a:xfrm>
                  <a:off x="1453" y="7450"/>
                  <a:ext cx="24" cy="46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Connector 90"/>
                <p:cNvCxnSpPr/>
                <p:nvPr/>
              </p:nvCxnSpPr>
              <p:spPr>
                <a:xfrm>
                  <a:off x="1477" y="7496"/>
                  <a:ext cx="24" cy="5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Connector 91"/>
                <p:cNvCxnSpPr/>
                <p:nvPr/>
              </p:nvCxnSpPr>
              <p:spPr>
                <a:xfrm>
                  <a:off x="1501" y="7548"/>
                  <a:ext cx="24" cy="3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Connector 92"/>
                <p:cNvCxnSpPr/>
                <p:nvPr/>
              </p:nvCxnSpPr>
              <p:spPr>
                <a:xfrm>
                  <a:off x="1524" y="7587"/>
                  <a:ext cx="24" cy="16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Connector 93"/>
                <p:cNvCxnSpPr/>
                <p:nvPr/>
              </p:nvCxnSpPr>
              <p:spPr>
                <a:xfrm flipV="1">
                  <a:off x="1548" y="7593"/>
                  <a:ext cx="24" cy="10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Connector 94"/>
                <p:cNvCxnSpPr/>
                <p:nvPr/>
              </p:nvCxnSpPr>
              <p:spPr>
                <a:xfrm flipV="1">
                  <a:off x="1572" y="7559"/>
                  <a:ext cx="24" cy="34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Connector 95"/>
                <p:cNvCxnSpPr/>
                <p:nvPr/>
              </p:nvCxnSpPr>
              <p:spPr>
                <a:xfrm flipV="1">
                  <a:off x="1596" y="7510"/>
                  <a:ext cx="24" cy="50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Connector 96"/>
                <p:cNvCxnSpPr/>
                <p:nvPr/>
              </p:nvCxnSpPr>
              <p:spPr>
                <a:xfrm flipV="1">
                  <a:off x="1620" y="7460"/>
                  <a:ext cx="24" cy="50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Connector 97"/>
                <p:cNvCxnSpPr/>
                <p:nvPr/>
              </p:nvCxnSpPr>
              <p:spPr>
                <a:xfrm flipV="1">
                  <a:off x="1644" y="7431"/>
                  <a:ext cx="24" cy="2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Connector 98"/>
                <p:cNvCxnSpPr/>
                <p:nvPr/>
              </p:nvCxnSpPr>
              <p:spPr>
                <a:xfrm>
                  <a:off x="1668" y="7431"/>
                  <a:ext cx="24" cy="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Connector 99"/>
                <p:cNvCxnSpPr/>
                <p:nvPr/>
              </p:nvCxnSpPr>
              <p:spPr>
                <a:xfrm>
                  <a:off x="1692" y="7440"/>
                  <a:ext cx="24" cy="5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Connector 100"/>
                <p:cNvCxnSpPr/>
                <p:nvPr/>
              </p:nvCxnSpPr>
              <p:spPr>
                <a:xfrm>
                  <a:off x="1716" y="7492"/>
                  <a:ext cx="24" cy="8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Connector 101"/>
                <p:cNvCxnSpPr/>
                <p:nvPr/>
              </p:nvCxnSpPr>
              <p:spPr>
                <a:xfrm>
                  <a:off x="1740" y="7574"/>
                  <a:ext cx="24" cy="78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Connector 102"/>
                <p:cNvCxnSpPr/>
                <p:nvPr/>
              </p:nvCxnSpPr>
              <p:spPr>
                <a:xfrm>
                  <a:off x="1764" y="7652"/>
                  <a:ext cx="24" cy="38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Connector 103"/>
                <p:cNvCxnSpPr/>
                <p:nvPr/>
              </p:nvCxnSpPr>
              <p:spPr>
                <a:xfrm flipV="1">
                  <a:off x="1788" y="7664"/>
                  <a:ext cx="24" cy="26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Connector 104"/>
                <p:cNvCxnSpPr/>
                <p:nvPr/>
              </p:nvCxnSpPr>
              <p:spPr>
                <a:xfrm flipV="1">
                  <a:off x="1812" y="7578"/>
                  <a:ext cx="24" cy="86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Connector 105"/>
                <p:cNvCxnSpPr/>
                <p:nvPr/>
              </p:nvCxnSpPr>
              <p:spPr>
                <a:xfrm flipV="1">
                  <a:off x="1835" y="7465"/>
                  <a:ext cx="24" cy="11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Connector 106"/>
                <p:cNvCxnSpPr/>
                <p:nvPr/>
              </p:nvCxnSpPr>
              <p:spPr>
                <a:xfrm flipV="1">
                  <a:off x="1859" y="7373"/>
                  <a:ext cx="24" cy="9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Connector 107"/>
                <p:cNvCxnSpPr/>
                <p:nvPr/>
              </p:nvCxnSpPr>
              <p:spPr>
                <a:xfrm flipV="1">
                  <a:off x="1883" y="7345"/>
                  <a:ext cx="24" cy="2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Connector 108"/>
                <p:cNvCxnSpPr/>
                <p:nvPr/>
              </p:nvCxnSpPr>
              <p:spPr>
                <a:xfrm>
                  <a:off x="1907" y="7345"/>
                  <a:ext cx="24" cy="47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Connector 109"/>
                <p:cNvCxnSpPr/>
                <p:nvPr/>
              </p:nvCxnSpPr>
              <p:spPr>
                <a:xfrm>
                  <a:off x="1931" y="7392"/>
                  <a:ext cx="24" cy="10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Connector 110"/>
                <p:cNvCxnSpPr/>
                <p:nvPr/>
              </p:nvCxnSpPr>
              <p:spPr>
                <a:xfrm>
                  <a:off x="1955" y="7493"/>
                  <a:ext cx="24" cy="11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Connector 111"/>
                <p:cNvCxnSpPr/>
                <p:nvPr/>
              </p:nvCxnSpPr>
              <p:spPr>
                <a:xfrm>
                  <a:off x="1979" y="7603"/>
                  <a:ext cx="24" cy="7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Connector 112"/>
                <p:cNvCxnSpPr/>
                <p:nvPr/>
              </p:nvCxnSpPr>
              <p:spPr>
                <a:xfrm>
                  <a:off x="2003" y="7677"/>
                  <a:ext cx="24" cy="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Connector 113"/>
                <p:cNvCxnSpPr/>
                <p:nvPr/>
              </p:nvCxnSpPr>
              <p:spPr>
                <a:xfrm flipV="1">
                  <a:off x="2027" y="7635"/>
                  <a:ext cx="24" cy="5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Connector 114"/>
                <p:cNvCxnSpPr/>
                <p:nvPr/>
              </p:nvCxnSpPr>
              <p:spPr>
                <a:xfrm flipV="1">
                  <a:off x="2051" y="7552"/>
                  <a:ext cx="24" cy="8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Connector 115"/>
                <p:cNvCxnSpPr/>
                <p:nvPr/>
              </p:nvCxnSpPr>
              <p:spPr>
                <a:xfrm flipV="1">
                  <a:off x="2075" y="7476"/>
                  <a:ext cx="24" cy="77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Connector 116"/>
                <p:cNvCxnSpPr/>
                <p:nvPr/>
              </p:nvCxnSpPr>
              <p:spPr>
                <a:xfrm flipV="1">
                  <a:off x="2099" y="7434"/>
                  <a:ext cx="24" cy="4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Connector 117"/>
                <p:cNvCxnSpPr/>
                <p:nvPr/>
              </p:nvCxnSpPr>
              <p:spPr>
                <a:xfrm>
                  <a:off x="2122" y="7434"/>
                  <a:ext cx="24" cy="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Connector 118"/>
                <p:cNvCxnSpPr/>
                <p:nvPr/>
              </p:nvCxnSpPr>
              <p:spPr>
                <a:xfrm>
                  <a:off x="2146" y="7435"/>
                  <a:ext cx="24" cy="36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Connector 119"/>
                <p:cNvCxnSpPr/>
                <p:nvPr/>
              </p:nvCxnSpPr>
              <p:spPr>
                <a:xfrm>
                  <a:off x="2170" y="7471"/>
                  <a:ext cx="24" cy="5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Connector 120"/>
                <p:cNvCxnSpPr/>
                <p:nvPr/>
              </p:nvCxnSpPr>
              <p:spPr>
                <a:xfrm>
                  <a:off x="2194" y="7523"/>
                  <a:ext cx="24" cy="47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Connector 121"/>
                <p:cNvCxnSpPr/>
                <p:nvPr/>
              </p:nvCxnSpPr>
              <p:spPr>
                <a:xfrm>
                  <a:off x="2218" y="7569"/>
                  <a:ext cx="24" cy="29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Connector 122"/>
                <p:cNvCxnSpPr/>
                <p:nvPr/>
              </p:nvCxnSpPr>
              <p:spPr>
                <a:xfrm>
                  <a:off x="2242" y="7598"/>
                  <a:ext cx="24" cy="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Connector 123"/>
                <p:cNvCxnSpPr/>
                <p:nvPr/>
              </p:nvCxnSpPr>
              <p:spPr>
                <a:xfrm flipV="1">
                  <a:off x="2266" y="7579"/>
                  <a:ext cx="24" cy="2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Connector 124"/>
                <p:cNvCxnSpPr/>
                <p:nvPr/>
              </p:nvCxnSpPr>
              <p:spPr>
                <a:xfrm flipV="1">
                  <a:off x="2290" y="7535"/>
                  <a:ext cx="24" cy="43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nector 125"/>
                <p:cNvCxnSpPr/>
                <p:nvPr/>
              </p:nvCxnSpPr>
              <p:spPr>
                <a:xfrm flipV="1">
                  <a:off x="2314" y="7484"/>
                  <a:ext cx="24" cy="5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Connector 126"/>
                <p:cNvCxnSpPr/>
                <p:nvPr/>
              </p:nvCxnSpPr>
              <p:spPr>
                <a:xfrm flipV="1">
                  <a:off x="2338" y="7442"/>
                  <a:ext cx="24" cy="4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Connector 127"/>
                <p:cNvCxnSpPr/>
                <p:nvPr/>
              </p:nvCxnSpPr>
              <p:spPr>
                <a:xfrm flipV="1">
                  <a:off x="2362" y="7430"/>
                  <a:ext cx="24" cy="12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Connector 128"/>
                <p:cNvCxnSpPr/>
                <p:nvPr/>
              </p:nvCxnSpPr>
              <p:spPr>
                <a:xfrm>
                  <a:off x="2386" y="7430"/>
                  <a:ext cx="24" cy="31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Connector 129"/>
                <p:cNvCxnSpPr/>
                <p:nvPr/>
              </p:nvCxnSpPr>
              <p:spPr>
                <a:xfrm>
                  <a:off x="2409" y="7461"/>
                  <a:ext cx="24" cy="70"/>
                </a:xfrm>
                <a:prstGeom prst="line">
                  <a:avLst/>
                </a:prstGeom>
                <a:ln w="11430">
                  <a:solidFill>
                    <a:srgbClr val="3E66B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2" name="可选流程 131"/>
              <p:cNvSpPr/>
              <p:nvPr/>
            </p:nvSpPr>
            <p:spPr>
              <a:xfrm>
                <a:off x="907942" y="3193395"/>
                <a:ext cx="941558" cy="250463"/>
              </a:xfrm>
              <a:custGeom>
                <a:avLst/>
                <a:gdLst>
                  <a:gd name="connsiteX0" fmla="*/ 0 w 941558"/>
                  <a:gd name="connsiteY0" fmla="*/ 41744 h 250463"/>
                  <a:gd name="connsiteX1" fmla="*/ 41744 w 941558"/>
                  <a:gd name="connsiteY1" fmla="*/ 0 h 250463"/>
                  <a:gd name="connsiteX2" fmla="*/ 470779 w 941558"/>
                  <a:gd name="connsiteY2" fmla="*/ 0 h 250463"/>
                  <a:gd name="connsiteX3" fmla="*/ 899814 w 941558"/>
                  <a:gd name="connsiteY3" fmla="*/ 0 h 250463"/>
                  <a:gd name="connsiteX4" fmla="*/ 941558 w 941558"/>
                  <a:gd name="connsiteY4" fmla="*/ 41744 h 250463"/>
                  <a:gd name="connsiteX5" fmla="*/ 941558 w 941558"/>
                  <a:gd name="connsiteY5" fmla="*/ 208719 h 250463"/>
                  <a:gd name="connsiteX6" fmla="*/ 899814 w 941558"/>
                  <a:gd name="connsiteY6" fmla="*/ 250463 h 250463"/>
                  <a:gd name="connsiteX7" fmla="*/ 462198 w 941558"/>
                  <a:gd name="connsiteY7" fmla="*/ 250463 h 250463"/>
                  <a:gd name="connsiteX8" fmla="*/ 41744 w 941558"/>
                  <a:gd name="connsiteY8" fmla="*/ 250463 h 250463"/>
                  <a:gd name="connsiteX9" fmla="*/ 0 w 941558"/>
                  <a:gd name="connsiteY9" fmla="*/ 208719 h 250463"/>
                  <a:gd name="connsiteX10" fmla="*/ 0 w 941558"/>
                  <a:gd name="connsiteY10" fmla="*/ 41744 h 250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1558" h="250463" fill="none" extrusionOk="0">
                    <a:moveTo>
                      <a:pt x="0" y="41744"/>
                    </a:moveTo>
                    <a:cubicBezTo>
                      <a:pt x="2266" y="21464"/>
                      <a:pt x="21769" y="-2696"/>
                      <a:pt x="41744" y="0"/>
                    </a:cubicBezTo>
                    <a:cubicBezTo>
                      <a:pt x="195076" y="3307"/>
                      <a:pt x="315449" y="-15597"/>
                      <a:pt x="470779" y="0"/>
                    </a:cubicBezTo>
                    <a:cubicBezTo>
                      <a:pt x="626109" y="15597"/>
                      <a:pt x="724929" y="-3800"/>
                      <a:pt x="899814" y="0"/>
                    </a:cubicBezTo>
                    <a:cubicBezTo>
                      <a:pt x="922216" y="-1331"/>
                      <a:pt x="941635" y="17644"/>
                      <a:pt x="941558" y="41744"/>
                    </a:cubicBezTo>
                    <a:cubicBezTo>
                      <a:pt x="941835" y="103064"/>
                      <a:pt x="944059" y="166592"/>
                      <a:pt x="941558" y="208719"/>
                    </a:cubicBezTo>
                    <a:cubicBezTo>
                      <a:pt x="938357" y="231906"/>
                      <a:pt x="923353" y="249590"/>
                      <a:pt x="899814" y="250463"/>
                    </a:cubicBezTo>
                    <a:cubicBezTo>
                      <a:pt x="719311" y="242955"/>
                      <a:pt x="628859" y="247714"/>
                      <a:pt x="462198" y="250463"/>
                    </a:cubicBezTo>
                    <a:cubicBezTo>
                      <a:pt x="295537" y="253212"/>
                      <a:pt x="132605" y="243236"/>
                      <a:pt x="41744" y="250463"/>
                    </a:cubicBezTo>
                    <a:cubicBezTo>
                      <a:pt x="18625" y="248750"/>
                      <a:pt x="4869" y="232789"/>
                      <a:pt x="0" y="208719"/>
                    </a:cubicBezTo>
                    <a:cubicBezTo>
                      <a:pt x="-4570" y="127569"/>
                      <a:pt x="7366" y="115038"/>
                      <a:pt x="0" y="41744"/>
                    </a:cubicBezTo>
                    <a:close/>
                  </a:path>
                  <a:path w="941558" h="250463" stroke="0" extrusionOk="0">
                    <a:moveTo>
                      <a:pt x="0" y="41744"/>
                    </a:moveTo>
                    <a:cubicBezTo>
                      <a:pt x="-3618" y="16458"/>
                      <a:pt x="16643" y="768"/>
                      <a:pt x="41744" y="0"/>
                    </a:cubicBezTo>
                    <a:cubicBezTo>
                      <a:pt x="238323" y="9608"/>
                      <a:pt x="367493" y="-9526"/>
                      <a:pt x="487940" y="0"/>
                    </a:cubicBezTo>
                    <a:cubicBezTo>
                      <a:pt x="608387" y="9526"/>
                      <a:pt x="755378" y="15383"/>
                      <a:pt x="899814" y="0"/>
                    </a:cubicBezTo>
                    <a:cubicBezTo>
                      <a:pt x="917886" y="-2726"/>
                      <a:pt x="943025" y="19390"/>
                      <a:pt x="941558" y="41744"/>
                    </a:cubicBezTo>
                    <a:cubicBezTo>
                      <a:pt x="940211" y="98798"/>
                      <a:pt x="949199" y="166189"/>
                      <a:pt x="941558" y="208719"/>
                    </a:cubicBezTo>
                    <a:cubicBezTo>
                      <a:pt x="942160" y="230794"/>
                      <a:pt x="921655" y="251530"/>
                      <a:pt x="899814" y="250463"/>
                    </a:cubicBezTo>
                    <a:cubicBezTo>
                      <a:pt x="797479" y="233487"/>
                      <a:pt x="605838" y="251956"/>
                      <a:pt x="470779" y="250463"/>
                    </a:cubicBezTo>
                    <a:cubicBezTo>
                      <a:pt x="335721" y="248970"/>
                      <a:pt x="238425" y="266998"/>
                      <a:pt x="41744" y="250463"/>
                    </a:cubicBezTo>
                    <a:cubicBezTo>
                      <a:pt x="17304" y="250384"/>
                      <a:pt x="1247" y="228355"/>
                      <a:pt x="0" y="208719"/>
                    </a:cubicBezTo>
                    <a:cubicBezTo>
                      <a:pt x="-4080" y="144712"/>
                      <a:pt x="1297" y="90451"/>
                      <a:pt x="0" y="417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Raw Waveform</a:t>
                </a:r>
                <a:endParaRPr kumimoji="1" lang="zh-CN" altLang="en-US" sz="8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</p:txBody>
          </p:sp>
        </p:grpSp>
        <p:pic>
          <p:nvPicPr>
            <p:cNvPr id="139" name="图片 1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01" y="5298"/>
              <a:ext cx="1160" cy="1059"/>
            </a:xfrm>
            <a:prstGeom prst="rect">
              <a:avLst/>
            </a:prstGeom>
          </p:spPr>
        </p:pic>
        <p:sp>
          <p:nvSpPr>
            <p:cNvPr id="142" name="可选流程 141"/>
            <p:cNvSpPr/>
            <p:nvPr/>
          </p:nvSpPr>
          <p:spPr>
            <a:xfrm>
              <a:off x="3735" y="4947"/>
              <a:ext cx="1483" cy="394"/>
            </a:xfrm>
            <a:custGeom>
              <a:avLst/>
              <a:gdLst>
                <a:gd name="connsiteX0" fmla="*/ 0 w 941558"/>
                <a:gd name="connsiteY0" fmla="*/ 41744 h 250463"/>
                <a:gd name="connsiteX1" fmla="*/ 41744 w 941558"/>
                <a:gd name="connsiteY1" fmla="*/ 0 h 250463"/>
                <a:gd name="connsiteX2" fmla="*/ 470779 w 941558"/>
                <a:gd name="connsiteY2" fmla="*/ 0 h 250463"/>
                <a:gd name="connsiteX3" fmla="*/ 899814 w 941558"/>
                <a:gd name="connsiteY3" fmla="*/ 0 h 250463"/>
                <a:gd name="connsiteX4" fmla="*/ 941558 w 941558"/>
                <a:gd name="connsiteY4" fmla="*/ 41744 h 250463"/>
                <a:gd name="connsiteX5" fmla="*/ 941558 w 941558"/>
                <a:gd name="connsiteY5" fmla="*/ 208719 h 250463"/>
                <a:gd name="connsiteX6" fmla="*/ 899814 w 941558"/>
                <a:gd name="connsiteY6" fmla="*/ 250463 h 250463"/>
                <a:gd name="connsiteX7" fmla="*/ 462198 w 941558"/>
                <a:gd name="connsiteY7" fmla="*/ 250463 h 250463"/>
                <a:gd name="connsiteX8" fmla="*/ 41744 w 941558"/>
                <a:gd name="connsiteY8" fmla="*/ 250463 h 250463"/>
                <a:gd name="connsiteX9" fmla="*/ 0 w 941558"/>
                <a:gd name="connsiteY9" fmla="*/ 208719 h 250463"/>
                <a:gd name="connsiteX10" fmla="*/ 0 w 941558"/>
                <a:gd name="connsiteY10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558" h="250463" fill="none" extrusionOk="0">
                  <a:moveTo>
                    <a:pt x="0" y="41744"/>
                  </a:moveTo>
                  <a:cubicBezTo>
                    <a:pt x="2266" y="21464"/>
                    <a:pt x="21769" y="-2696"/>
                    <a:pt x="41744" y="0"/>
                  </a:cubicBezTo>
                  <a:cubicBezTo>
                    <a:pt x="195076" y="3307"/>
                    <a:pt x="315449" y="-15597"/>
                    <a:pt x="470779" y="0"/>
                  </a:cubicBezTo>
                  <a:cubicBezTo>
                    <a:pt x="626109" y="15597"/>
                    <a:pt x="724929" y="-3800"/>
                    <a:pt x="899814" y="0"/>
                  </a:cubicBezTo>
                  <a:cubicBezTo>
                    <a:pt x="922216" y="-1331"/>
                    <a:pt x="941635" y="17644"/>
                    <a:pt x="941558" y="41744"/>
                  </a:cubicBezTo>
                  <a:cubicBezTo>
                    <a:pt x="941835" y="103064"/>
                    <a:pt x="944059" y="166592"/>
                    <a:pt x="941558" y="208719"/>
                  </a:cubicBezTo>
                  <a:cubicBezTo>
                    <a:pt x="938357" y="231906"/>
                    <a:pt x="923353" y="249590"/>
                    <a:pt x="899814" y="250463"/>
                  </a:cubicBezTo>
                  <a:cubicBezTo>
                    <a:pt x="719311" y="242955"/>
                    <a:pt x="628859" y="247714"/>
                    <a:pt x="462198" y="250463"/>
                  </a:cubicBezTo>
                  <a:cubicBezTo>
                    <a:pt x="295537" y="253212"/>
                    <a:pt x="132605" y="243236"/>
                    <a:pt x="41744" y="250463"/>
                  </a:cubicBezTo>
                  <a:cubicBezTo>
                    <a:pt x="18625" y="248750"/>
                    <a:pt x="4869" y="232789"/>
                    <a:pt x="0" y="208719"/>
                  </a:cubicBezTo>
                  <a:cubicBezTo>
                    <a:pt x="-4570" y="127569"/>
                    <a:pt x="7366" y="115038"/>
                    <a:pt x="0" y="41744"/>
                  </a:cubicBezTo>
                  <a:close/>
                </a:path>
                <a:path w="941558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8323" y="9608"/>
                    <a:pt x="367493" y="-9526"/>
                    <a:pt x="487940" y="0"/>
                  </a:cubicBezTo>
                  <a:cubicBezTo>
                    <a:pt x="608387" y="9526"/>
                    <a:pt x="755378" y="15383"/>
                    <a:pt x="899814" y="0"/>
                  </a:cubicBezTo>
                  <a:cubicBezTo>
                    <a:pt x="917886" y="-2726"/>
                    <a:pt x="943025" y="19390"/>
                    <a:pt x="941558" y="41744"/>
                  </a:cubicBezTo>
                  <a:cubicBezTo>
                    <a:pt x="940211" y="98798"/>
                    <a:pt x="949199" y="166189"/>
                    <a:pt x="941558" y="208719"/>
                  </a:cubicBezTo>
                  <a:cubicBezTo>
                    <a:pt x="942160" y="230794"/>
                    <a:pt x="921655" y="251530"/>
                    <a:pt x="899814" y="250463"/>
                  </a:cubicBezTo>
                  <a:cubicBezTo>
                    <a:pt x="797479" y="233487"/>
                    <a:pt x="605838" y="251956"/>
                    <a:pt x="470779" y="250463"/>
                  </a:cubicBezTo>
                  <a:cubicBezTo>
                    <a:pt x="335721" y="248970"/>
                    <a:pt x="238425" y="266998"/>
                    <a:pt x="41744" y="250463"/>
                  </a:cubicBezTo>
                  <a:cubicBezTo>
                    <a:pt x="17304" y="250384"/>
                    <a:pt x="1247" y="228355"/>
                    <a:pt x="0" y="208719"/>
                  </a:cubicBezTo>
                  <a:cubicBezTo>
                    <a:pt x="-4080" y="144712"/>
                    <a:pt x="1297" y="90451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Teacher Model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22" name="圆角矩形 321"/>
            <p:cNvSpPr>
              <a:spLocks noGrp="1"/>
            </p:cNvSpPr>
            <p:nvPr/>
          </p:nvSpPr>
          <p:spPr>
            <a:xfrm>
              <a:off x="6502" y="6655"/>
              <a:ext cx="2722" cy="1830"/>
            </a:xfrm>
            <a:custGeom>
              <a:avLst/>
              <a:gdLst>
                <a:gd name="connsiteX0" fmla="*/ 0 w 2444040"/>
                <a:gd name="connsiteY0" fmla="*/ 86174 h 1344365"/>
                <a:gd name="connsiteX1" fmla="*/ 86174 w 2444040"/>
                <a:gd name="connsiteY1" fmla="*/ 0 h 1344365"/>
                <a:gd name="connsiteX2" fmla="*/ 608663 w 2444040"/>
                <a:gd name="connsiteY2" fmla="*/ 0 h 1344365"/>
                <a:gd name="connsiteX3" fmla="*/ 1176586 w 2444040"/>
                <a:gd name="connsiteY3" fmla="*/ 0 h 1344365"/>
                <a:gd name="connsiteX4" fmla="*/ 1699075 w 2444040"/>
                <a:gd name="connsiteY4" fmla="*/ 0 h 1344365"/>
                <a:gd name="connsiteX5" fmla="*/ 2357866 w 2444040"/>
                <a:gd name="connsiteY5" fmla="*/ 0 h 1344365"/>
                <a:gd name="connsiteX6" fmla="*/ 2444040 w 2444040"/>
                <a:gd name="connsiteY6" fmla="*/ 86174 h 1344365"/>
                <a:gd name="connsiteX7" fmla="*/ 2444040 w 2444040"/>
                <a:gd name="connsiteY7" fmla="*/ 672183 h 1344365"/>
                <a:gd name="connsiteX8" fmla="*/ 2444040 w 2444040"/>
                <a:gd name="connsiteY8" fmla="*/ 1258191 h 1344365"/>
                <a:gd name="connsiteX9" fmla="*/ 2357866 w 2444040"/>
                <a:gd name="connsiteY9" fmla="*/ 1344365 h 1344365"/>
                <a:gd name="connsiteX10" fmla="*/ 1812660 w 2444040"/>
                <a:gd name="connsiteY10" fmla="*/ 1344365 h 1344365"/>
                <a:gd name="connsiteX11" fmla="*/ 1312888 w 2444040"/>
                <a:gd name="connsiteY11" fmla="*/ 1344365 h 1344365"/>
                <a:gd name="connsiteX12" fmla="*/ 722248 w 2444040"/>
                <a:gd name="connsiteY12" fmla="*/ 1344365 h 1344365"/>
                <a:gd name="connsiteX13" fmla="*/ 86174 w 2444040"/>
                <a:gd name="connsiteY13" fmla="*/ 1344365 h 1344365"/>
                <a:gd name="connsiteX14" fmla="*/ 0 w 2444040"/>
                <a:gd name="connsiteY14" fmla="*/ 1258191 h 1344365"/>
                <a:gd name="connsiteX15" fmla="*/ 0 w 2444040"/>
                <a:gd name="connsiteY15" fmla="*/ 648742 h 1344365"/>
                <a:gd name="connsiteX16" fmla="*/ 0 w 2444040"/>
                <a:gd name="connsiteY16" fmla="*/ 86174 h 1344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44040" h="1344365" fill="none" extrusionOk="0">
                  <a:moveTo>
                    <a:pt x="0" y="86174"/>
                  </a:moveTo>
                  <a:cubicBezTo>
                    <a:pt x="-3359" y="44587"/>
                    <a:pt x="42853" y="3174"/>
                    <a:pt x="86174" y="0"/>
                  </a:cubicBezTo>
                  <a:cubicBezTo>
                    <a:pt x="196264" y="10304"/>
                    <a:pt x="444639" y="-9139"/>
                    <a:pt x="608663" y="0"/>
                  </a:cubicBezTo>
                  <a:cubicBezTo>
                    <a:pt x="772687" y="9139"/>
                    <a:pt x="1009239" y="22873"/>
                    <a:pt x="1176586" y="0"/>
                  </a:cubicBezTo>
                  <a:cubicBezTo>
                    <a:pt x="1343933" y="-22873"/>
                    <a:pt x="1560111" y="-6108"/>
                    <a:pt x="1699075" y="0"/>
                  </a:cubicBezTo>
                  <a:cubicBezTo>
                    <a:pt x="1838039" y="6108"/>
                    <a:pt x="2070963" y="5099"/>
                    <a:pt x="2357866" y="0"/>
                  </a:cubicBezTo>
                  <a:cubicBezTo>
                    <a:pt x="2395852" y="-544"/>
                    <a:pt x="2447384" y="41460"/>
                    <a:pt x="2444040" y="86174"/>
                  </a:cubicBezTo>
                  <a:cubicBezTo>
                    <a:pt x="2418963" y="282735"/>
                    <a:pt x="2436788" y="540406"/>
                    <a:pt x="2444040" y="672183"/>
                  </a:cubicBezTo>
                  <a:cubicBezTo>
                    <a:pt x="2451292" y="803960"/>
                    <a:pt x="2420628" y="987554"/>
                    <a:pt x="2444040" y="1258191"/>
                  </a:cubicBezTo>
                  <a:cubicBezTo>
                    <a:pt x="2443769" y="1300158"/>
                    <a:pt x="2414403" y="1350000"/>
                    <a:pt x="2357866" y="1344365"/>
                  </a:cubicBezTo>
                  <a:cubicBezTo>
                    <a:pt x="2121430" y="1337208"/>
                    <a:pt x="2045955" y="1328119"/>
                    <a:pt x="1812660" y="1344365"/>
                  </a:cubicBezTo>
                  <a:cubicBezTo>
                    <a:pt x="1579365" y="1360611"/>
                    <a:pt x="1491544" y="1337057"/>
                    <a:pt x="1312888" y="1344365"/>
                  </a:cubicBezTo>
                  <a:cubicBezTo>
                    <a:pt x="1134232" y="1351673"/>
                    <a:pt x="977559" y="1358476"/>
                    <a:pt x="722248" y="1344365"/>
                  </a:cubicBezTo>
                  <a:cubicBezTo>
                    <a:pt x="466937" y="1330254"/>
                    <a:pt x="368247" y="1353339"/>
                    <a:pt x="86174" y="1344365"/>
                  </a:cubicBezTo>
                  <a:cubicBezTo>
                    <a:pt x="34921" y="1346417"/>
                    <a:pt x="517" y="1307184"/>
                    <a:pt x="0" y="1258191"/>
                  </a:cubicBezTo>
                  <a:cubicBezTo>
                    <a:pt x="-20475" y="1028137"/>
                    <a:pt x="1341" y="896825"/>
                    <a:pt x="0" y="648742"/>
                  </a:cubicBezTo>
                  <a:cubicBezTo>
                    <a:pt x="-1341" y="400659"/>
                    <a:pt x="1311" y="246929"/>
                    <a:pt x="0" y="86174"/>
                  </a:cubicBezTo>
                  <a:close/>
                </a:path>
                <a:path w="2444040" h="1344365" stroke="0" extrusionOk="0">
                  <a:moveTo>
                    <a:pt x="0" y="86174"/>
                  </a:moveTo>
                  <a:cubicBezTo>
                    <a:pt x="-3227" y="36590"/>
                    <a:pt x="35188" y="1273"/>
                    <a:pt x="86174" y="0"/>
                  </a:cubicBezTo>
                  <a:cubicBezTo>
                    <a:pt x="286060" y="29371"/>
                    <a:pt x="417978" y="29746"/>
                    <a:pt x="699531" y="0"/>
                  </a:cubicBezTo>
                  <a:cubicBezTo>
                    <a:pt x="981084" y="-29746"/>
                    <a:pt x="1023078" y="-15531"/>
                    <a:pt x="1244737" y="0"/>
                  </a:cubicBezTo>
                  <a:cubicBezTo>
                    <a:pt x="1466396" y="15531"/>
                    <a:pt x="1536951" y="10031"/>
                    <a:pt x="1767226" y="0"/>
                  </a:cubicBezTo>
                  <a:cubicBezTo>
                    <a:pt x="1997501" y="-10031"/>
                    <a:pt x="2181031" y="8711"/>
                    <a:pt x="2357866" y="0"/>
                  </a:cubicBezTo>
                  <a:cubicBezTo>
                    <a:pt x="2408643" y="-6552"/>
                    <a:pt x="2436209" y="37382"/>
                    <a:pt x="2444040" y="86174"/>
                  </a:cubicBezTo>
                  <a:cubicBezTo>
                    <a:pt x="2447502" y="348091"/>
                    <a:pt x="2434779" y="387025"/>
                    <a:pt x="2444040" y="672183"/>
                  </a:cubicBezTo>
                  <a:cubicBezTo>
                    <a:pt x="2453301" y="957341"/>
                    <a:pt x="2471845" y="996078"/>
                    <a:pt x="2444040" y="1258191"/>
                  </a:cubicBezTo>
                  <a:cubicBezTo>
                    <a:pt x="2455051" y="1308431"/>
                    <a:pt x="2398999" y="1343320"/>
                    <a:pt x="2357866" y="1344365"/>
                  </a:cubicBezTo>
                  <a:cubicBezTo>
                    <a:pt x="2079433" y="1355162"/>
                    <a:pt x="2003044" y="1317831"/>
                    <a:pt x="1789943" y="1344365"/>
                  </a:cubicBezTo>
                  <a:cubicBezTo>
                    <a:pt x="1576842" y="1370899"/>
                    <a:pt x="1418116" y="1317540"/>
                    <a:pt x="1244737" y="1344365"/>
                  </a:cubicBezTo>
                  <a:cubicBezTo>
                    <a:pt x="1071358" y="1371190"/>
                    <a:pt x="897747" y="1360949"/>
                    <a:pt x="631380" y="1344365"/>
                  </a:cubicBezTo>
                  <a:cubicBezTo>
                    <a:pt x="365013" y="1327781"/>
                    <a:pt x="206077" y="1359565"/>
                    <a:pt x="86174" y="1344365"/>
                  </a:cubicBezTo>
                  <a:cubicBezTo>
                    <a:pt x="34173" y="1345089"/>
                    <a:pt x="-8786" y="1299722"/>
                    <a:pt x="0" y="1258191"/>
                  </a:cubicBezTo>
                  <a:cubicBezTo>
                    <a:pt x="-691" y="1087046"/>
                    <a:pt x="19774" y="784816"/>
                    <a:pt x="0" y="660462"/>
                  </a:cubicBezTo>
                  <a:cubicBezTo>
                    <a:pt x="-19774" y="536108"/>
                    <a:pt x="22796" y="346558"/>
                    <a:pt x="0" y="86174"/>
                  </a:cubicBezTo>
                  <a:close/>
                </a:path>
              </a:pathLst>
            </a:custGeom>
            <a:solidFill>
              <a:srgbClr val="FBFFF5"/>
            </a:solidFill>
            <a:ln w="13335">
              <a:solidFill>
                <a:srgbClr val="8BCB7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6600" y="5243"/>
              <a:ext cx="1187" cy="835"/>
              <a:chOff x="9057" y="9086"/>
              <a:chExt cx="887" cy="835"/>
            </a:xfrm>
          </p:grpSpPr>
          <p:sp>
            <p:nvSpPr>
              <p:cNvPr id="259" name="Rounded Rectangle 258"/>
              <p:cNvSpPr/>
              <p:nvPr/>
            </p:nvSpPr>
            <p:spPr>
              <a:xfrm>
                <a:off x="9057" y="9086"/>
                <a:ext cx="887" cy="835"/>
              </a:xfrm>
              <a:prstGeom prst="roundRect">
                <a:avLst/>
              </a:prstGeom>
              <a:solidFill>
                <a:srgbClr val="F4F8FD"/>
              </a:solidFill>
              <a:ln w="12700">
                <a:solidFill>
                  <a:srgbClr val="C8D2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Rectangle 260"/>
              <p:cNvSpPr/>
              <p:nvPr/>
            </p:nvSpPr>
            <p:spPr>
              <a:xfrm>
                <a:off x="9180" y="9590"/>
                <a:ext cx="101" cy="101"/>
              </a:xfrm>
              <a:prstGeom prst="rect">
                <a:avLst/>
              </a:prstGeom>
              <a:solidFill>
                <a:srgbClr val="6E86B8"/>
              </a:solidFill>
              <a:ln w="12700">
                <a:solidFill>
                  <a:srgbClr val="6E86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Rectangle 261"/>
              <p:cNvSpPr/>
              <p:nvPr/>
            </p:nvSpPr>
            <p:spPr>
              <a:xfrm>
                <a:off x="9353" y="9533"/>
                <a:ext cx="101" cy="158"/>
              </a:xfrm>
              <a:prstGeom prst="rect">
                <a:avLst/>
              </a:prstGeom>
              <a:solidFill>
                <a:srgbClr val="3E66B1"/>
              </a:solidFill>
              <a:ln w="12700">
                <a:solidFill>
                  <a:srgbClr val="3E66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Rectangle 262"/>
              <p:cNvSpPr/>
              <p:nvPr/>
            </p:nvSpPr>
            <p:spPr>
              <a:xfrm>
                <a:off x="9526" y="9446"/>
                <a:ext cx="101" cy="245"/>
              </a:xfrm>
              <a:prstGeom prst="rect">
                <a:avLst/>
              </a:prstGeom>
              <a:solidFill>
                <a:srgbClr val="A8647D"/>
              </a:solidFill>
              <a:ln w="12700">
                <a:solidFill>
                  <a:srgbClr val="A8647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Rectangle 263"/>
              <p:cNvSpPr/>
              <p:nvPr/>
            </p:nvSpPr>
            <p:spPr>
              <a:xfrm>
                <a:off x="9699" y="9553"/>
                <a:ext cx="101" cy="138"/>
              </a:xfrm>
              <a:prstGeom prst="rect">
                <a:avLst/>
              </a:prstGeom>
              <a:solidFill>
                <a:srgbClr val="D84135"/>
              </a:solidFill>
              <a:ln w="12700">
                <a:solidFill>
                  <a:srgbClr val="D841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43" name="可选流程 142"/>
            <p:cNvSpPr/>
            <p:nvPr/>
          </p:nvSpPr>
          <p:spPr>
            <a:xfrm>
              <a:off x="6795" y="5029"/>
              <a:ext cx="809" cy="394"/>
            </a:xfrm>
            <a:custGeom>
              <a:avLst/>
              <a:gdLst>
                <a:gd name="connsiteX0" fmla="*/ 0 w 513694"/>
                <a:gd name="connsiteY0" fmla="*/ 41744 h 250463"/>
                <a:gd name="connsiteX1" fmla="*/ 41744 w 513694"/>
                <a:gd name="connsiteY1" fmla="*/ 0 h 250463"/>
                <a:gd name="connsiteX2" fmla="*/ 471950 w 513694"/>
                <a:gd name="connsiteY2" fmla="*/ 0 h 250463"/>
                <a:gd name="connsiteX3" fmla="*/ 513694 w 513694"/>
                <a:gd name="connsiteY3" fmla="*/ 41744 h 250463"/>
                <a:gd name="connsiteX4" fmla="*/ 513694 w 513694"/>
                <a:gd name="connsiteY4" fmla="*/ 208719 h 250463"/>
                <a:gd name="connsiteX5" fmla="*/ 471950 w 513694"/>
                <a:gd name="connsiteY5" fmla="*/ 250463 h 250463"/>
                <a:gd name="connsiteX6" fmla="*/ 41744 w 513694"/>
                <a:gd name="connsiteY6" fmla="*/ 250463 h 250463"/>
                <a:gd name="connsiteX7" fmla="*/ 0 w 513694"/>
                <a:gd name="connsiteY7" fmla="*/ 208719 h 250463"/>
                <a:gd name="connsiteX8" fmla="*/ 0 w 513694"/>
                <a:gd name="connsiteY8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694" h="250463" fill="none" extrusionOk="0">
                  <a:moveTo>
                    <a:pt x="0" y="41744"/>
                  </a:moveTo>
                  <a:cubicBezTo>
                    <a:pt x="1383" y="20748"/>
                    <a:pt x="19062" y="3867"/>
                    <a:pt x="41744" y="0"/>
                  </a:cubicBezTo>
                  <a:cubicBezTo>
                    <a:pt x="130776" y="-6448"/>
                    <a:pt x="338113" y="-3180"/>
                    <a:pt x="471950" y="0"/>
                  </a:cubicBezTo>
                  <a:cubicBezTo>
                    <a:pt x="496200" y="-1484"/>
                    <a:pt x="508764" y="16783"/>
                    <a:pt x="513694" y="41744"/>
                  </a:cubicBezTo>
                  <a:cubicBezTo>
                    <a:pt x="519504" y="102487"/>
                    <a:pt x="509762" y="160038"/>
                    <a:pt x="513694" y="208719"/>
                  </a:cubicBezTo>
                  <a:cubicBezTo>
                    <a:pt x="513041" y="230443"/>
                    <a:pt x="495082" y="249418"/>
                    <a:pt x="471950" y="250463"/>
                  </a:cubicBezTo>
                  <a:cubicBezTo>
                    <a:pt x="283501" y="255080"/>
                    <a:pt x="133285" y="235750"/>
                    <a:pt x="41744" y="250463"/>
                  </a:cubicBezTo>
                  <a:cubicBezTo>
                    <a:pt x="15488" y="250595"/>
                    <a:pt x="484" y="230901"/>
                    <a:pt x="0" y="208719"/>
                  </a:cubicBezTo>
                  <a:cubicBezTo>
                    <a:pt x="2286" y="129195"/>
                    <a:pt x="4388" y="85997"/>
                    <a:pt x="0" y="41744"/>
                  </a:cubicBezTo>
                  <a:close/>
                </a:path>
                <a:path w="513694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1228" y="-19669"/>
                    <a:pt x="343891" y="-2281"/>
                    <a:pt x="471950" y="0"/>
                  </a:cubicBezTo>
                  <a:cubicBezTo>
                    <a:pt x="492660" y="-1784"/>
                    <a:pt x="512903" y="20313"/>
                    <a:pt x="513694" y="41744"/>
                  </a:cubicBezTo>
                  <a:cubicBezTo>
                    <a:pt x="513900" y="76339"/>
                    <a:pt x="509888" y="145607"/>
                    <a:pt x="513694" y="208719"/>
                  </a:cubicBezTo>
                  <a:cubicBezTo>
                    <a:pt x="514797" y="229505"/>
                    <a:pt x="492700" y="250110"/>
                    <a:pt x="471950" y="250463"/>
                  </a:cubicBezTo>
                  <a:cubicBezTo>
                    <a:pt x="294471" y="265615"/>
                    <a:pt x="148702" y="254784"/>
                    <a:pt x="41744" y="250463"/>
                  </a:cubicBezTo>
                  <a:cubicBezTo>
                    <a:pt x="16053" y="254823"/>
                    <a:pt x="-989" y="230627"/>
                    <a:pt x="0" y="208719"/>
                  </a:cubicBezTo>
                  <a:cubicBezTo>
                    <a:pt x="97" y="142030"/>
                    <a:pt x="-4763" y="121894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Logits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28" name="可选流程 227"/>
            <p:cNvSpPr/>
            <p:nvPr/>
          </p:nvSpPr>
          <p:spPr>
            <a:xfrm>
              <a:off x="6797" y="6481"/>
              <a:ext cx="1947" cy="381"/>
            </a:xfrm>
            <a:custGeom>
              <a:avLst/>
              <a:gdLst>
                <a:gd name="connsiteX0" fmla="*/ 0 w 1236211"/>
                <a:gd name="connsiteY0" fmla="*/ 40288 h 241728"/>
                <a:gd name="connsiteX1" fmla="*/ 40288 w 1236211"/>
                <a:gd name="connsiteY1" fmla="*/ 0 h 241728"/>
                <a:gd name="connsiteX2" fmla="*/ 618106 w 1236211"/>
                <a:gd name="connsiteY2" fmla="*/ 0 h 241728"/>
                <a:gd name="connsiteX3" fmla="*/ 1195923 w 1236211"/>
                <a:gd name="connsiteY3" fmla="*/ 0 h 241728"/>
                <a:gd name="connsiteX4" fmla="*/ 1236211 w 1236211"/>
                <a:gd name="connsiteY4" fmla="*/ 40288 h 241728"/>
                <a:gd name="connsiteX5" fmla="*/ 1236211 w 1236211"/>
                <a:gd name="connsiteY5" fmla="*/ 201440 h 241728"/>
                <a:gd name="connsiteX6" fmla="*/ 1195923 w 1236211"/>
                <a:gd name="connsiteY6" fmla="*/ 241728 h 241728"/>
                <a:gd name="connsiteX7" fmla="*/ 606549 w 1236211"/>
                <a:gd name="connsiteY7" fmla="*/ 241728 h 241728"/>
                <a:gd name="connsiteX8" fmla="*/ 40288 w 1236211"/>
                <a:gd name="connsiteY8" fmla="*/ 241728 h 241728"/>
                <a:gd name="connsiteX9" fmla="*/ 0 w 1236211"/>
                <a:gd name="connsiteY9" fmla="*/ 201440 h 241728"/>
                <a:gd name="connsiteX10" fmla="*/ 0 w 1236211"/>
                <a:gd name="connsiteY10" fmla="*/ 40288 h 24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6211" h="241728" fill="none" extrusionOk="0">
                  <a:moveTo>
                    <a:pt x="0" y="40288"/>
                  </a:moveTo>
                  <a:cubicBezTo>
                    <a:pt x="2693" y="21337"/>
                    <a:pt x="20285" y="-1968"/>
                    <a:pt x="40288" y="0"/>
                  </a:cubicBezTo>
                  <a:cubicBezTo>
                    <a:pt x="269611" y="18902"/>
                    <a:pt x="416380" y="2406"/>
                    <a:pt x="618106" y="0"/>
                  </a:cubicBezTo>
                  <a:cubicBezTo>
                    <a:pt x="819832" y="-2406"/>
                    <a:pt x="980979" y="19297"/>
                    <a:pt x="1195923" y="0"/>
                  </a:cubicBezTo>
                  <a:cubicBezTo>
                    <a:pt x="1216864" y="-2668"/>
                    <a:pt x="1236544" y="13532"/>
                    <a:pt x="1236211" y="40288"/>
                  </a:cubicBezTo>
                  <a:cubicBezTo>
                    <a:pt x="1231073" y="73514"/>
                    <a:pt x="1229302" y="133549"/>
                    <a:pt x="1236211" y="201440"/>
                  </a:cubicBezTo>
                  <a:cubicBezTo>
                    <a:pt x="1230695" y="223917"/>
                    <a:pt x="1219515" y="239310"/>
                    <a:pt x="1195923" y="241728"/>
                  </a:cubicBezTo>
                  <a:cubicBezTo>
                    <a:pt x="927349" y="254585"/>
                    <a:pt x="837546" y="258601"/>
                    <a:pt x="606549" y="241728"/>
                  </a:cubicBezTo>
                  <a:cubicBezTo>
                    <a:pt x="375552" y="224855"/>
                    <a:pt x="236721" y="238260"/>
                    <a:pt x="40288" y="241728"/>
                  </a:cubicBezTo>
                  <a:cubicBezTo>
                    <a:pt x="17894" y="237846"/>
                    <a:pt x="3240" y="224366"/>
                    <a:pt x="0" y="201440"/>
                  </a:cubicBezTo>
                  <a:cubicBezTo>
                    <a:pt x="358" y="136136"/>
                    <a:pt x="4336" y="109772"/>
                    <a:pt x="0" y="40288"/>
                  </a:cubicBezTo>
                  <a:close/>
                </a:path>
                <a:path w="1236211" h="241728" stroke="0" extrusionOk="0">
                  <a:moveTo>
                    <a:pt x="0" y="40288"/>
                  </a:moveTo>
                  <a:cubicBezTo>
                    <a:pt x="-2060" y="16767"/>
                    <a:pt x="13474" y="1713"/>
                    <a:pt x="40288" y="0"/>
                  </a:cubicBezTo>
                  <a:cubicBezTo>
                    <a:pt x="272916" y="-20149"/>
                    <a:pt x="472482" y="7057"/>
                    <a:pt x="641218" y="0"/>
                  </a:cubicBezTo>
                  <a:cubicBezTo>
                    <a:pt x="809954" y="-7057"/>
                    <a:pt x="1063992" y="23508"/>
                    <a:pt x="1195923" y="0"/>
                  </a:cubicBezTo>
                  <a:cubicBezTo>
                    <a:pt x="1214449" y="-2038"/>
                    <a:pt x="1237379" y="18596"/>
                    <a:pt x="1236211" y="40288"/>
                  </a:cubicBezTo>
                  <a:cubicBezTo>
                    <a:pt x="1239790" y="95404"/>
                    <a:pt x="1230886" y="144385"/>
                    <a:pt x="1236211" y="201440"/>
                  </a:cubicBezTo>
                  <a:cubicBezTo>
                    <a:pt x="1238448" y="220049"/>
                    <a:pt x="1216652" y="243065"/>
                    <a:pt x="1195923" y="241728"/>
                  </a:cubicBezTo>
                  <a:cubicBezTo>
                    <a:pt x="950012" y="241038"/>
                    <a:pt x="809430" y="265274"/>
                    <a:pt x="618106" y="241728"/>
                  </a:cubicBezTo>
                  <a:cubicBezTo>
                    <a:pt x="426782" y="218182"/>
                    <a:pt x="198486" y="217694"/>
                    <a:pt x="40288" y="241728"/>
                  </a:cubicBezTo>
                  <a:cubicBezTo>
                    <a:pt x="15757" y="241598"/>
                    <a:pt x="518" y="222271"/>
                    <a:pt x="0" y="201440"/>
                  </a:cubicBezTo>
                  <a:cubicBezTo>
                    <a:pt x="2112" y="153425"/>
                    <a:pt x="-2681" y="93356"/>
                    <a:pt x="0" y="40288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0" i="0" dirty="0">
                  <a:solidFill>
                    <a:srgbClr val="121212"/>
                  </a:solidFill>
                  <a:effectLst/>
                  <a:latin typeface="Comic Sans MS" panose="030F0702030302020204" pitchFamily="66" charset="0"/>
                </a:rPr>
                <a:t> Temporal Separation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70" name="右箭头 369"/>
            <p:cNvSpPr>
              <a:spLocks noGrp="1"/>
            </p:cNvSpPr>
            <p:nvPr/>
          </p:nvSpPr>
          <p:spPr>
            <a:xfrm>
              <a:off x="7961" y="5578"/>
              <a:ext cx="568" cy="29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7A6F68"/>
            </a:solidFill>
            <a:ln w="762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右箭头 370"/>
            <p:cNvSpPr>
              <a:spLocks noGrp="1"/>
            </p:cNvSpPr>
            <p:nvPr/>
          </p:nvSpPr>
          <p:spPr>
            <a:xfrm>
              <a:off x="5769" y="5579"/>
              <a:ext cx="568" cy="29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7A6F68"/>
            </a:solidFill>
            <a:ln w="762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可选流程 371"/>
            <p:cNvSpPr/>
            <p:nvPr/>
          </p:nvSpPr>
          <p:spPr>
            <a:xfrm>
              <a:off x="8553" y="4986"/>
              <a:ext cx="809" cy="394"/>
            </a:xfrm>
            <a:custGeom>
              <a:avLst/>
              <a:gdLst>
                <a:gd name="connsiteX0" fmla="*/ 0 w 513694"/>
                <a:gd name="connsiteY0" fmla="*/ 41744 h 250463"/>
                <a:gd name="connsiteX1" fmla="*/ 41744 w 513694"/>
                <a:gd name="connsiteY1" fmla="*/ 0 h 250463"/>
                <a:gd name="connsiteX2" fmla="*/ 471950 w 513694"/>
                <a:gd name="connsiteY2" fmla="*/ 0 h 250463"/>
                <a:gd name="connsiteX3" fmla="*/ 513694 w 513694"/>
                <a:gd name="connsiteY3" fmla="*/ 41744 h 250463"/>
                <a:gd name="connsiteX4" fmla="*/ 513694 w 513694"/>
                <a:gd name="connsiteY4" fmla="*/ 208719 h 250463"/>
                <a:gd name="connsiteX5" fmla="*/ 471950 w 513694"/>
                <a:gd name="connsiteY5" fmla="*/ 250463 h 250463"/>
                <a:gd name="connsiteX6" fmla="*/ 41744 w 513694"/>
                <a:gd name="connsiteY6" fmla="*/ 250463 h 250463"/>
                <a:gd name="connsiteX7" fmla="*/ 0 w 513694"/>
                <a:gd name="connsiteY7" fmla="*/ 208719 h 250463"/>
                <a:gd name="connsiteX8" fmla="*/ 0 w 513694"/>
                <a:gd name="connsiteY8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694" h="250463" fill="none" extrusionOk="0">
                  <a:moveTo>
                    <a:pt x="0" y="41744"/>
                  </a:moveTo>
                  <a:cubicBezTo>
                    <a:pt x="1383" y="20748"/>
                    <a:pt x="19062" y="3867"/>
                    <a:pt x="41744" y="0"/>
                  </a:cubicBezTo>
                  <a:cubicBezTo>
                    <a:pt x="130776" y="-6448"/>
                    <a:pt x="338113" y="-3180"/>
                    <a:pt x="471950" y="0"/>
                  </a:cubicBezTo>
                  <a:cubicBezTo>
                    <a:pt x="496200" y="-1484"/>
                    <a:pt x="508764" y="16783"/>
                    <a:pt x="513694" y="41744"/>
                  </a:cubicBezTo>
                  <a:cubicBezTo>
                    <a:pt x="519504" y="102487"/>
                    <a:pt x="509762" y="160038"/>
                    <a:pt x="513694" y="208719"/>
                  </a:cubicBezTo>
                  <a:cubicBezTo>
                    <a:pt x="513041" y="230443"/>
                    <a:pt x="495082" y="249418"/>
                    <a:pt x="471950" y="250463"/>
                  </a:cubicBezTo>
                  <a:cubicBezTo>
                    <a:pt x="283501" y="255080"/>
                    <a:pt x="133285" y="235750"/>
                    <a:pt x="41744" y="250463"/>
                  </a:cubicBezTo>
                  <a:cubicBezTo>
                    <a:pt x="15488" y="250595"/>
                    <a:pt x="484" y="230901"/>
                    <a:pt x="0" y="208719"/>
                  </a:cubicBezTo>
                  <a:cubicBezTo>
                    <a:pt x="2286" y="129195"/>
                    <a:pt x="4388" y="85997"/>
                    <a:pt x="0" y="41744"/>
                  </a:cubicBezTo>
                  <a:close/>
                </a:path>
                <a:path w="513694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1228" y="-19669"/>
                    <a:pt x="343891" y="-2281"/>
                    <a:pt x="471950" y="0"/>
                  </a:cubicBezTo>
                  <a:cubicBezTo>
                    <a:pt x="492660" y="-1784"/>
                    <a:pt x="512903" y="20313"/>
                    <a:pt x="513694" y="41744"/>
                  </a:cubicBezTo>
                  <a:cubicBezTo>
                    <a:pt x="513900" y="76339"/>
                    <a:pt x="509888" y="145607"/>
                    <a:pt x="513694" y="208719"/>
                  </a:cubicBezTo>
                  <a:cubicBezTo>
                    <a:pt x="514797" y="229505"/>
                    <a:pt x="492700" y="250110"/>
                    <a:pt x="471950" y="250463"/>
                  </a:cubicBezTo>
                  <a:cubicBezTo>
                    <a:pt x="294471" y="265615"/>
                    <a:pt x="148702" y="254784"/>
                    <a:pt x="41744" y="250463"/>
                  </a:cubicBezTo>
                  <a:cubicBezTo>
                    <a:pt x="16053" y="254823"/>
                    <a:pt x="-989" y="230627"/>
                    <a:pt x="0" y="208719"/>
                  </a:cubicBezTo>
                  <a:cubicBezTo>
                    <a:pt x="97" y="142030"/>
                    <a:pt x="-4763" y="121894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Cargo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374" name="图片 37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1" y="5462"/>
              <a:ext cx="634" cy="634"/>
            </a:xfrm>
            <a:prstGeom prst="rect">
              <a:avLst/>
            </a:prstGeom>
          </p:spPr>
        </p:pic>
        <p:grpSp>
          <p:nvGrpSpPr>
            <p:cNvPr id="46" name="组合 45"/>
            <p:cNvGrpSpPr/>
            <p:nvPr/>
          </p:nvGrpSpPr>
          <p:grpSpPr>
            <a:xfrm>
              <a:off x="3371" y="6535"/>
              <a:ext cx="3265" cy="2136"/>
              <a:chOff x="2390" y="6535"/>
              <a:chExt cx="3265" cy="2136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4663" y="6776"/>
                <a:ext cx="992" cy="773"/>
                <a:chOff x="1346" y="6856"/>
                <a:chExt cx="992" cy="773"/>
              </a:xfrm>
            </p:grpSpPr>
            <p:pic>
              <p:nvPicPr>
                <p:cNvPr id="141" name="图片 140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0" y="6856"/>
                  <a:ext cx="548" cy="548"/>
                </a:xfrm>
                <a:prstGeom prst="rect">
                  <a:avLst/>
                </a:prstGeom>
              </p:spPr>
            </p:pic>
            <p:sp>
              <p:nvSpPr>
                <p:cNvPr id="224" name="文本框 223"/>
                <p:cNvSpPr txBox="1"/>
                <p:nvPr/>
              </p:nvSpPr>
              <p:spPr>
                <a:xfrm>
                  <a:off x="1346" y="7265"/>
                  <a:ext cx="993" cy="3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900" dirty="0">
                      <a:latin typeface="Comic Sans MS" panose="030F0702030302020204" pitchFamily="66" charset="0"/>
                    </a:rPr>
                    <a:t>Teacher</a:t>
                  </a:r>
                  <a:endParaRPr kumimoji="1" lang="zh-CN" altLang="en-US" sz="900" dirty="0"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45" y="7795"/>
                <a:ext cx="982" cy="877"/>
                <a:chOff x="1328" y="7628"/>
                <a:chExt cx="982" cy="877"/>
              </a:xfrm>
            </p:grpSpPr>
            <p:pic>
              <p:nvPicPr>
                <p:cNvPr id="213" name="图片 212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08" y="7628"/>
                  <a:ext cx="552" cy="552"/>
                </a:xfrm>
                <a:prstGeom prst="rect">
                  <a:avLst/>
                </a:prstGeom>
              </p:spPr>
            </p:pic>
            <p:sp>
              <p:nvSpPr>
                <p:cNvPr id="225" name="文本框 224"/>
                <p:cNvSpPr txBox="1"/>
                <p:nvPr/>
              </p:nvSpPr>
              <p:spPr>
                <a:xfrm>
                  <a:off x="1328" y="8141"/>
                  <a:ext cx="983" cy="3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900" dirty="0">
                      <a:latin typeface="Comic Sans MS" panose="030F0702030302020204" pitchFamily="66" charset="0"/>
                    </a:rPr>
                    <a:t>Student</a:t>
                  </a:r>
                  <a:endParaRPr kumimoji="1" lang="zh-CN" altLang="en-US" sz="900" dirty="0"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390" y="6535"/>
                <a:ext cx="2651" cy="1950"/>
                <a:chOff x="2202" y="6269"/>
                <a:chExt cx="2651" cy="1950"/>
              </a:xfrm>
            </p:grpSpPr>
            <p:sp>
              <p:nvSpPr>
                <p:cNvPr id="31" name="圆角矩形 30"/>
                <p:cNvSpPr>
                  <a:spLocks noGrp="1"/>
                </p:cNvSpPr>
                <p:nvPr/>
              </p:nvSpPr>
              <p:spPr>
                <a:xfrm>
                  <a:off x="2202" y="6393"/>
                  <a:ext cx="2375" cy="1826"/>
                </a:xfrm>
                <a:custGeom>
                  <a:avLst/>
                  <a:gdLst>
                    <a:gd name="connsiteX0" fmla="*/ 0 w 2317179"/>
                    <a:gd name="connsiteY0" fmla="*/ 85786 h 1338308"/>
                    <a:gd name="connsiteX1" fmla="*/ 85786 w 2317179"/>
                    <a:gd name="connsiteY1" fmla="*/ 0 h 1338308"/>
                    <a:gd name="connsiteX2" fmla="*/ 579276 w 2317179"/>
                    <a:gd name="connsiteY2" fmla="*/ 0 h 1338308"/>
                    <a:gd name="connsiteX3" fmla="*/ 1115677 w 2317179"/>
                    <a:gd name="connsiteY3" fmla="*/ 0 h 1338308"/>
                    <a:gd name="connsiteX4" fmla="*/ 1609167 w 2317179"/>
                    <a:gd name="connsiteY4" fmla="*/ 0 h 1338308"/>
                    <a:gd name="connsiteX5" fmla="*/ 2231393 w 2317179"/>
                    <a:gd name="connsiteY5" fmla="*/ 0 h 1338308"/>
                    <a:gd name="connsiteX6" fmla="*/ 2317179 w 2317179"/>
                    <a:gd name="connsiteY6" fmla="*/ 85786 h 1338308"/>
                    <a:gd name="connsiteX7" fmla="*/ 2317179 w 2317179"/>
                    <a:gd name="connsiteY7" fmla="*/ 669154 h 1338308"/>
                    <a:gd name="connsiteX8" fmla="*/ 2317179 w 2317179"/>
                    <a:gd name="connsiteY8" fmla="*/ 1252522 h 1338308"/>
                    <a:gd name="connsiteX9" fmla="*/ 2231393 w 2317179"/>
                    <a:gd name="connsiteY9" fmla="*/ 1338308 h 1338308"/>
                    <a:gd name="connsiteX10" fmla="*/ 1716447 w 2317179"/>
                    <a:gd name="connsiteY10" fmla="*/ 1338308 h 1338308"/>
                    <a:gd name="connsiteX11" fmla="*/ 1244414 w 2317179"/>
                    <a:gd name="connsiteY11" fmla="*/ 1338308 h 1338308"/>
                    <a:gd name="connsiteX12" fmla="*/ 686556 w 2317179"/>
                    <a:gd name="connsiteY12" fmla="*/ 1338308 h 1338308"/>
                    <a:gd name="connsiteX13" fmla="*/ 85786 w 2317179"/>
                    <a:gd name="connsiteY13" fmla="*/ 1338308 h 1338308"/>
                    <a:gd name="connsiteX14" fmla="*/ 0 w 2317179"/>
                    <a:gd name="connsiteY14" fmla="*/ 1252522 h 1338308"/>
                    <a:gd name="connsiteX15" fmla="*/ 0 w 2317179"/>
                    <a:gd name="connsiteY15" fmla="*/ 645819 h 1338308"/>
                    <a:gd name="connsiteX16" fmla="*/ 0 w 2317179"/>
                    <a:gd name="connsiteY16" fmla="*/ 85786 h 1338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317179" h="1338308" fill="none" extrusionOk="0">
                      <a:moveTo>
                        <a:pt x="0" y="85786"/>
                      </a:moveTo>
                      <a:cubicBezTo>
                        <a:pt x="-3038" y="43840"/>
                        <a:pt x="46487" y="6003"/>
                        <a:pt x="85786" y="0"/>
                      </a:cubicBezTo>
                      <a:cubicBezTo>
                        <a:pt x="279379" y="21031"/>
                        <a:pt x="346961" y="-13621"/>
                        <a:pt x="579276" y="0"/>
                      </a:cubicBezTo>
                      <a:cubicBezTo>
                        <a:pt x="811591" y="13621"/>
                        <a:pt x="998487" y="20754"/>
                        <a:pt x="1115677" y="0"/>
                      </a:cubicBezTo>
                      <a:cubicBezTo>
                        <a:pt x="1232867" y="-20754"/>
                        <a:pt x="1504831" y="12893"/>
                        <a:pt x="1609167" y="0"/>
                      </a:cubicBezTo>
                      <a:cubicBezTo>
                        <a:pt x="1713503" y="-12893"/>
                        <a:pt x="2072892" y="6374"/>
                        <a:pt x="2231393" y="0"/>
                      </a:cubicBezTo>
                      <a:cubicBezTo>
                        <a:pt x="2271680" y="-401"/>
                        <a:pt x="2325922" y="45935"/>
                        <a:pt x="2317179" y="85786"/>
                      </a:cubicBezTo>
                      <a:cubicBezTo>
                        <a:pt x="2295620" y="209321"/>
                        <a:pt x="2295480" y="537082"/>
                        <a:pt x="2317179" y="669154"/>
                      </a:cubicBezTo>
                      <a:cubicBezTo>
                        <a:pt x="2338878" y="801226"/>
                        <a:pt x="2311342" y="1012078"/>
                        <a:pt x="2317179" y="1252522"/>
                      </a:cubicBezTo>
                      <a:cubicBezTo>
                        <a:pt x="2316728" y="1290533"/>
                        <a:pt x="2281527" y="1340044"/>
                        <a:pt x="2231393" y="1338308"/>
                      </a:cubicBezTo>
                      <a:cubicBezTo>
                        <a:pt x="2110157" y="1327192"/>
                        <a:pt x="1944590" y="1344162"/>
                        <a:pt x="1716447" y="1338308"/>
                      </a:cubicBezTo>
                      <a:cubicBezTo>
                        <a:pt x="1488304" y="1332454"/>
                        <a:pt x="1407570" y="1335240"/>
                        <a:pt x="1244414" y="1338308"/>
                      </a:cubicBezTo>
                      <a:cubicBezTo>
                        <a:pt x="1081258" y="1341376"/>
                        <a:pt x="917491" y="1357980"/>
                        <a:pt x="686556" y="1338308"/>
                      </a:cubicBezTo>
                      <a:cubicBezTo>
                        <a:pt x="455621" y="1318636"/>
                        <a:pt x="298379" y="1319242"/>
                        <a:pt x="85786" y="1338308"/>
                      </a:cubicBezTo>
                      <a:cubicBezTo>
                        <a:pt x="31923" y="1341944"/>
                        <a:pt x="2315" y="1306174"/>
                        <a:pt x="0" y="1252522"/>
                      </a:cubicBezTo>
                      <a:cubicBezTo>
                        <a:pt x="17269" y="1052808"/>
                        <a:pt x="-19255" y="855994"/>
                        <a:pt x="0" y="645819"/>
                      </a:cubicBezTo>
                      <a:cubicBezTo>
                        <a:pt x="19255" y="435644"/>
                        <a:pt x="3633" y="273817"/>
                        <a:pt x="0" y="85786"/>
                      </a:cubicBezTo>
                      <a:close/>
                    </a:path>
                    <a:path w="2317179" h="1338308" stroke="0" extrusionOk="0">
                      <a:moveTo>
                        <a:pt x="0" y="85786"/>
                      </a:moveTo>
                      <a:cubicBezTo>
                        <a:pt x="-7775" y="33612"/>
                        <a:pt x="27788" y="3986"/>
                        <a:pt x="85786" y="0"/>
                      </a:cubicBezTo>
                      <a:cubicBezTo>
                        <a:pt x="215449" y="8864"/>
                        <a:pt x="410953" y="22153"/>
                        <a:pt x="665100" y="0"/>
                      </a:cubicBezTo>
                      <a:cubicBezTo>
                        <a:pt x="919247" y="-22153"/>
                        <a:pt x="925029" y="-3623"/>
                        <a:pt x="1180046" y="0"/>
                      </a:cubicBezTo>
                      <a:cubicBezTo>
                        <a:pt x="1435063" y="3623"/>
                        <a:pt x="1457169" y="-14806"/>
                        <a:pt x="1673535" y="0"/>
                      </a:cubicBezTo>
                      <a:cubicBezTo>
                        <a:pt x="1889901" y="14806"/>
                        <a:pt x="2049193" y="11103"/>
                        <a:pt x="2231393" y="0"/>
                      </a:cubicBezTo>
                      <a:cubicBezTo>
                        <a:pt x="2283834" y="-10420"/>
                        <a:pt x="2308559" y="37088"/>
                        <a:pt x="2317179" y="85786"/>
                      </a:cubicBezTo>
                      <a:cubicBezTo>
                        <a:pt x="2322543" y="357741"/>
                        <a:pt x="2299954" y="378273"/>
                        <a:pt x="2317179" y="669154"/>
                      </a:cubicBezTo>
                      <a:cubicBezTo>
                        <a:pt x="2334404" y="960035"/>
                        <a:pt x="2297497" y="1025425"/>
                        <a:pt x="2317179" y="1252522"/>
                      </a:cubicBezTo>
                      <a:cubicBezTo>
                        <a:pt x="2322010" y="1301062"/>
                        <a:pt x="2268007" y="1336567"/>
                        <a:pt x="2231393" y="1338308"/>
                      </a:cubicBezTo>
                      <a:cubicBezTo>
                        <a:pt x="2032655" y="1361050"/>
                        <a:pt x="1829681" y="1332085"/>
                        <a:pt x="1694991" y="1338308"/>
                      </a:cubicBezTo>
                      <a:cubicBezTo>
                        <a:pt x="1560301" y="1344531"/>
                        <a:pt x="1321395" y="1335252"/>
                        <a:pt x="1180046" y="1338308"/>
                      </a:cubicBezTo>
                      <a:cubicBezTo>
                        <a:pt x="1038698" y="1341364"/>
                        <a:pt x="724084" y="1332715"/>
                        <a:pt x="600732" y="1338308"/>
                      </a:cubicBezTo>
                      <a:cubicBezTo>
                        <a:pt x="477380" y="1343901"/>
                        <a:pt x="341499" y="1357636"/>
                        <a:pt x="85786" y="1338308"/>
                      </a:cubicBezTo>
                      <a:cubicBezTo>
                        <a:pt x="35594" y="1338770"/>
                        <a:pt x="-4713" y="1296648"/>
                        <a:pt x="0" y="1252522"/>
                      </a:cubicBezTo>
                      <a:cubicBezTo>
                        <a:pt x="9456" y="1021131"/>
                        <a:pt x="-21555" y="828390"/>
                        <a:pt x="0" y="657487"/>
                      </a:cubicBezTo>
                      <a:cubicBezTo>
                        <a:pt x="21555" y="486584"/>
                        <a:pt x="23925" y="320348"/>
                        <a:pt x="0" y="85786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  <a:ln w="13335">
                  <a:solidFill>
                    <a:schemeClr val="accent5">
                      <a:lumMod val="75000"/>
                    </a:schemeClr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227" name="可选流程 226"/>
                <p:cNvSpPr/>
                <p:nvPr/>
              </p:nvSpPr>
              <p:spPr>
                <a:xfrm>
                  <a:off x="2416" y="6269"/>
                  <a:ext cx="1947" cy="381"/>
                </a:xfrm>
                <a:custGeom>
                  <a:avLst/>
                  <a:gdLst>
                    <a:gd name="connsiteX0" fmla="*/ 0 w 1236211"/>
                    <a:gd name="connsiteY0" fmla="*/ 40288 h 241728"/>
                    <a:gd name="connsiteX1" fmla="*/ 40288 w 1236211"/>
                    <a:gd name="connsiteY1" fmla="*/ 0 h 241728"/>
                    <a:gd name="connsiteX2" fmla="*/ 618106 w 1236211"/>
                    <a:gd name="connsiteY2" fmla="*/ 0 h 241728"/>
                    <a:gd name="connsiteX3" fmla="*/ 1195923 w 1236211"/>
                    <a:gd name="connsiteY3" fmla="*/ 0 h 241728"/>
                    <a:gd name="connsiteX4" fmla="*/ 1236211 w 1236211"/>
                    <a:gd name="connsiteY4" fmla="*/ 40288 h 241728"/>
                    <a:gd name="connsiteX5" fmla="*/ 1236211 w 1236211"/>
                    <a:gd name="connsiteY5" fmla="*/ 201440 h 241728"/>
                    <a:gd name="connsiteX6" fmla="*/ 1195923 w 1236211"/>
                    <a:gd name="connsiteY6" fmla="*/ 241728 h 241728"/>
                    <a:gd name="connsiteX7" fmla="*/ 606549 w 1236211"/>
                    <a:gd name="connsiteY7" fmla="*/ 241728 h 241728"/>
                    <a:gd name="connsiteX8" fmla="*/ 40288 w 1236211"/>
                    <a:gd name="connsiteY8" fmla="*/ 241728 h 241728"/>
                    <a:gd name="connsiteX9" fmla="*/ 0 w 1236211"/>
                    <a:gd name="connsiteY9" fmla="*/ 201440 h 241728"/>
                    <a:gd name="connsiteX10" fmla="*/ 0 w 1236211"/>
                    <a:gd name="connsiteY10" fmla="*/ 40288 h 241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36211" h="241728" fill="none" extrusionOk="0">
                      <a:moveTo>
                        <a:pt x="0" y="40288"/>
                      </a:moveTo>
                      <a:cubicBezTo>
                        <a:pt x="2693" y="21337"/>
                        <a:pt x="20285" y="-1968"/>
                        <a:pt x="40288" y="0"/>
                      </a:cubicBezTo>
                      <a:cubicBezTo>
                        <a:pt x="269611" y="18902"/>
                        <a:pt x="416380" y="2406"/>
                        <a:pt x="618106" y="0"/>
                      </a:cubicBezTo>
                      <a:cubicBezTo>
                        <a:pt x="819832" y="-2406"/>
                        <a:pt x="980979" y="19297"/>
                        <a:pt x="1195923" y="0"/>
                      </a:cubicBezTo>
                      <a:cubicBezTo>
                        <a:pt x="1216864" y="-2668"/>
                        <a:pt x="1236544" y="13532"/>
                        <a:pt x="1236211" y="40288"/>
                      </a:cubicBezTo>
                      <a:cubicBezTo>
                        <a:pt x="1231073" y="73514"/>
                        <a:pt x="1229302" y="133549"/>
                        <a:pt x="1236211" y="201440"/>
                      </a:cubicBezTo>
                      <a:cubicBezTo>
                        <a:pt x="1230695" y="223917"/>
                        <a:pt x="1219515" y="239310"/>
                        <a:pt x="1195923" y="241728"/>
                      </a:cubicBezTo>
                      <a:cubicBezTo>
                        <a:pt x="927349" y="254585"/>
                        <a:pt x="837546" y="258601"/>
                        <a:pt x="606549" y="241728"/>
                      </a:cubicBezTo>
                      <a:cubicBezTo>
                        <a:pt x="375552" y="224855"/>
                        <a:pt x="236721" y="238260"/>
                        <a:pt x="40288" y="241728"/>
                      </a:cubicBezTo>
                      <a:cubicBezTo>
                        <a:pt x="17894" y="237846"/>
                        <a:pt x="3240" y="224366"/>
                        <a:pt x="0" y="201440"/>
                      </a:cubicBezTo>
                      <a:cubicBezTo>
                        <a:pt x="358" y="136136"/>
                        <a:pt x="4336" y="109772"/>
                        <a:pt x="0" y="40288"/>
                      </a:cubicBezTo>
                      <a:close/>
                    </a:path>
                    <a:path w="1236211" h="241728" stroke="0" extrusionOk="0">
                      <a:moveTo>
                        <a:pt x="0" y="40288"/>
                      </a:moveTo>
                      <a:cubicBezTo>
                        <a:pt x="-2060" y="16767"/>
                        <a:pt x="13474" y="1713"/>
                        <a:pt x="40288" y="0"/>
                      </a:cubicBezTo>
                      <a:cubicBezTo>
                        <a:pt x="272916" y="-20149"/>
                        <a:pt x="472482" y="7057"/>
                        <a:pt x="641218" y="0"/>
                      </a:cubicBezTo>
                      <a:cubicBezTo>
                        <a:pt x="809954" y="-7057"/>
                        <a:pt x="1063992" y="23508"/>
                        <a:pt x="1195923" y="0"/>
                      </a:cubicBezTo>
                      <a:cubicBezTo>
                        <a:pt x="1214449" y="-2038"/>
                        <a:pt x="1237379" y="18596"/>
                        <a:pt x="1236211" y="40288"/>
                      </a:cubicBezTo>
                      <a:cubicBezTo>
                        <a:pt x="1239790" y="95404"/>
                        <a:pt x="1230886" y="144385"/>
                        <a:pt x="1236211" y="201440"/>
                      </a:cubicBezTo>
                      <a:cubicBezTo>
                        <a:pt x="1238448" y="220049"/>
                        <a:pt x="1216652" y="243065"/>
                        <a:pt x="1195923" y="241728"/>
                      </a:cubicBezTo>
                      <a:cubicBezTo>
                        <a:pt x="950012" y="241038"/>
                        <a:pt x="809430" y="265274"/>
                        <a:pt x="618106" y="241728"/>
                      </a:cubicBezTo>
                      <a:cubicBezTo>
                        <a:pt x="426782" y="218182"/>
                        <a:pt x="198486" y="217694"/>
                        <a:pt x="40288" y="241728"/>
                      </a:cubicBezTo>
                      <a:cubicBezTo>
                        <a:pt x="15757" y="241598"/>
                        <a:pt x="518" y="222271"/>
                        <a:pt x="0" y="201440"/>
                      </a:cubicBezTo>
                      <a:cubicBezTo>
                        <a:pt x="2112" y="153425"/>
                        <a:pt x="-2681" y="93356"/>
                        <a:pt x="0" y="4028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800" b="0" i="0" dirty="0">
                      <a:solidFill>
                        <a:srgbClr val="121212"/>
                      </a:solidFill>
                      <a:effectLst/>
                      <a:latin typeface="Comic Sans MS" panose="030F0702030302020204" pitchFamily="66" charset="0"/>
                    </a:rPr>
                    <a:t>Memory-Discrepancy</a:t>
                  </a:r>
                  <a:endParaRPr kumimoji="1" lang="en-US" altLang="zh-CN" sz="800" dirty="0">
                    <a:solidFill>
                      <a:schemeClr val="tx1"/>
                    </a:solidFill>
                    <a:latin typeface="Comic Sans MS" panose="030F0702030302020204" pitchFamily="66" charset="0"/>
                  </a:endParaRPr>
                </a:p>
              </p:txBody>
            </p:sp>
            <p:grpSp>
              <p:nvGrpSpPr>
                <p:cNvPr id="33" name="组合 32"/>
                <p:cNvGrpSpPr/>
                <p:nvPr/>
              </p:nvGrpSpPr>
              <p:grpSpPr>
                <a:xfrm>
                  <a:off x="2381" y="6869"/>
                  <a:ext cx="2472" cy="1132"/>
                  <a:chOff x="2251" y="6862"/>
                  <a:chExt cx="2472" cy="1132"/>
                </a:xfrm>
              </p:grpSpPr>
              <p:sp>
                <p:nvSpPr>
                  <p:cNvPr id="3" name="任意多边形 2"/>
                  <p:cNvSpPr/>
                  <p:nvPr/>
                </p:nvSpPr>
                <p:spPr>
                  <a:xfrm rot="16200000" flipH="1">
                    <a:off x="2774" y="6338"/>
                    <a:ext cx="1106" cy="2153"/>
                  </a:xfrm>
                  <a:custGeom>
                    <a:avLst/>
                    <a:gdLst>
                      <a:gd name="connsiteX0" fmla="*/ 44 w 1106"/>
                      <a:gd name="connsiteY0" fmla="*/ 177 h 2153"/>
                      <a:gd name="connsiteX1" fmla="*/ 221 w 1106"/>
                      <a:gd name="connsiteY1" fmla="*/ 0 h 2153"/>
                      <a:gd name="connsiteX2" fmla="*/ 221 w 1106"/>
                      <a:gd name="connsiteY2" fmla="*/ 0 h 2153"/>
                      <a:gd name="connsiteX3" fmla="*/ 221 w 1106"/>
                      <a:gd name="connsiteY3" fmla="*/ 0 h 2153"/>
                      <a:gd name="connsiteX4" fmla="*/ 487 w 1106"/>
                      <a:gd name="connsiteY4" fmla="*/ 0 h 2153"/>
                      <a:gd name="connsiteX5" fmla="*/ 929 w 1106"/>
                      <a:gd name="connsiteY5" fmla="*/ 0 h 2153"/>
                      <a:gd name="connsiteX6" fmla="*/ 1106 w 1106"/>
                      <a:gd name="connsiteY6" fmla="*/ 177 h 2153"/>
                      <a:gd name="connsiteX7" fmla="*/ 1106 w 1106"/>
                      <a:gd name="connsiteY7" fmla="*/ 1069 h 2153"/>
                      <a:gd name="connsiteX8" fmla="*/ 1106 w 1106"/>
                      <a:gd name="connsiteY8" fmla="*/ 1069 h 2153"/>
                      <a:gd name="connsiteX9" fmla="*/ 1106 w 1106"/>
                      <a:gd name="connsiteY9" fmla="*/ 1528 h 2153"/>
                      <a:gd name="connsiteX10" fmla="*/ 1106 w 1106"/>
                      <a:gd name="connsiteY10" fmla="*/ 1656 h 2153"/>
                      <a:gd name="connsiteX11" fmla="*/ 929 w 1106"/>
                      <a:gd name="connsiteY11" fmla="*/ 1833 h 2153"/>
                      <a:gd name="connsiteX12" fmla="*/ 487 w 1106"/>
                      <a:gd name="connsiteY12" fmla="*/ 1833 h 2153"/>
                      <a:gd name="connsiteX13" fmla="*/ 0 w 1106"/>
                      <a:gd name="connsiteY13" fmla="*/ 2153 h 2153"/>
                      <a:gd name="connsiteX14" fmla="*/ 221 w 1106"/>
                      <a:gd name="connsiteY14" fmla="*/ 1833 h 2153"/>
                      <a:gd name="connsiteX15" fmla="*/ 221 w 1106"/>
                      <a:gd name="connsiteY15" fmla="*/ 1833 h 2153"/>
                      <a:gd name="connsiteX16" fmla="*/ 44 w 1106"/>
                      <a:gd name="connsiteY16" fmla="*/ 1656 h 2153"/>
                      <a:gd name="connsiteX17" fmla="*/ 44 w 1106"/>
                      <a:gd name="connsiteY17" fmla="*/ 1528 h 2153"/>
                      <a:gd name="connsiteX18" fmla="*/ 44 w 1106"/>
                      <a:gd name="connsiteY18" fmla="*/ 1069 h 2153"/>
                      <a:gd name="connsiteX19" fmla="*/ 44 w 1106"/>
                      <a:gd name="connsiteY19" fmla="*/ 1069 h 2153"/>
                      <a:gd name="connsiteX20" fmla="*/ 44 w 1106"/>
                      <a:gd name="connsiteY20" fmla="*/ 177 h 2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106" h="2153">
                        <a:moveTo>
                          <a:pt x="44" y="177"/>
                        </a:moveTo>
                        <a:cubicBezTo>
                          <a:pt x="44" y="79"/>
                          <a:pt x="123" y="0"/>
                          <a:pt x="221" y="0"/>
                        </a:cubicBezTo>
                        <a:lnTo>
                          <a:pt x="221" y="0"/>
                        </a:lnTo>
                        <a:lnTo>
                          <a:pt x="221" y="0"/>
                        </a:lnTo>
                        <a:lnTo>
                          <a:pt x="487" y="0"/>
                        </a:lnTo>
                        <a:lnTo>
                          <a:pt x="929" y="0"/>
                        </a:lnTo>
                        <a:cubicBezTo>
                          <a:pt x="1027" y="0"/>
                          <a:pt x="1106" y="79"/>
                          <a:pt x="1106" y="177"/>
                        </a:cubicBezTo>
                        <a:lnTo>
                          <a:pt x="1106" y="1069"/>
                        </a:lnTo>
                        <a:lnTo>
                          <a:pt x="1106" y="1069"/>
                        </a:lnTo>
                        <a:lnTo>
                          <a:pt x="1106" y="1528"/>
                        </a:lnTo>
                        <a:lnTo>
                          <a:pt x="1106" y="1656"/>
                        </a:lnTo>
                        <a:cubicBezTo>
                          <a:pt x="1106" y="1754"/>
                          <a:pt x="1027" y="1833"/>
                          <a:pt x="929" y="1833"/>
                        </a:cubicBezTo>
                        <a:lnTo>
                          <a:pt x="487" y="1833"/>
                        </a:lnTo>
                        <a:lnTo>
                          <a:pt x="0" y="2153"/>
                        </a:lnTo>
                        <a:lnTo>
                          <a:pt x="221" y="1833"/>
                        </a:lnTo>
                        <a:lnTo>
                          <a:pt x="221" y="1833"/>
                        </a:lnTo>
                        <a:cubicBezTo>
                          <a:pt x="123" y="1833"/>
                          <a:pt x="44" y="1754"/>
                          <a:pt x="44" y="1656"/>
                        </a:cubicBezTo>
                        <a:lnTo>
                          <a:pt x="44" y="1528"/>
                        </a:lnTo>
                        <a:lnTo>
                          <a:pt x="44" y="1069"/>
                        </a:lnTo>
                        <a:lnTo>
                          <a:pt x="44" y="1069"/>
                        </a:lnTo>
                        <a:lnTo>
                          <a:pt x="44" y="177"/>
                        </a:lnTo>
                        <a:close/>
                      </a:path>
                    </a:pathLst>
                  </a:custGeom>
                  <a:solidFill>
                    <a:srgbClr val="185F8A"/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2338" y="6912"/>
                    <a:ext cx="2385" cy="1082"/>
                  </a:xfrm>
                  <a:prstGeom prst="rect">
                    <a:avLst/>
                  </a:prstGeom>
                </p:spPr>
                <p:txBody>
                  <a:bodyPr>
                    <a:noAutofit/>
                    <a:extLst>
                      <a:ext uri="{4A0BC546-FE56-4ADE-93B0-CB8AF2F6F144}">
                        <wpsdc:textFrameExt xmlns:wpsdc="http://www.wps.cn/officeDocument/2022/drawingmlCustomData" type="text"/>
                      </a:ext>
                    </a:extLst>
                  </a:bodyPr>
                  <a:p>
                    <a:pPr algn="l"/>
                    <a:r>
                      <a:rPr lang="en-US" altLang="zh-CN" sz="120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charset="-122"/>
                        <a:cs typeface="Comic Sans MS" panose="030F0702030302020204" pitchFamily="66" charset="0"/>
                      </a:rPr>
                      <a:t>Transfer My Feature Knowledge</a:t>
                    </a:r>
                    <a:endParaRPr lang="en-US" altLang="zh-CN" sz="120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charset="-122"/>
                      <a:cs typeface="Comic Sans MS" panose="030F0702030302020204" pitchFamily="66" charset="0"/>
                    </a:endParaRPr>
                  </a:p>
                </p:txBody>
              </p:sp>
            </p:grpSp>
          </p:grpSp>
        </p:grpSp>
        <p:sp>
          <p:nvSpPr>
            <p:cNvPr id="47" name="任意多边形 46"/>
            <p:cNvSpPr/>
            <p:nvPr/>
          </p:nvSpPr>
          <p:spPr>
            <a:xfrm rot="5400000">
              <a:off x="7159" y="6610"/>
              <a:ext cx="1106" cy="2153"/>
            </a:xfrm>
            <a:custGeom>
              <a:avLst/>
              <a:gdLst>
                <a:gd name="connsiteX0" fmla="*/ 44 w 1106"/>
                <a:gd name="connsiteY0" fmla="*/ 177 h 2153"/>
                <a:gd name="connsiteX1" fmla="*/ 221 w 1106"/>
                <a:gd name="connsiteY1" fmla="*/ 0 h 2153"/>
                <a:gd name="connsiteX2" fmla="*/ 221 w 1106"/>
                <a:gd name="connsiteY2" fmla="*/ 0 h 2153"/>
                <a:gd name="connsiteX3" fmla="*/ 221 w 1106"/>
                <a:gd name="connsiteY3" fmla="*/ 0 h 2153"/>
                <a:gd name="connsiteX4" fmla="*/ 487 w 1106"/>
                <a:gd name="connsiteY4" fmla="*/ 0 h 2153"/>
                <a:gd name="connsiteX5" fmla="*/ 929 w 1106"/>
                <a:gd name="connsiteY5" fmla="*/ 0 h 2153"/>
                <a:gd name="connsiteX6" fmla="*/ 1106 w 1106"/>
                <a:gd name="connsiteY6" fmla="*/ 177 h 2153"/>
                <a:gd name="connsiteX7" fmla="*/ 1106 w 1106"/>
                <a:gd name="connsiteY7" fmla="*/ 1069 h 2153"/>
                <a:gd name="connsiteX8" fmla="*/ 1106 w 1106"/>
                <a:gd name="connsiteY8" fmla="*/ 1069 h 2153"/>
                <a:gd name="connsiteX9" fmla="*/ 1106 w 1106"/>
                <a:gd name="connsiteY9" fmla="*/ 1528 h 2153"/>
                <a:gd name="connsiteX10" fmla="*/ 1106 w 1106"/>
                <a:gd name="connsiteY10" fmla="*/ 1656 h 2153"/>
                <a:gd name="connsiteX11" fmla="*/ 929 w 1106"/>
                <a:gd name="connsiteY11" fmla="*/ 1833 h 2153"/>
                <a:gd name="connsiteX12" fmla="*/ 487 w 1106"/>
                <a:gd name="connsiteY12" fmla="*/ 1833 h 2153"/>
                <a:gd name="connsiteX13" fmla="*/ 0 w 1106"/>
                <a:gd name="connsiteY13" fmla="*/ 2153 h 2153"/>
                <a:gd name="connsiteX14" fmla="*/ 221 w 1106"/>
                <a:gd name="connsiteY14" fmla="*/ 1833 h 2153"/>
                <a:gd name="connsiteX15" fmla="*/ 221 w 1106"/>
                <a:gd name="connsiteY15" fmla="*/ 1833 h 2153"/>
                <a:gd name="connsiteX16" fmla="*/ 44 w 1106"/>
                <a:gd name="connsiteY16" fmla="*/ 1656 h 2153"/>
                <a:gd name="connsiteX17" fmla="*/ 44 w 1106"/>
                <a:gd name="connsiteY17" fmla="*/ 1528 h 2153"/>
                <a:gd name="connsiteX18" fmla="*/ 44 w 1106"/>
                <a:gd name="connsiteY18" fmla="*/ 1069 h 2153"/>
                <a:gd name="connsiteX19" fmla="*/ 44 w 1106"/>
                <a:gd name="connsiteY19" fmla="*/ 1069 h 2153"/>
                <a:gd name="connsiteX20" fmla="*/ 44 w 1106"/>
                <a:gd name="connsiteY20" fmla="*/ 177 h 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6" h="2153">
                  <a:moveTo>
                    <a:pt x="44" y="177"/>
                  </a:moveTo>
                  <a:cubicBezTo>
                    <a:pt x="44" y="79"/>
                    <a:pt x="123" y="0"/>
                    <a:pt x="221" y="0"/>
                  </a:cubicBezTo>
                  <a:lnTo>
                    <a:pt x="221" y="0"/>
                  </a:lnTo>
                  <a:lnTo>
                    <a:pt x="221" y="0"/>
                  </a:lnTo>
                  <a:lnTo>
                    <a:pt x="487" y="0"/>
                  </a:lnTo>
                  <a:lnTo>
                    <a:pt x="929" y="0"/>
                  </a:lnTo>
                  <a:cubicBezTo>
                    <a:pt x="1027" y="0"/>
                    <a:pt x="1106" y="79"/>
                    <a:pt x="1106" y="177"/>
                  </a:cubicBezTo>
                  <a:lnTo>
                    <a:pt x="1106" y="1069"/>
                  </a:lnTo>
                  <a:lnTo>
                    <a:pt x="1106" y="1069"/>
                  </a:lnTo>
                  <a:lnTo>
                    <a:pt x="1106" y="1528"/>
                  </a:lnTo>
                  <a:lnTo>
                    <a:pt x="1106" y="1656"/>
                  </a:lnTo>
                  <a:cubicBezTo>
                    <a:pt x="1106" y="1754"/>
                    <a:pt x="1027" y="1833"/>
                    <a:pt x="929" y="1833"/>
                  </a:cubicBezTo>
                  <a:lnTo>
                    <a:pt x="487" y="1833"/>
                  </a:lnTo>
                  <a:lnTo>
                    <a:pt x="0" y="2153"/>
                  </a:lnTo>
                  <a:lnTo>
                    <a:pt x="221" y="1833"/>
                  </a:lnTo>
                  <a:lnTo>
                    <a:pt x="221" y="1833"/>
                  </a:lnTo>
                  <a:cubicBezTo>
                    <a:pt x="123" y="1833"/>
                    <a:pt x="44" y="1754"/>
                    <a:pt x="44" y="1656"/>
                  </a:cubicBezTo>
                  <a:lnTo>
                    <a:pt x="44" y="1528"/>
                  </a:lnTo>
                  <a:lnTo>
                    <a:pt x="44" y="1069"/>
                  </a:lnTo>
                  <a:lnTo>
                    <a:pt x="44" y="1069"/>
                  </a:lnTo>
                  <a:lnTo>
                    <a:pt x="44" y="17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947" y="7134"/>
              <a:ext cx="2385" cy="1082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20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Transfer My L</a:t>
              </a:r>
              <a:r>
                <a:rPr lang="en-US" altLang="zh-CN" sz="120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ogits</a:t>
              </a:r>
              <a:endParaRPr lang="en-US" altLang="zh-CN" sz="120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endParaRPr>
            </a:p>
            <a:p>
              <a:pPr algn="l"/>
              <a:r>
                <a:rPr lang="en-US" altLang="zh-CN" sz="120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Knowledge</a:t>
              </a:r>
              <a:endParaRPr lang="en-US" altLang="zh-CN" sz="120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28" y="10555"/>
              <a:ext cx="1843" cy="648"/>
            </a:xfrm>
            <a:prstGeom prst="roundRect">
              <a:avLst/>
            </a:prstGeom>
            <a:solidFill>
              <a:srgbClr val="F7FAFC"/>
            </a:solidFill>
            <a:ln w="12700">
              <a:solidFill>
                <a:srgbClr val="E1E7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33" y="10627"/>
              <a:ext cx="1066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100" b="1">
                  <a:solidFill>
                    <a:srgbClr val="111827"/>
                  </a:solidFill>
                  <a:latin typeface="Arial" panose="020B0604020202020204"/>
                </a:rPr>
                <a:t>0.32M</a:t>
              </a:r>
              <a:endParaRPr sz="11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68" y="10910"/>
              <a:ext cx="461" cy="16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sz="700" b="0" dirty="0">
                  <a:solidFill>
                    <a:srgbClr val="5C667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P</a:t>
              </a:r>
              <a:r>
                <a:rPr sz="700" b="0" dirty="0">
                  <a:solidFill>
                    <a:srgbClr val="5C667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arams</a:t>
              </a:r>
              <a:endParaRPr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131" y="10555"/>
              <a:ext cx="1843" cy="648"/>
            </a:xfrm>
            <a:prstGeom prst="roundRect">
              <a:avLst/>
            </a:prstGeom>
            <a:solidFill>
              <a:srgbClr val="F7FAFC"/>
            </a:solidFill>
            <a:ln w="12700">
              <a:solidFill>
                <a:srgbClr val="E1E7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736" y="10627"/>
              <a:ext cx="1066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100" b="1">
                  <a:solidFill>
                    <a:srgbClr val="111827"/>
                  </a:solidFill>
                  <a:latin typeface="Arial" panose="020B0604020202020204"/>
                </a:rPr>
                <a:t>1.21 MB</a:t>
              </a:r>
              <a:endParaRPr sz="11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796" y="10908"/>
              <a:ext cx="288" cy="16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sz="700" b="0" dirty="0">
                  <a:solidFill>
                    <a:srgbClr val="5C667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S</a:t>
              </a:r>
              <a:r>
                <a:rPr sz="700" b="0" dirty="0">
                  <a:solidFill>
                    <a:srgbClr val="5C667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ize</a:t>
              </a:r>
              <a:endParaRPr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5335" y="10555"/>
              <a:ext cx="1843" cy="648"/>
            </a:xfrm>
            <a:prstGeom prst="roundRect">
              <a:avLst/>
            </a:prstGeom>
            <a:solidFill>
              <a:srgbClr val="F7FAFC"/>
            </a:solidFill>
            <a:ln w="12700">
              <a:solidFill>
                <a:srgbClr val="E1E7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939" y="10627"/>
              <a:ext cx="1066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100" b="1">
                  <a:solidFill>
                    <a:srgbClr val="111827"/>
                  </a:solidFill>
                  <a:latin typeface="Arial" panose="020B0604020202020204"/>
                </a:rPr>
                <a:t>58.97M</a:t>
              </a:r>
              <a:endParaRPr sz="11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939" y="10902"/>
              <a:ext cx="415" cy="16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700" b="0" dirty="0">
                  <a:solidFill>
                    <a:srgbClr val="5C667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FLOPs</a:t>
              </a:r>
              <a:endParaRPr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538" y="10555"/>
              <a:ext cx="1843" cy="648"/>
            </a:xfrm>
            <a:prstGeom prst="roundRect">
              <a:avLst/>
            </a:prstGeom>
            <a:solidFill>
              <a:srgbClr val="F7FAFC"/>
            </a:solidFill>
            <a:ln w="12700">
              <a:solidFill>
                <a:srgbClr val="E1E7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43" y="10616"/>
              <a:ext cx="867" cy="2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sz="1100" b="1">
                  <a:solidFill>
                    <a:srgbClr val="111827"/>
                  </a:solidFill>
                  <a:latin typeface="Arial" panose="020B0604020202020204"/>
                </a:rPr>
                <a:t>12.16ms</a:t>
              </a:r>
              <a:endParaRPr lang="en-US" sz="11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143" y="10902"/>
              <a:ext cx="510" cy="16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sz="700" b="0" dirty="0">
                  <a:solidFill>
                    <a:srgbClr val="5C667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Latency</a:t>
              </a:r>
              <a:endParaRPr lang="en-US"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 rotWithShape="1">
            <a:blip r:embed="rId5"/>
            <a:srcRect l="6576" t="33142" r="74988" b="32846"/>
            <a:stretch>
              <a:fillRect/>
            </a:stretch>
          </p:blipFill>
          <p:spPr>
            <a:xfrm>
              <a:off x="965" y="10621"/>
              <a:ext cx="536" cy="540"/>
            </a:xfrm>
            <a:prstGeom prst="rect">
              <a:avLst/>
            </a:prstGeom>
          </p:spPr>
        </p:pic>
        <p:pic>
          <p:nvPicPr>
            <p:cNvPr id="69" name="图片 68"/>
            <p:cNvPicPr>
              <a:picLocks noChangeAspect="1"/>
            </p:cNvPicPr>
            <p:nvPr/>
          </p:nvPicPr>
          <p:blipFill rotWithShape="1">
            <a:blip r:embed="rId5"/>
            <a:srcRect l="31547" t="33466" r="54103" b="34489"/>
            <a:stretch>
              <a:fillRect/>
            </a:stretch>
          </p:blipFill>
          <p:spPr>
            <a:xfrm>
              <a:off x="3236" y="10591"/>
              <a:ext cx="464" cy="565"/>
            </a:xfrm>
            <a:prstGeom prst="rect">
              <a:avLst/>
            </a:prstGeom>
          </p:spPr>
        </p:pic>
        <p:pic>
          <p:nvPicPr>
            <p:cNvPr id="70" name="图片 69"/>
            <p:cNvPicPr>
              <a:picLocks noChangeAspect="1"/>
            </p:cNvPicPr>
            <p:nvPr/>
          </p:nvPicPr>
          <p:blipFill rotWithShape="1">
            <a:blip r:embed="rId5"/>
            <a:srcRect l="51876" t="33967" r="30522" b="34372"/>
            <a:stretch>
              <a:fillRect/>
            </a:stretch>
          </p:blipFill>
          <p:spPr>
            <a:xfrm>
              <a:off x="5381" y="10631"/>
              <a:ext cx="527" cy="517"/>
            </a:xfrm>
            <a:prstGeom prst="rect">
              <a:avLst/>
            </a:prstGeom>
          </p:spPr>
        </p:pic>
        <p:pic>
          <p:nvPicPr>
            <p:cNvPr id="71" name="图片 70"/>
            <p:cNvPicPr>
              <a:picLocks noChangeAspect="1"/>
            </p:cNvPicPr>
            <p:nvPr/>
          </p:nvPicPr>
          <p:blipFill rotWithShape="1">
            <a:blip r:embed="rId5"/>
            <a:srcRect l="74296" t="34953" r="6873" b="34701"/>
            <a:stretch>
              <a:fillRect/>
            </a:stretch>
          </p:blipFill>
          <p:spPr>
            <a:xfrm>
              <a:off x="7551" y="10628"/>
              <a:ext cx="571" cy="502"/>
            </a:xfrm>
            <a:prstGeom prst="rect">
              <a:avLst/>
            </a:prstGeom>
          </p:spPr>
        </p:pic>
        <p:sp>
          <p:nvSpPr>
            <p:cNvPr id="208" name="圆角矩形 207"/>
            <p:cNvSpPr>
              <a:spLocks noGrp="1"/>
            </p:cNvSpPr>
            <p:nvPr/>
          </p:nvSpPr>
          <p:spPr>
            <a:xfrm>
              <a:off x="3618" y="8930"/>
              <a:ext cx="1994" cy="1241"/>
            </a:xfrm>
            <a:prstGeom prst="roundRect">
              <a:avLst>
                <a:gd name="adj" fmla="val 13514"/>
              </a:avLst>
            </a:prstGeom>
            <a:solidFill>
              <a:srgbClr val="FFEDEB"/>
            </a:solidFill>
            <a:ln w="13335">
              <a:solidFill>
                <a:srgbClr val="F3B1AA"/>
              </a:solidFill>
              <a:prstDash val="solid"/>
            </a:ln>
          </p:spPr>
          <p:txBody>
            <a:bodyPr/>
            <a:lstStyle/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endParaRPr lang="en-US" sz="1425" b="1" dirty="0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pic>
          <p:nvPicPr>
            <p:cNvPr id="209" name="图片 20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11" y="8962"/>
              <a:ext cx="1160" cy="1059"/>
            </a:xfrm>
            <a:prstGeom prst="rect">
              <a:avLst/>
            </a:prstGeom>
          </p:spPr>
        </p:pic>
        <p:sp>
          <p:nvSpPr>
            <p:cNvPr id="211" name="可选流程 210"/>
            <p:cNvSpPr/>
            <p:nvPr/>
          </p:nvSpPr>
          <p:spPr>
            <a:xfrm>
              <a:off x="3846" y="8700"/>
              <a:ext cx="1483" cy="394"/>
            </a:xfrm>
            <a:custGeom>
              <a:avLst/>
              <a:gdLst>
                <a:gd name="connsiteX0" fmla="*/ 0 w 941558"/>
                <a:gd name="connsiteY0" fmla="*/ 41744 h 250463"/>
                <a:gd name="connsiteX1" fmla="*/ 41744 w 941558"/>
                <a:gd name="connsiteY1" fmla="*/ 0 h 250463"/>
                <a:gd name="connsiteX2" fmla="*/ 470779 w 941558"/>
                <a:gd name="connsiteY2" fmla="*/ 0 h 250463"/>
                <a:gd name="connsiteX3" fmla="*/ 899814 w 941558"/>
                <a:gd name="connsiteY3" fmla="*/ 0 h 250463"/>
                <a:gd name="connsiteX4" fmla="*/ 941558 w 941558"/>
                <a:gd name="connsiteY4" fmla="*/ 41744 h 250463"/>
                <a:gd name="connsiteX5" fmla="*/ 941558 w 941558"/>
                <a:gd name="connsiteY5" fmla="*/ 208719 h 250463"/>
                <a:gd name="connsiteX6" fmla="*/ 899814 w 941558"/>
                <a:gd name="connsiteY6" fmla="*/ 250463 h 250463"/>
                <a:gd name="connsiteX7" fmla="*/ 462198 w 941558"/>
                <a:gd name="connsiteY7" fmla="*/ 250463 h 250463"/>
                <a:gd name="connsiteX8" fmla="*/ 41744 w 941558"/>
                <a:gd name="connsiteY8" fmla="*/ 250463 h 250463"/>
                <a:gd name="connsiteX9" fmla="*/ 0 w 941558"/>
                <a:gd name="connsiteY9" fmla="*/ 208719 h 250463"/>
                <a:gd name="connsiteX10" fmla="*/ 0 w 941558"/>
                <a:gd name="connsiteY10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558" h="250463" fill="none" extrusionOk="0">
                  <a:moveTo>
                    <a:pt x="0" y="41744"/>
                  </a:moveTo>
                  <a:cubicBezTo>
                    <a:pt x="2266" y="21464"/>
                    <a:pt x="21769" y="-2696"/>
                    <a:pt x="41744" y="0"/>
                  </a:cubicBezTo>
                  <a:cubicBezTo>
                    <a:pt x="195076" y="3307"/>
                    <a:pt x="315449" y="-15597"/>
                    <a:pt x="470779" y="0"/>
                  </a:cubicBezTo>
                  <a:cubicBezTo>
                    <a:pt x="626109" y="15597"/>
                    <a:pt x="724929" y="-3800"/>
                    <a:pt x="899814" y="0"/>
                  </a:cubicBezTo>
                  <a:cubicBezTo>
                    <a:pt x="922216" y="-1331"/>
                    <a:pt x="941635" y="17644"/>
                    <a:pt x="941558" y="41744"/>
                  </a:cubicBezTo>
                  <a:cubicBezTo>
                    <a:pt x="941835" y="103064"/>
                    <a:pt x="944059" y="166592"/>
                    <a:pt x="941558" y="208719"/>
                  </a:cubicBezTo>
                  <a:cubicBezTo>
                    <a:pt x="938357" y="231906"/>
                    <a:pt x="923353" y="249590"/>
                    <a:pt x="899814" y="250463"/>
                  </a:cubicBezTo>
                  <a:cubicBezTo>
                    <a:pt x="719311" y="242955"/>
                    <a:pt x="628859" y="247714"/>
                    <a:pt x="462198" y="250463"/>
                  </a:cubicBezTo>
                  <a:cubicBezTo>
                    <a:pt x="295537" y="253212"/>
                    <a:pt x="132605" y="243236"/>
                    <a:pt x="41744" y="250463"/>
                  </a:cubicBezTo>
                  <a:cubicBezTo>
                    <a:pt x="18625" y="248750"/>
                    <a:pt x="4869" y="232789"/>
                    <a:pt x="0" y="208719"/>
                  </a:cubicBezTo>
                  <a:cubicBezTo>
                    <a:pt x="-4570" y="127569"/>
                    <a:pt x="7366" y="115038"/>
                    <a:pt x="0" y="41744"/>
                  </a:cubicBezTo>
                  <a:close/>
                </a:path>
                <a:path w="941558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8323" y="9608"/>
                    <a:pt x="367493" y="-9526"/>
                    <a:pt x="487940" y="0"/>
                  </a:cubicBezTo>
                  <a:cubicBezTo>
                    <a:pt x="608387" y="9526"/>
                    <a:pt x="755378" y="15383"/>
                    <a:pt x="899814" y="0"/>
                  </a:cubicBezTo>
                  <a:cubicBezTo>
                    <a:pt x="917886" y="-2726"/>
                    <a:pt x="943025" y="19390"/>
                    <a:pt x="941558" y="41744"/>
                  </a:cubicBezTo>
                  <a:cubicBezTo>
                    <a:pt x="940211" y="98798"/>
                    <a:pt x="949199" y="166189"/>
                    <a:pt x="941558" y="208719"/>
                  </a:cubicBezTo>
                  <a:cubicBezTo>
                    <a:pt x="942160" y="230794"/>
                    <a:pt x="921655" y="251530"/>
                    <a:pt x="899814" y="250463"/>
                  </a:cubicBezTo>
                  <a:cubicBezTo>
                    <a:pt x="797479" y="233487"/>
                    <a:pt x="605838" y="251956"/>
                    <a:pt x="470779" y="250463"/>
                  </a:cubicBezTo>
                  <a:cubicBezTo>
                    <a:pt x="335721" y="248970"/>
                    <a:pt x="238425" y="266998"/>
                    <a:pt x="41744" y="250463"/>
                  </a:cubicBezTo>
                  <a:cubicBezTo>
                    <a:pt x="17304" y="250384"/>
                    <a:pt x="1247" y="228355"/>
                    <a:pt x="0" y="208719"/>
                  </a:cubicBezTo>
                  <a:cubicBezTo>
                    <a:pt x="-4080" y="144712"/>
                    <a:pt x="1297" y="90451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Student Model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14" name="组合 213"/>
            <p:cNvGrpSpPr/>
            <p:nvPr/>
          </p:nvGrpSpPr>
          <p:grpSpPr>
            <a:xfrm rot="0">
              <a:off x="6591" y="9185"/>
              <a:ext cx="1187" cy="835"/>
              <a:chOff x="9057" y="9086"/>
              <a:chExt cx="887" cy="835"/>
            </a:xfrm>
          </p:grpSpPr>
          <p:sp>
            <p:nvSpPr>
              <p:cNvPr id="215" name="Rounded Rectangle 258"/>
              <p:cNvSpPr/>
              <p:nvPr/>
            </p:nvSpPr>
            <p:spPr>
              <a:xfrm>
                <a:off x="9057" y="9086"/>
                <a:ext cx="887" cy="835"/>
              </a:xfrm>
              <a:prstGeom prst="roundRect">
                <a:avLst/>
              </a:prstGeom>
              <a:solidFill>
                <a:srgbClr val="F4F8FD"/>
              </a:solidFill>
              <a:ln w="12700">
                <a:solidFill>
                  <a:srgbClr val="C8D2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Rectangle 260"/>
              <p:cNvSpPr/>
              <p:nvPr/>
            </p:nvSpPr>
            <p:spPr>
              <a:xfrm>
                <a:off x="9187" y="9605"/>
                <a:ext cx="101" cy="101"/>
              </a:xfrm>
              <a:prstGeom prst="rect">
                <a:avLst/>
              </a:prstGeom>
              <a:solidFill>
                <a:srgbClr val="6E86B8"/>
              </a:solidFill>
              <a:ln w="12700">
                <a:solidFill>
                  <a:srgbClr val="6E86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Rectangle 261"/>
              <p:cNvSpPr/>
              <p:nvPr/>
            </p:nvSpPr>
            <p:spPr>
              <a:xfrm>
                <a:off x="9360" y="9470"/>
                <a:ext cx="101" cy="227"/>
              </a:xfrm>
              <a:prstGeom prst="rect">
                <a:avLst/>
              </a:prstGeom>
              <a:solidFill>
                <a:srgbClr val="3E66B1"/>
              </a:solidFill>
              <a:ln w="12700">
                <a:solidFill>
                  <a:srgbClr val="3E66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Rectangle 262"/>
              <p:cNvSpPr/>
              <p:nvPr/>
            </p:nvSpPr>
            <p:spPr>
              <a:xfrm>
                <a:off x="9533" y="9414"/>
                <a:ext cx="101" cy="292"/>
              </a:xfrm>
              <a:prstGeom prst="rect">
                <a:avLst/>
              </a:prstGeom>
              <a:solidFill>
                <a:srgbClr val="A8647D"/>
              </a:solidFill>
              <a:ln w="12700">
                <a:solidFill>
                  <a:srgbClr val="A8647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Rectangle 263"/>
              <p:cNvSpPr/>
              <p:nvPr/>
            </p:nvSpPr>
            <p:spPr>
              <a:xfrm>
                <a:off x="9706" y="9567"/>
                <a:ext cx="101" cy="138"/>
              </a:xfrm>
              <a:prstGeom prst="rect">
                <a:avLst/>
              </a:prstGeom>
              <a:solidFill>
                <a:srgbClr val="D84135"/>
              </a:solidFill>
              <a:ln w="12700">
                <a:solidFill>
                  <a:srgbClr val="D841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21" name="可选流程 220"/>
            <p:cNvSpPr/>
            <p:nvPr/>
          </p:nvSpPr>
          <p:spPr>
            <a:xfrm>
              <a:off x="6785" y="8971"/>
              <a:ext cx="809" cy="394"/>
            </a:xfrm>
            <a:custGeom>
              <a:avLst/>
              <a:gdLst>
                <a:gd name="connsiteX0" fmla="*/ 0 w 513694"/>
                <a:gd name="connsiteY0" fmla="*/ 41744 h 250463"/>
                <a:gd name="connsiteX1" fmla="*/ 41744 w 513694"/>
                <a:gd name="connsiteY1" fmla="*/ 0 h 250463"/>
                <a:gd name="connsiteX2" fmla="*/ 471950 w 513694"/>
                <a:gd name="connsiteY2" fmla="*/ 0 h 250463"/>
                <a:gd name="connsiteX3" fmla="*/ 513694 w 513694"/>
                <a:gd name="connsiteY3" fmla="*/ 41744 h 250463"/>
                <a:gd name="connsiteX4" fmla="*/ 513694 w 513694"/>
                <a:gd name="connsiteY4" fmla="*/ 208719 h 250463"/>
                <a:gd name="connsiteX5" fmla="*/ 471950 w 513694"/>
                <a:gd name="connsiteY5" fmla="*/ 250463 h 250463"/>
                <a:gd name="connsiteX6" fmla="*/ 41744 w 513694"/>
                <a:gd name="connsiteY6" fmla="*/ 250463 h 250463"/>
                <a:gd name="connsiteX7" fmla="*/ 0 w 513694"/>
                <a:gd name="connsiteY7" fmla="*/ 208719 h 250463"/>
                <a:gd name="connsiteX8" fmla="*/ 0 w 513694"/>
                <a:gd name="connsiteY8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694" h="250463" fill="none" extrusionOk="0">
                  <a:moveTo>
                    <a:pt x="0" y="41744"/>
                  </a:moveTo>
                  <a:cubicBezTo>
                    <a:pt x="1383" y="20748"/>
                    <a:pt x="19062" y="3867"/>
                    <a:pt x="41744" y="0"/>
                  </a:cubicBezTo>
                  <a:cubicBezTo>
                    <a:pt x="130776" y="-6448"/>
                    <a:pt x="338113" y="-3180"/>
                    <a:pt x="471950" y="0"/>
                  </a:cubicBezTo>
                  <a:cubicBezTo>
                    <a:pt x="496200" y="-1484"/>
                    <a:pt x="508764" y="16783"/>
                    <a:pt x="513694" y="41744"/>
                  </a:cubicBezTo>
                  <a:cubicBezTo>
                    <a:pt x="519504" y="102487"/>
                    <a:pt x="509762" y="160038"/>
                    <a:pt x="513694" y="208719"/>
                  </a:cubicBezTo>
                  <a:cubicBezTo>
                    <a:pt x="513041" y="230443"/>
                    <a:pt x="495082" y="249418"/>
                    <a:pt x="471950" y="250463"/>
                  </a:cubicBezTo>
                  <a:cubicBezTo>
                    <a:pt x="283501" y="255080"/>
                    <a:pt x="133285" y="235750"/>
                    <a:pt x="41744" y="250463"/>
                  </a:cubicBezTo>
                  <a:cubicBezTo>
                    <a:pt x="15488" y="250595"/>
                    <a:pt x="484" y="230901"/>
                    <a:pt x="0" y="208719"/>
                  </a:cubicBezTo>
                  <a:cubicBezTo>
                    <a:pt x="2286" y="129195"/>
                    <a:pt x="4388" y="85997"/>
                    <a:pt x="0" y="41744"/>
                  </a:cubicBezTo>
                  <a:close/>
                </a:path>
                <a:path w="513694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1228" y="-19669"/>
                    <a:pt x="343891" y="-2281"/>
                    <a:pt x="471950" y="0"/>
                  </a:cubicBezTo>
                  <a:cubicBezTo>
                    <a:pt x="492660" y="-1784"/>
                    <a:pt x="512903" y="20313"/>
                    <a:pt x="513694" y="41744"/>
                  </a:cubicBezTo>
                  <a:cubicBezTo>
                    <a:pt x="513900" y="76339"/>
                    <a:pt x="509888" y="145607"/>
                    <a:pt x="513694" y="208719"/>
                  </a:cubicBezTo>
                  <a:cubicBezTo>
                    <a:pt x="514797" y="229505"/>
                    <a:pt x="492700" y="250110"/>
                    <a:pt x="471950" y="250463"/>
                  </a:cubicBezTo>
                  <a:cubicBezTo>
                    <a:pt x="294471" y="265615"/>
                    <a:pt x="148702" y="254784"/>
                    <a:pt x="41744" y="250463"/>
                  </a:cubicBezTo>
                  <a:cubicBezTo>
                    <a:pt x="16053" y="254823"/>
                    <a:pt x="-989" y="230627"/>
                    <a:pt x="0" y="208719"/>
                  </a:cubicBezTo>
                  <a:cubicBezTo>
                    <a:pt x="97" y="142030"/>
                    <a:pt x="-4763" y="121894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Logits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6" name="文本框 265"/>
            <p:cNvSpPr txBox="1"/>
            <p:nvPr/>
          </p:nvSpPr>
          <p:spPr>
            <a:xfrm>
              <a:off x="3591" y="9781"/>
              <a:ext cx="1992" cy="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latin typeface="Comic Sans MS" panose="030F0702030302020204" pitchFamily="66" charset="0"/>
                </a:rPr>
                <a:t>Liquid Neural Network</a:t>
              </a:r>
              <a:endParaRPr kumimoji="1" lang="zh-CN" altLang="en-US" sz="800" dirty="0">
                <a:latin typeface="Comic Sans MS" panose="030F0702030302020204" pitchFamily="66" charset="0"/>
              </a:endParaRPr>
            </a:p>
          </p:txBody>
        </p:sp>
        <p:sp>
          <p:nvSpPr>
            <p:cNvPr id="368" name="右箭头 367"/>
            <p:cNvSpPr>
              <a:spLocks noGrp="1"/>
            </p:cNvSpPr>
            <p:nvPr/>
          </p:nvSpPr>
          <p:spPr>
            <a:xfrm>
              <a:off x="5838" y="9411"/>
              <a:ext cx="568" cy="29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7F6D7E"/>
            </a:solidFill>
            <a:ln w="762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右箭头 368"/>
            <p:cNvSpPr>
              <a:spLocks noGrp="1"/>
            </p:cNvSpPr>
            <p:nvPr/>
          </p:nvSpPr>
          <p:spPr>
            <a:xfrm>
              <a:off x="7968" y="9445"/>
              <a:ext cx="568" cy="29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7F6D7E"/>
            </a:solidFill>
            <a:ln w="762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可选流程 372"/>
            <p:cNvSpPr/>
            <p:nvPr/>
          </p:nvSpPr>
          <p:spPr>
            <a:xfrm>
              <a:off x="8529" y="8894"/>
              <a:ext cx="809" cy="394"/>
            </a:xfrm>
            <a:custGeom>
              <a:avLst/>
              <a:gdLst>
                <a:gd name="connsiteX0" fmla="*/ 0 w 513694"/>
                <a:gd name="connsiteY0" fmla="*/ 41744 h 250463"/>
                <a:gd name="connsiteX1" fmla="*/ 41744 w 513694"/>
                <a:gd name="connsiteY1" fmla="*/ 0 h 250463"/>
                <a:gd name="connsiteX2" fmla="*/ 471950 w 513694"/>
                <a:gd name="connsiteY2" fmla="*/ 0 h 250463"/>
                <a:gd name="connsiteX3" fmla="*/ 513694 w 513694"/>
                <a:gd name="connsiteY3" fmla="*/ 41744 h 250463"/>
                <a:gd name="connsiteX4" fmla="*/ 513694 w 513694"/>
                <a:gd name="connsiteY4" fmla="*/ 208719 h 250463"/>
                <a:gd name="connsiteX5" fmla="*/ 471950 w 513694"/>
                <a:gd name="connsiteY5" fmla="*/ 250463 h 250463"/>
                <a:gd name="connsiteX6" fmla="*/ 41744 w 513694"/>
                <a:gd name="connsiteY6" fmla="*/ 250463 h 250463"/>
                <a:gd name="connsiteX7" fmla="*/ 0 w 513694"/>
                <a:gd name="connsiteY7" fmla="*/ 208719 h 250463"/>
                <a:gd name="connsiteX8" fmla="*/ 0 w 513694"/>
                <a:gd name="connsiteY8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694" h="250463" fill="none" extrusionOk="0">
                  <a:moveTo>
                    <a:pt x="0" y="41744"/>
                  </a:moveTo>
                  <a:cubicBezTo>
                    <a:pt x="1383" y="20748"/>
                    <a:pt x="19062" y="3867"/>
                    <a:pt x="41744" y="0"/>
                  </a:cubicBezTo>
                  <a:cubicBezTo>
                    <a:pt x="130776" y="-6448"/>
                    <a:pt x="338113" y="-3180"/>
                    <a:pt x="471950" y="0"/>
                  </a:cubicBezTo>
                  <a:cubicBezTo>
                    <a:pt x="496200" y="-1484"/>
                    <a:pt x="508764" y="16783"/>
                    <a:pt x="513694" y="41744"/>
                  </a:cubicBezTo>
                  <a:cubicBezTo>
                    <a:pt x="519504" y="102487"/>
                    <a:pt x="509762" y="160038"/>
                    <a:pt x="513694" y="208719"/>
                  </a:cubicBezTo>
                  <a:cubicBezTo>
                    <a:pt x="513041" y="230443"/>
                    <a:pt x="495082" y="249418"/>
                    <a:pt x="471950" y="250463"/>
                  </a:cubicBezTo>
                  <a:cubicBezTo>
                    <a:pt x="283501" y="255080"/>
                    <a:pt x="133285" y="235750"/>
                    <a:pt x="41744" y="250463"/>
                  </a:cubicBezTo>
                  <a:cubicBezTo>
                    <a:pt x="15488" y="250595"/>
                    <a:pt x="484" y="230901"/>
                    <a:pt x="0" y="208719"/>
                  </a:cubicBezTo>
                  <a:cubicBezTo>
                    <a:pt x="2286" y="129195"/>
                    <a:pt x="4388" y="85997"/>
                    <a:pt x="0" y="41744"/>
                  </a:cubicBezTo>
                  <a:close/>
                </a:path>
                <a:path w="513694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1228" y="-19669"/>
                    <a:pt x="343891" y="-2281"/>
                    <a:pt x="471950" y="0"/>
                  </a:cubicBezTo>
                  <a:cubicBezTo>
                    <a:pt x="492660" y="-1784"/>
                    <a:pt x="512903" y="20313"/>
                    <a:pt x="513694" y="41744"/>
                  </a:cubicBezTo>
                  <a:cubicBezTo>
                    <a:pt x="513900" y="76339"/>
                    <a:pt x="509888" y="145607"/>
                    <a:pt x="513694" y="208719"/>
                  </a:cubicBezTo>
                  <a:cubicBezTo>
                    <a:pt x="514797" y="229505"/>
                    <a:pt x="492700" y="250110"/>
                    <a:pt x="471950" y="250463"/>
                  </a:cubicBezTo>
                  <a:cubicBezTo>
                    <a:pt x="294471" y="265615"/>
                    <a:pt x="148702" y="254784"/>
                    <a:pt x="41744" y="250463"/>
                  </a:cubicBezTo>
                  <a:cubicBezTo>
                    <a:pt x="16053" y="254823"/>
                    <a:pt x="-989" y="230627"/>
                    <a:pt x="0" y="208719"/>
                  </a:cubicBezTo>
                  <a:cubicBezTo>
                    <a:pt x="97" y="142030"/>
                    <a:pt x="-4763" y="121894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Cargo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375" name="图片 37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4" y="9379"/>
              <a:ext cx="696" cy="696"/>
            </a:xfrm>
            <a:prstGeom prst="rect">
              <a:avLst/>
            </a:prstGeom>
          </p:spPr>
        </p:pic>
        <p:cxnSp>
          <p:nvCxnSpPr>
            <p:cNvPr id="377" name="直线连接符 376"/>
            <p:cNvCxnSpPr/>
            <p:nvPr/>
          </p:nvCxnSpPr>
          <p:spPr>
            <a:xfrm flipH="1">
              <a:off x="1066" y="10112"/>
              <a:ext cx="2428" cy="331"/>
            </a:xfrm>
            <a:prstGeom prst="line">
              <a:avLst/>
            </a:prstGeom>
            <a:ln>
              <a:solidFill>
                <a:srgbClr val="A7829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线连接符 378"/>
            <p:cNvCxnSpPr/>
            <p:nvPr/>
          </p:nvCxnSpPr>
          <p:spPr>
            <a:xfrm>
              <a:off x="5710" y="10085"/>
              <a:ext cx="3107" cy="383"/>
            </a:xfrm>
            <a:prstGeom prst="line">
              <a:avLst/>
            </a:prstGeom>
            <a:ln>
              <a:solidFill>
                <a:srgbClr val="A7829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5" name="图片 384"/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340" y="10746"/>
              <a:ext cx="321" cy="272"/>
            </a:xfrm>
            <a:prstGeom prst="rect">
              <a:avLst/>
            </a:prstGeom>
          </p:spPr>
        </p:pic>
        <p:pic>
          <p:nvPicPr>
            <p:cNvPr id="386" name="图片 385"/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15" y="10756"/>
              <a:ext cx="321" cy="272"/>
            </a:xfrm>
            <a:prstGeom prst="rect">
              <a:avLst/>
            </a:prstGeom>
          </p:spPr>
        </p:pic>
        <p:pic>
          <p:nvPicPr>
            <p:cNvPr id="387" name="图片 386"/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775" y="10764"/>
              <a:ext cx="321" cy="272"/>
            </a:xfrm>
            <a:prstGeom prst="rect">
              <a:avLst/>
            </a:prstGeom>
          </p:spPr>
        </p:pic>
        <p:pic>
          <p:nvPicPr>
            <p:cNvPr id="388" name="图片 387"/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030" y="10764"/>
              <a:ext cx="321" cy="272"/>
            </a:xfrm>
            <a:prstGeom prst="rect">
              <a:avLst/>
            </a:prstGeom>
          </p:spPr>
        </p:pic>
        <p:sp>
          <p:nvSpPr>
            <p:cNvPr id="54" name="圆角右箭头 53"/>
            <p:cNvSpPr>
              <a:spLocks noGrp="1"/>
            </p:cNvSpPr>
            <p:nvPr/>
          </p:nvSpPr>
          <p:spPr>
            <a:xfrm flipV="1">
              <a:off x="1715" y="9041"/>
              <a:ext cx="1691" cy="698"/>
            </a:xfrm>
            <a:prstGeom prst="bentArrow">
              <a:avLst>
                <a:gd name="adj1" fmla="val 25000"/>
                <a:gd name="adj2" fmla="val 25000"/>
                <a:gd name="adj3" fmla="val 22388"/>
                <a:gd name="adj4" fmla="val 43750"/>
              </a:avLst>
            </a:prstGeom>
            <a:solidFill>
              <a:srgbClr val="806D7E"/>
            </a:solidFill>
            <a:ln w="762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1990090" y="-1270"/>
            <a:ext cx="231013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 b="1"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Performance Acc Comparison</a:t>
            </a:r>
            <a:endParaRPr lang="en-US" altLang="zh-CN" sz="1200" b="1"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2094230" y="2890520"/>
            <a:ext cx="231013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 b="1"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Illustration of TMSKD</a:t>
            </a:r>
            <a:endParaRPr lang="en-US" altLang="zh-CN" sz="1200" b="1"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WPS 演示</Application>
  <PresentationFormat>全屏显示(4:3)</PresentationFormat>
  <Paragraphs>91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Comic Sans MS</vt:lpstr>
      <vt:lpstr>Aptos</vt:lpstr>
      <vt:lpstr>Segoe Print</vt:lpstr>
      <vt:lpstr>微软雅黑</vt:lpstr>
      <vt:lpstr>Calibri</vt:lpstr>
      <vt:lpstr>Arial Unicode MS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岳洋</cp:lastModifiedBy>
  <cp:revision>30</cp:revision>
  <dcterms:created xsi:type="dcterms:W3CDTF">2013-01-27T09:14:00Z</dcterms:created>
  <dcterms:modified xsi:type="dcterms:W3CDTF">2026-07-14T16:22:47Z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350C75449B624A5E8700D566EBFB872E_13</vt:lpwstr>
  </property>
  <property fmtid="{D5CDD505-2E9C-101B-9397-08002B2CF9AE}" pid="3" name="KSOProductBuildVer">
    <vt:lpwstr>2052-12.1.0.16388</vt:lpwstr>
  </property>
</Properties>
</file>