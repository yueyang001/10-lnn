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8572500" cy="114300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71450" y="1714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(a)</a:t>
            </a:r>
            <a:endParaRPr sz="135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56590" y="228600"/>
            <a:ext cx="437261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Recognition Accuracy Comparison</a:t>
            </a:r>
            <a:endParaRPr sz="18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590550"/>
            <a:ext cx="3886200" cy="3892550"/>
          </a:xfrm>
          <a:prstGeom prst="rect">
            <a:avLst/>
          </a:prstGeom>
          <a:solidFill>
            <a:srgbClr val="FFFFFF"/>
          </a:solidFill>
          <a:ln w="10478">
            <a:solidFill>
              <a:srgbClr val="8E8E8E"/>
            </a:solidFill>
            <a:prstDash val="solid"/>
          </a:ln>
        </p:spPr>
      </p:sp>
      <p:sp>
        <p:nvSpPr>
          <p:cNvPr id="5" name="任意多边形 4"/>
          <p:cNvSpPr>
            <a:spLocks noGrp="1"/>
          </p:cNvSpPr>
          <p:nvPr/>
        </p:nvSpPr>
        <p:spPr>
          <a:xfrm>
            <a:off x="973455" y="3796030"/>
            <a:ext cx="3400425" cy="11430"/>
          </a:xfrm>
          <a:custGeom>
            <a:avLst/>
            <a:gdLst/>
            <a:ahLst/>
            <a:cxnLst/>
            <a:pathLst>
              <a:path w="6334125" h="9525">
                <a:moveTo>
                  <a:pt x="0" y="0"/>
                </a:moveTo>
                <a:lnTo>
                  <a:pt x="6334125" y="0"/>
                </a:lnTo>
              </a:path>
            </a:pathLst>
          </a:cu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4360" y="3693160"/>
            <a:ext cx="388620" cy="20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85</a:t>
            </a:r>
            <a:endParaRPr sz="97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任意多边形 6"/>
          <p:cNvSpPr>
            <a:spLocks noGrp="1"/>
          </p:cNvSpPr>
          <p:nvPr/>
        </p:nvSpPr>
        <p:spPr>
          <a:xfrm>
            <a:off x="973455" y="2937510"/>
            <a:ext cx="3400425" cy="11430"/>
          </a:xfrm>
          <a:custGeom>
            <a:avLst/>
            <a:gdLst/>
            <a:ahLst/>
            <a:cxnLst/>
            <a:pathLst>
              <a:path w="6334125" h="9525">
                <a:moveTo>
                  <a:pt x="0" y="0"/>
                </a:moveTo>
                <a:lnTo>
                  <a:pt x="6334125" y="0"/>
                </a:lnTo>
              </a:path>
            </a:pathLst>
          </a:cu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834640"/>
            <a:ext cx="430530" cy="20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90</a:t>
            </a:r>
            <a:endParaRPr sz="97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任意多边形 8"/>
          <p:cNvSpPr>
            <a:spLocks noGrp="1"/>
          </p:cNvSpPr>
          <p:nvPr/>
        </p:nvSpPr>
        <p:spPr>
          <a:xfrm>
            <a:off x="973455" y="2078990"/>
            <a:ext cx="3400425" cy="11430"/>
          </a:xfrm>
          <a:custGeom>
            <a:avLst/>
            <a:gdLst/>
            <a:ahLst/>
            <a:cxnLst/>
            <a:pathLst>
              <a:path w="6334125" h="9525">
                <a:moveTo>
                  <a:pt x="0" y="0"/>
                </a:moveTo>
                <a:lnTo>
                  <a:pt x="6334125" y="0"/>
                </a:lnTo>
              </a:path>
            </a:pathLst>
          </a:cu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99110" y="1976120"/>
            <a:ext cx="479425" cy="20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95</a:t>
            </a:r>
            <a:endParaRPr sz="97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973455" y="1220470"/>
            <a:ext cx="3400425" cy="11430"/>
          </a:xfrm>
          <a:custGeom>
            <a:avLst/>
            <a:gdLst/>
            <a:ahLst/>
            <a:cxnLst/>
            <a:pathLst>
              <a:path w="6334125" h="9525">
                <a:moveTo>
                  <a:pt x="0" y="0"/>
                </a:moveTo>
                <a:lnTo>
                  <a:pt x="6334125" y="0"/>
                </a:lnTo>
              </a:path>
            </a:pathLst>
          </a:cu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28625" y="1231900"/>
            <a:ext cx="612140" cy="20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100</a:t>
            </a:r>
            <a:endParaRPr sz="97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任意多边形 12"/>
          <p:cNvSpPr>
            <a:spLocks noGrp="1"/>
          </p:cNvSpPr>
          <p:nvPr/>
        </p:nvSpPr>
        <p:spPr>
          <a:xfrm>
            <a:off x="973455" y="1220470"/>
            <a:ext cx="5080" cy="2747645"/>
          </a:xfrm>
          <a:custGeom>
            <a:avLst/>
            <a:gdLst/>
            <a:ahLst/>
            <a:cxnLst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11430">
            <a:solidFill>
              <a:srgbClr val="111827"/>
            </a:solidFill>
            <a:prstDash val="solid"/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973455" y="3968115"/>
            <a:ext cx="3400425" cy="11430"/>
          </a:xfrm>
          <a:custGeom>
            <a:avLst/>
            <a:gdLst/>
            <a:ahLst/>
            <a:cxnLst/>
            <a:pathLst>
              <a:path w="6334125" h="9525">
                <a:moveTo>
                  <a:pt x="0" y="0"/>
                </a:moveTo>
                <a:lnTo>
                  <a:pt x="6334125" y="0"/>
                </a:lnTo>
              </a:path>
            </a:pathLst>
          </a:custGeom>
          <a:noFill/>
          <a:ln w="11430">
            <a:solidFill>
              <a:srgbClr val="11182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18590" y="3618230"/>
            <a:ext cx="173990" cy="349885"/>
          </a:xfrm>
          <a:prstGeom prst="rect">
            <a:avLst/>
          </a:prstGeom>
          <a:solidFill>
            <a:srgbClr val="344F8A"/>
          </a:solidFill>
          <a:ln w="10478">
            <a:solidFill>
              <a:srgbClr val="344F8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89990" y="3416935"/>
            <a:ext cx="567690" cy="2012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  <a:r>
              <a:rPr lang="en-US"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</a:t>
            </a: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.7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33220" y="2618740"/>
            <a:ext cx="173990" cy="1349375"/>
          </a:xfrm>
          <a:prstGeom prst="rect">
            <a:avLst/>
          </a:prstGeom>
          <a:solidFill>
            <a:srgbClr val="6F8BC0"/>
          </a:solidFill>
          <a:ln w="10478">
            <a:solidFill>
              <a:srgbClr val="6F8BC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06525" y="2402840"/>
            <a:ext cx="60134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91.9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47850" y="2498090"/>
            <a:ext cx="173990" cy="1470025"/>
          </a:xfrm>
          <a:prstGeom prst="rect">
            <a:avLst/>
          </a:prstGeom>
          <a:solidFill>
            <a:srgbClr val="B9CEE4"/>
          </a:solidFill>
          <a:ln w="10478">
            <a:solidFill>
              <a:srgbClr val="B9CEE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632585" y="2268855"/>
            <a:ext cx="49212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92.6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62480" y="2352040"/>
            <a:ext cx="173990" cy="1616075"/>
          </a:xfrm>
          <a:prstGeom prst="rect">
            <a:avLst/>
          </a:prstGeom>
          <a:solidFill>
            <a:srgbClr val="B56A83"/>
          </a:solidFill>
          <a:ln w="10478">
            <a:solidFill>
              <a:srgbClr val="B56A83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913255" y="2123440"/>
            <a:ext cx="50736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93.4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33830" y="4128135"/>
            <a:ext cx="929005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DeepShip</a:t>
            </a:r>
            <a:endParaRPr sz="105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003550" y="3238500"/>
            <a:ext cx="173990" cy="729615"/>
          </a:xfrm>
          <a:prstGeom prst="rect">
            <a:avLst/>
          </a:prstGeom>
          <a:solidFill>
            <a:srgbClr val="344F8A"/>
          </a:solidFill>
          <a:ln w="10478">
            <a:solidFill>
              <a:srgbClr val="344F8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750185" y="3041015"/>
            <a:ext cx="52387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88.3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218180" y="2932430"/>
            <a:ext cx="173990" cy="1035685"/>
          </a:xfrm>
          <a:prstGeom prst="rect">
            <a:avLst/>
          </a:prstGeom>
          <a:solidFill>
            <a:srgbClr val="6F8BC0"/>
          </a:solidFill>
          <a:ln w="10478">
            <a:solidFill>
              <a:srgbClr val="6F8BC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971800" y="2703195"/>
            <a:ext cx="54927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90.0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32810" y="3025140"/>
            <a:ext cx="173990" cy="942340"/>
          </a:xfrm>
          <a:prstGeom prst="rect">
            <a:avLst/>
          </a:prstGeom>
          <a:solidFill>
            <a:srgbClr val="B9CEE4"/>
          </a:solidFill>
          <a:ln w="10478">
            <a:solidFill>
              <a:srgbClr val="B9CEE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274060" y="2796540"/>
            <a:ext cx="47815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89.5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648075" y="2526665"/>
            <a:ext cx="173990" cy="1440815"/>
          </a:xfrm>
          <a:prstGeom prst="rect">
            <a:avLst/>
          </a:prstGeom>
          <a:solidFill>
            <a:srgbClr val="B56A83"/>
          </a:solidFill>
          <a:ln w="10478">
            <a:solidFill>
              <a:srgbClr val="B56A83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453130" y="2298065"/>
            <a:ext cx="53721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92.4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018790" y="4128135"/>
            <a:ext cx="886460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ShipsEar</a:t>
            </a:r>
            <a:endParaRPr sz="105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152" name="组合 151"/>
          <p:cNvGrpSpPr/>
          <p:nvPr/>
        </p:nvGrpSpPr>
        <p:grpSpPr>
          <a:xfrm rot="0">
            <a:off x="995045" y="808355"/>
            <a:ext cx="852805" cy="229235"/>
            <a:chOff x="1743" y="1215"/>
            <a:chExt cx="1343" cy="300"/>
          </a:xfrm>
        </p:grpSpPr>
        <p:sp>
          <p:nvSpPr>
            <p:cNvPr id="33" name="矩形 32"/>
            <p:cNvSpPr>
              <a:spLocks noGrp="1"/>
            </p:cNvSpPr>
            <p:nvPr/>
          </p:nvSpPr>
          <p:spPr>
            <a:xfrm>
              <a:off x="1743" y="1290"/>
              <a:ext cx="193" cy="165"/>
            </a:xfrm>
            <a:prstGeom prst="rect">
              <a:avLst/>
            </a:prstGeom>
            <a:solidFill>
              <a:srgbClr val="344F8A"/>
            </a:solidFill>
            <a:ln w="10478">
              <a:solidFill>
                <a:srgbClr val="344F8A"/>
              </a:solidFill>
              <a:prstDash val="solid"/>
            </a:ln>
          </p:spPr>
        </p:sp>
        <p:sp>
          <p:nvSpPr>
            <p:cNvPr id="34" name="矩形 33"/>
            <p:cNvSpPr>
              <a:spLocks noGrp="1"/>
            </p:cNvSpPr>
            <p:nvPr/>
          </p:nvSpPr>
          <p:spPr>
            <a:xfrm>
              <a:off x="2000" y="1215"/>
              <a:ext cx="1086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buNone/>
                <a:defRPr sz="900" b="1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b="1">
                  <a:solidFill>
                    <a:srgbClr val="111827"/>
                  </a:solidFill>
                  <a:latin typeface="Aptos"/>
                  <a:ea typeface="Aptos"/>
                  <a:cs typeface="Aptos"/>
                </a:rPr>
                <a:t>Student</a:t>
              </a:r>
              <a:endParaRPr sz="900" b="1">
                <a:solidFill>
                  <a:srgbClr val="111827"/>
                </a:solidFill>
                <a:latin typeface="Aptos"/>
                <a:ea typeface="Aptos"/>
                <a:cs typeface="Aptos"/>
              </a:endParaRPr>
            </a:p>
          </p:txBody>
        </p:sp>
      </p:grpSp>
      <p:sp>
        <p:nvSpPr>
          <p:cNvPr id="35" name="矩形 34"/>
          <p:cNvSpPr>
            <a:spLocks noGrp="1"/>
          </p:cNvSpPr>
          <p:nvPr/>
        </p:nvSpPr>
        <p:spPr>
          <a:xfrm>
            <a:off x="1847850" y="865505"/>
            <a:ext cx="122555" cy="125730"/>
          </a:xfrm>
          <a:prstGeom prst="rect">
            <a:avLst/>
          </a:prstGeom>
          <a:solidFill>
            <a:srgbClr val="6F8BC0"/>
          </a:solidFill>
          <a:ln w="10478">
            <a:solidFill>
              <a:srgbClr val="6F8BC0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011680" y="808355"/>
            <a:ext cx="408940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KD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502535" y="865505"/>
            <a:ext cx="122555" cy="125730"/>
          </a:xfrm>
          <a:prstGeom prst="rect">
            <a:avLst/>
          </a:prstGeom>
          <a:solidFill>
            <a:srgbClr val="B9CEE4"/>
          </a:solidFill>
          <a:ln w="10478">
            <a:solidFill>
              <a:srgbClr val="B9CEE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665730" y="808355"/>
            <a:ext cx="692150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Feature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453130" y="865505"/>
            <a:ext cx="206375" cy="125730"/>
          </a:xfrm>
          <a:prstGeom prst="rect">
            <a:avLst/>
          </a:prstGeom>
          <a:solidFill>
            <a:srgbClr val="B56A83"/>
          </a:solidFill>
          <a:ln w="10478">
            <a:solidFill>
              <a:srgbClr val="B56A83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3616960" y="808355"/>
            <a:ext cx="688340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TMSKD</a:t>
            </a:r>
            <a:endParaRPr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上箭头 40"/>
          <p:cNvSpPr>
            <a:spLocks noGrp="1"/>
          </p:cNvSpPr>
          <p:nvPr/>
        </p:nvSpPr>
        <p:spPr>
          <a:xfrm rot="3120000">
            <a:off x="1566545" y="1924050"/>
            <a:ext cx="122555" cy="86995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9A844"/>
          </a:solidFill>
          <a:ln w="4763">
            <a:solidFill>
              <a:srgbClr val="39A84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266825" y="1746885"/>
            <a:ext cx="857885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39A8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A844"/>
                </a:solidFill>
                <a:latin typeface="Aptos"/>
                <a:ea typeface="Aptos"/>
                <a:cs typeface="Aptos"/>
              </a:rPr>
              <a:t>+5.67 pp</a:t>
            </a:r>
            <a:endParaRPr sz="1050" b="1">
              <a:solidFill>
                <a:srgbClr val="39A8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上箭头 42"/>
          <p:cNvSpPr>
            <a:spLocks noGrp="1"/>
          </p:cNvSpPr>
          <p:nvPr/>
        </p:nvSpPr>
        <p:spPr>
          <a:xfrm rot="3480000">
            <a:off x="3128645" y="2178050"/>
            <a:ext cx="122555" cy="73279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9A844"/>
          </a:solidFill>
          <a:ln w="4763">
            <a:solidFill>
              <a:srgbClr val="39A844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985135" y="1746885"/>
            <a:ext cx="836930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39A8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A844"/>
                </a:solidFill>
                <a:latin typeface="Aptos"/>
                <a:ea typeface="Aptos"/>
                <a:cs typeface="Aptos"/>
              </a:rPr>
              <a:t>+4.14 pp</a:t>
            </a:r>
            <a:endParaRPr sz="1050" b="1">
              <a:solidFill>
                <a:srgbClr val="39A8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38505" y="4128135"/>
            <a:ext cx="787400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Dataset</a:t>
            </a:r>
            <a:endParaRPr sz="105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428625" y="4762500"/>
            <a:ext cx="7715250" cy="9525"/>
          </a:xfrm>
          <a:custGeom>
            <a:avLst/>
            <a:gdLst/>
            <a:ahLst/>
            <a:cxnLst/>
            <a:pathLst>
              <a:path w="7715250" h="9525">
                <a:moveTo>
                  <a:pt x="0" y="0"/>
                </a:moveTo>
                <a:lnTo>
                  <a:pt x="7715250" y="0"/>
                </a:lnTo>
              </a:path>
            </a:pathLst>
          </a:custGeom>
          <a:noFill/>
          <a:ln w="22860">
            <a:solidFill>
              <a:srgbClr val="111827"/>
            </a:solidFill>
            <a:prstDash val="dash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171450" y="49530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(b)</a:t>
            </a:r>
            <a:endParaRPr sz="135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4" name="矩形 153"/>
          <p:cNvSpPr>
            <a:spLocks noGrp="1"/>
          </p:cNvSpPr>
          <p:nvPr/>
        </p:nvSpPr>
        <p:spPr>
          <a:xfrm>
            <a:off x="614045" y="4953000"/>
            <a:ext cx="4851400" cy="278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650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Input underwater acoustic</a:t>
            </a:r>
            <a:r>
              <a:rPr lang="en-US" sz="18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1">
                <a:solidFill>
                  <a:srgbClr val="0B1F2A"/>
                </a:solidFill>
                <a:latin typeface="Aptos"/>
                <a:ea typeface="Aptos"/>
                <a:cs typeface="Aptos"/>
              </a:rPr>
              <a:t>waveform</a:t>
            </a:r>
            <a:endParaRPr sz="1800" b="1">
              <a:solidFill>
                <a:srgbClr val="0B1F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5" name="矩形 154"/>
          <p:cNvSpPr>
            <a:spLocks noGrp="1"/>
          </p:cNvSpPr>
          <p:nvPr/>
        </p:nvSpPr>
        <p:spPr>
          <a:xfrm>
            <a:off x="499110" y="962660"/>
            <a:ext cx="528955" cy="20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%</a:t>
            </a:r>
            <a:endParaRPr lang="en-US" sz="18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355600" y="2194560"/>
            <a:ext cx="283210" cy="9918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ACC</a:t>
            </a:r>
            <a:endParaRPr lang="en-US" sz="18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WPS 演示</Application>
  <PresentationFormat>Converted Presentation</PresentationFormat>
  <Paragraphs>54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Aptos</vt:lpstr>
      <vt:lpstr>Segoe Print</vt:lpstr>
      <vt:lpstr>Calibri</vt:lpstr>
      <vt:lpstr>微软雅黑</vt:lpstr>
      <vt:lpstr>Arial Unicode MS</vt:lpstr>
      <vt:lpstr>Cambria Math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12</cp:revision>
  <dcterms:created xsi:type="dcterms:W3CDTF">2026-06-26T09:43:40Z</dcterms:created>
  <dcterms:modified xsi:type="dcterms:W3CDTF">2026-06-26T10:50:50Z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B88E794587C94AF588D86BFAF461956E_12</vt:lpwstr>
  </property>
  <property fmtid="{D5CDD505-2E9C-101B-9397-08002B2CF9AE}" pid="3" name="KSOProductBuildVer">
    <vt:lpwstr>2052-12.1.0.16388</vt:lpwstr>
  </property>
</Properties>
</file>