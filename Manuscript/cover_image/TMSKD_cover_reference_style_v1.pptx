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64592"/>
            <a:ext cx="3200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rial" panose="020B0604020202020204"/>
              </a:rPr>
              <a:t>(a)</a:t>
            </a:r>
            <a:endParaRPr sz="12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8448" y="164592"/>
            <a:ext cx="4663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 panose="020B0604020202020204"/>
              </a:rPr>
              <a:t>Accuracy Comparison on DeepShip and ShipsEar</a:t>
            </a:r>
            <a:endParaRPr sz="14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57150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8F9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66928" y="2558034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64592" y="2484882"/>
            <a:ext cx="32004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111827"/>
                </a:solidFill>
                <a:latin typeface="Arial" panose="020B0604020202020204"/>
              </a:rPr>
              <a:t>85</a:t>
            </a:r>
            <a:endParaRPr sz="900" b="0">
              <a:solidFill>
                <a:srgbClr val="111827"/>
              </a:solidFill>
              <a:latin typeface="Arial" panose="020B0604020202020204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66928" y="1906524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4592" y="1833372"/>
            <a:ext cx="32004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111827"/>
                </a:solidFill>
                <a:latin typeface="Arial" panose="020B0604020202020204"/>
              </a:rPr>
              <a:t>90</a:t>
            </a:r>
            <a:endParaRPr sz="900" b="0">
              <a:solidFill>
                <a:srgbClr val="111827"/>
              </a:solidFill>
              <a:latin typeface="Arial" panose="020B060402020202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66928" y="1255014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4592" y="1181862"/>
            <a:ext cx="32004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111827"/>
                </a:solidFill>
                <a:latin typeface="Arial" panose="020B0604020202020204"/>
              </a:rPr>
              <a:t>95</a:t>
            </a:r>
            <a:endParaRPr sz="900" b="0">
              <a:solidFill>
                <a:srgbClr val="111827"/>
              </a:solidFill>
              <a:latin typeface="Arial" panose="020B0604020202020204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03504"/>
            <a:ext cx="5715000" cy="0"/>
          </a:xfrm>
          <a:prstGeom prst="line">
            <a:avLst/>
          </a:prstGeom>
          <a:ln w="8890">
            <a:solidFill>
              <a:srgbClr val="D8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4592" y="530352"/>
            <a:ext cx="32004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111827"/>
                </a:solidFill>
                <a:latin typeface="Arial" panose="020B0604020202020204"/>
              </a:rPr>
              <a:t>100</a:t>
            </a:r>
            <a:endParaRPr sz="900" b="0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 rot="16200000">
            <a:off x="45720" y="1371600"/>
            <a:ext cx="2286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ACC (%)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4672" y="466344"/>
            <a:ext cx="164592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Student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66543" y="466344"/>
            <a:ext cx="164592" cy="109728"/>
          </a:xfrm>
          <a:prstGeom prst="rect">
            <a:avLst/>
          </a:prstGeom>
          <a:solidFill>
            <a:srgbClr val="6E86B8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67712" y="469075"/>
            <a:ext cx="721995" cy="1225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800" b="1">
                <a:solidFill>
                  <a:srgbClr val="111827"/>
                </a:solidFill>
                <a:latin typeface="Arial" panose="020B0604020202020204"/>
              </a:rPr>
              <a:t>Best  logits </a:t>
            </a:r>
            <a:r>
              <a:rPr sz="800" b="1">
                <a:solidFill>
                  <a:srgbClr val="111827"/>
                </a:solidFill>
                <a:latin typeface="Arial" panose="020B0604020202020204"/>
              </a:rPr>
              <a:t>KD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28415" y="466344"/>
            <a:ext cx="164592" cy="109728"/>
          </a:xfrm>
          <a:prstGeom prst="rect">
            <a:avLst/>
          </a:prstGeom>
          <a:solidFill>
            <a:srgbClr val="BFD3EF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448056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Best Feature KD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90288" y="466344"/>
            <a:ext cx="164592" cy="109728"/>
          </a:xfrm>
          <a:prstGeom prst="rect">
            <a:avLst/>
          </a:prstGeom>
          <a:solidFill>
            <a:srgbClr val="A8647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448056"/>
            <a:ext cx="100584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TMSKD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481328" y="2201006"/>
            <a:ext cx="219456" cy="487329"/>
          </a:xfrm>
          <a:prstGeom prst="rect">
            <a:avLst/>
          </a:prstGeom>
          <a:solidFill>
            <a:srgbClr val="17365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35608" y="1999838"/>
            <a:ext cx="31089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87.7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764792" y="1664162"/>
            <a:ext cx="219456" cy="1024173"/>
          </a:xfrm>
          <a:prstGeom prst="rect">
            <a:avLst/>
          </a:prstGeom>
          <a:solidFill>
            <a:srgbClr val="6E86B8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19072" y="1462994"/>
            <a:ext cx="31089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91.9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48256" y="1572950"/>
            <a:ext cx="219456" cy="1115385"/>
          </a:xfrm>
          <a:prstGeom prst="rect">
            <a:avLst/>
          </a:prstGeom>
          <a:solidFill>
            <a:srgbClr val="BFD3EF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1371782"/>
            <a:ext cx="31089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92.6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331720" y="1462194"/>
            <a:ext cx="219456" cy="1226141"/>
          </a:xfrm>
          <a:prstGeom prst="rect">
            <a:avLst/>
          </a:prstGeom>
          <a:solidFill>
            <a:srgbClr val="A8647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1261026"/>
            <a:ext cx="31089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93.4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89888" y="2807208"/>
            <a:ext cx="11430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 panose="020B0604020202020204"/>
              </a:rPr>
              <a:t>DeepShip</a:t>
            </a:r>
            <a:endParaRPr sz="1000" b="1">
              <a:solidFill>
                <a:srgbClr val="111827"/>
              </a:solidFill>
              <a:latin typeface="Arial" panose="020B0604020202020204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1591056" y="1023282"/>
            <a:ext cx="850392" cy="0"/>
          </a:xfrm>
          <a:prstGeom prst="line">
            <a:avLst/>
          </a:prstGeom>
          <a:ln w="1778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591056" y="1023282"/>
            <a:ext cx="0" cy="1141148"/>
          </a:xfrm>
          <a:prstGeom prst="line">
            <a:avLst/>
          </a:prstGeom>
          <a:ln w="1143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441448" y="1023282"/>
            <a:ext cx="0" cy="402336"/>
          </a:xfrm>
          <a:prstGeom prst="line">
            <a:avLst/>
          </a:prstGeom>
          <a:ln w="1143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687068" y="812970"/>
            <a:ext cx="65836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D84135"/>
                </a:solidFill>
                <a:latin typeface="Arial" panose="020B0604020202020204"/>
              </a:rPr>
              <a:t>+5.67 pp</a:t>
            </a:r>
            <a:endParaRPr sz="900" b="1">
              <a:solidFill>
                <a:srgbClr val="D84135"/>
              </a:solidFill>
              <a:latin typeface="Arial" panose="020B060402020202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133087" y="2134552"/>
            <a:ext cx="219456" cy="553783"/>
          </a:xfrm>
          <a:prstGeom prst="rect">
            <a:avLst/>
          </a:prstGeom>
          <a:solidFill>
            <a:srgbClr val="17365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87368" y="1933384"/>
            <a:ext cx="31089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88.2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416551" y="1902614"/>
            <a:ext cx="219456" cy="785721"/>
          </a:xfrm>
          <a:prstGeom prst="rect">
            <a:avLst/>
          </a:prstGeom>
          <a:solidFill>
            <a:srgbClr val="6E86B8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1" y="1701446"/>
            <a:ext cx="31089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90.0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00016" y="1972978"/>
            <a:ext cx="219456" cy="715357"/>
          </a:xfrm>
          <a:prstGeom prst="rect">
            <a:avLst/>
          </a:prstGeom>
          <a:solidFill>
            <a:srgbClr val="BFD3EF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4296" y="1771810"/>
            <a:ext cx="31089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89.5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983479" y="1595102"/>
            <a:ext cx="219456" cy="1093233"/>
          </a:xfrm>
          <a:prstGeom prst="rect">
            <a:avLst/>
          </a:prstGeom>
          <a:solidFill>
            <a:srgbClr val="A8647D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59" y="1393934"/>
            <a:ext cx="31089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92.4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41648" y="2807208"/>
            <a:ext cx="11430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 panose="020B0604020202020204"/>
              </a:rPr>
              <a:t>ShipsEar</a:t>
            </a:r>
            <a:endParaRPr sz="1000" b="1">
              <a:solidFill>
                <a:srgbClr val="111827"/>
              </a:solidFill>
              <a:latin typeface="Arial" panose="020B0604020202020204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4242816" y="1156190"/>
            <a:ext cx="850391" cy="0"/>
          </a:xfrm>
          <a:prstGeom prst="line">
            <a:avLst/>
          </a:prstGeom>
          <a:ln w="1778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2816" y="1156190"/>
            <a:ext cx="0" cy="941786"/>
          </a:xfrm>
          <a:prstGeom prst="line">
            <a:avLst/>
          </a:prstGeom>
          <a:ln w="1143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093207" y="1156190"/>
            <a:ext cx="0" cy="402336"/>
          </a:xfrm>
          <a:prstGeom prst="line">
            <a:avLst/>
          </a:prstGeom>
          <a:ln w="1143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338827" y="945878"/>
            <a:ext cx="65836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D84135"/>
                </a:solidFill>
                <a:latin typeface="Arial" panose="020B0604020202020204"/>
              </a:rPr>
              <a:t>+4.14 pp</a:t>
            </a:r>
            <a:endParaRPr sz="900" b="1">
              <a:solidFill>
                <a:srgbClr val="D84135"/>
              </a:solidFill>
              <a:latin typeface="Arial" panose="020B0604020202020204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66928" y="297180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1520" y="3072384"/>
            <a:ext cx="201168" cy="201168"/>
          </a:xfrm>
          <a:prstGeom prst="ellipse">
            <a:avLst/>
          </a:prstGeom>
          <a:solidFill>
            <a:srgbClr val="2FA6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" y="3017520"/>
            <a:ext cx="67665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0.32M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50976" y="3191256"/>
            <a:ext cx="6766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C6678"/>
                </a:solidFill>
                <a:latin typeface="Arial" panose="020B0604020202020204"/>
              </a:rPr>
              <a:t>params</a:t>
            </a:r>
            <a:endParaRPr sz="700" b="0">
              <a:solidFill>
                <a:srgbClr val="5C6678"/>
              </a:solidFill>
              <a:latin typeface="Arial" panose="020B0604020202020204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965960" y="297180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130552" y="3072384"/>
            <a:ext cx="201168" cy="201168"/>
          </a:xfrm>
          <a:prstGeom prst="ellipse">
            <a:avLst/>
          </a:prstGeom>
          <a:solidFill>
            <a:srgbClr val="3E66B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50008" y="3017520"/>
            <a:ext cx="67665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1.21 MB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350008" y="3191256"/>
            <a:ext cx="6766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C6678"/>
                </a:solidFill>
                <a:latin typeface="Arial" panose="020B0604020202020204"/>
              </a:rPr>
              <a:t>size</a:t>
            </a:r>
            <a:endParaRPr sz="700" b="0">
              <a:solidFill>
                <a:srgbClr val="5C6678"/>
              </a:solidFill>
              <a:latin typeface="Arial" panose="020B060402020202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3364992" y="297180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529584" y="3072384"/>
            <a:ext cx="201168" cy="201168"/>
          </a:xfrm>
          <a:prstGeom prst="ellipse">
            <a:avLst/>
          </a:prstGeom>
          <a:solidFill>
            <a:srgbClr val="E2A3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40" y="3017520"/>
            <a:ext cx="67665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58.97M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749040" y="3191256"/>
            <a:ext cx="6766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C6678"/>
                </a:solidFill>
                <a:latin typeface="Arial" panose="020B0604020202020204"/>
              </a:rPr>
              <a:t>FLOPs</a:t>
            </a:r>
            <a:endParaRPr sz="700" b="0">
              <a:solidFill>
                <a:srgbClr val="5C6678"/>
              </a:solidFill>
              <a:latin typeface="Arial" panose="020B0604020202020204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764024" y="2971800"/>
            <a:ext cx="1170432" cy="4114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928616" y="3072384"/>
            <a:ext cx="201168" cy="201168"/>
          </a:xfrm>
          <a:prstGeom prst="ellipse">
            <a:avLst/>
          </a:prstGeom>
          <a:solidFill>
            <a:srgbClr val="D841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48072" y="3017520"/>
            <a:ext cx="676656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 panose="020B0604020202020204"/>
              </a:rPr>
              <a:t>92.39%</a:t>
            </a:r>
            <a:endParaRPr sz="11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148072" y="3191256"/>
            <a:ext cx="6766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C6678"/>
                </a:solidFill>
                <a:latin typeface="Arial" panose="020B0604020202020204"/>
              </a:rPr>
              <a:t>ShipsEar</a:t>
            </a:r>
            <a:endParaRPr sz="700" b="0">
              <a:solidFill>
                <a:srgbClr val="5C6678"/>
              </a:solidFill>
              <a:latin typeface="Arial" panose="020B0604020202020204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457200" y="3529584"/>
            <a:ext cx="5961888" cy="0"/>
          </a:xfrm>
          <a:prstGeom prst="line">
            <a:avLst/>
          </a:prstGeom>
          <a:ln w="15240">
            <a:solidFill>
              <a:srgbClr val="1118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66928" y="3904487"/>
            <a:ext cx="1234440" cy="68580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" y="4069079"/>
            <a:ext cx="1014984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Raw waveform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66928" y="4864608"/>
            <a:ext cx="1234440" cy="713232"/>
          </a:xfrm>
          <a:prstGeom prst="roundRect">
            <a:avLst/>
          </a:prstGeom>
          <a:solidFill>
            <a:srgbClr val="F5D3CF"/>
          </a:solidFill>
          <a:ln w="12700">
            <a:solidFill>
              <a:srgbClr val="E8A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6656" y="5029200"/>
            <a:ext cx="1014984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Teacher
wav2vec 2.0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66928" y="5879592"/>
            <a:ext cx="1234440" cy="713232"/>
          </a:xfrm>
          <a:prstGeom prst="roundRect">
            <a:avLst/>
          </a:prstGeom>
          <a:solidFill>
            <a:srgbClr val="DDF4E3"/>
          </a:solidFill>
          <a:ln w="12700">
            <a:solidFill>
              <a:srgbClr val="9FD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6656" y="6044183"/>
            <a:ext cx="1014984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Student
LNN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713232" y="4279392"/>
            <a:ext cx="15188" cy="53689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8420" y="4333081"/>
            <a:ext cx="15188" cy="39573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43608" y="4372654"/>
            <a:ext cx="15189" cy="4673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58797" y="4340101"/>
            <a:ext cx="15188" cy="37226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73985" y="4273309"/>
            <a:ext cx="15188" cy="66792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89173" y="4204516"/>
            <a:ext cx="15189" cy="68793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04362" y="4164029"/>
            <a:ext cx="15188" cy="40487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19550" y="4164029"/>
            <a:ext cx="15188" cy="6142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34738" y="4170171"/>
            <a:ext cx="15189" cy="49974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9927" y="4220145"/>
            <a:ext cx="15188" cy="71290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65115" y="4291435"/>
            <a:ext cx="15188" cy="61554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80303" y="4352989"/>
            <a:ext cx="15189" cy="27143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95492" y="4365380"/>
            <a:ext cx="15188" cy="14752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910680" y="4320020"/>
            <a:ext cx="15188" cy="45360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25868" y="4266611"/>
            <a:ext cx="15189" cy="53409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941057" y="4227325"/>
            <a:ext cx="15188" cy="39286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56245" y="4214539"/>
            <a:ext cx="15188" cy="12786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71433" y="4214539"/>
            <a:ext cx="15189" cy="13284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86622" y="4227823"/>
            <a:ext cx="15188" cy="29450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01810" y="4257273"/>
            <a:ext cx="15188" cy="32561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16998" y="4289834"/>
            <a:ext cx="15189" cy="24751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32187" y="4314585"/>
            <a:ext cx="15188" cy="10394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47375" y="4318687"/>
            <a:ext cx="15188" cy="6292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2563" y="4297089"/>
            <a:ext cx="15189" cy="21598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77752" y="4265614"/>
            <a:ext cx="15188" cy="31475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92940" y="4234176"/>
            <a:ext cx="15188" cy="31438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108128" y="4215686"/>
            <a:ext cx="15189" cy="18490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123317" y="4215686"/>
            <a:ext cx="15188" cy="5763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138505" y="4221449"/>
            <a:ext cx="15188" cy="33316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153693" y="4254765"/>
            <a:ext cx="15189" cy="51695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168882" y="4306460"/>
            <a:ext cx="15188" cy="49675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184070" y="4356135"/>
            <a:ext cx="15188" cy="24085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199258" y="4363636"/>
            <a:ext cx="15189" cy="16584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214447" y="4308919"/>
            <a:ext cx="15188" cy="54717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229635" y="4237151"/>
            <a:ext cx="15188" cy="71768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244823" y="4179157"/>
            <a:ext cx="15189" cy="57994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260012" y="4160911"/>
            <a:ext cx="15188" cy="18246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275200" y="4160911"/>
            <a:ext cx="15188" cy="29807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290388" y="4190718"/>
            <a:ext cx="15189" cy="64324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305577" y="4255042"/>
            <a:ext cx="15188" cy="70243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320765" y="4325285"/>
            <a:ext cx="15188" cy="46517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335953" y="4371802"/>
            <a:ext cx="15189" cy="5873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351142" y="4345248"/>
            <a:ext cx="15188" cy="32427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366330" y="4292791"/>
            <a:ext cx="15188" cy="52457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381518" y="4244128"/>
            <a:ext cx="15189" cy="48663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96707" y="4217360"/>
            <a:ext cx="15188" cy="26768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411895" y="4217360"/>
            <a:ext cx="15188" cy="1030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427083" y="4218390"/>
            <a:ext cx="15189" cy="22954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442272" y="4241344"/>
            <a:ext cx="15188" cy="32596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457460" y="4273940"/>
            <a:ext cx="15188" cy="29763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472648" y="4303703"/>
            <a:ext cx="15189" cy="18109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487837" y="4321812"/>
            <a:ext cx="15188" cy="2107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503025" y="4309566"/>
            <a:ext cx="15188" cy="14353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518213" y="4282069"/>
            <a:ext cx="15189" cy="27497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533402" y="4249115"/>
            <a:ext cx="15188" cy="32954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548590" y="4222495"/>
            <a:ext cx="15188" cy="26620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63778" y="4215070"/>
            <a:ext cx="15189" cy="7425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578967" y="4215070"/>
            <a:ext cx="15188" cy="19854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594155" y="4234924"/>
            <a:ext cx="15189" cy="44468"/>
          </a:xfrm>
          <a:prstGeom prst="line">
            <a:avLst/>
          </a:prstGeom>
          <a:ln w="1143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2121408" y="4005072"/>
            <a:ext cx="1417320" cy="64008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9DB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267712" y="4114800"/>
            <a:ext cx="5029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E66B1"/>
                </a:solidFill>
                <a:latin typeface="Arial" panose="020B0604020202020204"/>
              </a:rPr>
              <a:t>TS-T</a:t>
            </a:r>
            <a:endParaRPr sz="1200" b="1">
              <a:solidFill>
                <a:srgbClr val="3E66B1"/>
              </a:solidFill>
              <a:latin typeface="Arial" panose="020B0604020202020204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670048" y="4142232"/>
            <a:ext cx="658368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5C6678"/>
                </a:solidFill>
                <a:latin typeface="Arial" panose="020B0604020202020204"/>
              </a:rPr>
              <a:t>step-wise logits</a:t>
            </a:r>
            <a:endParaRPr sz="700" b="0">
              <a:solidFill>
                <a:srgbClr val="5C6678"/>
              </a:solidFill>
              <a:latin typeface="Arial" panose="020B0604020202020204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2286000" y="4389120"/>
            <a:ext cx="91440" cy="91440"/>
          </a:xfrm>
          <a:prstGeom prst="ellipse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487168" y="4389120"/>
            <a:ext cx="91440" cy="91440"/>
          </a:xfrm>
          <a:prstGeom prst="ellipse">
            <a:avLst/>
          </a:prstGeom>
          <a:solidFill>
            <a:srgbClr val="6E86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688336" y="4389120"/>
            <a:ext cx="91440" cy="91440"/>
          </a:xfrm>
          <a:prstGeom prst="ellipse">
            <a:avLst/>
          </a:prstGeom>
          <a:solidFill>
            <a:srgbClr val="BFD3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889504" y="4389120"/>
            <a:ext cx="91440" cy="91440"/>
          </a:xfrm>
          <a:prstGeom prst="ellipse">
            <a:avLst/>
          </a:prstGeom>
          <a:solidFill>
            <a:srgbClr val="A864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090672" y="4389120"/>
            <a:ext cx="91440" cy="91440"/>
          </a:xfrm>
          <a:prstGeom prst="ellipse">
            <a:avLst/>
          </a:prstGeom>
          <a:solidFill>
            <a:srgbClr val="D841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2121408" y="4956048"/>
            <a:ext cx="1417320" cy="786384"/>
          </a:xfrm>
          <a:prstGeom prst="roundRect">
            <a:avLst/>
          </a:prstGeom>
          <a:solidFill>
            <a:srgbClr val="F7F0F3"/>
          </a:solidFill>
          <a:ln w="12700">
            <a:solidFill>
              <a:srgbClr val="C99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267712" y="5074920"/>
            <a:ext cx="65836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A8647D"/>
                </a:solidFill>
                <a:latin typeface="Arial" panose="020B0604020202020204"/>
              </a:rPr>
              <a:t>MemKD</a:t>
            </a:r>
            <a:endParaRPr sz="1200" b="1">
              <a:solidFill>
                <a:srgbClr val="A8647D"/>
              </a:solidFill>
              <a:latin typeface="Arial" panose="020B0604020202020204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560320" y="5285232"/>
            <a:ext cx="777240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5C6678"/>
                </a:solidFill>
                <a:latin typeface="Arial" panose="020B0604020202020204"/>
              </a:rPr>
              <a:t>memory trajectory</a:t>
            </a:r>
            <a:endParaRPr sz="700" b="0">
              <a:solidFill>
                <a:srgbClr val="5C6678"/>
              </a:solidFill>
              <a:latin typeface="Arial" panose="020B0604020202020204"/>
            </a:endParaRPr>
          </a:p>
        </p:txBody>
      </p:sp>
      <p:cxnSp>
        <p:nvCxnSpPr>
          <p:cNvPr id="142" name="Connector 141"/>
          <p:cNvCxnSpPr/>
          <p:nvPr/>
        </p:nvCxnSpPr>
        <p:spPr>
          <a:xfrm>
            <a:off x="2258568" y="5504688"/>
            <a:ext cx="33107" cy="5897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291675" y="5510585"/>
            <a:ext cx="33108" cy="5621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324783" y="5516206"/>
            <a:ext cx="33107" cy="5083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2357890" y="5521289"/>
            <a:ext cx="33108" cy="4306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2390998" y="5525595"/>
            <a:ext cx="33107" cy="3329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2424105" y="5528924"/>
            <a:ext cx="33108" cy="2196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457213" y="5531120"/>
            <a:ext cx="33108" cy="959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490321" y="5531758"/>
            <a:ext cx="33107" cy="321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523428" y="5530171"/>
            <a:ext cx="33108" cy="1587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556536" y="5527393"/>
            <a:ext cx="33107" cy="2778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589643" y="5523552"/>
            <a:ext cx="33108" cy="3841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622751" y="5518830"/>
            <a:ext cx="33108" cy="4722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655859" y="5513447"/>
            <a:ext cx="33107" cy="5383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688966" y="5507653"/>
            <a:ext cx="33108" cy="5794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722074" y="5501722"/>
            <a:ext cx="33107" cy="5931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755181" y="5495928"/>
            <a:ext cx="33108" cy="5794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788289" y="5490545"/>
            <a:ext cx="33107" cy="5383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821396" y="5485823"/>
            <a:ext cx="33108" cy="4722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854504" y="5481982"/>
            <a:ext cx="33108" cy="3841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887612" y="5479204"/>
            <a:ext cx="33107" cy="2778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920719" y="5477617"/>
            <a:ext cx="33108" cy="1587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2953827" y="5477296"/>
            <a:ext cx="33107" cy="321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2986934" y="5477296"/>
            <a:ext cx="33108" cy="959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3020042" y="5478255"/>
            <a:ext cx="33108" cy="2196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3053150" y="5480451"/>
            <a:ext cx="33107" cy="3329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086257" y="5483780"/>
            <a:ext cx="33108" cy="4306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119365" y="5488086"/>
            <a:ext cx="33107" cy="5083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152472" y="5493169"/>
            <a:ext cx="33108" cy="5621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185580" y="5498790"/>
            <a:ext cx="33108" cy="5898"/>
          </a:xfrm>
          <a:prstGeom prst="line">
            <a:avLst/>
          </a:prstGeom>
          <a:ln w="889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2258568" y="5408899"/>
            <a:ext cx="33107" cy="2646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2291675" y="5411545"/>
            <a:ext cx="33108" cy="1444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2324783" y="5412989"/>
            <a:ext cx="33107" cy="173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2357890" y="5412056"/>
            <a:ext cx="33108" cy="1106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2390998" y="5409723"/>
            <a:ext cx="33107" cy="2333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2424105" y="5406272"/>
            <a:ext cx="33108" cy="3451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2457213" y="5401865"/>
            <a:ext cx="33108" cy="4407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2490321" y="5396707"/>
            <a:ext cx="33107" cy="5158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2523428" y="5391040"/>
            <a:ext cx="33108" cy="5667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2556536" y="5385129"/>
            <a:ext cx="33107" cy="5911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2589643" y="5379250"/>
            <a:ext cx="33108" cy="5879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2622751" y="5373678"/>
            <a:ext cx="33108" cy="5572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2655859" y="5368673"/>
            <a:ext cx="33107" cy="5005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2688966" y="5364470"/>
            <a:ext cx="33108" cy="4203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2722074" y="5361265"/>
            <a:ext cx="33107" cy="3205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2755181" y="5359208"/>
            <a:ext cx="33108" cy="2057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788289" y="5358395"/>
            <a:ext cx="33107" cy="813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2821396" y="5358395"/>
            <a:ext cx="33108" cy="469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2854504" y="5358864"/>
            <a:ext cx="33108" cy="1730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887612" y="5360594"/>
            <a:ext cx="33107" cy="2909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2920719" y="5363503"/>
            <a:ext cx="33108" cy="3952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2953827" y="5367455"/>
            <a:ext cx="33107" cy="4810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2986934" y="5372265"/>
            <a:ext cx="33108" cy="5445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3020042" y="5377710"/>
            <a:ext cx="33108" cy="5823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3053150" y="5383533"/>
            <a:ext cx="33107" cy="5930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3086257" y="5389463"/>
            <a:ext cx="33108" cy="5759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3119365" y="5395222"/>
            <a:ext cx="33107" cy="5320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3152472" y="5400542"/>
            <a:ext cx="33108" cy="4631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185580" y="5405173"/>
            <a:ext cx="33108" cy="3726"/>
          </a:xfrm>
          <a:prstGeom prst="line">
            <a:avLst/>
          </a:prstGeom>
          <a:ln w="8890">
            <a:solidFill>
              <a:srgbClr val="D84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2258568" y="5288850"/>
            <a:ext cx="33107" cy="3037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2291675" y="5284789"/>
            <a:ext cx="33108" cy="4061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2324783" y="5279893"/>
            <a:ext cx="33107" cy="4896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2357890" y="5274391"/>
            <a:ext cx="33108" cy="5502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2390998" y="5268541"/>
            <a:ext cx="33107" cy="5850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2424105" y="5262617"/>
            <a:ext cx="33108" cy="5924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2457213" y="5256895"/>
            <a:ext cx="33108" cy="5722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2490321" y="5251643"/>
            <a:ext cx="33107" cy="5252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2523428" y="5247106"/>
            <a:ext cx="33108" cy="4537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2556536" y="5243497"/>
            <a:ext cx="33107" cy="3609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2589643" y="5240984"/>
            <a:ext cx="33108" cy="2513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2622751" y="5239685"/>
            <a:ext cx="33108" cy="1299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2655859" y="5239660"/>
            <a:ext cx="33107" cy="25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2688966" y="5239660"/>
            <a:ext cx="33108" cy="1252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2722074" y="5240912"/>
            <a:ext cx="33107" cy="2468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2755181" y="5243380"/>
            <a:ext cx="33108" cy="3570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2788289" y="5246950"/>
            <a:ext cx="33107" cy="4506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2821396" y="5251456"/>
            <a:ext cx="33108" cy="5229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2854504" y="5256685"/>
            <a:ext cx="33108" cy="5709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2887612" y="5262394"/>
            <a:ext cx="33107" cy="5922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2920719" y="5268316"/>
            <a:ext cx="33108" cy="5857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2953827" y="5274173"/>
            <a:ext cx="33107" cy="5520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2986934" y="5279693"/>
            <a:ext cx="33108" cy="4923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3020042" y="5284616"/>
            <a:ext cx="33108" cy="4097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3053150" y="5288713"/>
            <a:ext cx="33107" cy="3079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3086257" y="5291792"/>
            <a:ext cx="33108" cy="1918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3119365" y="5293710"/>
            <a:ext cx="33107" cy="665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3152472" y="5293758"/>
            <a:ext cx="33108" cy="617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3185580" y="5291887"/>
            <a:ext cx="33108" cy="1871"/>
          </a:xfrm>
          <a:prstGeom prst="line">
            <a:avLst/>
          </a:prstGeom>
          <a:ln w="889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Rounded Rectangle 228"/>
          <p:cNvSpPr/>
          <p:nvPr/>
        </p:nvSpPr>
        <p:spPr>
          <a:xfrm>
            <a:off x="2121408" y="6144768"/>
            <a:ext cx="1417320" cy="658368"/>
          </a:xfrm>
          <a:prstGeom prst="roundRect">
            <a:avLst/>
          </a:prstGeom>
          <a:solidFill>
            <a:srgbClr val="F2FAF3"/>
          </a:solidFill>
          <a:ln w="12700">
            <a:solidFill>
              <a:srgbClr val="9FD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267712" y="6272784"/>
            <a:ext cx="86868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FA64A"/>
                </a:solidFill>
                <a:latin typeface="Arial" panose="020B0604020202020204"/>
              </a:rPr>
              <a:t>LNN Student</a:t>
            </a:r>
            <a:endParaRPr sz="1100" b="1">
              <a:solidFill>
                <a:srgbClr val="2FA64A"/>
              </a:solidFill>
              <a:latin typeface="Arial" panose="020B0604020202020204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322576" y="6473952"/>
            <a:ext cx="786384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5C6678"/>
                </a:solidFill>
                <a:latin typeface="Arial" panose="020B0604020202020204"/>
              </a:rPr>
              <a:t>lightweight inference</a:t>
            </a:r>
            <a:endParaRPr sz="700" b="0">
              <a:solidFill>
                <a:srgbClr val="5C6678"/>
              </a:solidFill>
              <a:latin typeface="Arial" panose="020B0604020202020204"/>
            </a:endParaRPr>
          </a:p>
        </p:txBody>
      </p:sp>
      <p:cxnSp>
        <p:nvCxnSpPr>
          <p:cNvPr id="232" name="Connector 231"/>
          <p:cNvCxnSpPr/>
          <p:nvPr/>
        </p:nvCxnSpPr>
        <p:spPr>
          <a:xfrm>
            <a:off x="1801368" y="5212080"/>
            <a:ext cx="320040" cy="146304"/>
          </a:xfrm>
          <a:prstGeom prst="line">
            <a:avLst/>
          </a:prstGeom>
          <a:ln w="1524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1801368" y="6236208"/>
            <a:ext cx="320040" cy="109728"/>
          </a:xfrm>
          <a:prstGeom prst="line">
            <a:avLst/>
          </a:prstGeom>
          <a:ln w="15240">
            <a:solidFill>
              <a:srgbClr val="2FA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188720" y="4590288"/>
            <a:ext cx="0" cy="274320"/>
          </a:xfrm>
          <a:prstGeom prst="line">
            <a:avLst/>
          </a:prstGeom>
          <a:ln w="12700">
            <a:solidFill>
              <a:srgbClr val="5C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188720" y="4590288"/>
            <a:ext cx="0" cy="1289304"/>
          </a:xfrm>
          <a:prstGeom prst="line">
            <a:avLst/>
          </a:prstGeom>
          <a:ln w="12700">
            <a:solidFill>
              <a:srgbClr val="5C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ounded Rectangle 235"/>
          <p:cNvSpPr/>
          <p:nvPr/>
        </p:nvSpPr>
        <p:spPr>
          <a:xfrm>
            <a:off x="3822191" y="4133087"/>
            <a:ext cx="713232" cy="393192"/>
          </a:xfrm>
          <a:prstGeom prst="roundRect">
            <a:avLst/>
          </a:prstGeom>
          <a:solidFill>
            <a:srgbClr val="E9F1FF"/>
          </a:solidFill>
          <a:ln w="12700">
            <a:solidFill>
              <a:srgbClr val="9DB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822191" y="4251960"/>
            <a:ext cx="71323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7365D"/>
                </a:solidFill>
                <a:latin typeface="Arial" panose="020B0604020202020204"/>
              </a:rPr>
              <a:t>CNN</a:t>
            </a:r>
            <a:endParaRPr sz="800" b="1">
              <a:solidFill>
                <a:srgbClr val="17365D"/>
              </a:solidFill>
              <a:latin typeface="Arial" panose="020B0604020202020204"/>
            </a:endParaRPr>
          </a:p>
        </p:txBody>
      </p:sp>
      <p:sp>
        <p:nvSpPr>
          <p:cNvPr id="238" name="Rounded Rectangle 237"/>
          <p:cNvSpPr/>
          <p:nvPr/>
        </p:nvSpPr>
        <p:spPr>
          <a:xfrm>
            <a:off x="4709160" y="4133087"/>
            <a:ext cx="932688" cy="393192"/>
          </a:xfrm>
          <a:prstGeom prst="roundRect">
            <a:avLst/>
          </a:prstGeom>
          <a:solidFill>
            <a:srgbClr val="E7F6EC"/>
          </a:solidFill>
          <a:ln w="12700">
            <a:solidFill>
              <a:srgbClr val="9FD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709160" y="4251960"/>
            <a:ext cx="93268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FA64A"/>
                </a:solidFill>
                <a:latin typeface="Arial" panose="020B0604020202020204"/>
              </a:rPr>
              <a:t>BPCSCfC</a:t>
            </a:r>
            <a:endParaRPr sz="800" b="1">
              <a:solidFill>
                <a:srgbClr val="2FA64A"/>
              </a:solidFill>
              <a:latin typeface="Arial" panose="020B0604020202020204"/>
            </a:endParaRPr>
          </a:p>
        </p:txBody>
      </p:sp>
      <p:sp>
        <p:nvSpPr>
          <p:cNvPr id="240" name="Rounded Rectangle 239"/>
          <p:cNvSpPr/>
          <p:nvPr/>
        </p:nvSpPr>
        <p:spPr>
          <a:xfrm>
            <a:off x="5833872" y="4133087"/>
            <a:ext cx="713232" cy="393192"/>
          </a:xfrm>
          <a:prstGeom prst="roundRect">
            <a:avLst/>
          </a:prstGeom>
          <a:solidFill>
            <a:srgbClr val="FFF2D4"/>
          </a:solidFill>
          <a:ln w="12700">
            <a:solidFill>
              <a:srgbClr val="EBC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833872" y="4251960"/>
            <a:ext cx="71323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2A33A"/>
                </a:solidFill>
                <a:latin typeface="Arial" panose="020B0604020202020204"/>
              </a:rPr>
              <a:t>DRASP</a:t>
            </a:r>
            <a:endParaRPr sz="800" b="1">
              <a:solidFill>
                <a:srgbClr val="E2A33A"/>
              </a:solidFill>
              <a:latin typeface="Arial" panose="020B0604020202020204"/>
            </a:endParaRPr>
          </a:p>
        </p:txBody>
      </p:sp>
      <p:cxnSp>
        <p:nvCxnSpPr>
          <p:cNvPr id="242" name="Connector 241"/>
          <p:cNvCxnSpPr/>
          <p:nvPr/>
        </p:nvCxnSpPr>
        <p:spPr>
          <a:xfrm>
            <a:off x="4535424" y="4329684"/>
            <a:ext cx="173736" cy="0"/>
          </a:xfrm>
          <a:prstGeom prst="line">
            <a:avLst/>
          </a:prstGeom>
          <a:ln w="12700">
            <a:solidFill>
              <a:srgbClr val="5C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5641848" y="4329684"/>
            <a:ext cx="192024" cy="0"/>
          </a:xfrm>
          <a:prstGeom prst="line">
            <a:avLst/>
          </a:prstGeom>
          <a:ln w="12700">
            <a:solidFill>
              <a:srgbClr val="5C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3"/>
          <p:cNvSpPr/>
          <p:nvPr/>
        </p:nvSpPr>
        <p:spPr>
          <a:xfrm>
            <a:off x="3895344" y="4892040"/>
            <a:ext cx="40233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3895344" y="4974336"/>
            <a:ext cx="402336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rial" panose="020B0604020202020204"/>
              </a:rPr>
              <a:t>FL</a:t>
            </a:r>
            <a:endParaRPr sz="7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46" name="Rounded Rectangle 245"/>
          <p:cNvSpPr/>
          <p:nvPr/>
        </p:nvSpPr>
        <p:spPr>
          <a:xfrm>
            <a:off x="4407408" y="4892040"/>
            <a:ext cx="40233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4407408" y="4974336"/>
            <a:ext cx="402336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rial" panose="020B0604020202020204"/>
              </a:rPr>
              <a:t>FG</a:t>
            </a:r>
            <a:endParaRPr sz="7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48" name="Rounded Rectangle 247"/>
          <p:cNvSpPr/>
          <p:nvPr/>
        </p:nvSpPr>
        <p:spPr>
          <a:xfrm>
            <a:off x="3895344" y="5285231"/>
            <a:ext cx="40233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3895344" y="5367527"/>
            <a:ext cx="402336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rial" panose="020B0604020202020204"/>
              </a:rPr>
              <a:t>BL</a:t>
            </a:r>
            <a:endParaRPr sz="7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50" name="Rounded Rectangle 249"/>
          <p:cNvSpPr/>
          <p:nvPr/>
        </p:nvSpPr>
        <p:spPr>
          <a:xfrm>
            <a:off x="4407408" y="5285231"/>
            <a:ext cx="40233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C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4407408" y="5367527"/>
            <a:ext cx="402336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rial" panose="020B0604020202020204"/>
              </a:rPr>
              <a:t>BG</a:t>
            </a:r>
            <a:endParaRPr sz="7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52" name="Rounded Rectangle 251"/>
          <p:cNvSpPr/>
          <p:nvPr/>
        </p:nvSpPr>
        <p:spPr>
          <a:xfrm>
            <a:off x="5084064" y="5010912"/>
            <a:ext cx="603504" cy="475488"/>
          </a:xfrm>
          <a:prstGeom prst="roundRect">
            <a:avLst/>
          </a:prstGeom>
          <a:solidFill>
            <a:srgbClr val="E7F6EC"/>
          </a:solidFill>
          <a:ln w="12700">
            <a:solidFill>
              <a:srgbClr val="9FD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5084064" y="5193792"/>
            <a:ext cx="603504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FA64A"/>
                </a:solidFill>
                <a:latin typeface="Arial" panose="020B0604020202020204"/>
              </a:rPr>
              <a:t>Fuse</a:t>
            </a:r>
            <a:endParaRPr sz="800" b="1">
              <a:solidFill>
                <a:srgbClr val="2FA64A"/>
              </a:solidFill>
              <a:latin typeface="Arial" panose="020B0604020202020204"/>
            </a:endParaRPr>
          </a:p>
        </p:txBody>
      </p:sp>
      <p:cxnSp>
        <p:nvCxnSpPr>
          <p:cNvPr id="254" name="Connector 253"/>
          <p:cNvCxnSpPr/>
          <p:nvPr/>
        </p:nvCxnSpPr>
        <p:spPr>
          <a:xfrm>
            <a:off x="4754880" y="5212080"/>
            <a:ext cx="329184" cy="36576"/>
          </a:xfrm>
          <a:prstGeom prst="line">
            <a:avLst/>
          </a:prstGeom>
          <a:ln w="12700">
            <a:solidFill>
              <a:srgbClr val="2FA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Rounded Rectangle 254"/>
          <p:cNvSpPr/>
          <p:nvPr/>
        </p:nvSpPr>
        <p:spPr>
          <a:xfrm>
            <a:off x="4069080" y="5870448"/>
            <a:ext cx="621792" cy="347472"/>
          </a:xfrm>
          <a:prstGeom prst="roundRect">
            <a:avLst/>
          </a:prstGeom>
          <a:solidFill>
            <a:srgbClr val="FFF2D4"/>
          </a:solidFill>
          <a:ln w="12700">
            <a:solidFill>
              <a:srgbClr val="EBC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4069080" y="5989320"/>
            <a:ext cx="62179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E2A33A"/>
                </a:solidFill>
                <a:latin typeface="Arial" panose="020B0604020202020204"/>
              </a:rPr>
              <a:t>Global</a:t>
            </a:r>
            <a:endParaRPr sz="700" b="1">
              <a:solidFill>
                <a:srgbClr val="E2A33A"/>
              </a:solidFill>
              <a:latin typeface="Arial" panose="020B0604020202020204"/>
            </a:endParaRPr>
          </a:p>
        </p:txBody>
      </p:sp>
      <p:sp>
        <p:nvSpPr>
          <p:cNvPr id="257" name="Rounded Rectangle 256"/>
          <p:cNvSpPr/>
          <p:nvPr/>
        </p:nvSpPr>
        <p:spPr>
          <a:xfrm>
            <a:off x="4828032" y="5870448"/>
            <a:ext cx="621792" cy="347472"/>
          </a:xfrm>
          <a:prstGeom prst="roundRect">
            <a:avLst/>
          </a:prstGeom>
          <a:solidFill>
            <a:srgbClr val="FFF2D4"/>
          </a:solidFill>
          <a:ln w="12700">
            <a:solidFill>
              <a:srgbClr val="EBC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828032" y="5989320"/>
            <a:ext cx="62179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E2A33A"/>
                </a:solidFill>
                <a:latin typeface="Arial" panose="020B0604020202020204"/>
              </a:rPr>
              <a:t>Local</a:t>
            </a:r>
            <a:endParaRPr sz="700" b="1">
              <a:solidFill>
                <a:srgbClr val="E2A33A"/>
              </a:solidFill>
              <a:latin typeface="Arial" panose="020B0604020202020204"/>
            </a:endParaRPr>
          </a:p>
        </p:txBody>
      </p:sp>
      <p:sp>
        <p:nvSpPr>
          <p:cNvPr id="259" name="Rounded Rectangle 258"/>
          <p:cNvSpPr/>
          <p:nvPr/>
        </p:nvSpPr>
        <p:spPr>
          <a:xfrm>
            <a:off x="5715000" y="5769864"/>
            <a:ext cx="685800" cy="530352"/>
          </a:xfrm>
          <a:prstGeom prst="roundRect">
            <a:avLst/>
          </a:prstGeom>
          <a:solidFill>
            <a:srgbClr val="F4F8FD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5715000" y="5870448"/>
            <a:ext cx="68580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Class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5833872" y="6099048"/>
            <a:ext cx="64008" cy="64007"/>
          </a:xfrm>
          <a:prstGeom prst="rect">
            <a:avLst/>
          </a:prstGeom>
          <a:solidFill>
            <a:srgbClr val="6E86B8"/>
          </a:solidFill>
          <a:ln w="12700">
            <a:solidFill>
              <a:srgbClr val="6E8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5943600" y="6062472"/>
            <a:ext cx="64008" cy="100584"/>
          </a:xfrm>
          <a:prstGeom prst="rect">
            <a:avLst/>
          </a:prstGeom>
          <a:solidFill>
            <a:srgbClr val="3E66B1"/>
          </a:solidFill>
          <a:ln w="12700">
            <a:solidFill>
              <a:srgbClr val="3E6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6053328" y="6007608"/>
            <a:ext cx="64008" cy="155448"/>
          </a:xfrm>
          <a:prstGeom prst="rect">
            <a:avLst/>
          </a:prstGeom>
          <a:solidFill>
            <a:srgbClr val="A8647D"/>
          </a:solidFill>
          <a:ln w="12700">
            <a:solidFill>
              <a:srgbClr val="A8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6163056" y="6075273"/>
            <a:ext cx="64008" cy="87782"/>
          </a:xfrm>
          <a:prstGeom prst="rect">
            <a:avLst/>
          </a:prstGeom>
          <a:solidFill>
            <a:srgbClr val="D84135"/>
          </a:solidFill>
          <a:ln w="12700">
            <a:solidFill>
              <a:srgbClr val="D84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>
            <a:off x="3538728" y="4325112"/>
            <a:ext cx="283463" cy="0"/>
          </a:xfrm>
          <a:prstGeom prst="line">
            <a:avLst/>
          </a:prstGeom>
          <a:ln w="13970">
            <a:solidFill>
              <a:srgbClr val="3E6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3538728" y="5212080"/>
            <a:ext cx="283463" cy="137160"/>
          </a:xfrm>
          <a:prstGeom prst="line">
            <a:avLst/>
          </a:prstGeom>
          <a:ln w="13970">
            <a:solidFill>
              <a:srgbClr val="A8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3538728" y="6044184"/>
            <a:ext cx="530352" cy="402336"/>
          </a:xfrm>
          <a:prstGeom prst="line">
            <a:avLst/>
          </a:prstGeom>
          <a:ln w="13970">
            <a:solidFill>
              <a:srgbClr val="2FA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/>
          <p:cNvSpPr txBox="1"/>
          <p:nvPr/>
        </p:nvSpPr>
        <p:spPr>
          <a:xfrm>
            <a:off x="2057400" y="5815584"/>
            <a:ext cx="1572768" cy="118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A8647D"/>
                </a:solidFill>
                <a:latin typeface="Arial" panose="020B0604020202020204"/>
              </a:rPr>
              <a:t>memory-aware trajectory transfer</a:t>
            </a:r>
            <a:endParaRPr sz="700" b="0">
              <a:solidFill>
                <a:srgbClr val="A8647D"/>
              </a:solidFill>
              <a:latin typeface="Arial" panose="020B0604020202020204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4892040" y="6455664"/>
            <a:ext cx="1234440" cy="137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 panose="020B0604020202020204"/>
              </a:rPr>
              <a:t>efficient target prediction</a:t>
            </a:r>
            <a:endParaRPr sz="800" b="1">
              <a:solidFill>
                <a:srgbClr val="11182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WPS 演示</Application>
  <PresentationFormat>On-screen Show (4:3)</PresentationFormat>
  <Paragraphs>106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岳洋</cp:lastModifiedBy>
  <cp:revision>3</cp:revision>
  <dcterms:created xsi:type="dcterms:W3CDTF">2013-01-27T09:14:00Z</dcterms:created>
  <dcterms:modified xsi:type="dcterms:W3CDTF">2026-06-30T12:39:44Z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D44650B3C5C44C9EB4FD5D655D8A90DF_12</vt:lpwstr>
  </property>
  <property fmtid="{D5CDD505-2E9C-101B-9397-08002B2CF9AE}" pid="3" name="KSOProductBuildVer">
    <vt:lpwstr>2052-12.1.0.23542</vt:lpwstr>
  </property>
</Properties>
</file>