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6858000" cy="9144000" type="screen4x3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0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9D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30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64592"/>
            <a:ext cx="3200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rial" panose="020B0604020202020204"/>
              </a:rPr>
              <a:t>(a)</a:t>
            </a:r>
            <a:endParaRPr sz="12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8448" y="164592"/>
            <a:ext cx="46634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 panose="020B0604020202020204"/>
              </a:rPr>
              <a:t>Accuracy Comparison on DeepShip and ShipsEar</a:t>
            </a:r>
            <a:endParaRPr sz="14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57150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8F9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66928" y="2167128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7142" y="2075053"/>
            <a:ext cx="168910" cy="1841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 panose="020B0604020202020204"/>
              </a:rPr>
              <a:t>85</a:t>
            </a:r>
            <a:endParaRPr sz="1200" b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66928" y="1645920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7142" y="1553845"/>
            <a:ext cx="168910" cy="1841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 panose="020B0604020202020204"/>
              </a:rPr>
              <a:t>90</a:t>
            </a:r>
            <a:endParaRPr sz="1200" b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66928" y="1124712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7142" y="1032637"/>
            <a:ext cx="168910" cy="1841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 panose="020B0604020202020204"/>
              </a:rPr>
              <a:t>95</a:t>
            </a:r>
            <a:endParaRPr sz="1200" b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03504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7142" y="512064"/>
            <a:ext cx="253365" cy="1841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 panose="020B0604020202020204"/>
              </a:rPr>
              <a:t>100</a:t>
            </a:r>
            <a:endParaRPr sz="1200" b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 rot="16200000">
            <a:off x="-45085" y="1371600"/>
            <a:ext cx="2286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ACC (%)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4672" y="466344"/>
            <a:ext cx="164592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Student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66543" y="466344"/>
            <a:ext cx="164592" cy="109728"/>
          </a:xfrm>
          <a:prstGeom prst="rect">
            <a:avLst/>
          </a:prstGeom>
          <a:solidFill>
            <a:srgbClr val="6E86B8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67712" y="469075"/>
            <a:ext cx="694055" cy="122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Best logits KD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28415" y="466344"/>
            <a:ext cx="164592" cy="109728"/>
          </a:xfrm>
          <a:prstGeom prst="rect">
            <a:avLst/>
          </a:prstGeom>
          <a:solidFill>
            <a:srgbClr val="BFD3EF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448056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Best Feature KD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90288" y="466344"/>
            <a:ext cx="164592" cy="109728"/>
          </a:xfrm>
          <a:prstGeom prst="rect">
            <a:avLst/>
          </a:prstGeom>
          <a:solidFill>
            <a:srgbClr val="A8647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448056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TMSKD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481328" y="2298472"/>
            <a:ext cx="219456" cy="389863"/>
          </a:xfrm>
          <a:prstGeom prst="rect">
            <a:avLst/>
          </a:prstGeom>
          <a:solidFill>
            <a:srgbClr val="17365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3858" y="2097304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83.7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764792" y="1452030"/>
            <a:ext cx="219456" cy="1236305"/>
          </a:xfrm>
          <a:prstGeom prst="rect">
            <a:avLst/>
          </a:prstGeom>
          <a:solidFill>
            <a:srgbClr val="6E86B8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87322" y="1250862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91.9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048256" y="1379061"/>
            <a:ext cx="219456" cy="1309274"/>
          </a:xfrm>
          <a:prstGeom prst="rect">
            <a:avLst/>
          </a:prstGeom>
          <a:solidFill>
            <a:srgbClr val="BFD3EF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70786" y="1177893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92.6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331720" y="1290456"/>
            <a:ext cx="219456" cy="1397879"/>
          </a:xfrm>
          <a:prstGeom prst="rect">
            <a:avLst/>
          </a:prstGeom>
          <a:solidFill>
            <a:srgbClr val="A8647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54250" y="1089288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93.4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89888" y="2807208"/>
            <a:ext cx="11430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 panose="020B0604020202020204"/>
              </a:rPr>
              <a:t>DeepShip</a:t>
            </a:r>
            <a:endParaRPr sz="1000" b="1">
              <a:solidFill>
                <a:srgbClr val="111827"/>
              </a:solidFill>
              <a:latin typeface="Arial" panose="020B0604020202020204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1591056" y="1023282"/>
            <a:ext cx="850392" cy="0"/>
          </a:xfrm>
          <a:prstGeom prst="line">
            <a:avLst/>
          </a:prstGeom>
          <a:ln w="17780">
            <a:solidFill>
              <a:srgbClr val="F1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591056" y="1023238"/>
            <a:ext cx="0" cy="1237133"/>
          </a:xfrm>
          <a:prstGeom prst="line">
            <a:avLst/>
          </a:prstGeom>
          <a:ln w="11430">
            <a:solidFill>
              <a:srgbClr val="F1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441448" y="1023238"/>
            <a:ext cx="0" cy="229117"/>
          </a:xfrm>
          <a:prstGeom prst="line">
            <a:avLst/>
          </a:prstGeom>
          <a:ln w="11430">
            <a:solidFill>
              <a:srgbClr val="F1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687068" y="812970"/>
            <a:ext cx="65836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 panose="020B0604020202020204"/>
              </a:rPr>
              <a:t>+9.67 pp</a:t>
            </a:r>
            <a:endParaRPr sz="900" b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133087" y="2017020"/>
            <a:ext cx="219456" cy="671315"/>
          </a:xfrm>
          <a:prstGeom prst="rect">
            <a:avLst/>
          </a:prstGeom>
          <a:solidFill>
            <a:srgbClr val="17365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5617" y="1815852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86.4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416551" y="1642792"/>
            <a:ext cx="219456" cy="1045543"/>
          </a:xfrm>
          <a:prstGeom prst="rect">
            <a:avLst/>
          </a:prstGeom>
          <a:solidFill>
            <a:srgbClr val="6E86B8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9081" y="1441624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90.0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700016" y="1699083"/>
            <a:ext cx="219456" cy="989252"/>
          </a:xfrm>
          <a:prstGeom prst="rect">
            <a:avLst/>
          </a:prstGeom>
          <a:solidFill>
            <a:srgbClr val="BFD3EF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2546" y="1497915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89.5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983479" y="1396782"/>
            <a:ext cx="219456" cy="1291553"/>
          </a:xfrm>
          <a:prstGeom prst="rect">
            <a:avLst/>
          </a:prstGeom>
          <a:solidFill>
            <a:srgbClr val="A8647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06009" y="1195614"/>
            <a:ext cx="3810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92.4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41648" y="2807208"/>
            <a:ext cx="11430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 panose="020B0604020202020204"/>
              </a:rPr>
              <a:t>ShipsEar</a:t>
            </a:r>
            <a:endParaRPr sz="1000" b="1">
              <a:solidFill>
                <a:srgbClr val="111827"/>
              </a:solidFill>
              <a:latin typeface="Arial" panose="020B0604020202020204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4242816" y="1156190"/>
            <a:ext cx="850391" cy="0"/>
          </a:xfrm>
          <a:prstGeom prst="line">
            <a:avLst/>
          </a:prstGeom>
          <a:ln w="17780">
            <a:solidFill>
              <a:srgbClr val="F1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2816" y="1156208"/>
            <a:ext cx="0" cy="822712"/>
          </a:xfrm>
          <a:prstGeom prst="line">
            <a:avLst/>
          </a:prstGeom>
          <a:ln w="11430">
            <a:solidFill>
              <a:srgbClr val="F1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093207" y="1156208"/>
            <a:ext cx="0" cy="202474"/>
          </a:xfrm>
          <a:prstGeom prst="line">
            <a:avLst/>
          </a:prstGeom>
          <a:ln w="11430">
            <a:solidFill>
              <a:srgbClr val="F1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338827" y="945878"/>
            <a:ext cx="65836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 panose="020B0604020202020204"/>
              </a:rPr>
              <a:t>+5.95 pp</a:t>
            </a:r>
            <a:endParaRPr sz="900" b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66928" y="297180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1520" y="3072384"/>
            <a:ext cx="201168" cy="201168"/>
          </a:xfrm>
          <a:prstGeom prst="ellipse">
            <a:avLst/>
          </a:prstGeom>
          <a:solidFill>
            <a:srgbClr val="2FA6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" y="3017520"/>
            <a:ext cx="67665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0.32M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50976" y="3191256"/>
            <a:ext cx="6766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C6678"/>
                </a:solidFill>
                <a:latin typeface="Arial" panose="020B0604020202020204"/>
              </a:rPr>
              <a:t>params</a:t>
            </a:r>
            <a:endParaRPr sz="700" b="0">
              <a:solidFill>
                <a:srgbClr val="5C6678"/>
              </a:solidFill>
              <a:latin typeface="Arial" panose="020B0604020202020204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965960" y="297180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130552" y="3072384"/>
            <a:ext cx="201168" cy="201168"/>
          </a:xfrm>
          <a:prstGeom prst="ellipse">
            <a:avLst/>
          </a:prstGeom>
          <a:solidFill>
            <a:srgbClr val="3E66B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50008" y="3017520"/>
            <a:ext cx="67665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1.21 MB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350008" y="3191256"/>
            <a:ext cx="6766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C6678"/>
                </a:solidFill>
                <a:latin typeface="Arial" panose="020B0604020202020204"/>
              </a:rPr>
              <a:t>size</a:t>
            </a:r>
            <a:endParaRPr sz="700" b="0">
              <a:solidFill>
                <a:srgbClr val="5C6678"/>
              </a:solidFill>
              <a:latin typeface="Arial" panose="020B060402020202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3364992" y="297180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529584" y="3072384"/>
            <a:ext cx="201168" cy="201168"/>
          </a:xfrm>
          <a:prstGeom prst="ellipse">
            <a:avLst/>
          </a:prstGeom>
          <a:solidFill>
            <a:srgbClr val="E2A3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40" y="3017520"/>
            <a:ext cx="67665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58.97M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749040" y="3191256"/>
            <a:ext cx="6766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C6678"/>
                </a:solidFill>
                <a:latin typeface="Arial" panose="020B0604020202020204"/>
              </a:rPr>
              <a:t>FLOPs</a:t>
            </a:r>
            <a:endParaRPr sz="700" b="0">
              <a:solidFill>
                <a:srgbClr val="5C6678"/>
              </a:solidFill>
              <a:latin typeface="Arial" panose="020B0604020202020204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764024" y="297180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928616" y="3072384"/>
            <a:ext cx="201168" cy="201168"/>
          </a:xfrm>
          <a:prstGeom prst="ellipse">
            <a:avLst/>
          </a:prstGeom>
          <a:solidFill>
            <a:srgbClr val="D841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48072" y="3010789"/>
            <a:ext cx="550545" cy="1689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100" b="1">
                <a:solidFill>
                  <a:srgbClr val="111827"/>
                </a:solidFill>
                <a:latin typeface="Arial" panose="020B0604020202020204"/>
              </a:rPr>
              <a:t>12.16</a:t>
            </a:r>
            <a:r>
              <a:rPr lang="en-US" sz="1100" b="1">
                <a:solidFill>
                  <a:srgbClr val="111827"/>
                </a:solidFill>
                <a:latin typeface="Arial" panose="020B0604020202020204"/>
              </a:rPr>
              <a:t>ms</a:t>
            </a:r>
            <a:endParaRPr lang="en-US"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148072" y="3192463"/>
            <a:ext cx="311785" cy="107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700" b="0">
                <a:solidFill>
                  <a:srgbClr val="5C6678"/>
                </a:solidFill>
                <a:latin typeface="Arial" panose="020B0604020202020204"/>
              </a:rPr>
              <a:t>Latency</a:t>
            </a:r>
            <a:endParaRPr lang="en-US" sz="700" b="0">
              <a:solidFill>
                <a:srgbClr val="5C6678"/>
              </a:solidFill>
              <a:latin typeface="Arial" panose="020B0604020202020204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457200" y="3529584"/>
            <a:ext cx="5961888" cy="0"/>
          </a:xfrm>
          <a:prstGeom prst="line">
            <a:avLst/>
          </a:prstGeom>
          <a:ln w="15240">
            <a:solidFill>
              <a:srgbClr val="1118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4" name="组合 343"/>
          <p:cNvGrpSpPr/>
          <p:nvPr/>
        </p:nvGrpSpPr>
        <p:grpSpPr>
          <a:xfrm>
            <a:off x="219710" y="4114800"/>
            <a:ext cx="1371600" cy="978535"/>
            <a:chOff x="792" y="6480"/>
            <a:chExt cx="2160" cy="1541"/>
          </a:xfrm>
        </p:grpSpPr>
        <p:sp>
          <p:nvSpPr>
            <p:cNvPr id="66" name="Rounded Rectangle 65"/>
            <p:cNvSpPr/>
            <p:nvPr/>
          </p:nvSpPr>
          <p:spPr>
            <a:xfrm>
              <a:off x="792" y="6941"/>
              <a:ext cx="1944" cy="1080"/>
            </a:xfrm>
            <a:prstGeom prst="roundRect">
              <a:avLst/>
            </a:prstGeom>
            <a:solidFill>
              <a:srgbClr val="F9FBFE"/>
            </a:solidFill>
            <a:ln w="12700">
              <a:solidFill>
                <a:srgbClr val="D9E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58" y="6480"/>
              <a:ext cx="1598" cy="46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Raw waveform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cxnSp>
          <p:nvCxnSpPr>
            <p:cNvPr id="72" name="Connector 71"/>
            <p:cNvCxnSpPr/>
            <p:nvPr/>
          </p:nvCxnSpPr>
          <p:spPr>
            <a:xfrm>
              <a:off x="1022" y="7531"/>
              <a:ext cx="24" cy="85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1046" y="7616"/>
              <a:ext cx="24" cy="62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>
              <a:off x="1070" y="7678"/>
              <a:ext cx="24" cy="7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 74"/>
            <p:cNvCxnSpPr/>
            <p:nvPr/>
          </p:nvCxnSpPr>
          <p:spPr>
            <a:xfrm flipV="1">
              <a:off x="1094" y="7627"/>
              <a:ext cx="24" cy="59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 75"/>
            <p:cNvCxnSpPr/>
            <p:nvPr/>
          </p:nvCxnSpPr>
          <p:spPr>
            <a:xfrm flipV="1">
              <a:off x="1118" y="7522"/>
              <a:ext cx="24" cy="105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 flipV="1">
              <a:off x="1142" y="7413"/>
              <a:ext cx="24" cy="108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 flipV="1">
              <a:off x="1166" y="7350"/>
              <a:ext cx="24" cy="64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190" y="7350"/>
              <a:ext cx="24" cy="10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1214" y="7359"/>
              <a:ext cx="24" cy="79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1237" y="7438"/>
              <a:ext cx="24" cy="112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1261" y="7550"/>
              <a:ext cx="24" cy="97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1285" y="7647"/>
              <a:ext cx="24" cy="43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 flipV="1">
              <a:off x="1309" y="7667"/>
              <a:ext cx="24" cy="23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 flipV="1">
              <a:off x="1333" y="7595"/>
              <a:ext cx="24" cy="71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 flipV="1">
              <a:off x="1357" y="7511"/>
              <a:ext cx="24" cy="84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 86"/>
            <p:cNvCxnSpPr/>
            <p:nvPr/>
          </p:nvCxnSpPr>
          <p:spPr>
            <a:xfrm flipV="1">
              <a:off x="1381" y="7449"/>
              <a:ext cx="24" cy="62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V="1">
              <a:off x="1405" y="7429"/>
              <a:ext cx="24" cy="20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1429" y="7429"/>
              <a:ext cx="24" cy="21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1453" y="7450"/>
              <a:ext cx="24" cy="46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>
              <a:off x="1477" y="7496"/>
              <a:ext cx="24" cy="51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1501" y="7548"/>
              <a:ext cx="24" cy="39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524" y="7587"/>
              <a:ext cx="24" cy="16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V="1">
              <a:off x="1548" y="7593"/>
              <a:ext cx="24" cy="10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 flipV="1">
              <a:off x="1572" y="7559"/>
              <a:ext cx="24" cy="34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 flipV="1">
              <a:off x="1596" y="7510"/>
              <a:ext cx="24" cy="50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 flipV="1">
              <a:off x="1620" y="7460"/>
              <a:ext cx="24" cy="50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 flipV="1">
              <a:off x="1644" y="7431"/>
              <a:ext cx="24" cy="29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1668" y="7431"/>
              <a:ext cx="24" cy="9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1692" y="7440"/>
              <a:ext cx="24" cy="52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>
              <a:off x="1716" y="7492"/>
              <a:ext cx="24" cy="81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>
              <a:off x="1740" y="7574"/>
              <a:ext cx="24" cy="78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>
              <a:off x="1764" y="7652"/>
              <a:ext cx="24" cy="38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V="1">
              <a:off x="1788" y="7664"/>
              <a:ext cx="24" cy="26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V="1">
              <a:off x="1812" y="7578"/>
              <a:ext cx="24" cy="86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V="1">
              <a:off x="1835" y="7465"/>
              <a:ext cx="24" cy="113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 106"/>
            <p:cNvCxnSpPr/>
            <p:nvPr/>
          </p:nvCxnSpPr>
          <p:spPr>
            <a:xfrm flipV="1">
              <a:off x="1859" y="7373"/>
              <a:ext cx="24" cy="91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 107"/>
            <p:cNvCxnSpPr/>
            <p:nvPr/>
          </p:nvCxnSpPr>
          <p:spPr>
            <a:xfrm flipV="1">
              <a:off x="1883" y="7345"/>
              <a:ext cx="24" cy="29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or 108"/>
            <p:cNvCxnSpPr/>
            <p:nvPr/>
          </p:nvCxnSpPr>
          <p:spPr>
            <a:xfrm>
              <a:off x="1907" y="7345"/>
              <a:ext cx="24" cy="47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or 109"/>
            <p:cNvCxnSpPr/>
            <p:nvPr/>
          </p:nvCxnSpPr>
          <p:spPr>
            <a:xfrm>
              <a:off x="1931" y="7392"/>
              <a:ext cx="24" cy="101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or 110"/>
            <p:cNvCxnSpPr/>
            <p:nvPr/>
          </p:nvCxnSpPr>
          <p:spPr>
            <a:xfrm>
              <a:off x="1955" y="7493"/>
              <a:ext cx="24" cy="111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or 111"/>
            <p:cNvCxnSpPr/>
            <p:nvPr/>
          </p:nvCxnSpPr>
          <p:spPr>
            <a:xfrm>
              <a:off x="1979" y="7603"/>
              <a:ext cx="24" cy="73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 112"/>
            <p:cNvCxnSpPr/>
            <p:nvPr/>
          </p:nvCxnSpPr>
          <p:spPr>
            <a:xfrm>
              <a:off x="2003" y="7677"/>
              <a:ext cx="24" cy="9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ctor 113"/>
            <p:cNvCxnSpPr/>
            <p:nvPr/>
          </p:nvCxnSpPr>
          <p:spPr>
            <a:xfrm flipV="1">
              <a:off x="2027" y="7635"/>
              <a:ext cx="24" cy="51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 114"/>
            <p:cNvCxnSpPr/>
            <p:nvPr/>
          </p:nvCxnSpPr>
          <p:spPr>
            <a:xfrm flipV="1">
              <a:off x="2051" y="7552"/>
              <a:ext cx="24" cy="83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 115"/>
            <p:cNvCxnSpPr/>
            <p:nvPr/>
          </p:nvCxnSpPr>
          <p:spPr>
            <a:xfrm flipV="1">
              <a:off x="2075" y="7476"/>
              <a:ext cx="24" cy="77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 116"/>
            <p:cNvCxnSpPr/>
            <p:nvPr/>
          </p:nvCxnSpPr>
          <p:spPr>
            <a:xfrm flipV="1">
              <a:off x="2099" y="7434"/>
              <a:ext cx="24" cy="42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or 117"/>
            <p:cNvCxnSpPr/>
            <p:nvPr/>
          </p:nvCxnSpPr>
          <p:spPr>
            <a:xfrm>
              <a:off x="2122" y="7434"/>
              <a:ext cx="24" cy="2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 118"/>
            <p:cNvCxnSpPr/>
            <p:nvPr/>
          </p:nvCxnSpPr>
          <p:spPr>
            <a:xfrm>
              <a:off x="2146" y="7435"/>
              <a:ext cx="24" cy="36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or 119"/>
            <p:cNvCxnSpPr/>
            <p:nvPr/>
          </p:nvCxnSpPr>
          <p:spPr>
            <a:xfrm>
              <a:off x="2170" y="7471"/>
              <a:ext cx="24" cy="51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or 120"/>
            <p:cNvCxnSpPr/>
            <p:nvPr/>
          </p:nvCxnSpPr>
          <p:spPr>
            <a:xfrm>
              <a:off x="2194" y="7523"/>
              <a:ext cx="24" cy="47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or 121"/>
            <p:cNvCxnSpPr/>
            <p:nvPr/>
          </p:nvCxnSpPr>
          <p:spPr>
            <a:xfrm>
              <a:off x="2218" y="7569"/>
              <a:ext cx="24" cy="29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 122"/>
            <p:cNvCxnSpPr/>
            <p:nvPr/>
          </p:nvCxnSpPr>
          <p:spPr>
            <a:xfrm>
              <a:off x="2242" y="7598"/>
              <a:ext cx="24" cy="3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or 123"/>
            <p:cNvCxnSpPr/>
            <p:nvPr/>
          </p:nvCxnSpPr>
          <p:spPr>
            <a:xfrm flipV="1">
              <a:off x="2266" y="7579"/>
              <a:ext cx="24" cy="23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or 124"/>
            <p:cNvCxnSpPr/>
            <p:nvPr/>
          </p:nvCxnSpPr>
          <p:spPr>
            <a:xfrm flipV="1">
              <a:off x="2290" y="7535"/>
              <a:ext cx="24" cy="43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 flipV="1">
              <a:off x="2314" y="7484"/>
              <a:ext cx="24" cy="52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 flipV="1">
              <a:off x="2338" y="7442"/>
              <a:ext cx="24" cy="42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 flipV="1">
              <a:off x="2362" y="7430"/>
              <a:ext cx="24" cy="12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 128"/>
            <p:cNvCxnSpPr/>
            <p:nvPr/>
          </p:nvCxnSpPr>
          <p:spPr>
            <a:xfrm>
              <a:off x="2386" y="7430"/>
              <a:ext cx="24" cy="31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or 129"/>
            <p:cNvCxnSpPr/>
            <p:nvPr/>
          </p:nvCxnSpPr>
          <p:spPr>
            <a:xfrm>
              <a:off x="2409" y="7461"/>
              <a:ext cx="24" cy="70"/>
            </a:xfrm>
            <a:prstGeom prst="line">
              <a:avLst/>
            </a:prstGeom>
            <a:ln w="11430">
              <a:solidFill>
                <a:srgbClr val="3E66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ctor 233"/>
            <p:cNvCxnSpPr/>
            <p:nvPr/>
          </p:nvCxnSpPr>
          <p:spPr>
            <a:xfrm flipV="1">
              <a:off x="2527" y="7518"/>
              <a:ext cx="425" cy="3"/>
            </a:xfrm>
            <a:prstGeom prst="line">
              <a:avLst/>
            </a:prstGeom>
            <a:ln w="12700">
              <a:solidFill>
                <a:srgbClr val="5C667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组合 47"/>
          <p:cNvGrpSpPr/>
          <p:nvPr/>
        </p:nvGrpSpPr>
        <p:grpSpPr>
          <a:xfrm>
            <a:off x="6053455" y="4476750"/>
            <a:ext cx="685800" cy="529590"/>
            <a:chOff x="9000" y="9086"/>
            <a:chExt cx="1080" cy="834"/>
          </a:xfrm>
        </p:grpSpPr>
        <p:sp>
          <p:nvSpPr>
            <p:cNvPr id="259" name="Rounded Rectangle 258"/>
            <p:cNvSpPr/>
            <p:nvPr/>
          </p:nvSpPr>
          <p:spPr>
            <a:xfrm>
              <a:off x="9000" y="9086"/>
              <a:ext cx="1080" cy="835"/>
            </a:xfrm>
            <a:prstGeom prst="roundRect">
              <a:avLst/>
            </a:prstGeom>
            <a:solidFill>
              <a:srgbClr val="F4F8FD"/>
            </a:solidFill>
            <a:ln w="12700">
              <a:solidFill>
                <a:srgbClr val="C8D2D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9000" y="9245"/>
              <a:ext cx="1080" cy="17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00" b="1">
                  <a:solidFill>
                    <a:srgbClr val="111827"/>
                  </a:solidFill>
                  <a:latin typeface="Arial" panose="020B0604020202020204"/>
                </a:rPr>
                <a:t>Class</a:t>
              </a:r>
              <a:endParaRPr sz="800" b="1">
                <a:solidFill>
                  <a:srgbClr val="111827"/>
                </a:solidFill>
                <a:latin typeface="Arial" panose="020B0604020202020204"/>
              </a:endParaRPr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9187" y="9605"/>
              <a:ext cx="101" cy="101"/>
            </a:xfrm>
            <a:prstGeom prst="rect">
              <a:avLst/>
            </a:prstGeom>
            <a:solidFill>
              <a:srgbClr val="6E86B8"/>
            </a:solidFill>
            <a:ln w="12700">
              <a:solidFill>
                <a:srgbClr val="6E86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9360" y="9547"/>
              <a:ext cx="101" cy="158"/>
            </a:xfrm>
            <a:prstGeom prst="rect">
              <a:avLst/>
            </a:prstGeom>
            <a:solidFill>
              <a:srgbClr val="3E66B1"/>
            </a:solidFill>
            <a:ln w="12700">
              <a:solidFill>
                <a:srgbClr val="3E66B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9533" y="9461"/>
              <a:ext cx="101" cy="245"/>
            </a:xfrm>
            <a:prstGeom prst="rect">
              <a:avLst/>
            </a:prstGeom>
            <a:solidFill>
              <a:srgbClr val="A8647D"/>
            </a:solidFill>
            <a:ln w="12700">
              <a:solidFill>
                <a:srgbClr val="A86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9706" y="9567"/>
              <a:ext cx="101" cy="138"/>
            </a:xfrm>
            <a:prstGeom prst="rect">
              <a:avLst/>
            </a:prstGeom>
            <a:solidFill>
              <a:srgbClr val="D84135"/>
            </a:solidFill>
            <a:ln w="12700">
              <a:solidFill>
                <a:srgbClr val="D841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72" name="矩形 271"/>
          <p:cNvSpPr>
            <a:spLocks noGrp="1"/>
          </p:cNvSpPr>
          <p:nvPr/>
        </p:nvSpPr>
        <p:spPr>
          <a:xfrm>
            <a:off x="182880" y="361950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(b)</a:t>
            </a:r>
            <a:endParaRPr sz="120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3" name="矩形 272"/>
          <p:cNvSpPr>
            <a:spLocks noGrp="1"/>
          </p:cNvSpPr>
          <p:nvPr/>
        </p:nvSpPr>
        <p:spPr>
          <a:xfrm>
            <a:off x="755650" y="3619500"/>
            <a:ext cx="566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Input underwater acoustic</a:t>
            </a:r>
            <a:r>
              <a:rPr lang="en-US" sz="14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waveform</a:t>
            </a:r>
            <a:endParaRPr sz="140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345" name="组合 344"/>
          <p:cNvGrpSpPr/>
          <p:nvPr/>
        </p:nvGrpSpPr>
        <p:grpSpPr>
          <a:xfrm>
            <a:off x="135890" y="7301230"/>
            <a:ext cx="4399280" cy="895350"/>
            <a:chOff x="3261" y="12788"/>
            <a:chExt cx="6928" cy="1410"/>
          </a:xfrm>
        </p:grpSpPr>
        <p:sp>
          <p:nvSpPr>
            <p:cNvPr id="275" name="圆角矩形 274"/>
            <p:cNvSpPr>
              <a:spLocks noGrp="1"/>
            </p:cNvSpPr>
            <p:nvPr/>
          </p:nvSpPr>
          <p:spPr>
            <a:xfrm>
              <a:off x="3261" y="12938"/>
              <a:ext cx="2045" cy="1170"/>
            </a:xfrm>
            <a:prstGeom prst="roundRect">
              <a:avLst>
                <a:gd name="adj" fmla="val 12821"/>
              </a:avLst>
            </a:prstGeom>
            <a:solidFill>
              <a:srgbClr val="E7F1F8"/>
            </a:solidFill>
            <a:ln w="13335">
              <a:solidFill>
                <a:srgbClr val="AFC9D8"/>
              </a:solidFill>
              <a:prstDash val="solid"/>
            </a:ln>
          </p:spPr>
          <p:txBody>
            <a:bodyPr/>
            <a:lstStyle/>
            <a:p>
              <a:pPr algn="ctr">
                <a:buNone/>
                <a:def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1D CNN</a:t>
              </a:r>
              <a:endParaRPr sz="1425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  <a:p>
              <a:pPr algn="ctr">
                <a:buNone/>
                <a:def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encoder</a:t>
              </a:r>
              <a:endParaRPr sz="1425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276" name="矩形 275"/>
            <p:cNvSpPr>
              <a:spLocks noGrp="1"/>
            </p:cNvSpPr>
            <p:nvPr/>
          </p:nvSpPr>
          <p:spPr>
            <a:xfrm>
              <a:off x="6229" y="12788"/>
              <a:ext cx="3060" cy="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650" b="1">
                  <a:solidFill>
                    <a:srgbClr val="1D70A2"/>
                  </a:solidFill>
                  <a:latin typeface="Aptos"/>
                  <a:ea typeface="Aptos"/>
                  <a:cs typeface="Aptos"/>
                </a:defRPr>
              </a:pPr>
              <a:r>
                <a:rPr sz="1650" b="1">
                  <a:solidFill>
                    <a:srgbClr val="1D70A2"/>
                  </a:solidFill>
                  <a:latin typeface="Aptos"/>
                  <a:ea typeface="Aptos"/>
                  <a:cs typeface="Aptos"/>
                </a:rPr>
                <a:t>BPCSCfC</a:t>
              </a:r>
              <a:endParaRPr sz="1650" b="1">
                <a:solidFill>
                  <a:srgbClr val="1D70A2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277" name="圆角矩形 276"/>
            <p:cNvSpPr>
              <a:spLocks noGrp="1"/>
            </p:cNvSpPr>
            <p:nvPr/>
          </p:nvSpPr>
          <p:spPr>
            <a:xfrm>
              <a:off x="6214" y="13328"/>
              <a:ext cx="630" cy="570"/>
            </a:xfrm>
            <a:prstGeom prst="roundRect">
              <a:avLst>
                <a:gd name="adj" fmla="val 26316"/>
              </a:avLst>
            </a:prstGeom>
            <a:solidFill>
              <a:srgbClr val="1D70A2"/>
            </a:solidFill>
            <a:ln w="13335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矩形 277"/>
            <p:cNvSpPr>
              <a:spLocks noGrp="1"/>
            </p:cNvSpPr>
            <p:nvPr/>
          </p:nvSpPr>
          <p:spPr>
            <a:xfrm>
              <a:off x="6214" y="13433"/>
              <a:ext cx="63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FL</a:t>
              </a:r>
              <a:endParaRPr sz="1125" b="1">
                <a:solidFill>
                  <a:srgbClr val="FFFFFF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279" name="圆角矩形 278"/>
            <p:cNvSpPr>
              <a:spLocks noGrp="1"/>
            </p:cNvSpPr>
            <p:nvPr/>
          </p:nvSpPr>
          <p:spPr>
            <a:xfrm>
              <a:off x="6994" y="13328"/>
              <a:ext cx="630" cy="570"/>
            </a:xfrm>
            <a:prstGeom prst="roundRect">
              <a:avLst>
                <a:gd name="adj" fmla="val 26316"/>
              </a:avLst>
            </a:prstGeom>
            <a:solidFill>
              <a:srgbClr val="3BB7C4"/>
            </a:solidFill>
            <a:ln w="13335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矩形 279"/>
            <p:cNvSpPr>
              <a:spLocks noGrp="1"/>
            </p:cNvSpPr>
            <p:nvPr/>
          </p:nvSpPr>
          <p:spPr>
            <a:xfrm>
              <a:off x="6994" y="13433"/>
              <a:ext cx="63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FG</a:t>
              </a:r>
              <a:endParaRPr sz="1125" b="1">
                <a:solidFill>
                  <a:srgbClr val="FFFFFF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281" name="圆角矩形 280"/>
            <p:cNvSpPr>
              <a:spLocks noGrp="1"/>
            </p:cNvSpPr>
            <p:nvPr/>
          </p:nvSpPr>
          <p:spPr>
            <a:xfrm>
              <a:off x="7774" y="13328"/>
              <a:ext cx="630" cy="570"/>
            </a:xfrm>
            <a:prstGeom prst="roundRect">
              <a:avLst>
                <a:gd name="adj" fmla="val 26316"/>
              </a:avLst>
            </a:prstGeom>
            <a:solidFill>
              <a:srgbClr val="6A4C93"/>
            </a:solidFill>
            <a:ln w="13335">
              <a:solidFill>
                <a:srgbClr val="6A4C93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矩形 281"/>
            <p:cNvSpPr>
              <a:spLocks noGrp="1"/>
            </p:cNvSpPr>
            <p:nvPr/>
          </p:nvSpPr>
          <p:spPr>
            <a:xfrm>
              <a:off x="7774" y="13433"/>
              <a:ext cx="63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BL</a:t>
              </a:r>
              <a:endParaRPr sz="1125" b="1">
                <a:solidFill>
                  <a:srgbClr val="FFFFFF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283" name="圆角矩形 282"/>
            <p:cNvSpPr>
              <a:spLocks noGrp="1"/>
            </p:cNvSpPr>
            <p:nvPr/>
          </p:nvSpPr>
          <p:spPr>
            <a:xfrm>
              <a:off x="8554" y="13328"/>
              <a:ext cx="630" cy="570"/>
            </a:xfrm>
            <a:prstGeom prst="roundRect">
              <a:avLst>
                <a:gd name="adj" fmla="val 26316"/>
              </a:avLst>
            </a:prstGeom>
            <a:solidFill>
              <a:srgbClr val="39A844"/>
            </a:solidFill>
            <a:ln w="13335">
              <a:solidFill>
                <a:srgbClr val="39A84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矩形 283"/>
            <p:cNvSpPr>
              <a:spLocks noGrp="1"/>
            </p:cNvSpPr>
            <p:nvPr/>
          </p:nvSpPr>
          <p:spPr>
            <a:xfrm>
              <a:off x="8554" y="13433"/>
              <a:ext cx="63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r>
                <a: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BG</a:t>
              </a:r>
              <a:endParaRPr sz="1125" b="1">
                <a:solidFill>
                  <a:srgbClr val="FFFFFF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285" name="矩形 284"/>
            <p:cNvSpPr>
              <a:spLocks noGrp="1"/>
            </p:cNvSpPr>
            <p:nvPr/>
          </p:nvSpPr>
          <p:spPr>
            <a:xfrm>
              <a:off x="5885" y="13928"/>
              <a:ext cx="375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defRPr>
              </a:pPr>
              <a:r>
                <a: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rPr>
                <a:t>local windows + global cross-slices</a:t>
              </a:r>
              <a:endParaRPr sz="975" b="1">
                <a:solidFill>
                  <a:srgbClr val="5B6770"/>
                </a:solidFill>
                <a:latin typeface="Aptos"/>
                <a:ea typeface="Aptos"/>
                <a:cs typeface="Aptos"/>
              </a:endParaRPr>
            </a:p>
            <a:p>
              <a:pPr algn="ctr">
                <a:buNone/>
                <a:def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defRPr>
              </a:pPr>
              <a:r>
                <a:rPr lang="zh-CN"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rPr>
                <a:t>说明是</a:t>
              </a:r>
              <a:r>
                <a:rPr lang="zh-CN"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rPr>
                <a:t>模块</a:t>
              </a:r>
              <a:endParaRPr lang="zh-CN" sz="975" b="1">
                <a:solidFill>
                  <a:srgbClr val="5B6770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286" name="右箭头 285"/>
            <p:cNvSpPr>
              <a:spLocks noGrp="1"/>
            </p:cNvSpPr>
            <p:nvPr/>
          </p:nvSpPr>
          <p:spPr>
            <a:xfrm>
              <a:off x="5299" y="13193"/>
              <a:ext cx="570" cy="5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D70A2"/>
            </a:solidFill>
            <a:ln w="762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右箭头 286"/>
            <p:cNvSpPr>
              <a:spLocks noGrp="1"/>
            </p:cNvSpPr>
            <p:nvPr/>
          </p:nvSpPr>
          <p:spPr>
            <a:xfrm>
              <a:off x="9649" y="13208"/>
              <a:ext cx="540" cy="5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D70A2"/>
            </a:solidFill>
            <a:ln w="762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8" name="组合 287"/>
          <p:cNvGrpSpPr/>
          <p:nvPr/>
        </p:nvGrpSpPr>
        <p:grpSpPr>
          <a:xfrm rot="0">
            <a:off x="1591310" y="4388485"/>
            <a:ext cx="4206240" cy="723900"/>
            <a:chOff x="6060" y="5730"/>
            <a:chExt cx="6624" cy="1140"/>
          </a:xfrm>
        </p:grpSpPr>
        <p:sp>
          <p:nvSpPr>
            <p:cNvPr id="289" name="圆角矩形 288"/>
            <p:cNvSpPr>
              <a:spLocks noGrp="1"/>
            </p:cNvSpPr>
            <p:nvPr/>
          </p:nvSpPr>
          <p:spPr>
            <a:xfrm>
              <a:off x="6060" y="5760"/>
              <a:ext cx="2867" cy="1110"/>
            </a:xfrm>
            <a:prstGeom prst="roundRect">
              <a:avLst>
                <a:gd name="adj" fmla="val 13514"/>
              </a:avLst>
            </a:prstGeom>
            <a:solidFill>
              <a:srgbClr val="FFEDEB"/>
            </a:solidFill>
            <a:ln w="13335">
              <a:solidFill>
                <a:srgbClr val="F3B1AA"/>
              </a:solidFill>
              <a:prstDash val="solid"/>
            </a:ln>
          </p:spPr>
          <p:txBody>
            <a:bodyPr/>
            <a:lstStyle/>
            <a:p>
              <a:pPr algn="ctr">
                <a:buNone/>
                <a:def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Teacher: wav2vec 2.0</a:t>
              </a:r>
              <a:endParaRPr sz="1425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  <a:p>
              <a:pPr algn="ctr">
                <a:buNone/>
                <a:defRPr sz="1425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endParaRPr sz="1425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0" name="圆角矩形 289"/>
                <p:cNvSpPr>
                  <a:spLocks noGrp="1"/>
                </p:cNvSpPr>
                <p:nvPr/>
              </p:nvSpPr>
              <p:spPr>
                <a:xfrm>
                  <a:off x="9609" y="5730"/>
                  <a:ext cx="3075" cy="1110"/>
                </a:xfrm>
                <a:prstGeom prst="roundRect">
                  <a:avLst>
                    <a:gd name="adj" fmla="val 13514"/>
                  </a:avLst>
                </a:prstGeom>
                <a:solidFill>
                  <a:srgbClr val="FFF5E3"/>
                </a:solidFill>
                <a:ln w="13335">
                  <a:solidFill>
                    <a:srgbClr val="F0C77A"/>
                  </a:solidFill>
                  <a:prstDash val="solid"/>
                </a:ln>
              </p:spPr>
              <p:txBody>
                <a:bodyPr/>
                <a:lstStyle/>
                <a:p>
                  <a:pPr algn="ctr">
                    <a:buNone/>
                    <a:defRPr sz="1350" b="1">
                      <a:solidFill>
                        <a:srgbClr val="0B1F2A"/>
                      </a:solidFill>
                      <a:latin typeface="Aptos"/>
                      <a:ea typeface="Aptos"/>
                      <a:cs typeface="Aptos"/>
                    </a:defRPr>
                  </a:pPr>
                  <a:r>
                    <a:rPr sz="1350" b="1" dirty="0">
                      <a:solidFill>
                        <a:srgbClr val="0B1F2A"/>
                      </a:solidFill>
                      <a:latin typeface="Aptos"/>
                      <a:ea typeface="Aptos"/>
                      <a:cs typeface="Aptos"/>
                    </a:rPr>
                    <a:t>Teacher states/logits</a:t>
                  </a:r>
                  <a:endParaRPr sz="1350" b="1" dirty="0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endParaRPr>
                </a:p>
                <a:p>
                  <a:pPr algn="ctr">
                    <a:buNone/>
                    <a:defRPr sz="1350" b="1">
                      <a:solidFill>
                        <a:srgbClr val="0B1F2A"/>
                      </a:solidFill>
                      <a:latin typeface="Aptos"/>
                      <a:ea typeface="Aptos"/>
                      <a:cs typeface="Aptos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0B1F2A"/>
                                </a:solidFill>
                                <a:latin typeface="Cambria Math" panose="02040503050406030204" pitchFamily="18" charset="0"/>
                                <a:ea typeface="Aptos"/>
                                <a:cs typeface="Aptos"/>
                              </a:rPr>
                            </m:ctrlPr>
                          </m:sSubPr>
                          <m:e>
                            <m:r>
                              <a:rPr lang="en-US" altLang="zh-CN" sz="1350" b="1" i="1" smtClean="0">
                                <a:solidFill>
                                  <a:srgbClr val="0B1F2A"/>
                                </a:solidFill>
                                <a:latin typeface="Cambria Math" panose="02040503050406030204" pitchFamily="18" charset="0"/>
                                <a:ea typeface="Aptos"/>
                                <a:cs typeface="Aptos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CN" sz="1350" b="1" i="1" smtClean="0">
                                <a:solidFill>
                                  <a:srgbClr val="0B1F2A"/>
                                </a:solidFill>
                                <a:latin typeface="Cambria Math" panose="02040503050406030204" pitchFamily="18" charset="0"/>
                                <a:ea typeface="Aptos"/>
                                <a:cs typeface="Aptos"/>
                              </a:rPr>
                              <m:t>𝑻</m:t>
                            </m:r>
                          </m:sub>
                        </m:sSub>
                        <m:r>
                          <a:rPr lang="zh-CN" altLang="en-US" sz="1350" b="1" i="1">
                            <a:solidFill>
                              <a:srgbClr val="0B1F2A"/>
                            </a:solidFill>
                            <a:latin typeface="Cambria Math" panose="02040503050406030204" pitchFamily="18" charset="0"/>
                            <a:ea typeface="Aptos"/>
                            <a:cs typeface="Aptos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0B1F2A"/>
                                </a:solidFill>
                                <a:latin typeface="Cambria Math" panose="02040503050406030204" pitchFamily="18" charset="0"/>
                                <a:ea typeface="Aptos"/>
                                <a:cs typeface="Aptos"/>
                              </a:rPr>
                            </m:ctrlPr>
                          </m:sSubPr>
                          <m:e>
                            <m:r>
                              <a:rPr lang="en-US" altLang="zh-CN" sz="1350" b="1" i="1" smtClean="0">
                                <a:solidFill>
                                  <a:srgbClr val="0B1F2A"/>
                                </a:solidFill>
                                <a:latin typeface="Cambria Math" panose="02040503050406030204" pitchFamily="18" charset="0"/>
                                <a:ea typeface="Aptos"/>
                                <a:cs typeface="Aptos"/>
                              </a:rPr>
                              <m:t>𝒁</m:t>
                            </m:r>
                          </m:e>
                          <m:sub>
                            <m:r>
                              <a:rPr lang="en-US" altLang="zh-CN" sz="1350" b="1" i="1" smtClean="0">
                                <a:solidFill>
                                  <a:srgbClr val="0B1F2A"/>
                                </a:solidFill>
                                <a:latin typeface="Cambria Math" panose="02040503050406030204" pitchFamily="18" charset="0"/>
                                <a:ea typeface="Aptos"/>
                                <a:cs typeface="Aptos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sz="1350" b="1" dirty="0">
                    <a:solidFill>
                      <a:srgbClr val="0B1F2A"/>
                    </a:solidFill>
                    <a:latin typeface="Aptos"/>
                    <a:ea typeface="Aptos"/>
                    <a:cs typeface="Aptos"/>
                  </a:endParaRPr>
                </a:p>
              </p:txBody>
            </p:sp>
          </mc:Choice>
          <mc:Fallback>
            <p:sp>
              <p:nvSpPr>
                <p:cNvPr id="290" name="圆角矩形 2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9" y="5730"/>
                  <a:ext cx="3075" cy="1110"/>
                </a:xfrm>
                <a:prstGeom prst="roundRect">
                  <a:avLst>
                    <a:gd name="adj" fmla="val 13514"/>
                  </a:avLst>
                </a:prstGeom>
                <a:blipFill rotWithShape="1">
                  <a:blip r:embed="rId1"/>
                </a:blipFill>
                <a:ln w="13335">
                  <a:solidFill>
                    <a:srgbClr val="F0C77A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1" name="右箭头 290"/>
            <p:cNvSpPr>
              <a:spLocks noGrp="1"/>
            </p:cNvSpPr>
            <p:nvPr/>
          </p:nvSpPr>
          <p:spPr>
            <a:xfrm>
              <a:off x="9055" y="6029"/>
              <a:ext cx="522" cy="5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33A2C"/>
            </a:solidFill>
            <a:ln w="7620">
              <a:solidFill>
                <a:srgbClr val="D33A2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2" name="圆角矩形 321"/>
          <p:cNvSpPr>
            <a:spLocks noGrp="1"/>
          </p:cNvSpPr>
          <p:nvPr/>
        </p:nvSpPr>
        <p:spPr>
          <a:xfrm>
            <a:off x="3529330" y="5520690"/>
            <a:ext cx="3248025" cy="1485900"/>
          </a:xfrm>
          <a:prstGeom prst="roundRect">
            <a:avLst>
              <a:gd name="adj" fmla="val 6410"/>
            </a:avLst>
          </a:prstGeom>
          <a:solidFill>
            <a:srgbClr val="FBFFF5"/>
          </a:solidFill>
          <a:ln w="13335">
            <a:solidFill>
              <a:srgbClr val="8BCB7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3" name="矩形 322"/>
          <p:cNvSpPr>
            <a:spLocks noGrp="1"/>
          </p:cNvSpPr>
          <p:nvPr/>
        </p:nvSpPr>
        <p:spPr>
          <a:xfrm>
            <a:off x="3453765" y="5520690"/>
            <a:ext cx="380428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24722D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24722D"/>
                </a:solidFill>
                <a:latin typeface="Aptos"/>
                <a:ea typeface="Aptos"/>
                <a:cs typeface="Aptos"/>
              </a:rPr>
              <a:t>TS-T</a:t>
            </a:r>
            <a:endParaRPr sz="1500" b="1" dirty="0">
              <a:solidFill>
                <a:srgbClr val="2472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4" name="任意多边形 323"/>
          <p:cNvSpPr>
            <a:spLocks noGrp="1"/>
          </p:cNvSpPr>
          <p:nvPr/>
        </p:nvSpPr>
        <p:spPr>
          <a:xfrm>
            <a:off x="3874135" y="6225540"/>
            <a:ext cx="2809875" cy="9525"/>
          </a:xfrm>
          <a:custGeom>
            <a:avLst/>
            <a:gdLst/>
            <a:ahLst/>
            <a:cxnLst/>
            <a:rect l="0" t="0" r="0" b="0"/>
            <a:pathLst>
              <a:path w="2809875" h="9525">
                <a:moveTo>
                  <a:pt x="0" y="0"/>
                </a:moveTo>
                <a:lnTo>
                  <a:pt x="2809875" y="0"/>
                </a:lnTo>
              </a:path>
            </a:pathLst>
          </a:custGeom>
          <a:noFill/>
          <a:ln w="19050">
            <a:solidFill>
              <a:srgbClr val="0B1F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5" name="右箭头 324"/>
          <p:cNvSpPr>
            <a:spLocks noGrp="1"/>
          </p:cNvSpPr>
          <p:nvPr/>
        </p:nvSpPr>
        <p:spPr>
          <a:xfrm>
            <a:off x="6053455" y="6035040"/>
            <a:ext cx="2286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1F2A"/>
          </a:solidFill>
          <a:ln w="7620">
            <a:solidFill>
              <a:srgbClr val="0B1F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" name="矩形 325"/>
          <p:cNvSpPr>
            <a:spLocks noGrp="1"/>
          </p:cNvSpPr>
          <p:nvPr/>
        </p:nvSpPr>
        <p:spPr>
          <a:xfrm>
            <a:off x="4002405" y="597789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t=1      2      ...      Ts</a:t>
            </a:r>
            <a:endParaRPr sz="120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7" name="矩形 326"/>
              <p:cNvSpPr>
                <a:spLocks noGrp="1"/>
              </p:cNvSpPr>
              <p:nvPr/>
            </p:nvSpPr>
            <p:spPr>
              <a:xfrm>
                <a:off x="3757930" y="6282690"/>
                <a:ext cx="146685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buNone/>
                  <a:defRPr sz="1125" b="1">
                    <a:solidFill>
                      <a:srgbClr val="5B6770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125" b="1" dirty="0">
                    <a:solidFill>
                      <a:srgbClr val="5B6770"/>
                    </a:solidFill>
                    <a:latin typeface="Aptos"/>
                    <a:ea typeface="Aptos"/>
                    <a:cs typeface="Aptos"/>
                  </a:rPr>
                  <a:t>Teacher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25" b="1" i="1" smtClean="0">
                            <a:solidFill>
                              <a:srgbClr val="5B6770"/>
                            </a:solidFill>
                            <a:latin typeface="Cambria Math" panose="02040503050406030204" pitchFamily="18" charset="0"/>
                            <a:ea typeface="Aptos"/>
                            <a:cs typeface="Aptos"/>
                          </a:rPr>
                        </m:ctrlPr>
                      </m:sSubPr>
                      <m:e>
                        <m:r>
                          <a:rPr lang="en-US" altLang="zh-CN" sz="1125" b="1" i="1" smtClean="0">
                            <a:solidFill>
                              <a:srgbClr val="5B6770"/>
                            </a:solidFill>
                            <a:latin typeface="Cambria Math" panose="02040503050406030204" pitchFamily="18" charset="0"/>
                            <a:ea typeface="Aptos"/>
                            <a:cs typeface="Aptos"/>
                          </a:rPr>
                          <m:t>𝒁</m:t>
                        </m:r>
                      </m:e>
                      <m:sub>
                        <m:r>
                          <a:rPr lang="en-US" altLang="zh-CN" sz="1125" b="1" i="1" smtClean="0">
                            <a:solidFill>
                              <a:srgbClr val="5B6770"/>
                            </a:solidFill>
                            <a:latin typeface="Cambria Math" panose="02040503050406030204" pitchFamily="18" charset="0"/>
                            <a:ea typeface="Aptos"/>
                            <a:cs typeface="Aptos"/>
                          </a:rPr>
                          <m:t>𝑻</m:t>
                        </m:r>
                      </m:sub>
                    </m:sSub>
                  </m:oMath>
                </a14:m>
                <a:r>
                  <a:rPr sz="1125" b="1" dirty="0">
                    <a:solidFill>
                      <a:srgbClr val="5B6770"/>
                    </a:solidFill>
                    <a:latin typeface="Aptos"/>
                    <a:ea typeface="Aptos"/>
                    <a:cs typeface="Aptos"/>
                  </a:rPr>
                  <a:t>-&gt; broadcast</a:t>
                </a:r>
                <a:endParaRPr sz="1125" b="1" dirty="0">
                  <a:solidFill>
                    <a:srgbClr val="5B6770"/>
                  </a:solidFill>
                  <a:latin typeface="Aptos"/>
                  <a:ea typeface="Aptos"/>
                  <a:cs typeface="Aptos"/>
                </a:endParaRPr>
              </a:p>
            </p:txBody>
          </p:sp>
        </mc:Choice>
        <mc:Fallback>
          <p:sp>
            <p:nvSpPr>
              <p:cNvPr id="327" name="矩形 3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930" y="6282690"/>
                <a:ext cx="1466850" cy="209550"/>
              </a:xfrm>
              <a:prstGeom prst="rect">
                <a:avLst/>
              </a:prstGeom>
              <a:blipFill rotWithShape="1">
                <a:blip r:embed="rId2"/>
                <a:stretch>
                  <a:fillRect b="-8606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8" name="矩形 327"/>
          <p:cNvSpPr>
            <a:spLocks noGrp="1"/>
          </p:cNvSpPr>
          <p:nvPr/>
        </p:nvSpPr>
        <p:spPr>
          <a:xfrm>
            <a:off x="5339080" y="6282690"/>
            <a:ext cx="304800" cy="247650"/>
          </a:xfrm>
          <a:prstGeom prst="rect">
            <a:avLst/>
          </a:prstGeom>
          <a:solidFill>
            <a:srgbClr val="1D70A2"/>
          </a:solidFill>
          <a:ln w="13335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9" name="矩形 328"/>
          <p:cNvSpPr>
            <a:spLocks noGrp="1"/>
          </p:cNvSpPr>
          <p:nvPr/>
        </p:nvSpPr>
        <p:spPr>
          <a:xfrm>
            <a:off x="5653405" y="6282690"/>
            <a:ext cx="304800" cy="247650"/>
          </a:xfrm>
          <a:prstGeom prst="rect">
            <a:avLst/>
          </a:prstGeom>
          <a:solidFill>
            <a:srgbClr val="B5D6EA"/>
          </a:solidFill>
          <a:ln w="13335">
            <a:solidFill>
              <a:srgbClr val="B5D6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0" name="矩形 329"/>
          <p:cNvSpPr>
            <a:spLocks noGrp="1"/>
          </p:cNvSpPr>
          <p:nvPr/>
        </p:nvSpPr>
        <p:spPr>
          <a:xfrm>
            <a:off x="5967730" y="6282690"/>
            <a:ext cx="304800" cy="247650"/>
          </a:xfrm>
          <a:prstGeom prst="rect">
            <a:avLst/>
          </a:prstGeom>
          <a:solidFill>
            <a:srgbClr val="D9EAF4"/>
          </a:solidFill>
          <a:ln w="13335">
            <a:solidFill>
              <a:srgbClr val="D9EA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1" name="矩形 330"/>
          <p:cNvSpPr>
            <a:spLocks noGrp="1"/>
          </p:cNvSpPr>
          <p:nvPr/>
        </p:nvSpPr>
        <p:spPr>
          <a:xfrm>
            <a:off x="6282055" y="6282690"/>
            <a:ext cx="304800" cy="247650"/>
          </a:xfrm>
          <a:prstGeom prst="rect">
            <a:avLst/>
          </a:prstGeom>
          <a:solidFill>
            <a:srgbClr val="F4A62A"/>
          </a:solidFill>
          <a:ln w="13335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2" name="矩形 331"/>
              <p:cNvSpPr>
                <a:spLocks noGrp="1"/>
              </p:cNvSpPr>
              <p:nvPr/>
            </p:nvSpPr>
            <p:spPr>
              <a:xfrm>
                <a:off x="3757930" y="6644640"/>
                <a:ext cx="11430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buNone/>
                  <a:defRPr sz="1125" b="1">
                    <a:solidFill>
                      <a:srgbClr val="5B6770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125" b="1" dirty="0">
                    <a:solidFill>
                      <a:srgbClr val="5B6770"/>
                    </a:solidFill>
                    <a:latin typeface="Aptos"/>
                    <a:ea typeface="Aptos"/>
                    <a:cs typeface="Aptos"/>
                  </a:rPr>
                  <a:t>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25" b="1" i="1" smtClean="0">
                            <a:solidFill>
                              <a:srgbClr val="5B6770"/>
                            </a:solidFill>
                            <a:latin typeface="Cambria Math" panose="02040503050406030204" pitchFamily="18" charset="0"/>
                            <a:ea typeface="Aptos"/>
                            <a:cs typeface="Aptos"/>
                          </a:rPr>
                        </m:ctrlPr>
                      </m:sSubPr>
                      <m:e>
                        <m:r>
                          <a:rPr lang="en-US" altLang="zh-CN" sz="1125" b="1" i="1" smtClean="0">
                            <a:solidFill>
                              <a:srgbClr val="5B6770"/>
                            </a:solidFill>
                            <a:latin typeface="Cambria Math" panose="02040503050406030204" pitchFamily="18" charset="0"/>
                            <a:ea typeface="Aptos"/>
                            <a:cs typeface="Aptos"/>
                          </a:rPr>
                          <m:t>𝒁</m:t>
                        </m:r>
                      </m:e>
                      <m:sub>
                        <m:r>
                          <a:rPr lang="en-US" altLang="zh-CN" sz="1125" b="1" i="1" smtClean="0">
                            <a:solidFill>
                              <a:srgbClr val="5B6770"/>
                            </a:solidFill>
                            <a:latin typeface="Cambria Math" panose="02040503050406030204" pitchFamily="18" charset="0"/>
                            <a:ea typeface="Aptos"/>
                            <a:cs typeface="Aptos"/>
                          </a:rPr>
                          <m:t>𝑺</m:t>
                        </m:r>
                      </m:sub>
                    </m:sSub>
                    <m:d>
                      <m:dPr>
                        <m:ctrlPr>
                          <a:rPr lang="en-US" altLang="zh-CN" sz="1125" b="1" i="1" smtClean="0">
                            <a:solidFill>
                              <a:srgbClr val="5B6770"/>
                            </a:solidFill>
                            <a:latin typeface="Cambria Math" panose="02040503050406030204" pitchFamily="18" charset="0"/>
                            <a:ea typeface="Aptos"/>
                            <a:cs typeface="Aptos"/>
                          </a:rPr>
                        </m:ctrlPr>
                      </m:dPr>
                      <m:e>
                        <m:r>
                          <a:rPr lang="en-US" altLang="zh-CN" sz="1125" b="1" i="1">
                            <a:solidFill>
                              <a:srgbClr val="5B6770"/>
                            </a:solidFill>
                            <a:latin typeface="Cambria Math" panose="02040503050406030204" pitchFamily="18" charset="0"/>
                            <a:ea typeface="Aptos"/>
                            <a:cs typeface="Aptos"/>
                          </a:rPr>
                          <m:t>𝒕</m:t>
                        </m:r>
                      </m:e>
                    </m:d>
                  </m:oMath>
                </a14:m>
                <a:endParaRPr sz="1125" b="1" dirty="0">
                  <a:solidFill>
                    <a:srgbClr val="5B6770"/>
                  </a:solidFill>
                  <a:latin typeface="Aptos"/>
                  <a:ea typeface="Aptos"/>
                  <a:cs typeface="Aptos"/>
                </a:endParaRPr>
              </a:p>
            </p:txBody>
          </p:sp>
        </mc:Choice>
        <mc:Fallback>
          <p:sp>
            <p:nvSpPr>
              <p:cNvPr id="332" name="矩形 3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930" y="6644640"/>
                <a:ext cx="1143000" cy="209550"/>
              </a:xfrm>
              <a:prstGeom prst="rect">
                <a:avLst/>
              </a:prstGeom>
              <a:blipFill rotWithShape="1">
                <a:blip r:embed="rId3"/>
                <a:stretch>
                  <a:fillRect b="-8606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3" name="矩形 332"/>
          <p:cNvSpPr>
            <a:spLocks noGrp="1"/>
          </p:cNvSpPr>
          <p:nvPr/>
        </p:nvSpPr>
        <p:spPr>
          <a:xfrm>
            <a:off x="5339080" y="6644640"/>
            <a:ext cx="304800" cy="247650"/>
          </a:xfrm>
          <a:prstGeom prst="rect">
            <a:avLst/>
          </a:prstGeom>
          <a:solidFill>
            <a:srgbClr val="39A844"/>
          </a:solidFill>
          <a:ln w="13335">
            <a:solidFill>
              <a:srgbClr val="39A8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4" name="矩形 333"/>
          <p:cNvSpPr>
            <a:spLocks noGrp="1"/>
          </p:cNvSpPr>
          <p:nvPr/>
        </p:nvSpPr>
        <p:spPr>
          <a:xfrm>
            <a:off x="5653405" y="6644640"/>
            <a:ext cx="304800" cy="247650"/>
          </a:xfrm>
          <a:prstGeom prst="rect">
            <a:avLst/>
          </a:prstGeom>
          <a:solidFill>
            <a:srgbClr val="CDEFD1"/>
          </a:solidFill>
          <a:ln w="13335">
            <a:solidFill>
              <a:srgbClr val="CDEF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5" name="矩形 334"/>
          <p:cNvSpPr>
            <a:spLocks noGrp="1"/>
          </p:cNvSpPr>
          <p:nvPr/>
        </p:nvSpPr>
        <p:spPr>
          <a:xfrm>
            <a:off x="5967730" y="6644640"/>
            <a:ext cx="304800" cy="247650"/>
          </a:xfrm>
          <a:prstGeom prst="rect">
            <a:avLst/>
          </a:prstGeom>
          <a:solidFill>
            <a:srgbClr val="F4A62A"/>
          </a:solidFill>
          <a:ln w="13335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6" name="矩形 335"/>
          <p:cNvSpPr>
            <a:spLocks noGrp="1"/>
          </p:cNvSpPr>
          <p:nvPr/>
        </p:nvSpPr>
        <p:spPr>
          <a:xfrm>
            <a:off x="6282055" y="6644640"/>
            <a:ext cx="304800" cy="247650"/>
          </a:xfrm>
          <a:prstGeom prst="rect">
            <a:avLst/>
          </a:prstGeom>
          <a:solidFill>
            <a:srgbClr val="FFD7A1"/>
          </a:solidFill>
          <a:ln w="13335">
            <a:solidFill>
              <a:srgbClr val="FFD7A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7" name="右箭头 336"/>
          <p:cNvSpPr>
            <a:spLocks noGrp="1"/>
          </p:cNvSpPr>
          <p:nvPr/>
        </p:nvSpPr>
        <p:spPr>
          <a:xfrm>
            <a:off x="3273425" y="6094730"/>
            <a:ext cx="271145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D70A2"/>
          </a:solidFill>
          <a:ln w="7620">
            <a:solidFill>
              <a:srgbClr val="1D70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9" name="右箭头 338"/>
          <p:cNvSpPr>
            <a:spLocks noGrp="1"/>
          </p:cNvSpPr>
          <p:nvPr/>
        </p:nvSpPr>
        <p:spPr>
          <a:xfrm>
            <a:off x="6586855" y="6045835"/>
            <a:ext cx="361950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A62A"/>
          </a:solidFill>
          <a:ln w="762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42" name="组合 341"/>
          <p:cNvGrpSpPr/>
          <p:nvPr/>
        </p:nvGrpSpPr>
        <p:grpSpPr>
          <a:xfrm>
            <a:off x="93980" y="5534660"/>
            <a:ext cx="3105150" cy="1489075"/>
            <a:chOff x="2906" y="9979"/>
            <a:chExt cx="7050" cy="2345"/>
          </a:xfrm>
        </p:grpSpPr>
        <p:sp>
          <p:nvSpPr>
            <p:cNvPr id="294" name="圆角矩形 293"/>
            <p:cNvSpPr>
              <a:spLocks noGrp="1"/>
            </p:cNvSpPr>
            <p:nvPr/>
          </p:nvSpPr>
          <p:spPr>
            <a:xfrm>
              <a:off x="2906" y="9984"/>
              <a:ext cx="7050" cy="2340"/>
            </a:xfrm>
            <a:prstGeom prst="roundRect">
              <a:avLst>
                <a:gd name="adj" fmla="val 6410"/>
              </a:avLst>
            </a:prstGeom>
            <a:solidFill>
              <a:srgbClr val="F8FCFF"/>
            </a:solidFill>
            <a:ln w="13335">
              <a:solidFill>
                <a:srgbClr val="79B6D8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95" name="矩形 294"/>
            <p:cNvSpPr>
              <a:spLocks noGrp="1"/>
            </p:cNvSpPr>
            <p:nvPr/>
          </p:nvSpPr>
          <p:spPr>
            <a:xfrm>
              <a:off x="2920" y="9979"/>
              <a:ext cx="7036" cy="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500" b="1">
                  <a:solidFill>
                    <a:srgbClr val="1D70A2"/>
                  </a:solidFill>
                  <a:latin typeface="Aptos"/>
                  <a:ea typeface="Aptos"/>
                  <a:cs typeface="Aptos"/>
                </a:defRPr>
              </a:pPr>
              <a:r>
                <a:rPr sz="1500" b="1" dirty="0" err="1">
                  <a:solidFill>
                    <a:srgbClr val="1D70A2"/>
                  </a:solidFill>
                  <a:latin typeface="Aptos"/>
                  <a:ea typeface="Aptos"/>
                  <a:cs typeface="Aptos"/>
                </a:rPr>
                <a:t>MemKD</a:t>
              </a:r>
              <a:r>
                <a:rPr sz="1500" b="1" dirty="0">
                  <a:solidFill>
                    <a:srgbClr val="1D70A2"/>
                  </a:solidFill>
                  <a:latin typeface="Aptos"/>
                  <a:ea typeface="Aptos"/>
                  <a:cs typeface="Aptos"/>
                </a:rPr>
                <a:t>:</a:t>
              </a:r>
              <a:endParaRPr sz="1500" b="1" dirty="0">
                <a:solidFill>
                  <a:srgbClr val="1D70A2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296" name="任意多边形 295"/>
            <p:cNvSpPr>
              <a:spLocks noGrp="1"/>
            </p:cNvSpPr>
            <p:nvPr/>
          </p:nvSpPr>
          <p:spPr>
            <a:xfrm>
              <a:off x="3476" y="10837"/>
              <a:ext cx="5040" cy="944"/>
            </a:xfrm>
            <a:custGeom>
              <a:avLst/>
              <a:gdLst/>
              <a:ahLst/>
              <a:cxnLst/>
              <a:rect l="0" t="0" r="0" b="0"/>
              <a:pathLst>
                <a:path w="3200400" h="599245">
                  <a:moveTo>
                    <a:pt x="0" y="411054"/>
                  </a:moveTo>
                  <a:lnTo>
                    <a:pt x="400050" y="177370"/>
                  </a:lnTo>
                  <a:lnTo>
                    <a:pt x="800100" y="23754"/>
                  </a:lnTo>
                  <a:lnTo>
                    <a:pt x="1200150" y="0"/>
                  </a:lnTo>
                  <a:lnTo>
                    <a:pt x="1600200" y="106807"/>
                  </a:lnTo>
                  <a:lnTo>
                    <a:pt x="2000250" y="295511"/>
                  </a:lnTo>
                  <a:lnTo>
                    <a:pt x="2400300" y="486485"/>
                  </a:lnTo>
                  <a:lnTo>
                    <a:pt x="2800350" y="599245"/>
                  </a:lnTo>
                  <a:lnTo>
                    <a:pt x="3200400" y="582876"/>
                  </a:lnTo>
                </a:path>
              </a:pathLst>
            </a:custGeom>
            <a:noFill/>
            <a:ln w="3810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任意多边形 296"/>
            <p:cNvSpPr>
              <a:spLocks noGrp="1"/>
            </p:cNvSpPr>
            <p:nvPr/>
          </p:nvSpPr>
          <p:spPr>
            <a:xfrm>
              <a:off x="3476" y="11035"/>
              <a:ext cx="5040" cy="954"/>
            </a:xfrm>
            <a:custGeom>
              <a:avLst/>
              <a:gdLst/>
              <a:ahLst/>
              <a:cxnLst/>
              <a:rect l="0" t="0" r="0" b="0"/>
              <a:pathLst>
                <a:path w="3200400" h="487868">
                  <a:moveTo>
                    <a:pt x="0" y="163045"/>
                  </a:moveTo>
                  <a:lnTo>
                    <a:pt x="400050" y="16066"/>
                  </a:lnTo>
                  <a:lnTo>
                    <a:pt x="800100" y="0"/>
                  </a:lnTo>
                  <a:lnTo>
                    <a:pt x="1200150" y="114785"/>
                  </a:lnTo>
                  <a:lnTo>
                    <a:pt x="1600200" y="296388"/>
                  </a:lnTo>
                  <a:lnTo>
                    <a:pt x="2000250" y="448113"/>
                  </a:lnTo>
                  <a:lnTo>
                    <a:pt x="2400300" y="487868"/>
                  </a:lnTo>
                  <a:lnTo>
                    <a:pt x="2800350" y="388301"/>
                  </a:lnTo>
                  <a:lnTo>
                    <a:pt x="3200400" y="190173"/>
                  </a:lnTo>
                </a:path>
              </a:pathLst>
            </a:custGeom>
            <a:noFill/>
            <a:ln w="3810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椭圆 297"/>
            <p:cNvSpPr>
              <a:spLocks noGrp="1"/>
            </p:cNvSpPr>
            <p:nvPr/>
          </p:nvSpPr>
          <p:spPr>
            <a:xfrm>
              <a:off x="3386" y="11394"/>
              <a:ext cx="180" cy="180"/>
            </a:xfrm>
            <a:prstGeom prst="ellipse">
              <a:avLst/>
            </a:prstGeom>
            <a:solidFill>
              <a:srgbClr val="1D70A2"/>
            </a:solidFill>
            <a:ln w="1143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椭圆 298"/>
            <p:cNvSpPr>
              <a:spLocks noGrp="1"/>
            </p:cNvSpPr>
            <p:nvPr/>
          </p:nvSpPr>
          <p:spPr>
            <a:xfrm>
              <a:off x="3386" y="11388"/>
              <a:ext cx="180" cy="180"/>
            </a:xfrm>
            <a:prstGeom prst="ellipse">
              <a:avLst/>
            </a:prstGeom>
            <a:solidFill>
              <a:srgbClr val="3BB7C4"/>
            </a:solidFill>
            <a:ln w="1143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椭圆 299"/>
            <p:cNvSpPr>
              <a:spLocks noGrp="1"/>
            </p:cNvSpPr>
            <p:nvPr/>
          </p:nvSpPr>
          <p:spPr>
            <a:xfrm>
              <a:off x="4646" y="10784"/>
              <a:ext cx="180" cy="180"/>
            </a:xfrm>
            <a:prstGeom prst="ellipse">
              <a:avLst/>
            </a:prstGeom>
            <a:solidFill>
              <a:srgbClr val="1D70A2"/>
            </a:solidFill>
            <a:ln w="1143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椭圆 300"/>
            <p:cNvSpPr>
              <a:spLocks noGrp="1"/>
            </p:cNvSpPr>
            <p:nvPr/>
          </p:nvSpPr>
          <p:spPr>
            <a:xfrm>
              <a:off x="4646" y="11131"/>
              <a:ext cx="180" cy="180"/>
            </a:xfrm>
            <a:prstGeom prst="ellipse">
              <a:avLst/>
            </a:prstGeom>
            <a:solidFill>
              <a:srgbClr val="3BB7C4"/>
            </a:solidFill>
            <a:ln w="1143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椭圆 301"/>
            <p:cNvSpPr>
              <a:spLocks noGrp="1"/>
            </p:cNvSpPr>
            <p:nvPr/>
          </p:nvSpPr>
          <p:spPr>
            <a:xfrm>
              <a:off x="5906" y="10915"/>
              <a:ext cx="180" cy="180"/>
            </a:xfrm>
            <a:prstGeom prst="ellipse">
              <a:avLst/>
            </a:prstGeom>
            <a:solidFill>
              <a:srgbClr val="1D70A2"/>
            </a:solidFill>
            <a:ln w="1143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椭圆 302"/>
            <p:cNvSpPr>
              <a:spLocks noGrp="1"/>
            </p:cNvSpPr>
            <p:nvPr/>
          </p:nvSpPr>
          <p:spPr>
            <a:xfrm>
              <a:off x="5906" y="11598"/>
              <a:ext cx="180" cy="180"/>
            </a:xfrm>
            <a:prstGeom prst="ellipse">
              <a:avLst/>
            </a:prstGeom>
            <a:solidFill>
              <a:srgbClr val="3BB7C4"/>
            </a:solidFill>
            <a:ln w="1143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椭圆 303"/>
            <p:cNvSpPr>
              <a:spLocks noGrp="1"/>
            </p:cNvSpPr>
            <p:nvPr/>
          </p:nvSpPr>
          <p:spPr>
            <a:xfrm>
              <a:off x="7166" y="11513"/>
              <a:ext cx="180" cy="180"/>
            </a:xfrm>
            <a:prstGeom prst="ellipse">
              <a:avLst/>
            </a:prstGeom>
            <a:solidFill>
              <a:srgbClr val="1D70A2"/>
            </a:solidFill>
            <a:ln w="1143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椭圆 304"/>
            <p:cNvSpPr>
              <a:spLocks noGrp="1"/>
            </p:cNvSpPr>
            <p:nvPr/>
          </p:nvSpPr>
          <p:spPr>
            <a:xfrm>
              <a:off x="7166" y="11900"/>
              <a:ext cx="180" cy="180"/>
            </a:xfrm>
            <a:prstGeom prst="ellipse">
              <a:avLst/>
            </a:prstGeom>
            <a:solidFill>
              <a:srgbClr val="3BB7C4"/>
            </a:solidFill>
            <a:ln w="1143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椭圆 305"/>
            <p:cNvSpPr>
              <a:spLocks noGrp="1"/>
            </p:cNvSpPr>
            <p:nvPr/>
          </p:nvSpPr>
          <p:spPr>
            <a:xfrm>
              <a:off x="8426" y="11665"/>
              <a:ext cx="180" cy="180"/>
            </a:xfrm>
            <a:prstGeom prst="ellipse">
              <a:avLst/>
            </a:prstGeom>
            <a:solidFill>
              <a:srgbClr val="1D70A2"/>
            </a:solidFill>
            <a:ln w="11430">
              <a:solidFill>
                <a:srgbClr val="1D70A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椭圆 306"/>
            <p:cNvSpPr>
              <a:spLocks noGrp="1"/>
            </p:cNvSpPr>
            <p:nvPr/>
          </p:nvSpPr>
          <p:spPr>
            <a:xfrm>
              <a:off x="8471" y="11251"/>
              <a:ext cx="180" cy="180"/>
            </a:xfrm>
            <a:prstGeom prst="ellipse">
              <a:avLst/>
            </a:prstGeom>
            <a:solidFill>
              <a:srgbClr val="3BB7C4"/>
            </a:solidFill>
            <a:ln w="11430">
              <a:solidFill>
                <a:srgbClr val="3BB7C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矩形 307"/>
            <p:cNvSpPr>
              <a:spLocks noGrp="1"/>
            </p:cNvSpPr>
            <p:nvPr/>
          </p:nvSpPr>
          <p:spPr>
            <a:xfrm>
              <a:off x="4196" y="11454"/>
              <a:ext cx="12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050" b="1">
                  <a:solidFill>
                    <a:srgbClr val="D33A2C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D33A2C"/>
                  </a:solidFill>
                  <a:latin typeface="Aptos"/>
                  <a:ea typeface="Aptos"/>
                  <a:cs typeface="Aptos"/>
                </a:rPr>
                <a:t>short z=1</a:t>
              </a:r>
              <a:endParaRPr sz="1050" b="1">
                <a:solidFill>
                  <a:srgbClr val="D33A2C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309" name="矩形 308"/>
            <p:cNvSpPr>
              <a:spLocks noGrp="1"/>
            </p:cNvSpPr>
            <p:nvPr/>
          </p:nvSpPr>
          <p:spPr>
            <a:xfrm>
              <a:off x="6371" y="10704"/>
              <a:ext cx="21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050" b="1">
                  <a:solidFill>
                    <a:srgbClr val="6A4C93"/>
                  </a:solidFill>
                  <a:latin typeface="Aptos"/>
                  <a:ea typeface="Aptos"/>
                  <a:cs typeface="Aptos"/>
                </a:defRPr>
              </a:pPr>
              <a:r>
                <a:rPr sz="1050">
                  <a:solidFill>
                    <a:srgbClr val="6A4C93"/>
                  </a:solidFill>
                  <a:latin typeface="Aptos"/>
                  <a:ea typeface="Aptos"/>
                  <a:cs typeface="Aptos"/>
                </a:rPr>
                <a:t>long z~U(2,T/2)</a:t>
              </a:r>
              <a:endParaRPr sz="1050">
                <a:solidFill>
                  <a:srgbClr val="6A4C93"/>
                </a:solidFill>
                <a:latin typeface="Aptos"/>
                <a:ea typeface="Aptos"/>
                <a:cs typeface="Aptos"/>
              </a:endParaRPr>
            </a:p>
          </p:txBody>
        </p:sp>
        <p:grpSp>
          <p:nvGrpSpPr>
            <p:cNvPr id="310" name="组合 309"/>
            <p:cNvGrpSpPr/>
            <p:nvPr/>
          </p:nvGrpSpPr>
          <p:grpSpPr>
            <a:xfrm rot="0">
              <a:off x="8666" y="10998"/>
              <a:ext cx="1185" cy="390"/>
              <a:chOff x="11985" y="8209"/>
              <a:chExt cx="1185" cy="390"/>
            </a:xfrm>
          </p:grpSpPr>
          <p:sp>
            <p:nvSpPr>
              <p:cNvPr id="311" name="矩形 310"/>
              <p:cNvSpPr>
                <a:spLocks noGrp="1"/>
              </p:cNvSpPr>
              <p:nvPr/>
            </p:nvSpPr>
            <p:spPr>
              <a:xfrm>
                <a:off x="11985" y="8209"/>
                <a:ext cx="203" cy="390"/>
              </a:xfrm>
              <a:prstGeom prst="rect">
                <a:avLst/>
              </a:prstGeom>
              <a:solidFill>
                <a:srgbClr val="1D70A2"/>
              </a:solidFill>
              <a:ln w="13335">
                <a:solidFill>
                  <a:srgbClr val="1D70A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2" name="矩形 311"/>
              <p:cNvSpPr>
                <a:spLocks noGrp="1"/>
              </p:cNvSpPr>
              <p:nvPr/>
            </p:nvSpPr>
            <p:spPr>
              <a:xfrm>
                <a:off x="12203" y="8209"/>
                <a:ext cx="203" cy="390"/>
              </a:xfrm>
              <a:prstGeom prst="rect">
                <a:avLst/>
              </a:prstGeom>
              <a:solidFill>
                <a:srgbClr val="9ADAE0"/>
              </a:solidFill>
              <a:ln w="13335">
                <a:solidFill>
                  <a:srgbClr val="9ADAE0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3" name="矩形 312"/>
              <p:cNvSpPr>
                <a:spLocks noGrp="1"/>
              </p:cNvSpPr>
              <p:nvPr/>
            </p:nvSpPr>
            <p:spPr>
              <a:xfrm>
                <a:off x="12420" y="8209"/>
                <a:ext cx="203" cy="390"/>
              </a:xfrm>
              <a:prstGeom prst="rect">
                <a:avLst/>
              </a:prstGeom>
              <a:solidFill>
                <a:srgbClr val="3BB7C4"/>
              </a:solidFill>
              <a:ln w="13335">
                <a:solidFill>
                  <a:srgbClr val="3BB7C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4" name="矩形 313"/>
              <p:cNvSpPr>
                <a:spLocks noGrp="1"/>
              </p:cNvSpPr>
              <p:nvPr/>
            </p:nvSpPr>
            <p:spPr>
              <a:xfrm>
                <a:off x="12638" y="8209"/>
                <a:ext cx="203" cy="390"/>
              </a:xfrm>
              <a:prstGeom prst="rect">
                <a:avLst/>
              </a:prstGeom>
              <a:solidFill>
                <a:srgbClr val="D7F2F4"/>
              </a:solidFill>
              <a:ln w="13335">
                <a:solidFill>
                  <a:srgbClr val="D7F2F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5" name="矩形 314"/>
                  <p:cNvSpPr>
                    <a:spLocks noGrp="1"/>
                  </p:cNvSpPr>
                  <p:nvPr/>
                </p:nvSpPr>
                <p:spPr>
                  <a:xfrm>
                    <a:off x="12750" y="8224"/>
                    <a:ext cx="420" cy="330"/>
                  </a:xfrm>
                  <a:prstGeom prst="rect">
                    <a:avLst/>
                  </a:prstGeom>
                  <a:noFill/>
                  <a:ln w="0">
                    <a:noFill/>
                    <a:prstDash val="solid"/>
                  </a:ln>
                </p:spPr>
                <p:txBody>
                  <a:bodyPr/>
                  <a:lstStyle/>
                  <a:p>
                    <a:pPr algn="l">
                      <a:buNone/>
                      <a:defRPr sz="975" b="1">
                        <a:solidFill>
                          <a:srgbClr val="1D70A2"/>
                        </a:solidFill>
                        <a:latin typeface="Aptos"/>
                        <a:ea typeface="Aptos"/>
                        <a:cs typeface="Aptos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975" b="1" i="1" smtClean="0">
                                  <a:solidFill>
                                    <a:srgbClr val="1D70A2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</m:ctrlPr>
                            </m:sSubPr>
                            <m:e>
                              <m:r>
                                <a:rPr lang="en-US" sz="975" b="1" i="1" smtClean="0">
                                  <a:solidFill>
                                    <a:srgbClr val="1D70A2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975" b="1" i="1" smtClean="0">
                                  <a:solidFill>
                                    <a:srgbClr val="1D70A2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𝑻</m:t>
                              </m:r>
                            </m:sub>
                          </m:sSub>
                        </m:oMath>
                      </m:oMathPara>
                    </a14:m>
                    <a:endParaRPr sz="975" b="1" dirty="0">
                      <a:solidFill>
                        <a:srgbClr val="1D70A2"/>
                      </a:solidFill>
                      <a:latin typeface="Aptos"/>
                      <a:ea typeface="Aptos"/>
                      <a:cs typeface="Aptos"/>
                    </a:endParaRPr>
                  </a:p>
                </p:txBody>
              </p:sp>
            </mc:Choice>
            <mc:Fallback>
              <p:sp>
                <p:nvSpPr>
                  <p:cNvPr id="315" name="矩形 3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50" y="8224"/>
                    <a:ext cx="420" cy="330"/>
                  </a:xfrm>
                  <a:prstGeom prst="rect">
                    <a:avLst/>
                  </a:prstGeom>
                  <a:blipFill rotWithShape="1">
                    <a:blip r:embed="rId4"/>
                  </a:blipFill>
                  <a:ln w="0">
                    <a:noFill/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6" name="组合 315"/>
            <p:cNvGrpSpPr/>
            <p:nvPr/>
          </p:nvGrpSpPr>
          <p:grpSpPr>
            <a:xfrm rot="0">
              <a:off x="8696" y="11611"/>
              <a:ext cx="1163" cy="390"/>
              <a:chOff x="11985" y="8839"/>
              <a:chExt cx="1163" cy="390"/>
            </a:xfrm>
          </p:grpSpPr>
          <p:sp>
            <p:nvSpPr>
              <p:cNvPr id="317" name="矩形 316"/>
              <p:cNvSpPr>
                <a:spLocks noGrp="1"/>
              </p:cNvSpPr>
              <p:nvPr/>
            </p:nvSpPr>
            <p:spPr>
              <a:xfrm>
                <a:off x="11985" y="8839"/>
                <a:ext cx="203" cy="390"/>
              </a:xfrm>
              <a:prstGeom prst="rect">
                <a:avLst/>
              </a:prstGeom>
              <a:solidFill>
                <a:srgbClr val="39A844"/>
              </a:solidFill>
              <a:ln w="13335">
                <a:solidFill>
                  <a:srgbClr val="39A84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" name="矩形 317"/>
              <p:cNvSpPr>
                <a:spLocks noGrp="1"/>
              </p:cNvSpPr>
              <p:nvPr/>
            </p:nvSpPr>
            <p:spPr>
              <a:xfrm>
                <a:off x="12203" y="8839"/>
                <a:ext cx="203" cy="390"/>
              </a:xfrm>
              <a:prstGeom prst="rect">
                <a:avLst/>
              </a:prstGeom>
              <a:solidFill>
                <a:srgbClr val="DDF3DF"/>
              </a:solidFill>
              <a:ln w="13335">
                <a:solidFill>
                  <a:srgbClr val="DDF3D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9" name="矩形 318"/>
              <p:cNvSpPr>
                <a:spLocks noGrp="1"/>
              </p:cNvSpPr>
              <p:nvPr/>
            </p:nvSpPr>
            <p:spPr>
              <a:xfrm>
                <a:off x="12420" y="8839"/>
                <a:ext cx="203" cy="390"/>
              </a:xfrm>
              <a:prstGeom prst="rect">
                <a:avLst/>
              </a:prstGeom>
              <a:solidFill>
                <a:srgbClr val="F4A62A"/>
              </a:solidFill>
              <a:ln w="13335">
                <a:solidFill>
                  <a:srgbClr val="F4A62A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0" name="矩形 319"/>
              <p:cNvSpPr>
                <a:spLocks noGrp="1"/>
              </p:cNvSpPr>
              <p:nvPr/>
            </p:nvSpPr>
            <p:spPr>
              <a:xfrm>
                <a:off x="12638" y="8839"/>
                <a:ext cx="203" cy="390"/>
              </a:xfrm>
              <a:prstGeom prst="rect">
                <a:avLst/>
              </a:prstGeom>
              <a:solidFill>
                <a:srgbClr val="FFE3A8"/>
              </a:solidFill>
              <a:ln w="13335">
                <a:solidFill>
                  <a:srgbClr val="FFE3A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1" name="矩形 320"/>
                  <p:cNvSpPr>
                    <a:spLocks noGrp="1"/>
                  </p:cNvSpPr>
                  <p:nvPr/>
                </p:nvSpPr>
                <p:spPr>
                  <a:xfrm>
                    <a:off x="12782" y="8845"/>
                    <a:ext cx="367" cy="330"/>
                  </a:xfrm>
                  <a:prstGeom prst="rect">
                    <a:avLst/>
                  </a:prstGeom>
                  <a:noFill/>
                  <a:ln w="0">
                    <a:noFill/>
                    <a:prstDash val="solid"/>
                  </a:ln>
                </p:spPr>
                <p:txBody>
                  <a:bodyPr/>
                  <a:lstStyle/>
                  <a:p>
                    <a:pPr algn="l">
                      <a:buNone/>
                      <a:defRPr sz="975" b="1">
                        <a:solidFill>
                          <a:srgbClr val="39A844"/>
                        </a:solidFill>
                        <a:latin typeface="Aptos"/>
                        <a:ea typeface="Aptos"/>
                        <a:cs typeface="Aptos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75" b="1" i="1" smtClean="0">
                                  <a:solidFill>
                                    <a:srgbClr val="39A844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</m:ctrlPr>
                            </m:sSubPr>
                            <m:e>
                              <m:r>
                                <a:rPr lang="en-US" altLang="zh-CN" sz="975" b="1" i="1" smtClean="0">
                                  <a:solidFill>
                                    <a:srgbClr val="39A844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CN" sz="975" b="1" i="1" smtClean="0">
                                  <a:solidFill>
                                    <a:srgbClr val="39A844"/>
                                  </a:solidFill>
                                  <a:latin typeface="Cambria Math" panose="02040503050406030204" pitchFamily="18" charset="0"/>
                                  <a:ea typeface="Aptos"/>
                                  <a:cs typeface="Aptos"/>
                                </a:rPr>
                                <m:t>𝑺</m:t>
                              </m:r>
                            </m:sub>
                          </m:sSub>
                        </m:oMath>
                      </m:oMathPara>
                    </a14:m>
                    <a:endParaRPr sz="975" b="1" dirty="0">
                      <a:solidFill>
                        <a:srgbClr val="39A844"/>
                      </a:solidFill>
                      <a:latin typeface="Aptos"/>
                      <a:ea typeface="Aptos"/>
                      <a:cs typeface="Aptos"/>
                    </a:endParaRPr>
                  </a:p>
                </p:txBody>
              </p:sp>
            </mc:Choice>
            <mc:Fallback>
              <p:sp>
                <p:nvSpPr>
                  <p:cNvPr id="321" name="矩形 3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82" y="8845"/>
                    <a:ext cx="367" cy="330"/>
                  </a:xfrm>
                  <a:prstGeom prst="rect">
                    <a:avLst/>
                  </a:prstGeom>
                  <a:blipFill rotWithShape="1">
                    <a:blip r:embed="rId5"/>
                  </a:blipFill>
                  <a:ln w="0">
                    <a:noFill/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40" name="圆角矩形 339"/>
            <p:cNvSpPr/>
            <p:nvPr/>
          </p:nvSpPr>
          <p:spPr>
            <a:xfrm>
              <a:off x="4233" y="10464"/>
              <a:ext cx="981" cy="1676"/>
            </a:xfrm>
            <a:prstGeom prst="roundRect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4601845" y="7215505"/>
            <a:ext cx="2000250" cy="1066800"/>
            <a:chOff x="13370" y="10113"/>
            <a:chExt cx="3150" cy="1680"/>
          </a:xfrm>
        </p:grpSpPr>
        <p:sp>
          <p:nvSpPr>
            <p:cNvPr id="347" name="圆角矩形 346"/>
            <p:cNvSpPr>
              <a:spLocks noGrp="1"/>
            </p:cNvSpPr>
            <p:nvPr/>
          </p:nvSpPr>
          <p:spPr>
            <a:xfrm>
              <a:off x="13370" y="10113"/>
              <a:ext cx="3150" cy="1680"/>
            </a:xfrm>
            <a:prstGeom prst="roundRect">
              <a:avLst>
                <a:gd name="adj" fmla="val 8929"/>
              </a:avLst>
            </a:prstGeom>
            <a:solidFill>
              <a:srgbClr val="F5F0FF"/>
            </a:solidFill>
            <a:ln w="13335">
              <a:solidFill>
                <a:srgbClr val="C7B7E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矩形 347"/>
            <p:cNvSpPr>
              <a:spLocks noGrp="1"/>
            </p:cNvSpPr>
            <p:nvPr/>
          </p:nvSpPr>
          <p:spPr>
            <a:xfrm>
              <a:off x="13688" y="10293"/>
              <a:ext cx="2550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650" b="1">
                  <a:solidFill>
                    <a:srgbClr val="6A4C93"/>
                  </a:solidFill>
                  <a:latin typeface="Aptos"/>
                  <a:ea typeface="Aptos"/>
                  <a:cs typeface="Aptos"/>
                </a:defRPr>
              </a:pPr>
              <a:r>
                <a:rPr sz="1650" b="1">
                  <a:solidFill>
                    <a:srgbClr val="6A4C93"/>
                  </a:solidFill>
                  <a:latin typeface="Aptos"/>
                  <a:ea typeface="Aptos"/>
                  <a:cs typeface="Aptos"/>
                </a:rPr>
                <a:t>DRASP</a:t>
              </a:r>
              <a:endParaRPr sz="1650" b="1">
                <a:solidFill>
                  <a:srgbClr val="6A4C93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349" name="圆角矩形 348"/>
            <p:cNvSpPr>
              <a:spLocks noGrp="1"/>
            </p:cNvSpPr>
            <p:nvPr/>
          </p:nvSpPr>
          <p:spPr>
            <a:xfrm>
              <a:off x="13718" y="10833"/>
              <a:ext cx="1080" cy="540"/>
            </a:xfrm>
            <a:prstGeom prst="roundRect">
              <a:avLst>
                <a:gd name="adj" fmla="val 27778"/>
              </a:avLst>
            </a:prstGeom>
            <a:solidFill>
              <a:srgbClr val="E8F6EA"/>
            </a:solidFill>
            <a:ln w="13335">
              <a:solidFill>
                <a:srgbClr val="BEE2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矩形 349"/>
            <p:cNvSpPr>
              <a:spLocks noGrp="1"/>
            </p:cNvSpPr>
            <p:nvPr/>
          </p:nvSpPr>
          <p:spPr>
            <a:xfrm>
              <a:off x="13718" y="10953"/>
              <a:ext cx="108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050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Global</a:t>
              </a:r>
              <a:endParaRPr sz="1050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351" name="圆角矩形 350"/>
            <p:cNvSpPr>
              <a:spLocks noGrp="1"/>
            </p:cNvSpPr>
            <p:nvPr/>
          </p:nvSpPr>
          <p:spPr>
            <a:xfrm>
              <a:off x="15008" y="10833"/>
              <a:ext cx="1080" cy="540"/>
            </a:xfrm>
            <a:prstGeom prst="roundRect">
              <a:avLst>
                <a:gd name="adj" fmla="val 27778"/>
              </a:avLst>
            </a:prstGeom>
            <a:solidFill>
              <a:srgbClr val="FFF4DD"/>
            </a:solidFill>
            <a:ln w="13335">
              <a:solidFill>
                <a:srgbClr val="EAC27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矩形 351"/>
            <p:cNvSpPr>
              <a:spLocks noGrp="1"/>
            </p:cNvSpPr>
            <p:nvPr/>
          </p:nvSpPr>
          <p:spPr>
            <a:xfrm>
              <a:off x="15008" y="10953"/>
              <a:ext cx="108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1050" b="1">
                  <a:solidFill>
                    <a:srgbClr val="0B1F2A"/>
                  </a:solidFill>
                  <a:latin typeface="Aptos"/>
                  <a:ea typeface="Aptos"/>
                  <a:cs typeface="Aptos"/>
                </a:defRPr>
              </a:pPr>
              <a:r>
                <a:rPr sz="1050" b="1">
                  <a:solidFill>
                    <a:srgbClr val="0B1F2A"/>
                  </a:solidFill>
                  <a:latin typeface="Aptos"/>
                  <a:ea typeface="Aptos"/>
                  <a:cs typeface="Aptos"/>
                </a:rPr>
                <a:t>Local</a:t>
              </a:r>
              <a:endParaRPr sz="1050" b="1">
                <a:solidFill>
                  <a:srgbClr val="0B1F2A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353" name="矩形 352"/>
            <p:cNvSpPr>
              <a:spLocks noGrp="1"/>
            </p:cNvSpPr>
            <p:nvPr/>
          </p:nvSpPr>
          <p:spPr>
            <a:xfrm>
              <a:off x="13502" y="11418"/>
              <a:ext cx="2886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buNone/>
                <a:def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defRPr>
              </a:pPr>
              <a:r>
                <a:rPr sz="975" b="1">
                  <a:solidFill>
                    <a:srgbClr val="5B6770"/>
                  </a:solidFill>
                  <a:latin typeface="Aptos"/>
                  <a:ea typeface="Aptos"/>
                  <a:cs typeface="Aptos"/>
                </a:rPr>
                <a:t>attentive statistics pooling</a:t>
              </a:r>
              <a:endParaRPr sz="975" b="1">
                <a:solidFill>
                  <a:srgbClr val="5B6770"/>
                </a:solidFill>
                <a:latin typeface="Aptos"/>
                <a:ea typeface="Aptos"/>
                <a:cs typeface="Aptos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</Words>
  <Application>WPS 演示</Application>
  <PresentationFormat>On-screen Show (4:3)</PresentationFormat>
  <Paragraphs>118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Arial</vt:lpstr>
      <vt:lpstr>Aptos</vt:lpstr>
      <vt:lpstr>Segoe Print</vt:lpstr>
      <vt:lpstr>Cambria Math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岳洋</cp:lastModifiedBy>
  <cp:revision>13</cp:revision>
  <dcterms:created xsi:type="dcterms:W3CDTF">2013-01-27T09:14:00Z</dcterms:created>
  <dcterms:modified xsi:type="dcterms:W3CDTF">2026-06-30T13:24:40Z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D44650B3C5C44C9EB4FD5D655D8A90DF_12</vt:lpwstr>
  </property>
  <property fmtid="{D5CDD505-2E9C-101B-9397-08002B2CF9AE}" pid="3" name="KSOProductBuildVer">
    <vt:lpwstr>2052-12.1.0.16388</vt:lpwstr>
  </property>
</Properties>
</file>