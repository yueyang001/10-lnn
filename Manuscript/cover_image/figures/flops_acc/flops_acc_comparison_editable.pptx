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514350" y="228600"/>
            <a:ext cx="11163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LNN achieves strong accuracy with substantially lower FLOPs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3" name="slide-subtitle"/>
          <p:cNvSpPr>
            <a:spLocks noGrp="1"/>
          </p:cNvSpPr>
          <p:nvPr/>
        </p:nvSpPr>
        <p:spPr>
          <a:xfrm>
            <a:off x="533400" y="6858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>
                <a:solidFill>
                  <a:srgbClr val="5A5A5A"/>
                </a:solidFill>
              </a:defRPr>
            </a:pPr>
            <a:r>
              <a:rPr sz="1350">
                <a:solidFill>
                  <a:srgbClr val="5A5A5A"/>
                </a:solidFill>
              </a:rPr>
              <a:t>The magenta five-point star highlights LNN (w/ KD); all chart elements remain editable.</a:t>
            </a:r>
            <a:endParaRPr sz="1350">
              <a:solidFill>
                <a:srgbClr val="5A5A5A"/>
              </a:solidFill>
            </a:endParaRPr>
          </a:p>
        </p:txBody>
      </p:sp>
      <p:sp>
        <p:nvSpPr>
          <p:cNvPr id="4" name="deepship-title"/>
          <p:cNvSpPr>
            <a:spLocks noGrp="1"/>
          </p:cNvSpPr>
          <p:nvPr/>
        </p:nvSpPr>
        <p:spPr>
          <a:xfrm>
            <a:off x="990600" y="11049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DeepShip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5" name="deepship-y-grid-80"/>
          <p:cNvSpPr>
            <a:spLocks noGrp="1"/>
          </p:cNvSpPr>
          <p:nvPr/>
        </p:nvSpPr>
        <p:spPr>
          <a:xfrm>
            <a:off x="990600" y="4795838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6" name="deepship-y-label-80"/>
          <p:cNvSpPr>
            <a:spLocks noGrp="1"/>
          </p:cNvSpPr>
          <p:nvPr/>
        </p:nvSpPr>
        <p:spPr>
          <a:xfrm>
            <a:off x="361950" y="4691063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80.0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7" name="deepship-y-grid-82.5"/>
          <p:cNvSpPr>
            <a:spLocks noGrp="1"/>
          </p:cNvSpPr>
          <p:nvPr/>
        </p:nvSpPr>
        <p:spPr>
          <a:xfrm>
            <a:off x="990600" y="4248150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8" name="deepship-y-label-82.5"/>
          <p:cNvSpPr>
            <a:spLocks noGrp="1"/>
          </p:cNvSpPr>
          <p:nvPr/>
        </p:nvSpPr>
        <p:spPr>
          <a:xfrm>
            <a:off x="361950" y="41433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82.5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9" name="deepship-y-grid-85"/>
          <p:cNvSpPr>
            <a:spLocks noGrp="1"/>
          </p:cNvSpPr>
          <p:nvPr/>
        </p:nvSpPr>
        <p:spPr>
          <a:xfrm>
            <a:off x="990600" y="3700463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10" name="deepship-y-label-85"/>
          <p:cNvSpPr>
            <a:spLocks noGrp="1"/>
          </p:cNvSpPr>
          <p:nvPr/>
        </p:nvSpPr>
        <p:spPr>
          <a:xfrm>
            <a:off x="361950" y="3595688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85.0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1" name="deepship-y-grid-87.5"/>
          <p:cNvSpPr>
            <a:spLocks noGrp="1"/>
          </p:cNvSpPr>
          <p:nvPr/>
        </p:nvSpPr>
        <p:spPr>
          <a:xfrm>
            <a:off x="990600" y="3152775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12" name="deepship-y-label-87.5"/>
          <p:cNvSpPr>
            <a:spLocks noGrp="1"/>
          </p:cNvSpPr>
          <p:nvPr/>
        </p:nvSpPr>
        <p:spPr>
          <a:xfrm>
            <a:off x="361950" y="30480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87.5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3" name="deepship-y-grid-90"/>
          <p:cNvSpPr>
            <a:spLocks noGrp="1"/>
          </p:cNvSpPr>
          <p:nvPr/>
        </p:nvSpPr>
        <p:spPr>
          <a:xfrm>
            <a:off x="990600" y="2605088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14" name="deepship-y-label-90"/>
          <p:cNvSpPr>
            <a:spLocks noGrp="1"/>
          </p:cNvSpPr>
          <p:nvPr/>
        </p:nvSpPr>
        <p:spPr>
          <a:xfrm>
            <a:off x="361950" y="2500313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90.0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5" name="deepship-y-grid-92.5"/>
          <p:cNvSpPr>
            <a:spLocks noGrp="1"/>
          </p:cNvSpPr>
          <p:nvPr/>
        </p:nvSpPr>
        <p:spPr>
          <a:xfrm>
            <a:off x="990600" y="2057400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16" name="deepship-y-label-92.5"/>
          <p:cNvSpPr>
            <a:spLocks noGrp="1"/>
          </p:cNvSpPr>
          <p:nvPr/>
        </p:nvSpPr>
        <p:spPr>
          <a:xfrm>
            <a:off x="361950" y="19526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92.5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7" name="deepship-x-grid-50"/>
          <p:cNvSpPr>
            <a:spLocks noGrp="1"/>
          </p:cNvSpPr>
          <p:nvPr/>
        </p:nvSpPr>
        <p:spPr>
          <a:xfrm>
            <a:off x="1199358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18" name="deepship-x-label-50"/>
          <p:cNvSpPr>
            <a:spLocks noGrp="1"/>
          </p:cNvSpPr>
          <p:nvPr/>
        </p:nvSpPr>
        <p:spPr>
          <a:xfrm>
            <a:off x="865983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50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19" name="deepship-x-grid-100"/>
          <p:cNvSpPr>
            <a:spLocks noGrp="1"/>
          </p:cNvSpPr>
          <p:nvPr/>
        </p:nvSpPr>
        <p:spPr>
          <a:xfrm>
            <a:off x="1847821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20" name="deepship-x-label-100"/>
          <p:cNvSpPr>
            <a:spLocks noGrp="1"/>
          </p:cNvSpPr>
          <p:nvPr/>
        </p:nvSpPr>
        <p:spPr>
          <a:xfrm>
            <a:off x="1514446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100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1" name="deepship-x-grid-200"/>
          <p:cNvSpPr>
            <a:spLocks noGrp="1"/>
          </p:cNvSpPr>
          <p:nvPr/>
        </p:nvSpPr>
        <p:spPr>
          <a:xfrm>
            <a:off x="2496283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22" name="deepship-x-label-200"/>
          <p:cNvSpPr>
            <a:spLocks noGrp="1"/>
          </p:cNvSpPr>
          <p:nvPr/>
        </p:nvSpPr>
        <p:spPr>
          <a:xfrm>
            <a:off x="2162908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200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3" name="deepship-x-grid-500"/>
          <p:cNvSpPr>
            <a:spLocks noGrp="1"/>
          </p:cNvSpPr>
          <p:nvPr/>
        </p:nvSpPr>
        <p:spPr>
          <a:xfrm>
            <a:off x="3353504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24" name="deepship-x-label-500"/>
          <p:cNvSpPr>
            <a:spLocks noGrp="1"/>
          </p:cNvSpPr>
          <p:nvPr/>
        </p:nvSpPr>
        <p:spPr>
          <a:xfrm>
            <a:off x="3020129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500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5" name="deepship-x-grid-1000"/>
          <p:cNvSpPr>
            <a:spLocks noGrp="1"/>
          </p:cNvSpPr>
          <p:nvPr/>
        </p:nvSpPr>
        <p:spPr>
          <a:xfrm>
            <a:off x="4001966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26" name="deepship-x-label-1000"/>
          <p:cNvSpPr>
            <a:spLocks noGrp="1"/>
          </p:cNvSpPr>
          <p:nvPr/>
        </p:nvSpPr>
        <p:spPr>
          <a:xfrm>
            <a:off x="3668591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1,000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7" name="deepship-x-grid-2000"/>
          <p:cNvSpPr>
            <a:spLocks noGrp="1"/>
          </p:cNvSpPr>
          <p:nvPr/>
        </p:nvSpPr>
        <p:spPr>
          <a:xfrm>
            <a:off x="4650429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28" name="deepship-x-label-2000"/>
          <p:cNvSpPr>
            <a:spLocks noGrp="1"/>
          </p:cNvSpPr>
          <p:nvPr/>
        </p:nvSpPr>
        <p:spPr>
          <a:xfrm>
            <a:off x="4317054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2,000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29" name="deepship-x-grid-5000"/>
          <p:cNvSpPr>
            <a:spLocks noGrp="1"/>
          </p:cNvSpPr>
          <p:nvPr/>
        </p:nvSpPr>
        <p:spPr>
          <a:xfrm>
            <a:off x="5507649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30" name="deepship-x-label-5000"/>
          <p:cNvSpPr>
            <a:spLocks noGrp="1"/>
          </p:cNvSpPr>
          <p:nvPr/>
        </p:nvSpPr>
        <p:spPr>
          <a:xfrm>
            <a:off x="5174274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5,000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31" name="deepship-y-axis"/>
          <p:cNvSpPr>
            <a:spLocks noGrp="1"/>
          </p:cNvSpPr>
          <p:nvPr/>
        </p:nvSpPr>
        <p:spPr>
          <a:xfrm>
            <a:off x="990600" y="1619250"/>
            <a:ext cx="19050" cy="3305175"/>
          </a:xfrm>
          <a:prstGeom prst="rect">
            <a:avLst/>
          </a:prstGeom>
          <a:solidFill>
            <a:srgbClr val="222222"/>
          </a:solidFill>
          <a:ln w="0">
            <a:solidFill>
              <a:srgbClr val="222222"/>
            </a:solidFill>
            <a:prstDash val="solid"/>
          </a:ln>
        </p:spPr>
      </p:sp>
      <p:sp>
        <p:nvSpPr>
          <p:cNvPr id="32" name="deepship-x-axis"/>
          <p:cNvSpPr>
            <a:spLocks noGrp="1"/>
          </p:cNvSpPr>
          <p:nvPr/>
        </p:nvSpPr>
        <p:spPr>
          <a:xfrm>
            <a:off x="990600" y="4905375"/>
            <a:ext cx="4762500" cy="19050"/>
          </a:xfrm>
          <a:prstGeom prst="rect">
            <a:avLst/>
          </a:prstGeom>
          <a:solidFill>
            <a:srgbClr val="222222"/>
          </a:solidFill>
          <a:ln w="0">
            <a:solidFill>
              <a:srgbClr val="222222"/>
            </a:solidFill>
            <a:prstDash val="solid"/>
          </a:ln>
        </p:spPr>
      </p:sp>
      <p:sp>
        <p:nvSpPr>
          <p:cNvPr id="33" name="deepship-x-title"/>
          <p:cNvSpPr>
            <a:spLocks noGrp="1"/>
          </p:cNvSpPr>
          <p:nvPr/>
        </p:nvSpPr>
        <p:spPr>
          <a:xfrm>
            <a:off x="1847850" y="524827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FLOPs (MFLOPs, log scale)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34" name="deepship-y-title"/>
          <p:cNvSpPr>
            <a:spLocks noGrp="1"/>
          </p:cNvSpPr>
          <p:nvPr/>
        </p:nvSpPr>
        <p:spPr>
          <a:xfrm>
            <a:off x="342900" y="129540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Accuracy (%)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35" name="deepship-UATC-DenseNet-point"/>
          <p:cNvSpPr>
            <a:spLocks noGrp="1"/>
          </p:cNvSpPr>
          <p:nvPr/>
        </p:nvSpPr>
        <p:spPr>
          <a:xfrm>
            <a:off x="3003135" y="4242816"/>
            <a:ext cx="133350" cy="133350"/>
          </a:xfrm>
          <a:prstGeom prst="ellipse">
            <a:avLst/>
          </a:prstGeom>
          <a:solidFill>
            <a:srgbClr val="9AA0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deepship-UATC-DenseNet-label"/>
          <p:cNvSpPr>
            <a:spLocks noGrp="1"/>
          </p:cNvSpPr>
          <p:nvPr/>
        </p:nvSpPr>
        <p:spPr>
          <a:xfrm>
            <a:off x="3184110" y="4214241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UATC-DenseNet</a:t>
            </a:r>
            <a:endParaRPr sz="1200" b="0">
              <a:solidFill>
                <a:srgbClr val="333333"/>
              </a:solidFill>
            </a:endParaRPr>
          </a:p>
        </p:txBody>
      </p:sp>
      <p:sp>
        <p:nvSpPr>
          <p:cNvPr id="37" name="deepship-1DCT-point"/>
          <p:cNvSpPr>
            <a:spLocks noGrp="1"/>
          </p:cNvSpPr>
          <p:nvPr/>
        </p:nvSpPr>
        <p:spPr>
          <a:xfrm>
            <a:off x="3790911" y="4485989"/>
            <a:ext cx="133350" cy="133350"/>
          </a:xfrm>
          <a:prstGeom prst="ellipse">
            <a:avLst/>
          </a:prstGeom>
          <a:solidFill>
            <a:srgbClr val="6F7D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deepship-1DCT-label"/>
          <p:cNvSpPr>
            <a:spLocks noGrp="1"/>
          </p:cNvSpPr>
          <p:nvPr/>
        </p:nvSpPr>
        <p:spPr>
          <a:xfrm>
            <a:off x="3971886" y="4571714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1DCT</a:t>
            </a:r>
            <a:endParaRPr sz="1200" b="0">
              <a:solidFill>
                <a:srgbClr val="333333"/>
              </a:solidFill>
            </a:endParaRPr>
          </a:p>
        </p:txBody>
      </p:sp>
      <p:sp>
        <p:nvSpPr>
          <p:cNvPr id="39" name="deepship-MSRDN-point"/>
          <p:cNvSpPr>
            <a:spLocks noGrp="1"/>
          </p:cNvSpPr>
          <p:nvPr/>
        </p:nvSpPr>
        <p:spPr>
          <a:xfrm>
            <a:off x="5304270" y="2803493"/>
            <a:ext cx="133350" cy="133350"/>
          </a:xfrm>
          <a:prstGeom prst="ellipse">
            <a:avLst/>
          </a:prstGeom>
          <a:solidFill>
            <a:srgbClr val="5B7FC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deepship-MSRDN-label"/>
          <p:cNvSpPr>
            <a:spLocks noGrp="1"/>
          </p:cNvSpPr>
          <p:nvPr/>
        </p:nvSpPr>
        <p:spPr>
          <a:xfrm>
            <a:off x="4551795" y="2603468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MSRDN</a:t>
            </a:r>
            <a:endParaRPr sz="1200" b="0">
              <a:solidFill>
                <a:srgbClr val="333333"/>
              </a:solidFill>
            </a:endParaRPr>
          </a:p>
        </p:txBody>
      </p:sp>
      <p:sp>
        <p:nvSpPr>
          <p:cNvPr id="41" name="deepship-lnn-star"/>
          <p:cNvSpPr>
            <a:spLocks noGrp="1"/>
          </p:cNvSpPr>
          <p:nvPr/>
        </p:nvSpPr>
        <p:spPr>
          <a:xfrm>
            <a:off x="1144177" y="1600867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C2185B"/>
                </a:solidFill>
              </a:defRPr>
            </a:pPr>
            <a:r>
              <a:rPr sz="2850" b="1">
                <a:solidFill>
                  <a:srgbClr val="C2185B"/>
                </a:solidFill>
              </a:rPr>
              <a:t>★</a:t>
            </a:r>
            <a:endParaRPr sz="2850" b="1">
              <a:solidFill>
                <a:srgbClr val="C2185B"/>
              </a:solidFill>
            </a:endParaRPr>
          </a:p>
        </p:txBody>
      </p:sp>
      <p:sp>
        <p:nvSpPr>
          <p:cNvPr id="42" name="deepship-LNN (w/ KD)-label"/>
          <p:cNvSpPr>
            <a:spLocks noGrp="1"/>
          </p:cNvSpPr>
          <p:nvPr/>
        </p:nvSpPr>
        <p:spPr>
          <a:xfrm>
            <a:off x="1582327" y="1648492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8E1648"/>
                </a:solidFill>
              </a:defRPr>
            </a:pPr>
            <a:r>
              <a:rPr sz="1275" b="1">
                <a:solidFill>
                  <a:srgbClr val="8E1648"/>
                </a:solidFill>
              </a:rPr>
              <a:t>LNN (w/ KD)</a:t>
            </a:r>
            <a:r>
              <a:rPr lang="en-US" sz="1275" b="1">
                <a:solidFill>
                  <a:srgbClr val="8E1648"/>
                </a:solidFill>
              </a:rPr>
              <a:t>(Ours)</a:t>
            </a:r>
            <a:endParaRPr lang="en-US" sz="1275" b="1">
              <a:solidFill>
                <a:srgbClr val="8E1648"/>
              </a:solidFill>
            </a:endParaRPr>
          </a:p>
        </p:txBody>
      </p:sp>
      <p:sp>
        <p:nvSpPr>
          <p:cNvPr id="43" name="shipsear-title"/>
          <p:cNvSpPr>
            <a:spLocks noGrp="1"/>
          </p:cNvSpPr>
          <p:nvPr/>
        </p:nvSpPr>
        <p:spPr>
          <a:xfrm>
            <a:off x="6705600" y="11049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ShipsEar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44" name="shipsear-y-grid-80"/>
          <p:cNvSpPr>
            <a:spLocks noGrp="1"/>
          </p:cNvSpPr>
          <p:nvPr/>
        </p:nvSpPr>
        <p:spPr>
          <a:xfrm>
            <a:off x="6705600" y="4795838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45" name="shipsear-y-grid-82.5"/>
          <p:cNvSpPr>
            <a:spLocks noGrp="1"/>
          </p:cNvSpPr>
          <p:nvPr/>
        </p:nvSpPr>
        <p:spPr>
          <a:xfrm>
            <a:off x="6705600" y="4248150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46" name="shipsear-y-grid-85"/>
          <p:cNvSpPr>
            <a:spLocks noGrp="1"/>
          </p:cNvSpPr>
          <p:nvPr/>
        </p:nvSpPr>
        <p:spPr>
          <a:xfrm>
            <a:off x="6705600" y="3700463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47" name="shipsear-y-grid-87.5"/>
          <p:cNvSpPr>
            <a:spLocks noGrp="1"/>
          </p:cNvSpPr>
          <p:nvPr/>
        </p:nvSpPr>
        <p:spPr>
          <a:xfrm>
            <a:off x="6705600" y="3152775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48" name="shipsear-y-grid-90"/>
          <p:cNvSpPr>
            <a:spLocks noGrp="1"/>
          </p:cNvSpPr>
          <p:nvPr/>
        </p:nvSpPr>
        <p:spPr>
          <a:xfrm>
            <a:off x="6705600" y="2605088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49" name="shipsear-y-grid-92.5"/>
          <p:cNvSpPr>
            <a:spLocks noGrp="1"/>
          </p:cNvSpPr>
          <p:nvPr/>
        </p:nvSpPr>
        <p:spPr>
          <a:xfrm>
            <a:off x="6705600" y="2057400"/>
            <a:ext cx="4762500" cy="9525"/>
          </a:xfrm>
          <a:prstGeom prst="rect">
            <a:avLst/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</p:sp>
      <p:sp>
        <p:nvSpPr>
          <p:cNvPr id="50" name="shipsear-x-grid-50"/>
          <p:cNvSpPr>
            <a:spLocks noGrp="1"/>
          </p:cNvSpPr>
          <p:nvPr/>
        </p:nvSpPr>
        <p:spPr>
          <a:xfrm>
            <a:off x="6914358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51" name="shipsear-x-label-50"/>
          <p:cNvSpPr>
            <a:spLocks noGrp="1"/>
          </p:cNvSpPr>
          <p:nvPr/>
        </p:nvSpPr>
        <p:spPr>
          <a:xfrm>
            <a:off x="6580983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50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52" name="shipsear-x-grid-100"/>
          <p:cNvSpPr>
            <a:spLocks noGrp="1"/>
          </p:cNvSpPr>
          <p:nvPr/>
        </p:nvSpPr>
        <p:spPr>
          <a:xfrm>
            <a:off x="7562821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53" name="shipsear-x-label-100"/>
          <p:cNvSpPr>
            <a:spLocks noGrp="1"/>
          </p:cNvSpPr>
          <p:nvPr/>
        </p:nvSpPr>
        <p:spPr>
          <a:xfrm>
            <a:off x="7229446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100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54" name="shipsear-x-grid-200"/>
          <p:cNvSpPr>
            <a:spLocks noGrp="1"/>
          </p:cNvSpPr>
          <p:nvPr/>
        </p:nvSpPr>
        <p:spPr>
          <a:xfrm>
            <a:off x="8211283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55" name="shipsear-x-label-200"/>
          <p:cNvSpPr>
            <a:spLocks noGrp="1"/>
          </p:cNvSpPr>
          <p:nvPr/>
        </p:nvSpPr>
        <p:spPr>
          <a:xfrm>
            <a:off x="7877908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200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56" name="shipsear-x-grid-500"/>
          <p:cNvSpPr>
            <a:spLocks noGrp="1"/>
          </p:cNvSpPr>
          <p:nvPr/>
        </p:nvSpPr>
        <p:spPr>
          <a:xfrm>
            <a:off x="9068504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57" name="shipsear-x-label-500"/>
          <p:cNvSpPr>
            <a:spLocks noGrp="1"/>
          </p:cNvSpPr>
          <p:nvPr/>
        </p:nvSpPr>
        <p:spPr>
          <a:xfrm>
            <a:off x="8735129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500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58" name="shipsear-x-grid-1000"/>
          <p:cNvSpPr>
            <a:spLocks noGrp="1"/>
          </p:cNvSpPr>
          <p:nvPr/>
        </p:nvSpPr>
        <p:spPr>
          <a:xfrm>
            <a:off x="9716966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59" name="shipsear-x-label-1000"/>
          <p:cNvSpPr>
            <a:spLocks noGrp="1"/>
          </p:cNvSpPr>
          <p:nvPr/>
        </p:nvSpPr>
        <p:spPr>
          <a:xfrm>
            <a:off x="9383591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1,000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60" name="shipsear-x-grid-2000"/>
          <p:cNvSpPr>
            <a:spLocks noGrp="1"/>
          </p:cNvSpPr>
          <p:nvPr/>
        </p:nvSpPr>
        <p:spPr>
          <a:xfrm>
            <a:off x="10365429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61" name="shipsear-x-label-2000"/>
          <p:cNvSpPr>
            <a:spLocks noGrp="1"/>
          </p:cNvSpPr>
          <p:nvPr/>
        </p:nvSpPr>
        <p:spPr>
          <a:xfrm>
            <a:off x="10032054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2,000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62" name="shipsear-x-grid-5000"/>
          <p:cNvSpPr>
            <a:spLocks noGrp="1"/>
          </p:cNvSpPr>
          <p:nvPr/>
        </p:nvSpPr>
        <p:spPr>
          <a:xfrm>
            <a:off x="11222649" y="1619250"/>
            <a:ext cx="9525" cy="3286125"/>
          </a:xfrm>
          <a:prstGeom prst="rect">
            <a:avLst/>
          </a:prstGeom>
          <a:solidFill>
            <a:srgbClr val="ECECEC"/>
          </a:solidFill>
          <a:ln w="0">
            <a:solidFill>
              <a:srgbClr val="ECECEC"/>
            </a:solidFill>
            <a:prstDash val="solid"/>
          </a:ln>
        </p:spPr>
      </p:sp>
      <p:sp>
        <p:nvSpPr>
          <p:cNvPr id="63" name="shipsear-x-label-5000"/>
          <p:cNvSpPr>
            <a:spLocks noGrp="1"/>
          </p:cNvSpPr>
          <p:nvPr/>
        </p:nvSpPr>
        <p:spPr>
          <a:xfrm>
            <a:off x="10889274" y="4972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5,000</a:t>
            </a:r>
            <a:endParaRPr sz="1200">
              <a:solidFill>
                <a:srgbClr val="333333"/>
              </a:solidFill>
            </a:endParaRPr>
          </a:p>
        </p:txBody>
      </p:sp>
      <p:sp>
        <p:nvSpPr>
          <p:cNvPr id="64" name="shipsear-y-axis"/>
          <p:cNvSpPr>
            <a:spLocks noGrp="1"/>
          </p:cNvSpPr>
          <p:nvPr/>
        </p:nvSpPr>
        <p:spPr>
          <a:xfrm>
            <a:off x="6705600" y="1619250"/>
            <a:ext cx="19050" cy="3305175"/>
          </a:xfrm>
          <a:prstGeom prst="rect">
            <a:avLst/>
          </a:prstGeom>
          <a:solidFill>
            <a:srgbClr val="222222"/>
          </a:solidFill>
          <a:ln w="0">
            <a:solidFill>
              <a:srgbClr val="222222"/>
            </a:solidFill>
            <a:prstDash val="solid"/>
          </a:ln>
        </p:spPr>
      </p:sp>
      <p:sp>
        <p:nvSpPr>
          <p:cNvPr id="65" name="shipsear-x-axis"/>
          <p:cNvSpPr>
            <a:spLocks noGrp="1"/>
          </p:cNvSpPr>
          <p:nvPr/>
        </p:nvSpPr>
        <p:spPr>
          <a:xfrm>
            <a:off x="6705600" y="4905375"/>
            <a:ext cx="4762500" cy="19050"/>
          </a:xfrm>
          <a:prstGeom prst="rect">
            <a:avLst/>
          </a:prstGeom>
          <a:solidFill>
            <a:srgbClr val="222222"/>
          </a:solidFill>
          <a:ln w="0">
            <a:solidFill>
              <a:srgbClr val="222222"/>
            </a:solidFill>
            <a:prstDash val="solid"/>
          </a:ln>
        </p:spPr>
      </p:sp>
      <p:sp>
        <p:nvSpPr>
          <p:cNvPr id="66" name="shipsear-x-title"/>
          <p:cNvSpPr>
            <a:spLocks noGrp="1"/>
          </p:cNvSpPr>
          <p:nvPr/>
        </p:nvSpPr>
        <p:spPr>
          <a:xfrm>
            <a:off x="7562850" y="524827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FLOPs (MFLOPs, log scale)</a:t>
            </a:r>
            <a:endParaRPr sz="1275">
              <a:solidFill>
                <a:srgbClr val="111111"/>
              </a:solidFill>
            </a:endParaRPr>
          </a:p>
        </p:txBody>
      </p:sp>
      <p:sp>
        <p:nvSpPr>
          <p:cNvPr id="67" name="shipsear-UATC-DenseNet-point"/>
          <p:cNvSpPr>
            <a:spLocks noGrp="1"/>
          </p:cNvSpPr>
          <p:nvPr/>
        </p:nvSpPr>
        <p:spPr>
          <a:xfrm>
            <a:off x="8718135" y="4004024"/>
            <a:ext cx="133350" cy="133350"/>
          </a:xfrm>
          <a:prstGeom prst="ellipse">
            <a:avLst/>
          </a:prstGeom>
          <a:solidFill>
            <a:srgbClr val="9AA0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ipsear-UATC-DenseNet-label"/>
          <p:cNvSpPr>
            <a:spLocks noGrp="1"/>
          </p:cNvSpPr>
          <p:nvPr/>
        </p:nvSpPr>
        <p:spPr>
          <a:xfrm>
            <a:off x="8899110" y="4089749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UATC-DenseNet</a:t>
            </a:r>
            <a:endParaRPr sz="1200" b="0">
              <a:solidFill>
                <a:srgbClr val="333333"/>
              </a:solidFill>
            </a:endParaRPr>
          </a:p>
        </p:txBody>
      </p:sp>
      <p:sp>
        <p:nvSpPr>
          <p:cNvPr id="69" name="shipsear-1DCT-point"/>
          <p:cNvSpPr>
            <a:spLocks noGrp="1"/>
          </p:cNvSpPr>
          <p:nvPr/>
        </p:nvSpPr>
        <p:spPr>
          <a:xfrm>
            <a:off x="9505911" y="3798094"/>
            <a:ext cx="133350" cy="133350"/>
          </a:xfrm>
          <a:prstGeom prst="ellipse">
            <a:avLst/>
          </a:prstGeom>
          <a:solidFill>
            <a:srgbClr val="6F7D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ipsear-1DCT-label"/>
          <p:cNvSpPr>
            <a:spLocks noGrp="1"/>
          </p:cNvSpPr>
          <p:nvPr/>
        </p:nvSpPr>
        <p:spPr>
          <a:xfrm>
            <a:off x="9686886" y="3636169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1DCT</a:t>
            </a:r>
            <a:endParaRPr sz="1200" b="0">
              <a:solidFill>
                <a:srgbClr val="333333"/>
              </a:solidFill>
            </a:endParaRPr>
          </a:p>
        </p:txBody>
      </p:sp>
      <p:sp>
        <p:nvSpPr>
          <p:cNvPr id="71" name="shipsear-MSRDN-point"/>
          <p:cNvSpPr>
            <a:spLocks noGrp="1"/>
          </p:cNvSpPr>
          <p:nvPr/>
        </p:nvSpPr>
        <p:spPr>
          <a:xfrm>
            <a:off x="11019270" y="1898713"/>
            <a:ext cx="133350" cy="133350"/>
          </a:xfrm>
          <a:prstGeom prst="ellipse">
            <a:avLst/>
          </a:prstGeom>
          <a:solidFill>
            <a:srgbClr val="5B7FC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ipsear-MSRDN-label"/>
          <p:cNvSpPr>
            <a:spLocks noGrp="1"/>
          </p:cNvSpPr>
          <p:nvPr/>
        </p:nvSpPr>
        <p:spPr>
          <a:xfrm>
            <a:off x="10266795" y="1698688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MSRDN</a:t>
            </a:r>
            <a:endParaRPr sz="1200" b="0">
              <a:solidFill>
                <a:srgbClr val="333333"/>
              </a:solidFill>
            </a:endParaRPr>
          </a:p>
        </p:txBody>
      </p:sp>
      <p:sp>
        <p:nvSpPr>
          <p:cNvPr id="73" name="shipsear-lnn-star"/>
          <p:cNvSpPr>
            <a:spLocks noGrp="1"/>
          </p:cNvSpPr>
          <p:nvPr/>
        </p:nvSpPr>
        <p:spPr>
          <a:xfrm>
            <a:off x="6859177" y="1824323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C2185B"/>
                </a:solidFill>
              </a:defRPr>
            </a:pPr>
            <a:r>
              <a:rPr sz="2850" b="1">
                <a:solidFill>
                  <a:srgbClr val="C2185B"/>
                </a:solidFill>
              </a:rPr>
              <a:t>★</a:t>
            </a:r>
            <a:endParaRPr sz="2850" b="1">
              <a:solidFill>
                <a:srgbClr val="C2185B"/>
              </a:solidFill>
            </a:endParaRPr>
          </a:p>
        </p:txBody>
      </p:sp>
      <p:sp>
        <p:nvSpPr>
          <p:cNvPr id="74" name="shipsear-LNN (w/ KD)-label"/>
          <p:cNvSpPr>
            <a:spLocks noGrp="1"/>
          </p:cNvSpPr>
          <p:nvPr/>
        </p:nvSpPr>
        <p:spPr>
          <a:xfrm>
            <a:off x="7297327" y="2033873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8E1648"/>
                </a:solidFill>
              </a:defRPr>
            </a:pPr>
            <a:r>
              <a:rPr sz="1275" b="1">
                <a:solidFill>
                  <a:srgbClr val="8E1648"/>
                </a:solidFill>
              </a:rPr>
              <a:t>LNN (w/ KD)</a:t>
            </a:r>
            <a:r>
              <a:rPr lang="en-US" sz="1275" b="1">
                <a:solidFill>
                  <a:srgbClr val="8E1648"/>
                </a:solidFill>
              </a:rPr>
              <a:t>(Ours)</a:t>
            </a:r>
            <a:endParaRPr lang="en-US" sz="1275" b="1">
              <a:solidFill>
                <a:srgbClr val="8E1648"/>
              </a:solidFill>
            </a:endParaRPr>
          </a:p>
        </p:txBody>
      </p:sp>
      <p:sp>
        <p:nvSpPr>
          <p:cNvPr id="75" name="deepship-callout"/>
          <p:cNvSpPr>
            <a:spLocks noGrp="1"/>
          </p:cNvSpPr>
          <p:nvPr/>
        </p:nvSpPr>
        <p:spPr>
          <a:xfrm>
            <a:off x="1066800" y="57435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8E1648"/>
                </a:solidFill>
              </a:defRPr>
            </a:pPr>
            <a:r>
              <a:rPr sz="1350" b="1">
                <a:solidFill>
                  <a:srgbClr val="8E1648"/>
                </a:solidFill>
              </a:rPr>
              <a:t>Best ACC at the lowest FLOPs</a:t>
            </a:r>
            <a:endParaRPr sz="1350" b="1">
              <a:solidFill>
                <a:srgbClr val="8E1648"/>
              </a:solidFill>
            </a:endParaRPr>
          </a:p>
        </p:txBody>
      </p:sp>
      <p:sp>
        <p:nvSpPr>
          <p:cNvPr id="76" name="shipsear-callout"/>
          <p:cNvSpPr>
            <a:spLocks noGrp="1"/>
          </p:cNvSpPr>
          <p:nvPr/>
        </p:nvSpPr>
        <p:spPr>
          <a:xfrm>
            <a:off x="6743700" y="5743575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8E1648"/>
                </a:solidFill>
              </a:defRPr>
            </a:pPr>
            <a:r>
              <a:rPr sz="1350" b="1">
                <a:solidFill>
                  <a:srgbClr val="8E1648"/>
                </a:solidFill>
              </a:rPr>
              <a:t>Near-best ACC at ~1/73 of MSRDN FLOPs</a:t>
            </a:r>
            <a:endParaRPr sz="1350" b="1">
              <a:solidFill>
                <a:srgbClr val="8E1648"/>
              </a:solidFill>
            </a:endParaRPr>
          </a:p>
        </p:txBody>
      </p:sp>
      <p:sp>
        <p:nvSpPr>
          <p:cNvPr id="77" name="data-note"/>
          <p:cNvSpPr>
            <a:spLocks noGrp="1"/>
          </p:cNvSpPr>
          <p:nvPr/>
        </p:nvSpPr>
        <p:spPr>
          <a:xfrm>
            <a:off x="533400" y="6419850"/>
            <a:ext cx="1112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>
                <a:solidFill>
                  <a:srgbClr val="737373"/>
                </a:solidFill>
              </a:defRPr>
            </a:pPr>
            <a:r>
              <a:rPr sz="1200">
                <a:solidFill>
                  <a:srgbClr val="737373"/>
                </a:solidFill>
              </a:rPr>
              <a:t>Source data: FLOPs in MFLOPs; ACC values transcribed from the provided comparison tables.</a:t>
            </a:r>
            <a:endParaRPr sz="1200">
              <a:solidFill>
                <a:srgbClr val="73737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WPS 演示</Application>
  <PresentationFormat>Converted Presentation</PresentationFormat>
  <Paragraphs>80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</cp:revision>
  <dcterms:created xsi:type="dcterms:W3CDTF">2026-07-15T06:29:00Z</dcterms:created>
  <dcterms:modified xsi:type="dcterms:W3CDTF">2026-07-15T06:29:00Z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137806CFA54D4DEE8AF9E0723F48C0D7_12</vt:lpwstr>
  </property>
  <property fmtid="{D5CDD505-2E9C-101B-9397-08002B2CF9AE}" pid="3" name="KSOProductBuildVer">
    <vt:lpwstr>2052-12.1.0.16388</vt:lpwstr>
  </property>
</Properties>
</file>