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7b62ae87e1464f" /><Relationship Type="http://schemas.openxmlformats.org/officeDocument/2006/relationships/extended-properties" Target="/docProps/app.xml" Id="R0895eef8faf8405c" /><Relationship Type="http://schemas.openxmlformats.org/officeDocument/2006/relationships/officeDocument" Target="/ppt/presentation.xml" Id="R7c7a5cf59133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95b6e53ae47ae"/>
  </p:sldMasterIdLst>
  <p:notesMasterIdLst>
    <p:notesMasterId xmlns:r="http://schemas.openxmlformats.org/officeDocument/2006/relationships" r:id="Rd514765064fe4315"/>
  </p:notesMasterIdLst>
  <p:sldIdLst>
    <p:sldId xmlns:r="http://schemas.openxmlformats.org/officeDocument/2006/relationships" id="256" r:id="R093855a5009e4e03"/>
    <p:sldId xmlns:r="http://schemas.openxmlformats.org/officeDocument/2006/relationships" id="257" r:id="Rb466a869cd8148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21b3cf477411d" /><Relationship Type="http://schemas.openxmlformats.org/officeDocument/2006/relationships/slideMaster" Target="/ppt/slideMasters/slideMaster1.xml" Id="Rc7195b6e53ae47ae" /><Relationship Type="http://schemas.openxmlformats.org/officeDocument/2006/relationships/notesMaster" Target="/ppt/notesMasters/notesMaster1.xml" Id="Rd514765064fe4315" /><Relationship Type="http://schemas.openxmlformats.org/officeDocument/2006/relationships/presProps" Target="/ppt/presProps.xml" Id="Rd85e55422f67463e" /><Relationship Type="http://schemas.openxmlformats.org/officeDocument/2006/relationships/tableStyles" Target="/ppt/tableStyles.xml" Id="R0a33ca98daf54656" /><Relationship Type="http://schemas.openxmlformats.org/officeDocument/2006/relationships/slide" Target="/ppt/slides/slide1.xml" Id="R093855a5009e4e03" /><Relationship Type="http://schemas.openxmlformats.org/officeDocument/2006/relationships/slide" Target="/ppt/slides/slide2.xml" Id="Rb466a869cd8148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16fcccc79f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67f6e63114f04" /><Relationship Type="http://schemas.openxmlformats.org/officeDocument/2006/relationships/notesMaster" Target="/ppt/notesMasters/notesMaster1.xml" Id="Ra849d96e1f7743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e10aff30c5445e" /><Relationship Type="http://schemas.openxmlformats.org/officeDocument/2006/relationships/notesMaster" Target="/ppt/notesMasters/notesMaster1.xml" Id="Rf8b3551d8285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8352a345c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daf8387fdb4613" /><Relationship Type="http://schemas.openxmlformats.org/officeDocument/2006/relationships/slideLayout" Target="/ppt/slideLayouts/slideLayout1.xml" Id="R3033c211b3ea4d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33c211b3ea4d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e8161a1ff4be1" /><Relationship Type="http://schemas.openxmlformats.org/officeDocument/2006/relationships/notesSlide" Target="/ppt/notesSlides/notesSlide1.xml" Id="R061dcd4a1ff8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9d423eabf4a62" /><Relationship Type="http://schemas.openxmlformats.org/officeDocument/2006/relationships/notesSlide" Target="/ppt/notesSlides/notesSlide2.xml" Id="R297a3a5d892442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C1E127-5C87-4E01-AD7E-1773AC58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02428"/>
                </a:solidFill>
              </a:defRPr>
            </a:pPr>
            <a:r>
              <a:rPr sz="2700" b="1">
                <a:solidFill>
                  <a:srgbClr val="202428"/>
                </a:solidFill>
              </a:rPr>
              <a:t>Parameters–FLOPs comparison with ACC encoded by bubble area</a:t>
            </a:r>
          </a:p>
        </p:txBody>
      </p:sp>
      <p:sp>
        <p:nvSpPr>
          <p:cNvPr id="2" name="panel-a">
            <a:extLst xmlns:a="http://schemas.openxmlformats.org/drawingml/2006/main">
              <a:ext uri="{FF2B5EF4-FFF2-40B4-BE49-F238E27FC236}">
                <a16:creationId xmlns:a16="http://schemas.microsoft.com/office/drawing/2014/main" id="{A24DC110-79CE-4258-A590-FFC9D525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9429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428"/>
                </a:solidFill>
              </a:defRPr>
            </a:pPr>
            <a:r>
              <a:rPr sz="1650" b="1">
                <a:solidFill>
                  <a:srgbClr val="202428"/>
                </a:solidFill>
              </a:rPr>
              <a:t>a</a:t>
            </a:r>
          </a:p>
        </p:txBody>
      </p:sp>
      <p:sp>
        <p:nvSpPr>
          <p:cNvPr id="3" name="DeepShip-title">
            <a:extLst xmlns:a="http://schemas.openxmlformats.org/drawingml/2006/main">
              <a:ext uri="{FF2B5EF4-FFF2-40B4-BE49-F238E27FC236}">
                <a16:creationId xmlns:a16="http://schemas.microsoft.com/office/drawing/2014/main" id="{7D9CA6C0-D4AC-4E44-BC18-54FC9C15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9429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428"/>
                </a:solidFill>
              </a:defRPr>
            </a:pPr>
            <a:r>
              <a:rPr sz="1800" b="1">
                <a:solidFill>
                  <a:srgbClr val="202428"/>
                </a:solidFill>
              </a:rPr>
              <a:t>DeepShip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8FC57-4B5E-403D-9DCF-1329C873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994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B9F5B-30E0-4B8E-826E-0D8EB132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14994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AAE92-5B79-44B6-BC6B-B0F5138F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600694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8F8A2-23DE-44C3-A0B8-C525ADFF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9667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F1A32-2DBC-4E4E-BDDA-434ED7AC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259667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F7DDA-BC94-4E1B-A815-EEF8DC60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145367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E9418-A3D6-4FC3-AB15-DD3F4E7C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37991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D00CC-793F-4637-85C6-E4B00746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537991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8C85D-9BC2-4175-B1DF-FD330E0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423691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300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7A882-B46D-4DED-8E45-77A0BDA4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710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06C71-7FDC-47C8-B335-C87586C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4710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A9B2C-3DB6-46DD-AB29-830AFFD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63280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1k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FAB62-0440-4696-B001-17CCFCF0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5429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1CD10-BB5F-4EF2-8A84-D21E0A04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25429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87EFF-3BEF-4BDC-9E92-1CE7D2C3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911129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3k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9774E-F41C-494E-81CF-5DDAE360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049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38E6B-CACE-49DC-9009-E166976F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049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E9A04-F65B-4BC6-8CD9-F5B8FED4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349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0.3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3DBAC-6C57-4B76-8D1C-334BB1A1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428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C8AC0-516C-4A33-9C1F-C1307494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428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4AA9D-D3D9-4B40-A235-8CFFDF62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0728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0.5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E1D54-D287-4208-8886-39B9DAB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09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89F63-C616-4E91-8B0E-72293143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709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2C1EA-9E85-4EBE-B41C-DBDE1045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4009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40428-594F-4515-A0A7-DEE1687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788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1C7DA-0A3F-46C0-B2DA-F591CE57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788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B60BD-7B05-40D2-A2CB-1617BE9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5088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A5D85-A05F-488B-B7E8-E7E8CEBC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448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7EC9F-D732-4F36-8EC1-CA718031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448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5D904B-97C0-4C72-9074-DAE0EF95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8748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397564-BBF2-4603-BFDC-61177541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527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22FC5C-6E37-4133-AFCF-D1449337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527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A7ED55-E29A-48A8-9337-85269519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9827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90054E-36BC-433E-8B94-F77313D8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191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D84430-C8D4-45EA-A9E0-DF9C09FC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191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D9FB8F-0D37-4730-A0E3-7689030C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4864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Parameters (M, log scale)</a:t>
            </a:r>
          </a:p>
        </p:txBody>
      </p:sp>
      <p:sp>
        <p:nvSpPr>
          <p:cNvPr id="40" name="DeepShip-UATC-DenseNet-bubble">
            <a:extLst xmlns:a="http://schemas.openxmlformats.org/drawingml/2006/main">
              <a:ext uri="{FF2B5EF4-FFF2-40B4-BE49-F238E27FC236}">
                <a16:creationId xmlns:a16="http://schemas.microsoft.com/office/drawing/2014/main" id="{F21E68BE-7C9A-4156-AD63-13CC6419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281" y="3214506"/>
            <a:ext cx="374249" cy="3742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DeepShip-UATC-DenseNet-acc">
            <a:extLst xmlns:a="http://schemas.openxmlformats.org/drawingml/2006/main">
              <a:ext uri="{FF2B5EF4-FFF2-40B4-BE49-F238E27FC236}">
                <a16:creationId xmlns:a16="http://schemas.microsoft.com/office/drawing/2014/main" id="{D819766B-3263-4884-AAA5-0508277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4081" y="3306381"/>
            <a:ext cx="52664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82.22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84231B-7E22-4EB4-A435-FB406D20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8830" y="3287331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UATC-DenseNet</a:t>
            </a:r>
          </a:p>
        </p:txBody>
      </p:sp>
      <p:sp>
        <p:nvSpPr>
          <p:cNvPr id="43" name="DeepShip-1DCT-bubble">
            <a:extLst xmlns:a="http://schemas.openxmlformats.org/drawingml/2006/main">
              <a:ext uri="{FF2B5EF4-FFF2-40B4-BE49-F238E27FC236}">
                <a16:creationId xmlns:a16="http://schemas.microsoft.com/office/drawing/2014/main" id="{8E1E18DB-FB47-45E7-ACB9-7616611D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546" y="2680146"/>
            <a:ext cx="336674" cy="336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DeepShip-1DCT-acc">
            <a:extLst xmlns:a="http://schemas.openxmlformats.org/drawingml/2006/main">
              <a:ext uri="{FF2B5EF4-FFF2-40B4-BE49-F238E27FC236}">
                <a16:creationId xmlns:a16="http://schemas.microsoft.com/office/drawing/2014/main" id="{3C992C41-EBD2-4FB6-8085-428D7C0B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346" y="2753233"/>
            <a:ext cx="48907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81.11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F15448-53C3-435E-BC13-FB79A87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2520" y="273418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1DCT</a:t>
            </a:r>
          </a:p>
        </p:txBody>
      </p:sp>
      <p:sp>
        <p:nvSpPr>
          <p:cNvPr id="46" name="DeepShip-MSRDN-bubble">
            <a:extLst xmlns:a="http://schemas.openxmlformats.org/drawingml/2006/main">
              <a:ext uri="{FF2B5EF4-FFF2-40B4-BE49-F238E27FC236}">
                <a16:creationId xmlns:a16="http://schemas.microsoft.com/office/drawing/2014/main" id="{E7B07819-C1D0-40FD-9AF4-F95CE63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176" y="1512831"/>
            <a:ext cx="546053" cy="5460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ED91A2-986D-4471-A718-F299D6F1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4479" y="183348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0363D"/>
                </a:solidFill>
              </a:defRPr>
            </a:pPr>
            <a:r>
              <a:rPr sz="975" b="0">
                <a:solidFill>
                  <a:srgbClr val="30363D"/>
                </a:solidFill>
              </a:rPr>
              <a:t>MSRDN (88.79)</a:t>
            </a:r>
          </a:p>
        </p:txBody>
      </p:sp>
      <p:sp>
        <p:nvSpPr>
          <p:cNvPr id="48" name="DeepShip-LNN (w/ KD)-bubble">
            <a:extLst xmlns:a="http://schemas.openxmlformats.org/drawingml/2006/main">
              <a:ext uri="{FF2B5EF4-FFF2-40B4-BE49-F238E27FC236}">
                <a16:creationId xmlns:a16="http://schemas.microsoft.com/office/drawing/2014/main" id="{2AAE4985-4FE9-4D8B-A84E-F5AEA8F3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28" y="4286696"/>
            <a:ext cx="639811" cy="6398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19050">
            <a:solidFill>
              <a:srgbClr val="8D2452"/>
            </a:solidFill>
            <a:prstDash val="solid"/>
          </a:ln>
        </p:spPr>
      </p:sp>
      <p:sp>
        <p:nvSpPr>
          <p:cNvPr id="49" name="DeepShip-LNN (w/ KD)-acc">
            <a:extLst xmlns:a="http://schemas.openxmlformats.org/drawingml/2006/main">
              <a:ext uri="{FF2B5EF4-FFF2-40B4-BE49-F238E27FC236}">
                <a16:creationId xmlns:a16="http://schemas.microsoft.com/office/drawing/2014/main" id="{F4480DC3-3E6F-4729-A207-7822A1F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528" y="4511352"/>
            <a:ext cx="79221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93.41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763DD7-6ADA-429E-993F-8D46FFA1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1839" y="4492302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D2452"/>
                </a:solidFill>
              </a:defRPr>
            </a:pPr>
            <a:r>
              <a:rPr sz="1275" b="1">
                <a:solidFill>
                  <a:srgbClr val="8D2452"/>
                </a:solidFill>
              </a:rPr>
              <a:t>LNN (w/ KD)</a:t>
            </a:r>
          </a:p>
        </p:txBody>
      </p:sp>
      <p:sp>
        <p:nvSpPr>
          <p:cNvPr id="51" name="DeepShip-ALSI-bubble">
            <a:extLst xmlns:a="http://schemas.openxmlformats.org/drawingml/2006/main">
              <a:ext uri="{FF2B5EF4-FFF2-40B4-BE49-F238E27FC236}">
                <a16:creationId xmlns:a16="http://schemas.microsoft.com/office/drawing/2014/main" id="{85BD3080-7A9A-45E7-A2DB-D8CF3233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117" y="1738247"/>
            <a:ext cx="431589" cy="43158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2B7D87-9B38-461C-82B8-01957D0B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2956" y="1477791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63D"/>
                </a:solidFill>
              </a:defRPr>
            </a:pPr>
            <a:r>
              <a:rPr sz="975" b="0">
                <a:solidFill>
                  <a:srgbClr val="30363D"/>
                </a:solidFill>
              </a:rPr>
              <a:t>ALSI (84.14)</a:t>
            </a:r>
          </a:p>
        </p:txBody>
      </p:sp>
      <p:sp>
        <p:nvSpPr>
          <p:cNvPr id="53" name="DeepShip-MHT-UATR-bubble">
            <a:extLst xmlns:a="http://schemas.openxmlformats.org/drawingml/2006/main">
              <a:ext uri="{FF2B5EF4-FFF2-40B4-BE49-F238E27FC236}">
                <a16:creationId xmlns:a16="http://schemas.microsoft.com/office/drawing/2014/main" id="{B01D02F5-62FB-4F69-B9F4-9C8BB0C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305" y="2628926"/>
            <a:ext cx="358820" cy="358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DeepShip-MHT-UATR-acc">
            <a:extLst xmlns:a="http://schemas.openxmlformats.org/drawingml/2006/main">
              <a:ext uri="{FF2B5EF4-FFF2-40B4-BE49-F238E27FC236}">
                <a16:creationId xmlns:a16="http://schemas.microsoft.com/office/drawing/2014/main" id="{4ECDE9F6-DBDA-43E2-AC4E-36DE2196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4105" y="2713086"/>
            <a:ext cx="511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81.75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666BE6-8DC6-4C3A-BEFF-EA124519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4375" y="2694036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MHT-UATR</a:t>
            </a:r>
          </a:p>
        </p:txBody>
      </p:sp>
      <p:sp>
        <p:nvSpPr>
          <p:cNvPr id="56" name="DeepShip-CAF-JT-bubble">
            <a:extLst xmlns:a="http://schemas.openxmlformats.org/drawingml/2006/main">
              <a:ext uri="{FF2B5EF4-FFF2-40B4-BE49-F238E27FC236}">
                <a16:creationId xmlns:a16="http://schemas.microsoft.com/office/drawing/2014/main" id="{E54B62EE-5BFE-478C-A99B-2EE9C63E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458" y="2160041"/>
            <a:ext cx="423710" cy="4237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DeepShip-CAF-JT-acc">
            <a:extLst xmlns:a="http://schemas.openxmlformats.org/drawingml/2006/main">
              <a:ext uri="{FF2B5EF4-FFF2-40B4-BE49-F238E27FC236}">
                <a16:creationId xmlns:a16="http://schemas.microsoft.com/office/drawing/2014/main" id="{393CE6F4-8306-4513-8678-C4AFA4D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6258" y="2276646"/>
            <a:ext cx="5761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83.86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D5BD6F-1A08-42EC-AC23-53E5C89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4168" y="2257596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CAF-JT</a:t>
            </a:r>
          </a:p>
        </p:txBody>
      </p:sp>
      <p:sp>
        <p:nvSpPr>
          <p:cNvPr id="59" name="DeepShip-T-F Token ViT-bubble">
            <a:extLst xmlns:a="http://schemas.openxmlformats.org/drawingml/2006/main">
              <a:ext uri="{FF2B5EF4-FFF2-40B4-BE49-F238E27FC236}">
                <a16:creationId xmlns:a16="http://schemas.microsoft.com/office/drawing/2014/main" id="{1436B726-C173-4208-93DC-4B10D16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375" y="1848785"/>
            <a:ext cx="434645" cy="4346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5E0997-0D3B-414A-BA40-F7C9EC7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3395" y="2428058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0363D"/>
                </a:solidFill>
              </a:defRPr>
            </a:pPr>
            <a:r>
              <a:rPr sz="975" b="0">
                <a:solidFill>
                  <a:srgbClr val="30363D"/>
                </a:solidFill>
              </a:rPr>
              <a:t>T-F Token ViT (84.25)</a:t>
            </a:r>
          </a:p>
        </p:txBody>
      </p:sp>
      <p:sp>
        <p:nvSpPr>
          <p:cNvPr id="61" name="panel-b">
            <a:extLst xmlns:a="http://schemas.openxmlformats.org/drawingml/2006/main">
              <a:ext uri="{FF2B5EF4-FFF2-40B4-BE49-F238E27FC236}">
                <a16:creationId xmlns:a16="http://schemas.microsoft.com/office/drawing/2014/main" id="{18B04FF9-3DD5-4CE2-A0C5-FB1471E1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9429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428"/>
                </a:solidFill>
              </a:defRPr>
            </a:pPr>
            <a:r>
              <a:rPr sz="1650" b="1">
                <a:solidFill>
                  <a:srgbClr val="202428"/>
                </a:solidFill>
              </a:rPr>
              <a:t>b</a:t>
            </a:r>
          </a:p>
        </p:txBody>
      </p:sp>
      <p:sp>
        <p:nvSpPr>
          <p:cNvPr id="62" name="ShipsEar-title">
            <a:extLst xmlns:a="http://schemas.openxmlformats.org/drawingml/2006/main">
              <a:ext uri="{FF2B5EF4-FFF2-40B4-BE49-F238E27FC236}">
                <a16:creationId xmlns:a16="http://schemas.microsoft.com/office/drawing/2014/main" id="{7921ABFE-50EF-41E4-A7DA-C7C0BD2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9429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428"/>
                </a:solidFill>
              </a:defRPr>
            </a:pPr>
            <a:r>
              <a:rPr sz="1800" b="1">
                <a:solidFill>
                  <a:srgbClr val="202428"/>
                </a:solidFill>
              </a:rPr>
              <a:t>ShipsEar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AB8C88-9C77-412A-9A7D-91E5FFCF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14994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994EE5-9FE0-4446-B9CA-C14186C5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14994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79E4ED-6EFB-4901-BF62-D9AD5006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59667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5F7753-A2AA-46B9-9633-07BF609D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59667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218505-61E9-4E91-9BDF-C10BC68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7991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2E5214-4CFF-49CC-8289-2C596BFC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537991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4835F6-F3EC-4886-AA95-D035BE99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710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39DF5C-5D86-44BA-BB1B-41D9C18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4710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4AB6A0-1E7A-4611-838C-B8E377BA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5429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D231EC-F237-44AB-8383-831476A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25429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AD94C4-EF92-4DA4-AFFE-2B5D4FE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049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C4C90D-62FD-4154-B836-A8433A13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049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43DFD0-3A6E-4A89-82BC-B772F0B3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4349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0.3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436299-F075-47FC-B995-75DACB72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428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0BC5BE-42CE-4B68-BB37-D842303F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428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EB46B3-B965-4F7C-B9A6-BFDF3EC6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4728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0.5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14E42E-942C-4E69-B0FA-6058196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09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04F93E-0B88-4F13-A9A6-2C38C60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709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F2DA34-D7E8-4CE0-947D-B89F4919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009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C3ECB3-53F2-4949-B596-0662E65A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788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4B480E-8BA2-4850-B97B-E34D3759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788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8AC664-B944-4926-B824-54575259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9088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E0C63C-E441-4B4C-892D-A07A5B4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448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9DE0A0-C1BA-44C6-924C-701D66C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448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460BE8-082C-432C-BEEC-B9C3C8B4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2748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10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9863DA5-253D-4C2C-94A2-BE55795A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527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4E745F2-2166-437D-B3BC-32D5BAE7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527" y="50958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6191C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C9E7944-1844-4B31-9637-9E88B3AF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3827" y="5191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30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A3A878-1679-4578-A779-7DEDF92F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191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4FF151-A4F6-459C-B46D-D3F28E8C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191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DD48F6B-64CE-4140-A1E9-DDE390E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54864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Parameters (M, log scale)</a:t>
            </a:r>
          </a:p>
        </p:txBody>
      </p:sp>
      <p:sp>
        <p:nvSpPr>
          <p:cNvPr id="94" name="ShipsEar-UATC-DenseNet-bubble">
            <a:extLst xmlns:a="http://schemas.openxmlformats.org/drawingml/2006/main">
              <a:ext uri="{FF2B5EF4-FFF2-40B4-BE49-F238E27FC236}">
                <a16:creationId xmlns:a16="http://schemas.microsoft.com/office/drawing/2014/main" id="{D8059111-3A92-4B39-A12D-82350C87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10" y="3197735"/>
            <a:ext cx="407792" cy="407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ShipsEar-UATC-DenseNet-acc">
            <a:extLst xmlns:a="http://schemas.openxmlformats.org/drawingml/2006/main">
              <a:ext uri="{FF2B5EF4-FFF2-40B4-BE49-F238E27FC236}">
                <a16:creationId xmlns:a16="http://schemas.microsoft.com/office/drawing/2014/main" id="{E659BA7E-752F-48E8-937F-617C3641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1310" y="3306381"/>
            <a:ext cx="56019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83.31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701291E-AF6D-4357-8A44-F519946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9601" y="3287331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UATC-DenseNet</a:t>
            </a:r>
          </a:p>
        </p:txBody>
      </p:sp>
      <p:sp>
        <p:nvSpPr>
          <p:cNvPr id="97" name="ShipsEar-1DCT-bubble">
            <a:extLst xmlns:a="http://schemas.openxmlformats.org/drawingml/2006/main">
              <a:ext uri="{FF2B5EF4-FFF2-40B4-BE49-F238E27FC236}">
                <a16:creationId xmlns:a16="http://schemas.microsoft.com/office/drawing/2014/main" id="{F63E4C6B-4329-402B-A4F1-6B13DA92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561" y="2631161"/>
            <a:ext cx="434645" cy="4346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ShipsEar-1DCT-acc">
            <a:extLst xmlns:a="http://schemas.openxmlformats.org/drawingml/2006/main">
              <a:ext uri="{FF2B5EF4-FFF2-40B4-BE49-F238E27FC236}">
                <a16:creationId xmlns:a16="http://schemas.microsoft.com/office/drawing/2014/main" id="{A09ECE8B-A4B5-437C-9B68-B28F68CC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0361" y="2753233"/>
            <a:ext cx="58704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84.25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AB45581-1EC8-43DA-906D-147C405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505" y="273418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1DCT</a:t>
            </a:r>
          </a:p>
        </p:txBody>
      </p:sp>
      <p:sp>
        <p:nvSpPr>
          <p:cNvPr id="100" name="ShipsEar-MSRDN-bubble">
            <a:extLst xmlns:a="http://schemas.openxmlformats.org/drawingml/2006/main">
              <a:ext uri="{FF2B5EF4-FFF2-40B4-BE49-F238E27FC236}">
                <a16:creationId xmlns:a16="http://schemas.microsoft.com/office/drawing/2014/main" id="{672083B3-D97F-4701-9255-CA3ADCE4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939" y="1470594"/>
            <a:ext cx="630528" cy="630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DDD08D0-10B7-4C7D-8FB0-2CF00B80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0717" y="1833483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0363D"/>
                </a:solidFill>
              </a:defRPr>
            </a:pPr>
            <a:r>
              <a:rPr sz="975" b="0">
                <a:solidFill>
                  <a:srgbClr val="30363D"/>
                </a:solidFill>
              </a:rPr>
              <a:t>MSRDN (92.92)</a:t>
            </a:r>
          </a:p>
        </p:txBody>
      </p:sp>
      <p:sp>
        <p:nvSpPr>
          <p:cNvPr id="102" name="ShipsEar-LNN (w/ KD)-bubble">
            <a:extLst xmlns:a="http://schemas.openxmlformats.org/drawingml/2006/main">
              <a:ext uri="{FF2B5EF4-FFF2-40B4-BE49-F238E27FC236}">
                <a16:creationId xmlns:a16="http://schemas.microsoft.com/office/drawing/2014/main" id="{FA05E5AE-92C7-4B6D-B9E3-A7F41074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468" y="4296436"/>
            <a:ext cx="620331" cy="6203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19050">
            <a:solidFill>
              <a:srgbClr val="8D2452"/>
            </a:solidFill>
            <a:prstDash val="solid"/>
          </a:ln>
        </p:spPr>
      </p:sp>
      <p:sp>
        <p:nvSpPr>
          <p:cNvPr id="103" name="ShipsEar-LNN (w/ KD)-acc">
            <a:extLst xmlns:a="http://schemas.openxmlformats.org/drawingml/2006/main">
              <a:ext uri="{FF2B5EF4-FFF2-40B4-BE49-F238E27FC236}">
                <a16:creationId xmlns:a16="http://schemas.microsoft.com/office/drawing/2014/main" id="{B2604280-FE54-4C7E-BEEA-E784E7A5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268" y="4511352"/>
            <a:ext cx="77273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92.39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02424D9-2087-41FB-A97B-F6367E8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6099" y="4492302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D2452"/>
                </a:solidFill>
              </a:defRPr>
            </a:pPr>
            <a:r>
              <a:rPr sz="1275" b="1">
                <a:solidFill>
                  <a:srgbClr val="8D2452"/>
                </a:solidFill>
              </a:rPr>
              <a:t>LNN (w/ KD)</a:t>
            </a:r>
          </a:p>
        </p:txBody>
      </p:sp>
      <p:sp>
        <p:nvSpPr>
          <p:cNvPr id="105" name="ShipsEar-ALSI-bubble">
            <a:extLst xmlns:a="http://schemas.openxmlformats.org/drawingml/2006/main">
              <a:ext uri="{FF2B5EF4-FFF2-40B4-BE49-F238E27FC236}">
                <a16:creationId xmlns:a16="http://schemas.microsoft.com/office/drawing/2014/main" id="{5CCD6B4A-8C92-4EA5-A3A8-805730FD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338" y="1594467"/>
            <a:ext cx="719147" cy="7191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6019352-D3F3-4FF2-B8D0-BE89621A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0735" y="1477791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0363D"/>
                </a:solidFill>
              </a:defRPr>
            </a:pPr>
            <a:r>
              <a:rPr sz="975" b="0">
                <a:solidFill>
                  <a:srgbClr val="30363D"/>
                </a:solidFill>
              </a:rPr>
              <a:t>ALSI (97.89)</a:t>
            </a:r>
          </a:p>
        </p:txBody>
      </p:sp>
      <p:sp>
        <p:nvSpPr>
          <p:cNvPr id="107" name="ShipsEar-MHT-UATR-bubble">
            <a:extLst xmlns:a="http://schemas.openxmlformats.org/drawingml/2006/main">
              <a:ext uri="{FF2B5EF4-FFF2-40B4-BE49-F238E27FC236}">
                <a16:creationId xmlns:a16="http://schemas.microsoft.com/office/drawing/2014/main" id="{53901DB1-F574-4A14-BBE4-CD53CB2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006" y="2463627"/>
            <a:ext cx="689419" cy="6894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ShipsEar-MHT-UATR-acc">
            <a:extLst xmlns:a="http://schemas.openxmlformats.org/drawingml/2006/main">
              <a:ext uri="{FF2B5EF4-FFF2-40B4-BE49-F238E27FC236}">
                <a16:creationId xmlns:a16="http://schemas.microsoft.com/office/drawing/2014/main" id="{A15AB9EC-BDE8-413B-9207-DDBBE1D4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2806" y="2713086"/>
            <a:ext cx="84181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96.15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7AB682D-7982-4CD9-A8A3-BA243B0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3674" y="2694036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MHT-UATR</a:t>
            </a:r>
          </a:p>
        </p:txBody>
      </p:sp>
      <p:sp>
        <p:nvSpPr>
          <p:cNvPr id="110" name="ShipsEar-CAF-JT-bubble">
            <a:extLst xmlns:a="http://schemas.openxmlformats.org/drawingml/2006/main">
              <a:ext uri="{FF2B5EF4-FFF2-40B4-BE49-F238E27FC236}">
                <a16:creationId xmlns:a16="http://schemas.microsoft.com/office/drawing/2014/main" id="{380BC852-0473-4291-82D4-3B63227A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53" y="2014336"/>
            <a:ext cx="715120" cy="715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1" name="ShipsEar-CAF-JT-acc">
            <a:extLst xmlns:a="http://schemas.openxmlformats.org/drawingml/2006/main">
              <a:ext uri="{FF2B5EF4-FFF2-40B4-BE49-F238E27FC236}">
                <a16:creationId xmlns:a16="http://schemas.microsoft.com/office/drawing/2014/main" id="{73E5E998-AEBD-4F1C-872D-9FFDC60B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4553" y="2276646"/>
            <a:ext cx="8675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97.65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493B5DE-7178-441B-ACBE-15B88E42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3873" y="2257596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30363D"/>
                </a:solidFill>
              </a:defRPr>
            </a:pPr>
            <a:r>
              <a:rPr sz="1275" b="0">
                <a:solidFill>
                  <a:srgbClr val="30363D"/>
                </a:solidFill>
              </a:rPr>
              <a:t>CAF-JT</a:t>
            </a:r>
          </a:p>
        </p:txBody>
      </p:sp>
      <p:sp>
        <p:nvSpPr>
          <p:cNvPr id="113" name="ShipsEar-T-F Token ViT-bubble">
            <a:extLst xmlns:a="http://schemas.openxmlformats.org/drawingml/2006/main">
              <a:ext uri="{FF2B5EF4-FFF2-40B4-BE49-F238E27FC236}">
                <a16:creationId xmlns:a16="http://schemas.microsoft.com/office/drawing/2014/main" id="{B3C53925-680A-49B3-84E7-51BD87BA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956" y="1704366"/>
            <a:ext cx="723484" cy="7234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63450A7-AD44-41D5-8C30-2BCB077C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1815" y="2428058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0363D"/>
                </a:solidFill>
              </a:defRPr>
            </a:pPr>
            <a:r>
              <a:rPr sz="975" b="0">
                <a:solidFill>
                  <a:srgbClr val="30363D"/>
                </a:solidFill>
              </a:rPr>
              <a:t>T-F Token ViT (98.15)</a:t>
            </a:r>
          </a:p>
        </p:txBody>
      </p:sp>
      <p:sp>
        <p:nvSpPr>
          <p:cNvPr id="115" name="shared-y-axis-title">
            <a:extLst xmlns:a="http://schemas.openxmlformats.org/drawingml/2006/main">
              <a:ext uri="{FF2B5EF4-FFF2-40B4-BE49-F238E27FC236}">
                <a16:creationId xmlns:a16="http://schemas.microsoft.com/office/drawing/2014/main" id="{9C48B50E-7740-48D5-875D-74FAD1FD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428"/>
                </a:solidFill>
              </a:defRPr>
            </a:pPr>
            <a:r>
              <a:rPr sz="1350" b="0">
                <a:solidFill>
                  <a:srgbClr val="202428"/>
                </a:solidFill>
              </a:rPr>
              <a:t>FLOPs (MFLOPs, log scale)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5C29642-2C02-40DD-A040-1561FF0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8578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8"/>
                </a:solidFill>
              </a:defRPr>
            </a:pPr>
            <a:r>
              <a:rPr sz="1200" b="1">
                <a:solidFill>
                  <a:srgbClr val="202428"/>
                </a:solidFill>
              </a:rPr>
              <a:t>Input type</a:t>
            </a:r>
          </a:p>
        </p:txBody>
      </p:sp>
      <p:sp>
        <p:nvSpPr>
          <p:cNvPr id="117" name="legend-input-Mel/CQT">
            <a:extLst xmlns:a="http://schemas.openxmlformats.org/drawingml/2006/main">
              <a:ext uri="{FF2B5EF4-FFF2-40B4-BE49-F238E27FC236}">
                <a16:creationId xmlns:a16="http://schemas.microsoft.com/office/drawing/2014/main" id="{295046F0-B377-44D4-8CCA-3081F1E9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2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2D958DE-14E4-4768-8BA8-9EDECD42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62388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Mel/CQT</a:t>
            </a:r>
          </a:p>
        </p:txBody>
      </p:sp>
      <p:sp>
        <p:nvSpPr>
          <p:cNvPr id="119" name="legend-input-Audio signal">
            <a:extLst xmlns:a="http://schemas.openxmlformats.org/drawingml/2006/main">
              <a:ext uri="{FF2B5EF4-FFF2-40B4-BE49-F238E27FC236}">
                <a16:creationId xmlns:a16="http://schemas.microsoft.com/office/drawing/2014/main" id="{CF8CD439-3B4A-478B-B43D-6BC3CFB1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29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E5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B077307-A753-4A0F-8894-9625061A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62388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Audio signal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61D05B6-3088-4993-A84F-BD7B54B7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5857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8"/>
                </a:solidFill>
              </a:defRPr>
            </a:pPr>
            <a:r>
              <a:rPr sz="1200" b="1">
                <a:solidFill>
                  <a:srgbClr val="202428"/>
                </a:solidFill>
              </a:rPr>
              <a:t>Bubble area: ACC</a:t>
            </a:r>
          </a:p>
        </p:txBody>
      </p:sp>
      <p:sp>
        <p:nvSpPr>
          <p:cNvPr id="122" name="legend-acc-82">
            <a:extLst xmlns:a="http://schemas.openxmlformats.org/drawingml/2006/main">
              <a:ext uri="{FF2B5EF4-FFF2-40B4-BE49-F238E27FC236}">
                <a16:creationId xmlns:a16="http://schemas.microsoft.com/office/drawing/2014/main" id="{34575875-4153-477C-BDBF-F2DDA2F9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946" y="6160096"/>
            <a:ext cx="367108" cy="367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7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657CCBA-58EF-4E1E-9BDC-619242F2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5304" y="62388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ACC 82%</a:t>
            </a:r>
          </a:p>
        </p:txBody>
      </p:sp>
      <p:sp>
        <p:nvSpPr>
          <p:cNvPr id="124" name="legend-acc-90">
            <a:extLst xmlns:a="http://schemas.openxmlformats.org/drawingml/2006/main">
              <a:ext uri="{FF2B5EF4-FFF2-40B4-BE49-F238E27FC236}">
                <a16:creationId xmlns:a16="http://schemas.microsoft.com/office/drawing/2014/main" id="{81E08D67-6637-46ED-8F53-C1FBE632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827" y="6057602"/>
            <a:ext cx="572096" cy="572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7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2D5E2F3-04B5-488D-94EE-ACA99CA7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4173" y="62388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ACC 90%</a:t>
            </a:r>
          </a:p>
        </p:txBody>
      </p:sp>
      <p:sp>
        <p:nvSpPr>
          <p:cNvPr id="126" name="legend-acc-98">
            <a:extLst xmlns:a="http://schemas.openxmlformats.org/drawingml/2006/main">
              <a:ext uri="{FF2B5EF4-FFF2-40B4-BE49-F238E27FC236}">
                <a16:creationId xmlns:a16="http://schemas.microsoft.com/office/drawing/2014/main" id="{0E534518-05DE-41B7-B0B9-38BAC8D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757" y="5983157"/>
            <a:ext cx="720985" cy="7209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7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1C52293-E152-4E2B-9C8F-B978D6B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4993" y="62388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28"/>
                </a:solidFill>
              </a:defRPr>
            </a:pPr>
            <a:r>
              <a:rPr sz="1200" b="0">
                <a:solidFill>
                  <a:srgbClr val="202428"/>
                </a:solidFill>
              </a:rPr>
              <a:t>ACC 98%</a:t>
            </a:r>
          </a:p>
        </p:txBody>
      </p:sp>
    </p:spTree>
    <p:extLst>
      <p:ext uri="{BB962C8B-B14F-4D97-AF65-F5344CB8AC3E}">
        <p14:creationId xmlns:p14="http://schemas.microsoft.com/office/powerpoint/2010/main" val="2007068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ata-slide-title">
            <a:extLst xmlns:a="http://schemas.openxmlformats.org/drawingml/2006/main">
              <a:ext uri="{FF2B5EF4-FFF2-40B4-BE49-F238E27FC236}">
                <a16:creationId xmlns:a16="http://schemas.microsoft.com/office/drawing/2014/main" id="{FC3FC3E1-6568-4C30-84C6-71400A68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53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8"/>
                </a:solidFill>
              </a:defRPr>
            </a:pPr>
            <a:r>
              <a:rPr sz="2700" b="1">
                <a:solidFill>
                  <a:srgbClr val="202428"/>
                </a:solidFill>
              </a:rPr>
              <a:t>Source data used in the editable figure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40389-17AD-48BD-B18F-6A658BE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066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</a:defRPr>
            </a:pPr>
            <a:r>
              <a:rPr sz="1500" b="0">
                <a:solidFill>
                  <a:srgbClr val="59636E"/>
                </a:solidFill>
              </a:rPr>
              <a:t>Parameters and FLOPs define point position; each dataset’s ACC defines bubble area.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375"/>
                <a:gridCol w="1428750"/>
                <a:gridCol w="1571625"/>
                <a:gridCol w="1809750"/>
                <a:gridCol w="1885950"/>
                <a:gridCol w="1885950"/>
              </a:tblGrid>
              <a:tr h="349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Input type</a:t>
                      </a:r>
                    </a:p>
                  </a:txBody>
                  <a:tcPr marL="91440" marR="91440" marT="45720" marB="45720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Parameters (M)</a:t>
                      </a:r>
                    </a:p>
                  </a:txBody>
                  <a:tcPr marL="91440" marR="91440" marT="45720" marB="45720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FLOPs (MFLOPs)</a:t>
                      </a:r>
                    </a:p>
                  </a:txBody>
                  <a:tcPr marL="91440" marR="91440" marT="45720" marB="45720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DeepShip ACC (%)</a:t>
                      </a:r>
                    </a:p>
                  </a:txBody>
                  <a:tcPr marL="91440" marR="91440" marT="45720" marB="45720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ShipsEar ACC (%)</a:t>
                      </a:r>
                    </a:p>
                  </a:txBody>
                  <a:tcPr marL="91440" marR="91440" marT="45720" marB="45720" anchor="ctr">
                    <a:solidFill>
                      <a:srgbClr val="24344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UATC-DenseNet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Audio signal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0.4182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369.21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82.22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83.31</a:t>
                      </a:r>
                    </a:p>
                  </a:txBody>
                  <a:tcPr marL="91440" marR="91440" marT="45720" marB="45720" anchor="ctr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1DCT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Audio signal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0.3509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856.99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81.11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84.25</a:t>
                      </a:r>
                    </a:p>
                  </a:txBody>
                  <a:tcPr marL="91440" marR="91440" marT="45720" marB="45720" anchor="ctr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MSRDN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Audio signal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23.9258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4320.25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88.79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92.92</a:t>
                      </a:r>
                    </a:p>
                  </a:txBody>
                  <a:tcPr marL="91440" marR="91440" marT="45720" marB="45720" anchor="ctr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D2452"/>
                          </a:solidFill>
                        </a:rPr>
                        <a:t>LNN (w/ KD)</a:t>
                      </a:r>
                    </a:p>
                  </a:txBody>
                  <a:tcPr marL="91440" marR="91440" marT="45720" marB="45720" anchor="ctr">
                    <a:solidFill>
                      <a:srgbClr val="F9E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D2452"/>
                          </a:solidFill>
                        </a:rPr>
                        <a:t>Audio signal</a:t>
                      </a:r>
                    </a:p>
                  </a:txBody>
                  <a:tcPr marL="91440" marR="91440" marT="45720" marB="45720" anchor="ctr">
                    <a:solidFill>
                      <a:srgbClr val="F9E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D2452"/>
                          </a:solidFill>
                        </a:rPr>
                        <a:t>0.32</a:t>
                      </a:r>
                    </a:p>
                  </a:txBody>
                  <a:tcPr marL="91440" marR="91440" marT="45720" marB="45720" anchor="ctr">
                    <a:solidFill>
                      <a:srgbClr val="F9E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D2452"/>
                          </a:solidFill>
                        </a:rPr>
                        <a:t>58.97</a:t>
                      </a:r>
                    </a:p>
                  </a:txBody>
                  <a:tcPr marL="91440" marR="91440" marT="45720" marB="45720" anchor="ctr">
                    <a:solidFill>
                      <a:srgbClr val="F9E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D2452"/>
                          </a:solidFill>
                        </a:rPr>
                        <a:t>93.41</a:t>
                      </a:r>
                    </a:p>
                  </a:txBody>
                  <a:tcPr marL="91440" marR="91440" marT="45720" marB="45720" anchor="ctr">
                    <a:solidFill>
                      <a:srgbClr val="F9E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D2452"/>
                          </a:solidFill>
                        </a:rPr>
                        <a:t>92.39</a:t>
                      </a:r>
                    </a:p>
                  </a:txBody>
                  <a:tcPr marL="91440" marR="91440" marT="45720" marB="45720" anchor="ctr">
                    <a:solidFill>
                      <a:srgbClr val="F9E5EE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ALSI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Mel/CQT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28.34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3344.4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84.14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97.89</a:t>
                      </a:r>
                    </a:p>
                  </a:txBody>
                  <a:tcPr marL="91440" marR="91440" marT="45720" marB="45720" anchor="ctr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MHT-UATR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Mel/CQT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5.52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911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81.75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96.15</a:t>
                      </a:r>
                    </a:p>
                  </a:txBody>
                  <a:tcPr marL="91440" marR="91440" marT="45720" marB="45720" anchor="ctr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CAF-JT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Mel/CQT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14.83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1770.36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83.86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97.65</a:t>
                      </a:r>
                    </a:p>
                  </a:txBody>
                  <a:tcPr marL="91440" marR="91440" marT="45720" marB="45720" anchor="ctr"/>
                </a:tc>
              </a:tr>
              <a:tr h="349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T-F Token ViT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Mel/CQT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24.78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2819.86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84.25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02428"/>
                          </a:solidFill>
                        </a:rPr>
                        <a:t>98.15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7488A-A72D-4ECF-870D-C333A69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816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Axes use logarithmic scales in the figure slide.</a:t>
            </a:r>
          </a:p>
        </p:txBody>
      </p:sp>
    </p:spTree>
    <p:extLst>
      <p:ext uri="{BB962C8B-B14F-4D97-AF65-F5344CB8AC3E}">
        <p14:creationId xmlns:p14="http://schemas.microsoft.com/office/powerpoint/2010/main" val="1368009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2026-07-15T09:11:20.3330000Z</dcterms:created>
  <dcterms:modified xsi:type="dcterms:W3CDTF">2026-07-15T09:11:20.3330000Z</dcterms:modified>
</coreProperties>
</file>