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</p:sldIdLst>
  <p:sldSz cx="15240000" cy="8572500"/>
  <p:notesSz cx="6858000" cy="9144000"/>
  <p:custDataLst>
    <p:tags r:id="rId8"/>
  </p:custDataLst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C6A6"/>
    <a:srgbClr val="CBFFB8"/>
    <a:srgbClr val="4E8434"/>
    <a:srgbClr val="DDFE95"/>
    <a:srgbClr val="3BB7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470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圆角矩形 39"/>
          <p:cNvSpPr/>
          <p:nvPr/>
        </p:nvSpPr>
        <p:spPr>
          <a:xfrm>
            <a:off x="10671175" y="3056890"/>
            <a:ext cx="2488565" cy="47752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圆角矩形 1"/>
          <p:cNvSpPr>
            <a:spLocks noGrp="1"/>
          </p:cNvSpPr>
          <p:nvPr/>
        </p:nvSpPr>
        <p:spPr>
          <a:xfrm>
            <a:off x="247650" y="228600"/>
            <a:ext cx="14744700" cy="2724150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 w="13335">
            <a:solidFill>
              <a:srgbClr val="C9D8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4953000" y="857250"/>
            <a:ext cx="1428750" cy="22860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3335">
            <a:solidFill>
              <a:srgbClr val="C9D8E0"/>
            </a:solidFill>
            <a:prstDash val="solid"/>
          </a:ln>
        </p:spPr>
        <p:txBody>
          <a:bodyPr/>
          <a:lstStyle/>
          <a:p>
            <a:pPr>
              <a:defRPr sz="1125"/>
            </a:pPr>
            <a:r>
              <a:rPr sz="1125"/>
              <a:t>knowledge transfer</a:t>
            </a:r>
            <a:endParaRPr sz="1125"/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76250" y="40005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0B1F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2A"/>
                </a:solidFill>
                <a:latin typeface="Aptos"/>
                <a:ea typeface="Aptos"/>
                <a:cs typeface="Aptos"/>
              </a:rPr>
              <a:t>(a)</a:t>
            </a:r>
            <a:endParaRPr sz="1800" b="1">
              <a:solidFill>
                <a:srgbClr val="0B1F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43000" y="41910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0B1F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2A"/>
                </a:solidFill>
                <a:latin typeface="Aptos"/>
                <a:ea typeface="Aptos"/>
                <a:cs typeface="Aptos"/>
              </a:rPr>
              <a:t>Low-resource high-accuracy transfer</a:t>
            </a:r>
            <a:endParaRPr sz="1800" b="1">
              <a:solidFill>
                <a:srgbClr val="0B1F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819150" y="838200"/>
            <a:ext cx="6572250" cy="1809750"/>
          </a:xfrm>
          <a:prstGeom prst="roundRect">
            <a:avLst>
              <a:gd name="adj" fmla="val 5263"/>
            </a:avLst>
          </a:prstGeom>
          <a:solidFill>
            <a:srgbClr val="FBFDFE"/>
          </a:solidFill>
          <a:ln w="13335">
            <a:solidFill>
              <a:srgbClr val="DCE8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椭圆 7"/>
          <p:cNvSpPr>
            <a:spLocks noGrp="1"/>
          </p:cNvSpPr>
          <p:nvPr/>
        </p:nvSpPr>
        <p:spPr>
          <a:xfrm>
            <a:off x="1495425" y="1447800"/>
            <a:ext cx="723900" cy="723900"/>
          </a:xfrm>
          <a:prstGeom prst="ellipse">
            <a:avLst/>
          </a:prstGeom>
          <a:solidFill>
            <a:srgbClr val="AAB2B8"/>
          </a:solidFill>
          <a:ln w="11430">
            <a:solidFill>
              <a:srgbClr val="69757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495425" y="1562735"/>
            <a:ext cx="1003935" cy="7791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275" b="1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Student</a:t>
            </a:r>
            <a:endParaRPr sz="1275" b="1" dirty="0">
              <a:solidFill>
                <a:schemeClr val="bg1"/>
              </a:solidFill>
              <a:latin typeface="Aptos"/>
              <a:ea typeface="Aptos"/>
              <a:cs typeface="Aptos"/>
            </a:endParaRPr>
          </a:p>
          <a:p>
            <a:pPr algn="l">
              <a:buNone/>
              <a:defRPr sz="1275" b="1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275" b="1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 LNN</a:t>
            </a:r>
            <a:endParaRPr sz="1275" b="1" dirty="0">
              <a:solidFill>
                <a:schemeClr val="bg1"/>
              </a:solidFill>
              <a:latin typeface="Aptos"/>
              <a:ea typeface="Aptos"/>
              <a:cs typeface="Aptos"/>
            </a:endParaRPr>
          </a:p>
          <a:p>
            <a:pPr algn="l">
              <a:buNone/>
              <a:defRPr sz="1275" b="1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endParaRPr sz="1275" b="1" dirty="0">
              <a:solidFill>
                <a:schemeClr val="bg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3695700" y="885825"/>
            <a:ext cx="800100" cy="800100"/>
          </a:xfrm>
          <a:prstGeom prst="ellipse">
            <a:avLst/>
          </a:prstGeom>
          <a:solidFill>
            <a:srgbClr val="CBFFB8"/>
          </a:solidFill>
          <a:ln w="11430">
            <a:solidFill>
              <a:srgbClr val="CBFF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752850" y="942658"/>
            <a:ext cx="685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3375" b="1">
                <a:solidFill>
                  <a:srgbClr val="F8C845"/>
                </a:solidFill>
                <a:latin typeface="Aptos"/>
                <a:ea typeface="Aptos"/>
                <a:cs typeface="Aptos"/>
              </a:defRPr>
            </a:pPr>
            <a:r>
              <a:rPr sz="3375" b="1" dirty="0">
                <a:solidFill>
                  <a:srgbClr val="F4C6A6"/>
                </a:solidFill>
                <a:latin typeface="Aptos"/>
                <a:ea typeface="Aptos"/>
                <a:cs typeface="Aptos"/>
              </a:rPr>
              <a:t>★</a:t>
            </a:r>
            <a:endParaRPr sz="3375" b="1" dirty="0">
              <a:solidFill>
                <a:srgbClr val="F4C6A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6096000" y="885825"/>
            <a:ext cx="1155700" cy="1172210"/>
          </a:xfrm>
          <a:prstGeom prst="ellipse">
            <a:avLst/>
          </a:prstGeom>
          <a:solidFill>
            <a:srgbClr val="DDFE95"/>
          </a:solidFill>
          <a:ln w="11430">
            <a:solidFill>
              <a:srgbClr val="DDFE95"/>
            </a:solidFill>
            <a:prstDash val="solid"/>
          </a:ln>
        </p:spPr>
        <p:txBody>
          <a:bodyPr/>
          <a:lstStyle/>
          <a:p>
            <a:endParaRPr lang="zh-CN" altLang="en-US" dirty="0">
              <a:solidFill>
                <a:schemeClr val="accent5">
                  <a:lumMod val="40000"/>
                  <a:lumOff val="60000"/>
                </a:schemeClr>
              </a:solidFill>
              <a:highlight>
                <a:srgbClr val="DDFE95"/>
              </a:highlight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782310" y="1123950"/>
            <a:ext cx="1809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0B1F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2A"/>
                </a:solidFill>
                <a:latin typeface="Aptos"/>
                <a:ea typeface="Aptos"/>
                <a:cs typeface="Aptos"/>
              </a:rPr>
              <a:t>Teacher</a:t>
            </a:r>
            <a:endParaRPr sz="1350" b="1">
              <a:solidFill>
                <a:srgbClr val="0B1F2A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350" b="1">
                <a:solidFill>
                  <a:srgbClr val="0B1F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2A"/>
                </a:solidFill>
                <a:latin typeface="Aptos"/>
                <a:ea typeface="Aptos"/>
                <a:cs typeface="Aptos"/>
              </a:rPr>
              <a:t>wav2vec 2.0</a:t>
            </a:r>
            <a:endParaRPr sz="1350" b="1">
              <a:solidFill>
                <a:srgbClr val="0B1F2A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350" b="1">
                <a:solidFill>
                  <a:srgbClr val="0B1F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2A"/>
                </a:solidFill>
                <a:latin typeface="Aptos"/>
                <a:ea typeface="Aptos"/>
                <a:cs typeface="Aptos"/>
              </a:rPr>
              <a:t>large model</a:t>
            </a:r>
            <a:endParaRPr sz="1350" b="1">
              <a:solidFill>
                <a:srgbClr val="0B1F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381500" y="1276350"/>
            <a:ext cx="1809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6770"/>
                </a:solidFill>
                <a:latin typeface="Aptos"/>
                <a:ea typeface="Aptos"/>
                <a:cs typeface="Aptos"/>
              </a:rPr>
              <a:t>knowledge transfer</a:t>
            </a:r>
            <a:endParaRPr sz="1200" b="1">
              <a:solidFill>
                <a:srgbClr val="5B6770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200" b="1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6770"/>
                </a:solidFill>
                <a:latin typeface="Aptos"/>
                <a:ea typeface="Aptos"/>
                <a:cs typeface="Aptos"/>
              </a:rPr>
              <a:t>without inference overhead</a:t>
            </a:r>
            <a:endParaRPr sz="1200" b="1">
              <a:solidFill>
                <a:srgbClr val="5B67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870585" y="981075"/>
            <a:ext cx="2354580" cy="285750"/>
          </a:xfrm>
          <a:prstGeom prst="roundRect">
            <a:avLst>
              <a:gd name="adj" fmla="val 33333"/>
            </a:avLst>
          </a:prstGeom>
          <a:solidFill>
            <a:srgbClr val="EEF6FA"/>
          </a:solidFill>
          <a:ln w="13335">
            <a:solidFill>
              <a:srgbClr val="EEF6FA"/>
            </a:solidFill>
            <a:prstDash val="solid"/>
          </a:ln>
        </p:spPr>
        <p:txBody>
          <a:bodyPr/>
          <a:lstStyle/>
          <a:p>
            <a:pPr algn="ctr">
              <a:buNone/>
              <a:defRPr sz="1050" b="1">
                <a:solidFill>
                  <a:srgbClr val="0B1F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1F2A"/>
                </a:solidFill>
                <a:latin typeface="Aptos"/>
                <a:ea typeface="Aptos"/>
                <a:cs typeface="Aptos"/>
              </a:rPr>
              <a:t>low-resource edge deployment</a:t>
            </a:r>
            <a:endParaRPr sz="1050" b="1">
              <a:solidFill>
                <a:srgbClr val="0B1F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4705350" y="2341880"/>
            <a:ext cx="2546350" cy="266700"/>
          </a:xfrm>
          <a:prstGeom prst="roundRect">
            <a:avLst>
              <a:gd name="adj" fmla="val 33333"/>
            </a:avLst>
          </a:prstGeom>
          <a:solidFill>
            <a:srgbClr val="E8F6EA"/>
          </a:solidFill>
          <a:ln w="13335">
            <a:solidFill>
              <a:srgbClr val="E8F6EA"/>
            </a:solidFill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0B1F2A"/>
                </a:solidFill>
                <a:latin typeface="Aptos"/>
                <a:ea typeface="Aptos"/>
                <a:cs typeface="Aptos"/>
              </a:defRPr>
            </a:pPr>
            <a:r>
              <a:rPr lang="en-US" sz="1200" b="1">
                <a:solidFill>
                  <a:srgbClr val="0B1F2A"/>
                </a:solidFill>
                <a:latin typeface="Aptos"/>
                <a:ea typeface="Aptos"/>
                <a:cs typeface="Aptos"/>
              </a:rPr>
              <a:t>Network</a:t>
            </a:r>
            <a:r>
              <a:rPr sz="1200" b="1">
                <a:solidFill>
                  <a:srgbClr val="0B1F2A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1" dirty="0">
                <a:solidFill>
                  <a:srgbClr val="0B1F2A"/>
                </a:solidFill>
                <a:latin typeface="Aptos"/>
                <a:ea typeface="Aptos"/>
                <a:cs typeface="Aptos"/>
              </a:rPr>
              <a:t>keeps 0.32M params</a:t>
            </a:r>
            <a:endParaRPr sz="1200" b="1" dirty="0">
              <a:solidFill>
                <a:srgbClr val="0B1F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659495" y="419100"/>
            <a:ext cx="261810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0B1F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2A"/>
                </a:solidFill>
                <a:latin typeface="Aptos"/>
                <a:ea typeface="Aptos"/>
                <a:cs typeface="Aptos"/>
              </a:rPr>
              <a:t>Underwater edge platforms</a:t>
            </a:r>
            <a:endParaRPr sz="1350" b="1">
              <a:solidFill>
                <a:srgbClr val="0B1F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7953375" y="838200"/>
            <a:ext cx="1104900" cy="647700"/>
          </a:xfrm>
          <a:prstGeom prst="roundRect">
            <a:avLst>
              <a:gd name="adj" fmla="val 14706"/>
            </a:avLst>
          </a:prstGeom>
          <a:solidFill>
            <a:srgbClr val="E4F0F7"/>
          </a:solidFill>
          <a:ln w="13335">
            <a:solidFill>
              <a:srgbClr val="C9D8E0"/>
            </a:solidFill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0B1F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2A"/>
                </a:solidFill>
                <a:latin typeface="Aptos"/>
                <a:ea typeface="Aptos"/>
                <a:cs typeface="Aptos"/>
              </a:rPr>
              <a:t>AUV</a:t>
            </a:r>
            <a:endParaRPr sz="1275" b="1">
              <a:solidFill>
                <a:srgbClr val="0B1F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椭圆 23"/>
          <p:cNvSpPr>
            <a:spLocks noGrp="1"/>
          </p:cNvSpPr>
          <p:nvPr/>
        </p:nvSpPr>
        <p:spPr>
          <a:xfrm>
            <a:off x="8134350" y="1009650"/>
            <a:ext cx="171450" cy="171450"/>
          </a:xfrm>
          <a:prstGeom prst="ellipse">
            <a:avLst/>
          </a:prstGeom>
          <a:solidFill>
            <a:srgbClr val="1D70A2"/>
          </a:solidFill>
          <a:ln w="11430">
            <a:solidFill>
              <a:srgbClr val="1D70A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椭圆 24"/>
          <p:cNvSpPr>
            <a:spLocks noGrp="1"/>
          </p:cNvSpPr>
          <p:nvPr/>
        </p:nvSpPr>
        <p:spPr>
          <a:xfrm>
            <a:off x="8411845" y="1266825"/>
            <a:ext cx="114300" cy="114300"/>
          </a:xfrm>
          <a:prstGeom prst="ellipse">
            <a:avLst/>
          </a:prstGeom>
          <a:solidFill>
            <a:srgbClr val="1D70A2"/>
          </a:solidFill>
          <a:ln w="11430">
            <a:solidFill>
              <a:srgbClr val="1D70A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椭圆 25"/>
          <p:cNvSpPr>
            <a:spLocks noGrp="1"/>
          </p:cNvSpPr>
          <p:nvPr/>
        </p:nvSpPr>
        <p:spPr>
          <a:xfrm>
            <a:off x="8724900" y="1000125"/>
            <a:ext cx="133350" cy="133350"/>
          </a:xfrm>
          <a:prstGeom prst="ellipse">
            <a:avLst/>
          </a:prstGeom>
          <a:solidFill>
            <a:srgbClr val="1D70A2"/>
          </a:solidFill>
          <a:ln w="11430">
            <a:solidFill>
              <a:srgbClr val="1D70A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9210675" y="838200"/>
            <a:ext cx="1104900" cy="647700"/>
          </a:xfrm>
          <a:prstGeom prst="roundRect">
            <a:avLst>
              <a:gd name="adj" fmla="val 14706"/>
            </a:avLst>
          </a:prstGeom>
          <a:solidFill>
            <a:srgbClr val="E2F7F8"/>
          </a:solidFill>
          <a:ln w="13335">
            <a:solidFill>
              <a:srgbClr val="C9D8E0"/>
            </a:solidFill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0B1F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2A"/>
                </a:solidFill>
                <a:latin typeface="Aptos"/>
                <a:ea typeface="Aptos"/>
                <a:cs typeface="Aptos"/>
              </a:rPr>
              <a:t>Buoy</a:t>
            </a:r>
            <a:endParaRPr sz="1275" b="1">
              <a:solidFill>
                <a:srgbClr val="0B1F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椭圆 27"/>
          <p:cNvSpPr>
            <a:spLocks noGrp="1"/>
          </p:cNvSpPr>
          <p:nvPr/>
        </p:nvSpPr>
        <p:spPr>
          <a:xfrm>
            <a:off x="9372600" y="1095375"/>
            <a:ext cx="171450" cy="171450"/>
          </a:xfrm>
          <a:prstGeom prst="ellipse">
            <a:avLst/>
          </a:prstGeom>
          <a:solidFill>
            <a:srgbClr val="3BB7C4"/>
          </a:solidFill>
          <a:ln w="11430">
            <a:solidFill>
              <a:srgbClr val="3BB7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椭圆 28"/>
          <p:cNvSpPr>
            <a:spLocks noGrp="1"/>
          </p:cNvSpPr>
          <p:nvPr/>
        </p:nvSpPr>
        <p:spPr>
          <a:xfrm>
            <a:off x="9705975" y="1257300"/>
            <a:ext cx="114300" cy="114300"/>
          </a:xfrm>
          <a:prstGeom prst="ellipse">
            <a:avLst/>
          </a:prstGeom>
          <a:solidFill>
            <a:srgbClr val="3BB7C4"/>
          </a:solidFill>
          <a:ln w="11430">
            <a:solidFill>
              <a:srgbClr val="3BB7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椭圆 29"/>
          <p:cNvSpPr>
            <a:spLocks noGrp="1"/>
          </p:cNvSpPr>
          <p:nvPr/>
        </p:nvSpPr>
        <p:spPr>
          <a:xfrm>
            <a:off x="10020300" y="1074420"/>
            <a:ext cx="133350" cy="133350"/>
          </a:xfrm>
          <a:prstGeom prst="ellipse">
            <a:avLst/>
          </a:prstGeom>
          <a:solidFill>
            <a:srgbClr val="3BB7C4"/>
          </a:solidFill>
          <a:ln w="11430">
            <a:solidFill>
              <a:srgbClr val="3BB7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10467975" y="838200"/>
            <a:ext cx="1104900" cy="647700"/>
          </a:xfrm>
          <a:prstGeom prst="roundRect">
            <a:avLst>
              <a:gd name="adj" fmla="val 14706"/>
            </a:avLst>
          </a:prstGeom>
          <a:solidFill>
            <a:srgbClr val="E8F6EA"/>
          </a:solidFill>
          <a:ln w="13335">
            <a:solidFill>
              <a:srgbClr val="C9D8E0"/>
            </a:solidFill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0B1F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2A"/>
                </a:solidFill>
                <a:latin typeface="Aptos"/>
                <a:ea typeface="Aptos"/>
                <a:cs typeface="Aptos"/>
              </a:rPr>
              <a:t>Sensor</a:t>
            </a:r>
            <a:endParaRPr sz="1275" b="1">
              <a:solidFill>
                <a:srgbClr val="0B1F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2" name="椭圆 31"/>
          <p:cNvSpPr>
            <a:spLocks noGrp="1"/>
          </p:cNvSpPr>
          <p:nvPr/>
        </p:nvSpPr>
        <p:spPr>
          <a:xfrm>
            <a:off x="10644505" y="1095375"/>
            <a:ext cx="171450" cy="171450"/>
          </a:xfrm>
          <a:prstGeom prst="ellipse">
            <a:avLst/>
          </a:prstGeom>
          <a:solidFill>
            <a:srgbClr val="39A844"/>
          </a:solidFill>
          <a:ln w="11430">
            <a:solidFill>
              <a:srgbClr val="39A84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椭圆 32"/>
          <p:cNvSpPr>
            <a:spLocks noGrp="1"/>
          </p:cNvSpPr>
          <p:nvPr/>
        </p:nvSpPr>
        <p:spPr>
          <a:xfrm>
            <a:off x="10963275" y="1207770"/>
            <a:ext cx="114300" cy="114300"/>
          </a:xfrm>
          <a:prstGeom prst="ellipse">
            <a:avLst/>
          </a:prstGeom>
          <a:solidFill>
            <a:srgbClr val="39A844"/>
          </a:solidFill>
          <a:ln w="11430">
            <a:solidFill>
              <a:srgbClr val="39A84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椭圆 33"/>
          <p:cNvSpPr>
            <a:spLocks noGrp="1"/>
          </p:cNvSpPr>
          <p:nvPr/>
        </p:nvSpPr>
        <p:spPr>
          <a:xfrm>
            <a:off x="11258550" y="1133475"/>
            <a:ext cx="133350" cy="133350"/>
          </a:xfrm>
          <a:prstGeom prst="ellipse">
            <a:avLst/>
          </a:prstGeom>
          <a:solidFill>
            <a:srgbClr val="39A844"/>
          </a:solidFill>
          <a:ln w="11430">
            <a:solidFill>
              <a:srgbClr val="39A84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7667625" y="1695450"/>
            <a:ext cx="1028700" cy="781050"/>
          </a:xfrm>
          <a:prstGeom prst="roundRect">
            <a:avLst>
              <a:gd name="adj" fmla="val 12195"/>
            </a:avLst>
          </a:prstGeom>
          <a:solidFill>
            <a:srgbClr val="F8FBFD"/>
          </a:solidFill>
          <a:ln w="13335">
            <a:solidFill>
              <a:srgbClr val="D5E1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7715250" y="1857375"/>
            <a:ext cx="9334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1D70A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D70A2"/>
                </a:solidFill>
                <a:latin typeface="Aptos"/>
                <a:ea typeface="Aptos"/>
                <a:cs typeface="Aptos"/>
              </a:rPr>
              <a:t>0.32M</a:t>
            </a:r>
            <a:endParaRPr sz="1500" b="1">
              <a:solidFill>
                <a:srgbClr val="1D70A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7715250" y="2143125"/>
            <a:ext cx="933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lang="en-US" sz="975" b="1">
                <a:solidFill>
                  <a:srgbClr val="5B6770"/>
                </a:solidFill>
                <a:latin typeface="Aptos"/>
                <a:ea typeface="Aptos"/>
                <a:cs typeface="Aptos"/>
              </a:rPr>
              <a:t>P</a:t>
            </a:r>
            <a:r>
              <a:rPr sz="975" b="1">
                <a:solidFill>
                  <a:srgbClr val="5B6770"/>
                </a:solidFill>
                <a:latin typeface="Aptos"/>
                <a:ea typeface="Aptos"/>
                <a:cs typeface="Aptos"/>
              </a:rPr>
              <a:t>arams</a:t>
            </a:r>
            <a:endParaRPr sz="975" b="1">
              <a:solidFill>
                <a:srgbClr val="5B6770"/>
              </a:solidFill>
              <a:latin typeface="Aptos"/>
              <a:ea typeface="Aptos"/>
              <a:cs typeface="Aptos"/>
            </a:endParaRPr>
          </a:p>
        </p:txBody>
      </p:sp>
      <p:grpSp>
        <p:nvGrpSpPr>
          <p:cNvPr id="177" name="组合 176"/>
          <p:cNvGrpSpPr/>
          <p:nvPr/>
        </p:nvGrpSpPr>
        <p:grpSpPr>
          <a:xfrm>
            <a:off x="8861425" y="1695450"/>
            <a:ext cx="1087120" cy="781050"/>
            <a:chOff x="15710" y="2670"/>
            <a:chExt cx="1712" cy="1230"/>
          </a:xfrm>
        </p:grpSpPr>
        <p:sp>
          <p:nvSpPr>
            <p:cNvPr id="41" name="圆角矩形 40"/>
            <p:cNvSpPr>
              <a:spLocks noGrp="1"/>
            </p:cNvSpPr>
            <p:nvPr/>
          </p:nvSpPr>
          <p:spPr>
            <a:xfrm>
              <a:off x="15735" y="2670"/>
              <a:ext cx="1620" cy="1230"/>
            </a:xfrm>
            <a:prstGeom prst="roundRect">
              <a:avLst>
                <a:gd name="adj" fmla="val 12195"/>
              </a:avLst>
            </a:prstGeom>
            <a:solidFill>
              <a:srgbClr val="F8FBFD"/>
            </a:solidFill>
            <a:ln w="13335">
              <a:solidFill>
                <a:srgbClr val="D5E1E8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矩形 41"/>
            <p:cNvSpPr>
              <a:spLocks noGrp="1"/>
            </p:cNvSpPr>
            <p:nvPr/>
          </p:nvSpPr>
          <p:spPr>
            <a:xfrm>
              <a:off x="15710" y="2925"/>
              <a:ext cx="1712" cy="3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buNone/>
                <a:defRPr sz="1500" b="1">
                  <a:solidFill>
                    <a:srgbClr val="1D70A2"/>
                  </a:solidFill>
                  <a:latin typeface="Aptos"/>
                  <a:ea typeface="Aptos"/>
                  <a:cs typeface="Aptos"/>
                </a:defRPr>
              </a:pPr>
              <a:r>
                <a:rPr lang="en-US" sz="1500" b="1">
                  <a:solidFill>
                    <a:srgbClr val="1D70A2"/>
                  </a:solidFill>
                  <a:latin typeface="Aptos"/>
                  <a:ea typeface="Aptos"/>
                  <a:cs typeface="Aptos"/>
                </a:rPr>
                <a:t>12.16ms</a:t>
              </a:r>
              <a:endParaRPr lang="en-US" sz="1500" b="1">
                <a:solidFill>
                  <a:srgbClr val="1D70A2"/>
                </a:solidFill>
                <a:latin typeface="Aptos"/>
                <a:ea typeface="Aptos"/>
                <a:cs typeface="Aptos"/>
              </a:endParaRPr>
            </a:p>
          </p:txBody>
        </p:sp>
        <p:sp>
          <p:nvSpPr>
            <p:cNvPr id="43" name="矩形 42"/>
            <p:cNvSpPr>
              <a:spLocks noGrp="1"/>
            </p:cNvSpPr>
            <p:nvPr/>
          </p:nvSpPr>
          <p:spPr>
            <a:xfrm>
              <a:off x="15810" y="3375"/>
              <a:ext cx="1470" cy="3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buNone/>
                <a:defRPr sz="975" b="1">
                  <a:solidFill>
                    <a:srgbClr val="5B6770"/>
                  </a:solidFill>
                  <a:latin typeface="Aptos"/>
                  <a:ea typeface="Aptos"/>
                  <a:cs typeface="Aptos"/>
                </a:defRPr>
              </a:pPr>
              <a:r>
                <a:rPr sz="975" b="1">
                  <a:solidFill>
                    <a:srgbClr val="5B6770"/>
                  </a:solidFill>
                  <a:latin typeface="Aptos"/>
                  <a:ea typeface="Aptos"/>
                  <a:cs typeface="Aptos"/>
                </a:rPr>
                <a:t>Latency</a:t>
              </a:r>
              <a:endParaRPr sz="975" b="1">
                <a:solidFill>
                  <a:srgbClr val="5B6770"/>
                </a:solidFill>
                <a:latin typeface="Aptos"/>
                <a:ea typeface="Aptos"/>
                <a:cs typeface="Aptos"/>
              </a:endParaRPr>
            </a:p>
          </p:txBody>
        </p:sp>
      </p:grpSp>
      <p:grpSp>
        <p:nvGrpSpPr>
          <p:cNvPr id="178" name="组合 177"/>
          <p:cNvGrpSpPr/>
          <p:nvPr/>
        </p:nvGrpSpPr>
        <p:grpSpPr>
          <a:xfrm>
            <a:off x="10068560" y="1695450"/>
            <a:ext cx="1028700" cy="781050"/>
            <a:chOff x="17565" y="2670"/>
            <a:chExt cx="1620" cy="1230"/>
          </a:xfrm>
        </p:grpSpPr>
        <p:sp>
          <p:nvSpPr>
            <p:cNvPr id="44" name="圆角矩形 43"/>
            <p:cNvSpPr>
              <a:spLocks noGrp="1"/>
            </p:cNvSpPr>
            <p:nvPr/>
          </p:nvSpPr>
          <p:spPr>
            <a:xfrm>
              <a:off x="17565" y="2670"/>
              <a:ext cx="1620" cy="1230"/>
            </a:xfrm>
            <a:prstGeom prst="roundRect">
              <a:avLst>
                <a:gd name="adj" fmla="val 12195"/>
              </a:avLst>
            </a:prstGeom>
            <a:solidFill>
              <a:srgbClr val="F8FBFD"/>
            </a:solidFill>
            <a:ln w="13335">
              <a:solidFill>
                <a:srgbClr val="D5E1E8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矩形 44"/>
            <p:cNvSpPr>
              <a:spLocks noGrp="1"/>
            </p:cNvSpPr>
            <p:nvPr/>
          </p:nvSpPr>
          <p:spPr>
            <a:xfrm>
              <a:off x="17640" y="2925"/>
              <a:ext cx="1470" cy="3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buNone/>
                <a:defRPr sz="1500" b="1">
                  <a:solidFill>
                    <a:srgbClr val="39A844"/>
                  </a:solidFill>
                  <a:latin typeface="Aptos"/>
                  <a:ea typeface="Aptos"/>
                  <a:cs typeface="Aptos"/>
                </a:defRPr>
              </a:pPr>
              <a:r>
                <a:rPr sz="1500" b="1">
                  <a:solidFill>
                    <a:srgbClr val="39A844"/>
                  </a:solidFill>
                  <a:latin typeface="Aptos"/>
                  <a:ea typeface="Aptos"/>
                  <a:cs typeface="Aptos"/>
                </a:rPr>
                <a:t>92.39%</a:t>
              </a:r>
              <a:endParaRPr sz="1500" b="1">
                <a:solidFill>
                  <a:srgbClr val="39A844"/>
                </a:solidFill>
                <a:latin typeface="Aptos"/>
                <a:ea typeface="Aptos"/>
                <a:cs typeface="Aptos"/>
              </a:endParaRPr>
            </a:p>
          </p:txBody>
        </p:sp>
        <p:sp>
          <p:nvSpPr>
            <p:cNvPr id="46" name="矩形 45"/>
            <p:cNvSpPr>
              <a:spLocks noGrp="1"/>
            </p:cNvSpPr>
            <p:nvPr/>
          </p:nvSpPr>
          <p:spPr>
            <a:xfrm>
              <a:off x="17640" y="3375"/>
              <a:ext cx="1470" cy="3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buNone/>
                <a:defRPr sz="975" b="1">
                  <a:solidFill>
                    <a:srgbClr val="5B6770"/>
                  </a:solidFill>
                  <a:latin typeface="Aptos"/>
                  <a:ea typeface="Aptos"/>
                  <a:cs typeface="Aptos"/>
                </a:defRPr>
              </a:pPr>
              <a:r>
                <a:rPr sz="975" b="1">
                  <a:solidFill>
                    <a:srgbClr val="5B6770"/>
                  </a:solidFill>
                  <a:latin typeface="Aptos"/>
                  <a:ea typeface="Aptos"/>
                  <a:cs typeface="Aptos"/>
                </a:rPr>
                <a:t>ShipsEar ACC</a:t>
              </a:r>
              <a:endParaRPr sz="975" b="1">
                <a:solidFill>
                  <a:srgbClr val="5B6770"/>
                </a:solidFill>
                <a:latin typeface="Aptos"/>
                <a:ea typeface="Aptos"/>
                <a:cs typeface="Aptos"/>
              </a:endParaRPr>
            </a:p>
          </p:txBody>
        </p:sp>
      </p:grpSp>
      <p:sp>
        <p:nvSpPr>
          <p:cNvPr id="47" name="圆角矩形 46"/>
          <p:cNvSpPr>
            <a:spLocks noGrp="1"/>
          </p:cNvSpPr>
          <p:nvPr/>
        </p:nvSpPr>
        <p:spPr>
          <a:xfrm>
            <a:off x="12482830" y="695325"/>
            <a:ext cx="2466975" cy="1866900"/>
          </a:xfrm>
          <a:prstGeom prst="roundRect">
            <a:avLst>
              <a:gd name="adj" fmla="val 5102"/>
            </a:avLst>
          </a:prstGeom>
          <a:solidFill>
            <a:srgbClr val="FBFDFE"/>
          </a:solidFill>
          <a:ln w="13335">
            <a:solidFill>
              <a:srgbClr val="D5E1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12592050" y="781050"/>
            <a:ext cx="1771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0B1F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2A"/>
                </a:solidFill>
                <a:latin typeface="Aptos"/>
                <a:ea typeface="Aptos"/>
                <a:cs typeface="Aptos"/>
              </a:rPr>
              <a:t>Method cues</a:t>
            </a:r>
            <a:endParaRPr sz="1350" b="1">
              <a:solidFill>
                <a:srgbClr val="0B1F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9" name="椭圆 48"/>
          <p:cNvSpPr>
            <a:spLocks noGrp="1"/>
          </p:cNvSpPr>
          <p:nvPr/>
        </p:nvSpPr>
        <p:spPr>
          <a:xfrm>
            <a:off x="12639675" y="1171575"/>
            <a:ext cx="133350" cy="133350"/>
          </a:xfrm>
          <a:prstGeom prst="ellipse">
            <a:avLst/>
          </a:prstGeom>
          <a:solidFill>
            <a:srgbClr val="39A844"/>
          </a:solidFill>
          <a:ln w="11430">
            <a:solidFill>
              <a:srgbClr val="39A84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12877800" y="112395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0B1F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2A"/>
                </a:solidFill>
                <a:latin typeface="Aptos"/>
                <a:ea typeface="Aptos"/>
                <a:cs typeface="Aptos"/>
              </a:rPr>
              <a:t>TS-T</a:t>
            </a:r>
            <a:endParaRPr sz="1125" b="1">
              <a:solidFill>
                <a:srgbClr val="0B1F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13620750" y="1123950"/>
            <a:ext cx="12668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step-wise logits</a:t>
            </a:r>
            <a:endParaRPr sz="975" b="0">
              <a:solidFill>
                <a:srgbClr val="5B67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2" name="椭圆 51"/>
          <p:cNvSpPr>
            <a:spLocks noGrp="1"/>
          </p:cNvSpPr>
          <p:nvPr/>
        </p:nvSpPr>
        <p:spPr>
          <a:xfrm>
            <a:off x="12639675" y="1495425"/>
            <a:ext cx="133350" cy="133350"/>
          </a:xfrm>
          <a:prstGeom prst="ellipse">
            <a:avLst/>
          </a:prstGeom>
          <a:solidFill>
            <a:srgbClr val="1D70A2"/>
          </a:solidFill>
          <a:ln w="11430">
            <a:solidFill>
              <a:srgbClr val="1D70A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12877800" y="1447800"/>
            <a:ext cx="78041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0B1F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2A"/>
                </a:solidFill>
                <a:latin typeface="Aptos"/>
                <a:ea typeface="Aptos"/>
                <a:cs typeface="Aptos"/>
              </a:rPr>
              <a:t>MemKD</a:t>
            </a:r>
            <a:endParaRPr sz="1125" b="1">
              <a:solidFill>
                <a:srgbClr val="0B1F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13620750" y="1447800"/>
            <a:ext cx="146621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memory trajectory</a:t>
            </a:r>
            <a:endParaRPr sz="975" b="0">
              <a:solidFill>
                <a:srgbClr val="5B67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5" name="椭圆 54"/>
          <p:cNvSpPr>
            <a:spLocks noGrp="1"/>
          </p:cNvSpPr>
          <p:nvPr/>
        </p:nvSpPr>
        <p:spPr>
          <a:xfrm>
            <a:off x="12639675" y="1819275"/>
            <a:ext cx="133350" cy="133350"/>
          </a:xfrm>
          <a:prstGeom prst="ellipse">
            <a:avLst/>
          </a:prstGeom>
          <a:solidFill>
            <a:srgbClr val="6A4C93"/>
          </a:solidFill>
          <a:ln w="1143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12877800" y="1771650"/>
            <a:ext cx="838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0B1F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2A"/>
                </a:solidFill>
                <a:latin typeface="Aptos"/>
                <a:ea typeface="Aptos"/>
                <a:cs typeface="Aptos"/>
              </a:rPr>
              <a:t>BPCSCfC</a:t>
            </a:r>
            <a:endParaRPr sz="1125" b="1">
              <a:solidFill>
                <a:srgbClr val="0B1F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13716000" y="1771650"/>
            <a:ext cx="108839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local/global</a:t>
            </a:r>
            <a:endParaRPr sz="975" b="0">
              <a:solidFill>
                <a:srgbClr val="5B67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8" name="椭圆 57"/>
          <p:cNvSpPr>
            <a:spLocks noGrp="1"/>
          </p:cNvSpPr>
          <p:nvPr/>
        </p:nvSpPr>
        <p:spPr>
          <a:xfrm>
            <a:off x="12639675" y="2143125"/>
            <a:ext cx="133350" cy="133350"/>
          </a:xfrm>
          <a:prstGeom prst="ellipse">
            <a:avLst/>
          </a:prstGeom>
          <a:solidFill>
            <a:srgbClr val="F4A62A"/>
          </a:solidFill>
          <a:ln w="11430">
            <a:solidFill>
              <a:srgbClr val="F4A6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12877800" y="20955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0B1F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2A"/>
                </a:solidFill>
                <a:latin typeface="Aptos"/>
                <a:ea typeface="Aptos"/>
                <a:cs typeface="Aptos"/>
              </a:rPr>
              <a:t>DRASP</a:t>
            </a:r>
            <a:endParaRPr sz="1125" b="1">
              <a:solidFill>
                <a:srgbClr val="0B1F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13716000" y="2095500"/>
            <a:ext cx="781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dual-res.</a:t>
            </a:r>
            <a:endParaRPr sz="975" b="0">
              <a:solidFill>
                <a:srgbClr val="5B6770"/>
              </a:solidFill>
              <a:latin typeface="Aptos"/>
              <a:ea typeface="Aptos"/>
              <a:cs typeface="Aptos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476250" y="3206115"/>
            <a:ext cx="6185535" cy="495300"/>
            <a:chOff x="750" y="5049"/>
            <a:chExt cx="9741" cy="780"/>
          </a:xfrm>
        </p:grpSpPr>
        <p:sp>
          <p:nvSpPr>
            <p:cNvPr id="5" name="矩形 4"/>
            <p:cNvSpPr>
              <a:spLocks noGrp="1"/>
            </p:cNvSpPr>
            <p:nvPr/>
          </p:nvSpPr>
          <p:spPr>
            <a:xfrm>
              <a:off x="750" y="5049"/>
              <a:ext cx="840" cy="42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l">
                <a:buNone/>
                <a:defRPr sz="1800" b="1">
                  <a:solidFill>
                    <a:srgbClr val="0B1F2A"/>
                  </a:solidFill>
                  <a:latin typeface="Aptos"/>
                  <a:ea typeface="Aptos"/>
                  <a:cs typeface="Aptos"/>
                </a:defRPr>
              </a:pPr>
              <a:r>
                <a:rPr sz="1800" b="1">
                  <a:solidFill>
                    <a:srgbClr val="0B1F2A"/>
                  </a:solidFill>
                  <a:latin typeface="Aptos"/>
                  <a:ea typeface="Aptos"/>
                  <a:cs typeface="Aptos"/>
                </a:rPr>
                <a:t>(b)</a:t>
              </a:r>
              <a:endParaRPr sz="1800" b="1">
                <a:solidFill>
                  <a:srgbClr val="0B1F2A"/>
                </a:solidFill>
                <a:latin typeface="Aptos"/>
                <a:ea typeface="Aptos"/>
                <a:cs typeface="Aptos"/>
              </a:endParaRPr>
            </a:p>
          </p:txBody>
        </p:sp>
        <p:sp>
          <p:nvSpPr>
            <p:cNvPr id="61" name="矩形 60"/>
            <p:cNvSpPr>
              <a:spLocks noGrp="1"/>
            </p:cNvSpPr>
            <p:nvPr/>
          </p:nvSpPr>
          <p:spPr>
            <a:xfrm>
              <a:off x="1567" y="5049"/>
              <a:ext cx="8925" cy="78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l">
                <a:buNone/>
                <a:defRPr sz="1650" b="1">
                  <a:solidFill>
                    <a:srgbClr val="0B1F2A"/>
                  </a:solidFill>
                  <a:latin typeface="Aptos"/>
                  <a:ea typeface="Aptos"/>
                  <a:cs typeface="Aptos"/>
                </a:defRPr>
              </a:pPr>
              <a:r>
                <a:rPr sz="1800" b="1">
                  <a:solidFill>
                    <a:srgbClr val="0B1F2A"/>
                  </a:solidFill>
                  <a:latin typeface="Aptos"/>
                  <a:ea typeface="Aptos"/>
                  <a:cs typeface="Aptos"/>
                </a:rPr>
                <a:t>Input underwater acoustic</a:t>
              </a:r>
              <a:r>
                <a:rPr lang="en-US" sz="1800" b="1">
                  <a:solidFill>
                    <a:srgbClr val="0B1F2A"/>
                  </a:solidFill>
                  <a:latin typeface="Aptos"/>
                  <a:ea typeface="Aptos"/>
                  <a:cs typeface="Aptos"/>
                </a:rPr>
                <a:t> </a:t>
              </a:r>
              <a:r>
                <a:rPr sz="1800" b="1">
                  <a:solidFill>
                    <a:srgbClr val="0B1F2A"/>
                  </a:solidFill>
                  <a:latin typeface="Aptos"/>
                  <a:ea typeface="Aptos"/>
                  <a:cs typeface="Aptos"/>
                </a:rPr>
                <a:t>waveform</a:t>
              </a:r>
              <a:endParaRPr sz="1800" b="1">
                <a:solidFill>
                  <a:srgbClr val="0B1F2A"/>
                </a:solidFill>
                <a:latin typeface="Aptos"/>
                <a:ea typeface="Aptos"/>
                <a:cs typeface="Aptos"/>
              </a:endParaRPr>
            </a:p>
          </p:txBody>
        </p:sp>
      </p:grpSp>
      <p:sp>
        <p:nvSpPr>
          <p:cNvPr id="68" name="圆角矩形 67"/>
          <p:cNvSpPr>
            <a:spLocks noGrp="1"/>
          </p:cNvSpPr>
          <p:nvPr/>
        </p:nvSpPr>
        <p:spPr>
          <a:xfrm>
            <a:off x="929005" y="2324100"/>
            <a:ext cx="3471545" cy="292735"/>
          </a:xfrm>
          <a:prstGeom prst="roundRect">
            <a:avLst>
              <a:gd name="adj" fmla="val 33333"/>
            </a:avLst>
          </a:prstGeom>
          <a:solidFill>
            <a:srgbClr val="EEF6FA"/>
          </a:solidFill>
          <a:ln w="13335">
            <a:solidFill>
              <a:srgbClr val="EEF6FA"/>
            </a:solidFill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0B1F2A"/>
                </a:solidFill>
                <a:latin typeface="Aptos"/>
                <a:ea typeface="Aptos"/>
                <a:cs typeface="Aptos"/>
              </a:defRPr>
            </a:pPr>
            <a:r>
              <a:rPr lang="en-US" sz="1200" b="1" dirty="0">
                <a:solidFill>
                  <a:srgbClr val="0B1F2A"/>
                </a:solidFill>
                <a:latin typeface="Aptos"/>
                <a:ea typeface="Aptos"/>
                <a:cs typeface="Aptos"/>
              </a:rPr>
              <a:t>ACC:</a:t>
            </a:r>
            <a:r>
              <a:rPr sz="1200" b="1" dirty="0">
                <a:solidFill>
                  <a:srgbClr val="0B1F2A"/>
                </a:solidFill>
                <a:latin typeface="Aptos"/>
                <a:ea typeface="Aptos"/>
                <a:cs typeface="Aptos"/>
              </a:rPr>
              <a:t>+5.67 pp </a:t>
            </a:r>
            <a:r>
              <a:rPr sz="1200" b="1" dirty="0" err="1">
                <a:solidFill>
                  <a:srgbClr val="0B1F2A"/>
                </a:solidFill>
                <a:latin typeface="Aptos"/>
                <a:ea typeface="Aptos"/>
                <a:cs typeface="Aptos"/>
              </a:rPr>
              <a:t>DeepShip</a:t>
            </a:r>
            <a:r>
              <a:rPr sz="1200" b="1" dirty="0">
                <a:solidFill>
                  <a:srgbClr val="0B1F2A"/>
                </a:solidFill>
                <a:latin typeface="Aptos"/>
                <a:ea typeface="Aptos"/>
                <a:cs typeface="Aptos"/>
              </a:rPr>
              <a:t>    +4.14 pp </a:t>
            </a:r>
            <a:r>
              <a:rPr sz="1200" b="1" dirty="0" err="1">
                <a:solidFill>
                  <a:srgbClr val="0B1F2A"/>
                </a:solidFill>
                <a:latin typeface="Aptos"/>
                <a:ea typeface="Aptos"/>
                <a:cs typeface="Aptos"/>
              </a:rPr>
              <a:t>ShipsEar</a:t>
            </a:r>
            <a:endParaRPr sz="1200" b="1" dirty="0">
              <a:solidFill>
                <a:srgbClr val="0B1F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2" name="圆角矩形 61"/>
          <p:cNvSpPr>
            <a:spLocks noGrp="1"/>
          </p:cNvSpPr>
          <p:nvPr/>
        </p:nvSpPr>
        <p:spPr>
          <a:xfrm>
            <a:off x="704850" y="4095750"/>
            <a:ext cx="2552700" cy="1504950"/>
          </a:xfrm>
          <a:prstGeom prst="roundRect">
            <a:avLst>
              <a:gd name="adj" fmla="val 6329"/>
            </a:avLst>
          </a:prstGeom>
          <a:solidFill>
            <a:srgbClr val="F9FCFE"/>
          </a:solidFill>
          <a:ln w="13335">
            <a:solidFill>
              <a:srgbClr val="CFE0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任意多边形 62"/>
          <p:cNvSpPr>
            <a:spLocks noGrp="1"/>
          </p:cNvSpPr>
          <p:nvPr/>
        </p:nvSpPr>
        <p:spPr>
          <a:xfrm>
            <a:off x="895350" y="4358005"/>
            <a:ext cx="2195830" cy="830580"/>
          </a:xfrm>
          <a:custGeom>
            <a:avLst/>
            <a:gdLst/>
            <a:ahLst/>
            <a:cxnLst/>
            <a:rect l="0" t="0" r="0" b="0"/>
            <a:pathLst>
              <a:path w="2195989" h="830457">
                <a:moveTo>
                  <a:pt x="0" y="452105"/>
                </a:moveTo>
                <a:lnTo>
                  <a:pt x="13811" y="16790"/>
                </a:lnTo>
                <a:lnTo>
                  <a:pt x="27623" y="517970"/>
                </a:lnTo>
                <a:lnTo>
                  <a:pt x="41434" y="795102"/>
                </a:lnTo>
                <a:lnTo>
                  <a:pt x="55245" y="471258"/>
                </a:lnTo>
                <a:lnTo>
                  <a:pt x="69056" y="0"/>
                </a:lnTo>
                <a:lnTo>
                  <a:pt x="82868" y="578342"/>
                </a:lnTo>
                <a:lnTo>
                  <a:pt x="96679" y="777956"/>
                </a:lnTo>
                <a:lnTo>
                  <a:pt x="110490" y="392064"/>
                </a:lnTo>
                <a:lnTo>
                  <a:pt x="124301" y="91744"/>
                </a:lnTo>
                <a:lnTo>
                  <a:pt x="138113" y="538640"/>
                </a:lnTo>
                <a:lnTo>
                  <a:pt x="151924" y="830457"/>
                </a:lnTo>
                <a:lnTo>
                  <a:pt x="165735" y="276364"/>
                </a:lnTo>
                <a:lnTo>
                  <a:pt x="179546" y="193051"/>
                </a:lnTo>
                <a:lnTo>
                  <a:pt x="193357" y="522006"/>
                </a:lnTo>
                <a:lnTo>
                  <a:pt x="207169" y="819537"/>
                </a:lnTo>
                <a:lnTo>
                  <a:pt x="220980" y="253254"/>
                </a:lnTo>
                <a:lnTo>
                  <a:pt x="234791" y="193616"/>
                </a:lnTo>
                <a:lnTo>
                  <a:pt x="248602" y="605779"/>
                </a:lnTo>
                <a:lnTo>
                  <a:pt x="262414" y="709941"/>
                </a:lnTo>
                <a:lnTo>
                  <a:pt x="276225" y="313210"/>
                </a:lnTo>
                <a:lnTo>
                  <a:pt x="290036" y="146385"/>
                </a:lnTo>
                <a:lnTo>
                  <a:pt x="303848" y="698380"/>
                </a:lnTo>
                <a:lnTo>
                  <a:pt x="317659" y="621618"/>
                </a:lnTo>
                <a:lnTo>
                  <a:pt x="331470" y="323042"/>
                </a:lnTo>
                <a:lnTo>
                  <a:pt x="345281" y="182014"/>
                </a:lnTo>
                <a:lnTo>
                  <a:pt x="359092" y="685578"/>
                </a:lnTo>
                <a:lnTo>
                  <a:pt x="372904" y="639623"/>
                </a:lnTo>
                <a:lnTo>
                  <a:pt x="386715" y="237852"/>
                </a:lnTo>
                <a:lnTo>
                  <a:pt x="400526" y="299554"/>
                </a:lnTo>
                <a:lnTo>
                  <a:pt x="414338" y="612967"/>
                </a:lnTo>
                <a:lnTo>
                  <a:pt x="428149" y="679535"/>
                </a:lnTo>
                <a:lnTo>
                  <a:pt x="441960" y="172162"/>
                </a:lnTo>
                <a:lnTo>
                  <a:pt x="455771" y="367024"/>
                </a:lnTo>
                <a:lnTo>
                  <a:pt x="469583" y="613770"/>
                </a:lnTo>
                <a:lnTo>
                  <a:pt x="483394" y="622912"/>
                </a:lnTo>
                <a:lnTo>
                  <a:pt x="497205" y="216848"/>
                </a:lnTo>
                <a:lnTo>
                  <a:pt x="511016" y="330952"/>
                </a:lnTo>
                <a:lnTo>
                  <a:pt x="524828" y="697039"/>
                </a:lnTo>
                <a:lnTo>
                  <a:pt x="538639" y="506863"/>
                </a:lnTo>
                <a:lnTo>
                  <a:pt x="552450" y="293699"/>
                </a:lnTo>
                <a:lnTo>
                  <a:pt x="566261" y="300889"/>
                </a:lnTo>
                <a:lnTo>
                  <a:pt x="580073" y="733831"/>
                </a:lnTo>
                <a:lnTo>
                  <a:pt x="593884" y="465566"/>
                </a:lnTo>
                <a:lnTo>
                  <a:pt x="607695" y="279461"/>
                </a:lnTo>
                <a:lnTo>
                  <a:pt x="621506" y="356963"/>
                </a:lnTo>
                <a:lnTo>
                  <a:pt x="635317" y="500075"/>
                </a:lnTo>
                <a:lnTo>
                  <a:pt x="649129" y="625080"/>
                </a:lnTo>
                <a:lnTo>
                  <a:pt x="662940" y="605096"/>
                </a:lnTo>
                <a:lnTo>
                  <a:pt x="676751" y="676828"/>
                </a:lnTo>
                <a:lnTo>
                  <a:pt x="690563" y="464915"/>
                </a:lnTo>
                <a:lnTo>
                  <a:pt x="704374" y="479157"/>
                </a:lnTo>
                <a:lnTo>
                  <a:pt x="718185" y="252981"/>
                </a:lnTo>
                <a:lnTo>
                  <a:pt x="731996" y="309200"/>
                </a:lnTo>
                <a:lnTo>
                  <a:pt x="745808" y="260003"/>
                </a:lnTo>
                <a:lnTo>
                  <a:pt x="759619" y="373576"/>
                </a:lnTo>
                <a:lnTo>
                  <a:pt x="773430" y="500577"/>
                </a:lnTo>
                <a:lnTo>
                  <a:pt x="787241" y="543481"/>
                </a:lnTo>
                <a:lnTo>
                  <a:pt x="801053" y="687659"/>
                </a:lnTo>
                <a:lnTo>
                  <a:pt x="814864" y="551710"/>
                </a:lnTo>
                <a:lnTo>
                  <a:pt x="828675" y="605221"/>
                </a:lnTo>
                <a:lnTo>
                  <a:pt x="842486" y="369456"/>
                </a:lnTo>
                <a:lnTo>
                  <a:pt x="856297" y="379967"/>
                </a:lnTo>
                <a:lnTo>
                  <a:pt x="870109" y="248348"/>
                </a:lnTo>
                <a:lnTo>
                  <a:pt x="883920" y="299081"/>
                </a:lnTo>
                <a:lnTo>
                  <a:pt x="897731" y="376050"/>
                </a:lnTo>
                <a:lnTo>
                  <a:pt x="911542" y="430804"/>
                </a:lnTo>
                <a:lnTo>
                  <a:pt x="925354" y="615336"/>
                </a:lnTo>
                <a:lnTo>
                  <a:pt x="939165" y="555298"/>
                </a:lnTo>
                <a:lnTo>
                  <a:pt x="952976" y="677785"/>
                </a:lnTo>
                <a:lnTo>
                  <a:pt x="966788" y="482577"/>
                </a:lnTo>
                <a:lnTo>
                  <a:pt x="980599" y="497140"/>
                </a:lnTo>
                <a:lnTo>
                  <a:pt x="994410" y="315802"/>
                </a:lnTo>
                <a:lnTo>
                  <a:pt x="1008221" y="306233"/>
                </a:lnTo>
                <a:lnTo>
                  <a:pt x="1022033" y="305615"/>
                </a:lnTo>
                <a:lnTo>
                  <a:pt x="1035844" y="325248"/>
                </a:lnTo>
                <a:lnTo>
                  <a:pt x="1049655" y="500597"/>
                </a:lnTo>
                <a:lnTo>
                  <a:pt x="1063466" y="484098"/>
                </a:lnTo>
                <a:lnTo>
                  <a:pt x="1077278" y="670279"/>
                </a:lnTo>
                <a:lnTo>
                  <a:pt x="1091089" y="541079"/>
                </a:lnTo>
                <a:lnTo>
                  <a:pt x="1104900" y="604020"/>
                </a:lnTo>
                <a:lnTo>
                  <a:pt x="1118711" y="421318"/>
                </a:lnTo>
                <a:lnTo>
                  <a:pt x="1132522" y="384548"/>
                </a:lnTo>
                <a:lnTo>
                  <a:pt x="1146334" y="312892"/>
                </a:lnTo>
                <a:lnTo>
                  <a:pt x="1160145" y="275279"/>
                </a:lnTo>
                <a:lnTo>
                  <a:pt x="1173956" y="398565"/>
                </a:lnTo>
                <a:lnTo>
                  <a:pt x="1187768" y="379369"/>
                </a:lnTo>
                <a:lnTo>
                  <a:pt x="1201579" y="595052"/>
                </a:lnTo>
                <a:lnTo>
                  <a:pt x="1215390" y="524215"/>
                </a:lnTo>
                <a:lnTo>
                  <a:pt x="1229201" y="654851"/>
                </a:lnTo>
                <a:lnTo>
                  <a:pt x="1243013" y="511427"/>
                </a:lnTo>
                <a:lnTo>
                  <a:pt x="1256824" y="492660"/>
                </a:lnTo>
                <a:lnTo>
                  <a:pt x="1270635" y="383825"/>
                </a:lnTo>
                <a:lnTo>
                  <a:pt x="1284446" y="298920"/>
                </a:lnTo>
                <a:lnTo>
                  <a:pt x="1298257" y="352312"/>
                </a:lnTo>
                <a:lnTo>
                  <a:pt x="1312069" y="292923"/>
                </a:lnTo>
                <a:lnTo>
                  <a:pt x="1325880" y="493408"/>
                </a:lnTo>
                <a:lnTo>
                  <a:pt x="1339691" y="447638"/>
                </a:lnTo>
                <a:lnTo>
                  <a:pt x="1353503" y="634171"/>
                </a:lnTo>
                <a:lnTo>
                  <a:pt x="1367314" y="545721"/>
                </a:lnTo>
                <a:lnTo>
                  <a:pt x="1381125" y="580431"/>
                </a:lnTo>
                <a:lnTo>
                  <a:pt x="1394936" y="477284"/>
                </a:lnTo>
                <a:lnTo>
                  <a:pt x="1408748" y="379070"/>
                </a:lnTo>
                <a:lnTo>
                  <a:pt x="1422559" y="374838"/>
                </a:lnTo>
                <a:lnTo>
                  <a:pt x="1436370" y="262602"/>
                </a:lnTo>
                <a:lnTo>
                  <a:pt x="1450181" y="413741"/>
                </a:lnTo>
                <a:lnTo>
                  <a:pt x="1463993" y="352249"/>
                </a:lnTo>
                <a:lnTo>
                  <a:pt x="1477804" y="560346"/>
                </a:lnTo>
                <a:lnTo>
                  <a:pt x="1491615" y="513572"/>
                </a:lnTo>
                <a:lnTo>
                  <a:pt x="1505426" y="612503"/>
                </a:lnTo>
                <a:lnTo>
                  <a:pt x="1519238" y="546650"/>
                </a:lnTo>
                <a:lnTo>
                  <a:pt x="1533049" y="475164"/>
                </a:lnTo>
                <a:lnTo>
                  <a:pt x="1546860" y="446624"/>
                </a:lnTo>
                <a:lnTo>
                  <a:pt x="1560671" y="296816"/>
                </a:lnTo>
                <a:lnTo>
                  <a:pt x="1574482" y="388947"/>
                </a:lnTo>
                <a:lnTo>
                  <a:pt x="1588294" y="282924"/>
                </a:lnTo>
                <a:lnTo>
                  <a:pt x="1602105" y="473469"/>
                </a:lnTo>
                <a:lnTo>
                  <a:pt x="1615916" y="435562"/>
                </a:lnTo>
                <a:lnTo>
                  <a:pt x="1629728" y="582537"/>
                </a:lnTo>
                <a:lnTo>
                  <a:pt x="1643539" y="561431"/>
                </a:lnTo>
                <a:lnTo>
                  <a:pt x="1657350" y="544085"/>
                </a:lnTo>
                <a:lnTo>
                  <a:pt x="1671161" y="528104"/>
                </a:lnTo>
                <a:lnTo>
                  <a:pt x="1684972" y="374079"/>
                </a:lnTo>
                <a:lnTo>
                  <a:pt x="1698784" y="423370"/>
                </a:lnTo>
                <a:lnTo>
                  <a:pt x="1712595" y="267866"/>
                </a:lnTo>
                <a:lnTo>
                  <a:pt x="1726406" y="414855"/>
                </a:lnTo>
                <a:lnTo>
                  <a:pt x="1740218" y="350686"/>
                </a:lnTo>
                <a:lnTo>
                  <a:pt x="1754029" y="512779"/>
                </a:lnTo>
                <a:lnTo>
                  <a:pt x="1767840" y="519176"/>
                </a:lnTo>
                <a:lnTo>
                  <a:pt x="1781651" y="559850"/>
                </a:lnTo>
                <a:lnTo>
                  <a:pt x="1795463" y="579756"/>
                </a:lnTo>
                <a:lnTo>
                  <a:pt x="1809274" y="456060"/>
                </a:lnTo>
                <a:lnTo>
                  <a:pt x="1823085" y="494077"/>
                </a:lnTo>
                <a:lnTo>
                  <a:pt x="1836896" y="307791"/>
                </a:lnTo>
                <a:lnTo>
                  <a:pt x="1850707" y="408292"/>
                </a:lnTo>
                <a:lnTo>
                  <a:pt x="1864519" y="296729"/>
                </a:lnTo>
                <a:lnTo>
                  <a:pt x="1878330" y="440800"/>
                </a:lnTo>
                <a:lnTo>
                  <a:pt x="1892141" y="443415"/>
                </a:lnTo>
                <a:lnTo>
                  <a:pt x="1905953" y="523361"/>
                </a:lnTo>
                <a:lnTo>
                  <a:pt x="1919764" y="579890"/>
                </a:lnTo>
                <a:lnTo>
                  <a:pt x="1933575" y="506736"/>
                </a:lnTo>
                <a:lnTo>
                  <a:pt x="1947386" y="564270"/>
                </a:lnTo>
                <a:lnTo>
                  <a:pt x="1961197" y="378718"/>
                </a:lnTo>
                <a:lnTo>
                  <a:pt x="1975009" y="451320"/>
                </a:lnTo>
                <a:lnTo>
                  <a:pt x="1988820" y="293392"/>
                </a:lnTo>
                <a:lnTo>
                  <a:pt x="2002631" y="400848"/>
                </a:lnTo>
                <a:lnTo>
                  <a:pt x="2016443" y="370141"/>
                </a:lnTo>
                <a:lnTo>
                  <a:pt x="2030254" y="458954"/>
                </a:lnTo>
                <a:lnTo>
                  <a:pt x="2044065" y="532410"/>
                </a:lnTo>
                <a:lnTo>
                  <a:pt x="2057876" y="508342"/>
                </a:lnTo>
                <a:lnTo>
                  <a:pt x="2071688" y="601425"/>
                </a:lnTo>
                <a:lnTo>
                  <a:pt x="2085499" y="445552"/>
                </a:lnTo>
                <a:lnTo>
                  <a:pt x="2099310" y="519297"/>
                </a:lnTo>
                <a:lnTo>
                  <a:pt x="2113121" y="335474"/>
                </a:lnTo>
                <a:lnTo>
                  <a:pt x="2126932" y="408793"/>
                </a:lnTo>
                <a:lnTo>
                  <a:pt x="2140744" y="330198"/>
                </a:lnTo>
                <a:lnTo>
                  <a:pt x="2154555" y="400779"/>
                </a:lnTo>
                <a:lnTo>
                  <a:pt x="2168366" y="462170"/>
                </a:lnTo>
                <a:lnTo>
                  <a:pt x="2182178" y="467298"/>
                </a:lnTo>
                <a:lnTo>
                  <a:pt x="2195989" y="591453"/>
                </a:lnTo>
              </a:path>
            </a:pathLst>
          </a:custGeom>
          <a:noFill/>
          <a:ln w="22860">
            <a:solidFill>
              <a:srgbClr val="1D70A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1066800" y="4229100"/>
            <a:ext cx="169481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D33A2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33A2C"/>
                </a:solidFill>
                <a:latin typeface="Aptos"/>
                <a:ea typeface="Aptos"/>
                <a:cs typeface="Aptos"/>
              </a:rPr>
              <a:t>transient</a:t>
            </a:r>
            <a:r>
              <a:rPr lang="en-US" sz="1125" b="1">
                <a:solidFill>
                  <a:srgbClr val="D33A2C"/>
                </a:solidFill>
                <a:latin typeface="Aptos"/>
                <a:ea typeface="Aptos"/>
                <a:cs typeface="Aptos"/>
              </a:rPr>
              <a:t> </a:t>
            </a:r>
            <a:r>
              <a:rPr sz="1125" b="1">
                <a:solidFill>
                  <a:srgbClr val="D33A2C"/>
                </a:solidFill>
                <a:latin typeface="Aptos"/>
                <a:ea typeface="Aptos"/>
                <a:cs typeface="Aptos"/>
              </a:rPr>
              <a:t>spikes</a:t>
            </a:r>
            <a:endParaRPr sz="1125" b="1">
              <a:solidFill>
                <a:srgbClr val="D33A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2000250" y="5143500"/>
            <a:ext cx="1047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125" b="1" dirty="0">
                <a:solidFill>
                  <a:srgbClr val="5B6770"/>
                </a:solidFill>
                <a:latin typeface="Aptos"/>
                <a:ea typeface="Aptos"/>
                <a:cs typeface="Aptos"/>
              </a:rPr>
              <a:t>continuous</a:t>
            </a:r>
            <a:endParaRPr sz="1125" b="1" dirty="0">
              <a:solidFill>
                <a:srgbClr val="5B6770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125" b="1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B6770"/>
                </a:solidFill>
                <a:latin typeface="Aptos"/>
                <a:ea typeface="Aptos"/>
                <a:cs typeface="Aptos"/>
              </a:rPr>
              <a:t>background</a:t>
            </a:r>
            <a:endParaRPr sz="1125" b="1">
              <a:solidFill>
                <a:srgbClr val="5B67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6" name="任意多边形 65"/>
          <p:cNvSpPr>
            <a:spLocks noGrp="1"/>
          </p:cNvSpPr>
          <p:nvPr/>
        </p:nvSpPr>
        <p:spPr>
          <a:xfrm>
            <a:off x="904875" y="5219700"/>
            <a:ext cx="714375" cy="9525"/>
          </a:xfrm>
          <a:custGeom>
            <a:avLst/>
            <a:gdLst/>
            <a:ahLst/>
            <a:cxnLst/>
            <a:rect l="0" t="0" r="0" b="0"/>
            <a:pathLst>
              <a:path w="714375" h="9525">
                <a:moveTo>
                  <a:pt x="0" y="0"/>
                </a:moveTo>
                <a:lnTo>
                  <a:pt x="714375" y="0"/>
                </a:lnTo>
              </a:path>
            </a:pathLst>
          </a:custGeom>
          <a:noFill/>
          <a:ln w="38100">
            <a:solidFill>
              <a:srgbClr val="F4A6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任意多边形 66"/>
          <p:cNvSpPr>
            <a:spLocks noGrp="1"/>
          </p:cNvSpPr>
          <p:nvPr/>
        </p:nvSpPr>
        <p:spPr>
          <a:xfrm>
            <a:off x="1743075" y="5219700"/>
            <a:ext cx="1304925" cy="9525"/>
          </a:xfrm>
          <a:custGeom>
            <a:avLst/>
            <a:gdLst/>
            <a:ahLst/>
            <a:cxnLst/>
            <a:rect l="0" t="0" r="0" b="0"/>
            <a:pathLst>
              <a:path w="1304925" h="9525">
                <a:moveTo>
                  <a:pt x="0" y="0"/>
                </a:moveTo>
                <a:lnTo>
                  <a:pt x="1304925" y="0"/>
                </a:lnTo>
              </a:path>
            </a:pathLst>
          </a:custGeom>
          <a:noFill/>
          <a:ln w="38100">
            <a:solidFill>
              <a:srgbClr val="3BB7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圆角矩形 68"/>
          <p:cNvSpPr>
            <a:spLocks noGrp="1"/>
          </p:cNvSpPr>
          <p:nvPr/>
        </p:nvSpPr>
        <p:spPr>
          <a:xfrm>
            <a:off x="800100" y="5651500"/>
            <a:ext cx="2266950" cy="285750"/>
          </a:xfrm>
          <a:prstGeom prst="roundRect">
            <a:avLst>
              <a:gd name="adj" fmla="val 33333"/>
            </a:avLst>
          </a:prstGeom>
          <a:solidFill>
            <a:srgbClr val="F6F4FB"/>
          </a:solidFill>
          <a:ln w="13335">
            <a:solidFill>
              <a:srgbClr val="F6F4FB"/>
            </a:solidFill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0B1F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F2A"/>
                </a:solidFill>
                <a:latin typeface="Aptos"/>
                <a:ea typeface="Aptos"/>
                <a:cs typeface="Aptos"/>
              </a:rPr>
              <a:t>3 s waveform, 16 kHz</a:t>
            </a:r>
            <a:endParaRPr sz="975" b="1">
              <a:solidFill>
                <a:srgbClr val="0B1F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0" name="右箭头 69"/>
          <p:cNvSpPr>
            <a:spLocks noGrp="1"/>
          </p:cNvSpPr>
          <p:nvPr/>
        </p:nvSpPr>
        <p:spPr>
          <a:xfrm>
            <a:off x="3333750" y="4667250"/>
            <a:ext cx="514350" cy="40005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D70A2"/>
          </a:solidFill>
          <a:ln w="7620">
            <a:solidFill>
              <a:srgbClr val="1D70A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圆角矩形 74"/>
          <p:cNvSpPr>
            <a:spLocks noGrp="1"/>
          </p:cNvSpPr>
          <p:nvPr/>
        </p:nvSpPr>
        <p:spPr>
          <a:xfrm>
            <a:off x="5873115" y="6421755"/>
            <a:ext cx="2400300" cy="1066800"/>
          </a:xfrm>
          <a:prstGeom prst="roundRect">
            <a:avLst>
              <a:gd name="adj" fmla="val 8929"/>
            </a:avLst>
          </a:prstGeom>
          <a:solidFill>
            <a:srgbClr val="EDF4FF"/>
          </a:solidFill>
          <a:ln w="13335">
            <a:solidFill>
              <a:srgbClr val="AFC5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91" name="组合 190"/>
          <p:cNvGrpSpPr/>
          <p:nvPr/>
        </p:nvGrpSpPr>
        <p:grpSpPr>
          <a:xfrm>
            <a:off x="8629650" y="6421755"/>
            <a:ext cx="3897630" cy="1066800"/>
            <a:chOff x="13370" y="10113"/>
            <a:chExt cx="6138" cy="1680"/>
          </a:xfrm>
        </p:grpSpPr>
        <p:sp>
          <p:nvSpPr>
            <p:cNvPr id="86" name="圆角矩形 85"/>
            <p:cNvSpPr>
              <a:spLocks noGrp="1"/>
            </p:cNvSpPr>
            <p:nvPr/>
          </p:nvSpPr>
          <p:spPr>
            <a:xfrm>
              <a:off x="13370" y="10113"/>
              <a:ext cx="3150" cy="1680"/>
            </a:xfrm>
            <a:prstGeom prst="roundRect">
              <a:avLst>
                <a:gd name="adj" fmla="val 8929"/>
              </a:avLst>
            </a:prstGeom>
            <a:solidFill>
              <a:srgbClr val="F5F0FF"/>
            </a:solidFill>
            <a:ln w="13335">
              <a:solidFill>
                <a:srgbClr val="C7B7E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矩形 86"/>
            <p:cNvSpPr>
              <a:spLocks noGrp="1"/>
            </p:cNvSpPr>
            <p:nvPr/>
          </p:nvSpPr>
          <p:spPr>
            <a:xfrm>
              <a:off x="13688" y="10293"/>
              <a:ext cx="2550" cy="36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buNone/>
                <a:defRPr sz="1650" b="1">
                  <a:solidFill>
                    <a:srgbClr val="6A4C93"/>
                  </a:solidFill>
                  <a:latin typeface="Aptos"/>
                  <a:ea typeface="Aptos"/>
                  <a:cs typeface="Aptos"/>
                </a:defRPr>
              </a:pPr>
              <a:r>
                <a:rPr sz="1650" b="1">
                  <a:solidFill>
                    <a:srgbClr val="6A4C93"/>
                  </a:solidFill>
                  <a:latin typeface="Aptos"/>
                  <a:ea typeface="Aptos"/>
                  <a:cs typeface="Aptos"/>
                </a:rPr>
                <a:t>DRASP</a:t>
              </a:r>
              <a:endParaRPr sz="1650" b="1">
                <a:solidFill>
                  <a:srgbClr val="6A4C93"/>
                </a:solidFill>
                <a:latin typeface="Aptos"/>
                <a:ea typeface="Aptos"/>
                <a:cs typeface="Aptos"/>
              </a:endParaRPr>
            </a:p>
          </p:txBody>
        </p:sp>
        <p:sp>
          <p:nvSpPr>
            <p:cNvPr id="88" name="圆角矩形 87"/>
            <p:cNvSpPr>
              <a:spLocks noGrp="1"/>
            </p:cNvSpPr>
            <p:nvPr/>
          </p:nvSpPr>
          <p:spPr>
            <a:xfrm>
              <a:off x="13718" y="10833"/>
              <a:ext cx="1080" cy="540"/>
            </a:xfrm>
            <a:prstGeom prst="roundRect">
              <a:avLst>
                <a:gd name="adj" fmla="val 27778"/>
              </a:avLst>
            </a:prstGeom>
            <a:solidFill>
              <a:srgbClr val="E8F6EA"/>
            </a:solidFill>
            <a:ln w="13335">
              <a:solidFill>
                <a:srgbClr val="BEE2C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矩形 88"/>
            <p:cNvSpPr>
              <a:spLocks noGrp="1"/>
            </p:cNvSpPr>
            <p:nvPr/>
          </p:nvSpPr>
          <p:spPr>
            <a:xfrm>
              <a:off x="13718" y="10953"/>
              <a:ext cx="1080" cy="27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buNone/>
                <a:defRPr sz="1050" b="1">
                  <a:solidFill>
                    <a:srgbClr val="0B1F2A"/>
                  </a:solidFill>
                  <a:latin typeface="Aptos"/>
                  <a:ea typeface="Aptos"/>
                  <a:cs typeface="Aptos"/>
                </a:defRPr>
              </a:pPr>
              <a:r>
                <a:rPr sz="1050" b="1">
                  <a:solidFill>
                    <a:srgbClr val="0B1F2A"/>
                  </a:solidFill>
                  <a:latin typeface="Aptos"/>
                  <a:ea typeface="Aptos"/>
                  <a:cs typeface="Aptos"/>
                </a:rPr>
                <a:t>Global</a:t>
              </a:r>
              <a:endParaRPr sz="1050" b="1">
                <a:solidFill>
                  <a:srgbClr val="0B1F2A"/>
                </a:solidFill>
                <a:latin typeface="Aptos"/>
                <a:ea typeface="Aptos"/>
                <a:cs typeface="Aptos"/>
              </a:endParaRPr>
            </a:p>
          </p:txBody>
        </p:sp>
        <p:sp>
          <p:nvSpPr>
            <p:cNvPr id="90" name="圆角矩形 89"/>
            <p:cNvSpPr>
              <a:spLocks noGrp="1"/>
            </p:cNvSpPr>
            <p:nvPr/>
          </p:nvSpPr>
          <p:spPr>
            <a:xfrm>
              <a:off x="15008" y="10833"/>
              <a:ext cx="1080" cy="540"/>
            </a:xfrm>
            <a:prstGeom prst="roundRect">
              <a:avLst>
                <a:gd name="adj" fmla="val 27778"/>
              </a:avLst>
            </a:prstGeom>
            <a:solidFill>
              <a:srgbClr val="FFF4DD"/>
            </a:solidFill>
            <a:ln w="13335">
              <a:solidFill>
                <a:srgbClr val="EAC278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矩形 90"/>
            <p:cNvSpPr>
              <a:spLocks noGrp="1"/>
            </p:cNvSpPr>
            <p:nvPr/>
          </p:nvSpPr>
          <p:spPr>
            <a:xfrm>
              <a:off x="15008" y="10953"/>
              <a:ext cx="1080" cy="27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buNone/>
                <a:defRPr sz="1050" b="1">
                  <a:solidFill>
                    <a:srgbClr val="0B1F2A"/>
                  </a:solidFill>
                  <a:latin typeface="Aptos"/>
                  <a:ea typeface="Aptos"/>
                  <a:cs typeface="Aptos"/>
                </a:defRPr>
              </a:pPr>
              <a:r>
                <a:rPr sz="1050" b="1">
                  <a:solidFill>
                    <a:srgbClr val="0B1F2A"/>
                  </a:solidFill>
                  <a:latin typeface="Aptos"/>
                  <a:ea typeface="Aptos"/>
                  <a:cs typeface="Aptos"/>
                </a:rPr>
                <a:t>Local</a:t>
              </a:r>
              <a:endParaRPr sz="1050" b="1">
                <a:solidFill>
                  <a:srgbClr val="0B1F2A"/>
                </a:solidFill>
                <a:latin typeface="Aptos"/>
                <a:ea typeface="Aptos"/>
                <a:cs typeface="Aptos"/>
              </a:endParaRPr>
            </a:p>
          </p:txBody>
        </p:sp>
        <p:sp>
          <p:nvSpPr>
            <p:cNvPr id="92" name="矩形 91"/>
            <p:cNvSpPr>
              <a:spLocks noGrp="1"/>
            </p:cNvSpPr>
            <p:nvPr/>
          </p:nvSpPr>
          <p:spPr>
            <a:xfrm>
              <a:off x="13502" y="11418"/>
              <a:ext cx="2886" cy="27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buNone/>
                <a:defRPr sz="975" b="1">
                  <a:solidFill>
                    <a:srgbClr val="5B6770"/>
                  </a:solidFill>
                  <a:latin typeface="Aptos"/>
                  <a:ea typeface="Aptos"/>
                  <a:cs typeface="Aptos"/>
                </a:defRPr>
              </a:pPr>
              <a:r>
                <a:rPr sz="975" b="1">
                  <a:solidFill>
                    <a:srgbClr val="5B6770"/>
                  </a:solidFill>
                  <a:latin typeface="Aptos"/>
                  <a:ea typeface="Aptos"/>
                  <a:cs typeface="Aptos"/>
                </a:rPr>
                <a:t>attentive statistics pooling</a:t>
              </a:r>
              <a:endParaRPr sz="975" b="1">
                <a:solidFill>
                  <a:srgbClr val="5B6770"/>
                </a:solidFill>
                <a:latin typeface="Aptos"/>
                <a:ea typeface="Aptos"/>
                <a:cs typeface="Aptos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3" name="圆角矩形 92"/>
                <p:cNvSpPr>
                  <a:spLocks noGrp="1"/>
                </p:cNvSpPr>
                <p:nvPr/>
              </p:nvSpPr>
              <p:spPr>
                <a:xfrm>
                  <a:off x="17018" y="10413"/>
                  <a:ext cx="2490" cy="1170"/>
                </a:xfrm>
                <a:prstGeom prst="roundRect">
                  <a:avLst>
                    <a:gd name="adj" fmla="val 12821"/>
                  </a:avLst>
                </a:prstGeom>
                <a:solidFill>
                  <a:srgbClr val="E8F6EA"/>
                </a:solidFill>
                <a:ln w="13335">
                  <a:solidFill>
                    <a:srgbClr val="A8D8AD"/>
                  </a:solidFill>
                  <a:prstDash val="solid"/>
                </a:ln>
              </p:spPr>
              <p:txBody>
                <a:bodyPr/>
                <a:lstStyle/>
                <a:p>
                  <a:pPr algn="ctr">
                    <a:buNone/>
                    <a:defRPr sz="1425" b="1">
                      <a:solidFill>
                        <a:srgbClr val="0B1F2A"/>
                      </a:solidFill>
                      <a:latin typeface="Aptos"/>
                      <a:ea typeface="Aptos"/>
                      <a:cs typeface="Aptos"/>
                    </a:defRPr>
                  </a:pPr>
                  <a:r>
                    <a:rPr sz="1425" b="1" dirty="0">
                      <a:solidFill>
                        <a:srgbClr val="0B1F2A"/>
                      </a:solidFill>
                      <a:latin typeface="Aptos"/>
                      <a:ea typeface="Aptos"/>
                      <a:cs typeface="Aptos"/>
                    </a:rPr>
                    <a:t>Classifier</a:t>
                  </a:r>
                  <a:endParaRPr sz="1425" b="1" dirty="0">
                    <a:solidFill>
                      <a:srgbClr val="0B1F2A"/>
                    </a:solidFill>
                    <a:latin typeface="Aptos"/>
                    <a:ea typeface="Aptos"/>
                    <a:cs typeface="Aptos"/>
                  </a:endParaRPr>
                </a:p>
                <a:p>
                  <a:pPr algn="ctr">
                    <a:buNone/>
                    <a:defRPr sz="1425" b="1">
                      <a:solidFill>
                        <a:srgbClr val="0B1F2A"/>
                      </a:solidFill>
                      <a:latin typeface="Aptos"/>
                      <a:ea typeface="Aptos"/>
                      <a:cs typeface="Aptos"/>
                    </a:defRPr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425" b="1" i="1" smtClean="0">
                              <a:solidFill>
                                <a:srgbClr val="0B1F2A"/>
                              </a:solidFill>
                              <a:latin typeface="Cambria Math" panose="02040503050406030204" pitchFamily="18" charset="0"/>
                              <a:ea typeface="Aptos"/>
                              <a:cs typeface="Aptos"/>
                            </a:rPr>
                          </m:ctrlPr>
                        </m:sSubPr>
                        <m:e>
                          <m:r>
                            <a:rPr lang="en-US" altLang="zh-CN" sz="1425" b="1" i="1" smtClean="0">
                              <a:solidFill>
                                <a:srgbClr val="0B1F2A"/>
                              </a:solidFill>
                              <a:latin typeface="Cambria Math" panose="02040503050406030204" pitchFamily="18" charset="0"/>
                              <a:ea typeface="Aptos"/>
                              <a:cs typeface="Aptos"/>
                            </a:rPr>
                            <m:t>𝒁</m:t>
                          </m:r>
                        </m:e>
                        <m:sub>
                          <m:r>
                            <a:rPr lang="en-US" altLang="zh-CN" sz="1425" b="1" i="1" smtClean="0">
                              <a:solidFill>
                                <a:srgbClr val="0B1F2A"/>
                              </a:solidFill>
                              <a:latin typeface="Cambria Math" panose="02040503050406030204" pitchFamily="18" charset="0"/>
                              <a:ea typeface="Aptos"/>
                              <a:cs typeface="Aptos"/>
                            </a:rPr>
                            <m:t>𝑺</m:t>
                          </m:r>
                        </m:sub>
                      </m:sSub>
                    </m:oMath>
                  </a14:m>
                  <a:r>
                    <a:rPr sz="1425" b="1" dirty="0">
                      <a:solidFill>
                        <a:srgbClr val="0B1F2A"/>
                      </a:solidFill>
                      <a:latin typeface="Aptos"/>
                      <a:ea typeface="Aptos"/>
                      <a:cs typeface="Aptos"/>
                    </a:rPr>
                    <a:t> -&gt; target</a:t>
                  </a:r>
                  <a:endParaRPr sz="1425" b="1" dirty="0">
                    <a:solidFill>
                      <a:srgbClr val="0B1F2A"/>
                    </a:solidFill>
                    <a:latin typeface="Aptos"/>
                    <a:ea typeface="Aptos"/>
                    <a:cs typeface="Aptos"/>
                  </a:endParaRPr>
                </a:p>
              </p:txBody>
            </p:sp>
          </mc:Choice>
          <mc:Fallback>
            <p:sp>
              <p:nvSpPr>
                <p:cNvPr id="93" name="圆角矩形 9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18" y="10413"/>
                  <a:ext cx="2490" cy="1170"/>
                </a:xfrm>
                <a:prstGeom prst="roundRect">
                  <a:avLst>
                    <a:gd name="adj" fmla="val 12821"/>
                  </a:avLst>
                </a:prstGeom>
                <a:blipFill rotWithShape="1">
                  <a:blip r:embed="rId1"/>
                </a:blipFill>
                <a:ln w="13335">
                  <a:solidFill>
                    <a:srgbClr val="A8D8AD"/>
                  </a:solidFill>
                  <a:prstDash val="solid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6" name="右箭头 95"/>
            <p:cNvSpPr>
              <a:spLocks noGrp="1"/>
            </p:cNvSpPr>
            <p:nvPr/>
          </p:nvSpPr>
          <p:spPr>
            <a:xfrm>
              <a:off x="16538" y="10713"/>
              <a:ext cx="493" cy="51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39A844"/>
            </a:solidFill>
            <a:ln w="7620">
              <a:solidFill>
                <a:srgbClr val="39A844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7" name="矩形 96"/>
          <p:cNvSpPr>
            <a:spLocks noGrp="1"/>
          </p:cNvSpPr>
          <p:nvPr/>
        </p:nvSpPr>
        <p:spPr>
          <a:xfrm>
            <a:off x="4138930" y="7612380"/>
            <a:ext cx="823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650" b="1">
                <a:solidFill>
                  <a:srgbClr val="0B1F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2A"/>
                </a:solidFill>
                <a:latin typeface="Aptos"/>
                <a:ea typeface="Aptos"/>
                <a:cs typeface="Aptos"/>
              </a:rPr>
              <a:t>Lightweight LNN student</a:t>
            </a:r>
            <a:endParaRPr sz="1650" b="1">
              <a:solidFill>
                <a:srgbClr val="0B1F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6" name="矩形 115"/>
          <p:cNvSpPr>
            <a:spLocks noGrp="1"/>
          </p:cNvSpPr>
          <p:nvPr/>
        </p:nvSpPr>
        <p:spPr>
          <a:xfrm>
            <a:off x="10327005" y="3072765"/>
            <a:ext cx="29495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39A84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9A844"/>
                </a:solidFill>
                <a:latin typeface="Aptos"/>
                <a:ea typeface="Aptos"/>
                <a:cs typeface="Aptos"/>
              </a:rPr>
              <a:t>learned temporal-memory knowledge</a:t>
            </a:r>
            <a:endParaRPr sz="1275" b="1">
              <a:solidFill>
                <a:srgbClr val="39A84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7" name="圆角矩形 116"/>
          <p:cNvSpPr>
            <a:spLocks noGrp="1"/>
          </p:cNvSpPr>
          <p:nvPr/>
        </p:nvSpPr>
        <p:spPr>
          <a:xfrm>
            <a:off x="8020050" y="3061970"/>
            <a:ext cx="2000250" cy="457200"/>
          </a:xfrm>
          <a:prstGeom prst="roundRect">
            <a:avLst>
              <a:gd name="adj" fmla="val 20833"/>
            </a:avLst>
          </a:prstGeom>
          <a:solidFill>
            <a:srgbClr val="FFF1F1"/>
          </a:solidFill>
          <a:ln w="13335">
            <a:solidFill>
              <a:srgbClr val="ECA6A6"/>
            </a:solidFill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D33A2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33A2C"/>
                </a:solidFill>
                <a:latin typeface="Aptos"/>
                <a:ea typeface="Aptos"/>
                <a:cs typeface="Aptos"/>
              </a:rPr>
              <a:t>rigid feature</a:t>
            </a:r>
            <a:endParaRPr sz="1200" b="1">
              <a:solidFill>
                <a:srgbClr val="D33A2C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200" b="1">
                <a:solidFill>
                  <a:srgbClr val="D33A2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33A2C"/>
                </a:solidFill>
                <a:latin typeface="Aptos"/>
                <a:ea typeface="Aptos"/>
                <a:cs typeface="Aptos"/>
              </a:rPr>
              <a:t>alignment mismatch</a:t>
            </a:r>
            <a:endParaRPr sz="1200" b="1">
              <a:solidFill>
                <a:srgbClr val="D33A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8" name="矩形 117"/>
          <p:cNvSpPr>
            <a:spLocks noGrp="1"/>
          </p:cNvSpPr>
          <p:nvPr/>
        </p:nvSpPr>
        <p:spPr>
          <a:xfrm>
            <a:off x="9564370" y="2952750"/>
            <a:ext cx="49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3000" b="1">
                <a:solidFill>
                  <a:srgbClr val="D33A2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33A2C"/>
                </a:solidFill>
                <a:latin typeface="Aptos"/>
                <a:ea typeface="Aptos"/>
                <a:cs typeface="Aptos"/>
              </a:rPr>
              <a:t>×</a:t>
            </a:r>
            <a:endParaRPr sz="3000" b="1">
              <a:solidFill>
                <a:srgbClr val="D33A2C"/>
              </a:solidFill>
              <a:latin typeface="Aptos"/>
              <a:ea typeface="Aptos"/>
              <a:cs typeface="Apto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4" name="圆角矩形 163"/>
              <p:cNvSpPr>
                <a:spLocks noGrp="1"/>
              </p:cNvSpPr>
              <p:nvPr/>
            </p:nvSpPr>
            <p:spPr>
              <a:xfrm>
                <a:off x="12861925" y="5060315"/>
                <a:ext cx="1789430" cy="838200"/>
              </a:xfrm>
              <a:prstGeom prst="roundRect">
                <a:avLst>
                  <a:gd name="adj" fmla="val 11364"/>
                </a:avLst>
              </a:prstGeom>
              <a:solidFill>
                <a:srgbClr val="FFF8E8"/>
              </a:solidFill>
              <a:ln w="13335">
                <a:solidFill>
                  <a:srgbClr val="E6BF72"/>
                </a:solidFill>
                <a:prstDash val="solid"/>
              </a:ln>
            </p:spPr>
            <p:txBody>
              <a:bodyPr/>
              <a:lstStyle/>
              <a:p>
                <a:pPr algn="ctr">
                  <a:buNone/>
                  <a:defRPr sz="1200" b="1">
                    <a:solidFill>
                      <a:srgbClr val="0B1F2A"/>
                    </a:solidFill>
                    <a:latin typeface="Aptos"/>
                    <a:ea typeface="Aptos"/>
                    <a:cs typeface="Aptos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𝑳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𝒕𝒐𝒕𝒂𝒍</m:t>
                          </m:r>
                        </m:sub>
                      </m:sSub>
                    </m:oMath>
                  </m:oMathPara>
                </a14:m>
                <a:endParaRPr sz="1200" b="1" dirty="0">
                  <a:solidFill>
                    <a:srgbClr val="0B1F2A"/>
                  </a:solidFill>
                  <a:latin typeface="Aptos"/>
                  <a:ea typeface="Aptos"/>
                  <a:cs typeface="Aptos"/>
                </a:endParaRPr>
              </a:p>
              <a:p>
                <a:pPr algn="ctr">
                  <a:buNone/>
                  <a:defRPr sz="1200" b="1">
                    <a:solidFill>
                      <a:srgbClr val="0B1F2A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1200" b="1" dirty="0">
                    <a:solidFill>
                      <a:srgbClr val="0B1F2A"/>
                    </a:solidFill>
                    <a:latin typeface="Aptos"/>
                    <a:ea typeface="Aptos"/>
                    <a:cs typeface="Aptos"/>
                  </a:rPr>
                  <a:t>CE + </a:t>
                </a:r>
                <a:r>
                  <a:rPr sz="1200" b="1" dirty="0" err="1">
                    <a:solidFill>
                      <a:srgbClr val="0B1F2A"/>
                    </a:solidFill>
                    <a:latin typeface="Aptos"/>
                    <a:ea typeface="Aptos"/>
                    <a:cs typeface="Aptos"/>
                  </a:rPr>
                  <a:t>MemKD</a:t>
                </a:r>
                <a:endParaRPr sz="1200" b="1" dirty="0">
                  <a:solidFill>
                    <a:srgbClr val="0B1F2A"/>
                  </a:solidFill>
                  <a:latin typeface="Aptos"/>
                  <a:ea typeface="Aptos"/>
                  <a:cs typeface="Aptos"/>
                </a:endParaRPr>
              </a:p>
              <a:p>
                <a:pPr algn="ctr">
                  <a:buNone/>
                  <a:defRPr sz="1200" b="1">
                    <a:solidFill>
                      <a:srgbClr val="0B1F2A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1200" b="1" dirty="0">
                    <a:solidFill>
                      <a:srgbClr val="0B1F2A"/>
                    </a:solidFill>
                    <a:latin typeface="Aptos"/>
                    <a:ea typeface="Aptos"/>
                    <a:cs typeface="Aptos"/>
                  </a:rPr>
                  <a:t>+ TS-T</a:t>
                </a:r>
                <a:endParaRPr sz="1200" b="1" dirty="0">
                  <a:solidFill>
                    <a:srgbClr val="0B1F2A"/>
                  </a:solidFill>
                  <a:latin typeface="Aptos"/>
                  <a:ea typeface="Aptos"/>
                  <a:cs typeface="Aptos"/>
                </a:endParaRPr>
              </a:p>
            </p:txBody>
          </p:sp>
        </mc:Choice>
        <mc:Fallback>
          <p:sp>
            <p:nvSpPr>
              <p:cNvPr id="164" name="圆角矩形 16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61925" y="5060315"/>
                <a:ext cx="1789430" cy="838200"/>
              </a:xfrm>
              <a:prstGeom prst="roundRect">
                <a:avLst>
                  <a:gd name="adj" fmla="val 11364"/>
                </a:avLst>
              </a:prstGeom>
              <a:blipFill rotWithShape="1">
                <a:blip r:embed="rId2"/>
                <a:stretch>
                  <a:fillRect l="-390" t="-833" r="-355" b="-758"/>
                </a:stretch>
              </a:blipFill>
              <a:ln w="13335">
                <a:solidFill>
                  <a:srgbClr val="E6BF72"/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2" name="圆角矩形 171"/>
          <p:cNvSpPr>
            <a:spLocks noGrp="1"/>
          </p:cNvSpPr>
          <p:nvPr/>
        </p:nvSpPr>
        <p:spPr>
          <a:xfrm>
            <a:off x="781050" y="7943850"/>
            <a:ext cx="2286000" cy="247650"/>
          </a:xfrm>
          <a:prstGeom prst="roundRect">
            <a:avLst>
              <a:gd name="adj" fmla="val 38462"/>
            </a:avLst>
          </a:prstGeom>
          <a:solidFill>
            <a:srgbClr val="EEF6FA"/>
          </a:solidFill>
          <a:ln w="13335">
            <a:solidFill>
              <a:srgbClr val="EEF6FA"/>
            </a:solidFill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0B1F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F2A"/>
                </a:solidFill>
                <a:latin typeface="Aptos"/>
                <a:ea typeface="Aptos"/>
                <a:cs typeface="Aptos"/>
              </a:rPr>
              <a:t>raw waveform  |  1D signal</a:t>
            </a:r>
            <a:endParaRPr sz="975" b="1">
              <a:solidFill>
                <a:srgbClr val="0B1F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3" name="圆角矩形 172"/>
          <p:cNvSpPr>
            <a:spLocks noGrp="1"/>
          </p:cNvSpPr>
          <p:nvPr/>
        </p:nvSpPr>
        <p:spPr>
          <a:xfrm>
            <a:off x="3562350" y="7943850"/>
            <a:ext cx="2286000" cy="247650"/>
          </a:xfrm>
          <a:prstGeom prst="roundRect">
            <a:avLst>
              <a:gd name="adj" fmla="val 38462"/>
            </a:avLst>
          </a:prstGeom>
          <a:solidFill>
            <a:srgbClr val="F6F4FB"/>
          </a:solidFill>
          <a:ln w="13335">
            <a:solidFill>
              <a:srgbClr val="F6F4FB"/>
            </a:solidFill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0B1F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F2A"/>
                </a:solidFill>
                <a:latin typeface="Aptos"/>
                <a:ea typeface="Aptos"/>
                <a:cs typeface="Aptos"/>
              </a:rPr>
              <a:t>BPCSCfC  |  FL+FG+BL+BG</a:t>
            </a:r>
            <a:endParaRPr sz="975" b="1">
              <a:solidFill>
                <a:srgbClr val="0B1F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4" name="圆角矩形 173"/>
          <p:cNvSpPr>
            <a:spLocks noGrp="1"/>
          </p:cNvSpPr>
          <p:nvPr/>
        </p:nvSpPr>
        <p:spPr>
          <a:xfrm>
            <a:off x="6343650" y="7943850"/>
            <a:ext cx="2286000" cy="247650"/>
          </a:xfrm>
          <a:prstGeom prst="roundRect">
            <a:avLst>
              <a:gd name="adj" fmla="val 38462"/>
            </a:avLst>
          </a:prstGeom>
          <a:solidFill>
            <a:srgbClr val="EEF6FA"/>
          </a:solidFill>
          <a:ln w="13335">
            <a:solidFill>
              <a:srgbClr val="EEF6FA"/>
            </a:solidFill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0B1F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F2A"/>
                </a:solidFill>
                <a:latin typeface="Aptos"/>
                <a:ea typeface="Aptos"/>
                <a:cs typeface="Aptos"/>
              </a:rPr>
              <a:t>DRASP  |  global/local ASP</a:t>
            </a:r>
            <a:endParaRPr sz="975" b="1">
              <a:solidFill>
                <a:srgbClr val="0B1F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5" name="圆角矩形 174"/>
          <p:cNvSpPr>
            <a:spLocks noGrp="1"/>
          </p:cNvSpPr>
          <p:nvPr/>
        </p:nvSpPr>
        <p:spPr>
          <a:xfrm>
            <a:off x="9124950" y="7943850"/>
            <a:ext cx="2286000" cy="247650"/>
          </a:xfrm>
          <a:prstGeom prst="roundRect">
            <a:avLst>
              <a:gd name="adj" fmla="val 38462"/>
            </a:avLst>
          </a:prstGeom>
          <a:solidFill>
            <a:srgbClr val="F6F4FB"/>
          </a:solidFill>
          <a:ln w="13335">
            <a:solidFill>
              <a:srgbClr val="F6F4FB"/>
            </a:solidFill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0B1F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F2A"/>
                </a:solidFill>
                <a:latin typeface="Aptos"/>
                <a:ea typeface="Aptos"/>
                <a:cs typeface="Aptos"/>
              </a:rPr>
              <a:t>MemKD  |  short/long memory</a:t>
            </a:r>
            <a:endParaRPr sz="975" b="1">
              <a:solidFill>
                <a:srgbClr val="0B1F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6" name="圆角矩形 175"/>
          <p:cNvSpPr>
            <a:spLocks noGrp="1"/>
          </p:cNvSpPr>
          <p:nvPr/>
        </p:nvSpPr>
        <p:spPr>
          <a:xfrm>
            <a:off x="11906250" y="7943850"/>
            <a:ext cx="2286000" cy="247650"/>
          </a:xfrm>
          <a:prstGeom prst="roundRect">
            <a:avLst>
              <a:gd name="adj" fmla="val 38462"/>
            </a:avLst>
          </a:prstGeom>
          <a:solidFill>
            <a:srgbClr val="EEF6FA"/>
          </a:solidFill>
          <a:ln w="13335">
            <a:solidFill>
              <a:srgbClr val="EEF6FA"/>
            </a:solidFill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0B1F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F2A"/>
                </a:solidFill>
                <a:latin typeface="Aptos"/>
                <a:ea typeface="Aptos"/>
                <a:cs typeface="Aptos"/>
              </a:rPr>
              <a:t>TS-T  |  step-wise logits</a:t>
            </a:r>
            <a:endParaRPr sz="975" b="1">
              <a:solidFill>
                <a:srgbClr val="0B1F2A"/>
              </a:solidFill>
              <a:latin typeface="Aptos"/>
              <a:ea typeface="Aptos"/>
              <a:cs typeface="Aptos"/>
            </a:endParaRPr>
          </a:p>
        </p:txBody>
      </p:sp>
      <p:grpSp>
        <p:nvGrpSpPr>
          <p:cNvPr id="179" name="组合 178"/>
          <p:cNvGrpSpPr/>
          <p:nvPr/>
        </p:nvGrpSpPr>
        <p:grpSpPr>
          <a:xfrm>
            <a:off x="11258550" y="1685925"/>
            <a:ext cx="1028700" cy="781050"/>
            <a:chOff x="17565" y="2670"/>
            <a:chExt cx="1620" cy="1230"/>
          </a:xfrm>
        </p:grpSpPr>
        <p:sp>
          <p:nvSpPr>
            <p:cNvPr id="180" name="圆角矩形 179"/>
            <p:cNvSpPr>
              <a:spLocks noGrp="1"/>
            </p:cNvSpPr>
            <p:nvPr/>
          </p:nvSpPr>
          <p:spPr>
            <a:xfrm>
              <a:off x="17565" y="2670"/>
              <a:ext cx="1620" cy="1230"/>
            </a:xfrm>
            <a:prstGeom prst="roundRect">
              <a:avLst>
                <a:gd name="adj" fmla="val 12195"/>
              </a:avLst>
            </a:prstGeom>
            <a:solidFill>
              <a:srgbClr val="F8FBFD"/>
            </a:solidFill>
            <a:ln w="13335">
              <a:solidFill>
                <a:srgbClr val="D5E1E8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1" name="矩形 180"/>
            <p:cNvSpPr>
              <a:spLocks noGrp="1"/>
            </p:cNvSpPr>
            <p:nvPr/>
          </p:nvSpPr>
          <p:spPr>
            <a:xfrm>
              <a:off x="17640" y="2925"/>
              <a:ext cx="1470" cy="3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buNone/>
                <a:defRPr sz="1500" b="1">
                  <a:solidFill>
                    <a:srgbClr val="39A844"/>
                  </a:solidFill>
                  <a:latin typeface="Aptos"/>
                  <a:ea typeface="Aptos"/>
                  <a:cs typeface="Aptos"/>
                </a:defRPr>
              </a:pPr>
              <a:r>
                <a:rPr sz="1500" b="1" dirty="0">
                  <a:solidFill>
                    <a:srgbClr val="3BB7C4"/>
                  </a:solidFill>
                  <a:latin typeface="Aptos"/>
                  <a:ea typeface="Aptos"/>
                  <a:cs typeface="Aptos"/>
                </a:rPr>
                <a:t>9</a:t>
              </a:r>
              <a:r>
                <a:rPr lang="en-US" sz="1500" b="1" dirty="0">
                  <a:solidFill>
                    <a:srgbClr val="3BB7C4"/>
                  </a:solidFill>
                  <a:latin typeface="Aptos"/>
                  <a:ea typeface="Aptos"/>
                  <a:cs typeface="Aptos"/>
                </a:rPr>
                <a:t>3</a:t>
              </a:r>
              <a:r>
                <a:rPr sz="1500" b="1" dirty="0">
                  <a:solidFill>
                    <a:srgbClr val="3BB7C4"/>
                  </a:solidFill>
                  <a:latin typeface="Aptos"/>
                  <a:ea typeface="Aptos"/>
                  <a:cs typeface="Aptos"/>
                </a:rPr>
                <a:t>.</a:t>
              </a:r>
              <a:r>
                <a:rPr lang="en-US" sz="1500" b="1" dirty="0">
                  <a:solidFill>
                    <a:srgbClr val="3BB7C4"/>
                  </a:solidFill>
                  <a:latin typeface="Aptos"/>
                  <a:ea typeface="Aptos"/>
                  <a:cs typeface="Aptos"/>
                </a:rPr>
                <a:t>41</a:t>
              </a:r>
              <a:r>
                <a:rPr sz="1500" b="1" dirty="0">
                  <a:solidFill>
                    <a:srgbClr val="3BB7C4"/>
                  </a:solidFill>
                  <a:latin typeface="Aptos"/>
                  <a:ea typeface="Aptos"/>
                  <a:cs typeface="Aptos"/>
                </a:rPr>
                <a:t>%</a:t>
              </a:r>
              <a:endParaRPr sz="1500" b="1" dirty="0">
                <a:solidFill>
                  <a:srgbClr val="3BB7C4"/>
                </a:solidFill>
                <a:latin typeface="Aptos"/>
                <a:ea typeface="Aptos"/>
                <a:cs typeface="Aptos"/>
              </a:endParaRPr>
            </a:p>
          </p:txBody>
        </p:sp>
        <p:sp>
          <p:nvSpPr>
            <p:cNvPr id="182" name="矩形 181"/>
            <p:cNvSpPr>
              <a:spLocks noGrp="1"/>
            </p:cNvSpPr>
            <p:nvPr/>
          </p:nvSpPr>
          <p:spPr>
            <a:xfrm>
              <a:off x="17640" y="3375"/>
              <a:ext cx="1470" cy="3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buNone/>
                <a:defRPr sz="975" b="1">
                  <a:solidFill>
                    <a:srgbClr val="5B6770"/>
                  </a:solidFill>
                  <a:latin typeface="Aptos"/>
                  <a:ea typeface="Aptos"/>
                  <a:cs typeface="Aptos"/>
                </a:defRPr>
              </a:pPr>
              <a:r>
                <a:rPr lang="en-US" sz="975" b="1">
                  <a:solidFill>
                    <a:srgbClr val="5B6770"/>
                  </a:solidFill>
                  <a:latin typeface="Aptos"/>
                  <a:ea typeface="Aptos"/>
                  <a:cs typeface="Aptos"/>
                </a:rPr>
                <a:t>DeepShip</a:t>
              </a:r>
              <a:r>
                <a:rPr sz="975" b="1">
                  <a:solidFill>
                    <a:srgbClr val="5B6770"/>
                  </a:solidFill>
                  <a:latin typeface="Aptos"/>
                  <a:ea typeface="Aptos"/>
                  <a:cs typeface="Aptos"/>
                </a:rPr>
                <a:t> ACC</a:t>
              </a:r>
              <a:endParaRPr sz="975" b="1">
                <a:solidFill>
                  <a:srgbClr val="5B6770"/>
                </a:solidFill>
                <a:latin typeface="Aptos"/>
                <a:ea typeface="Aptos"/>
                <a:cs typeface="Aptos"/>
              </a:endParaRPr>
            </a:p>
          </p:txBody>
        </p:sp>
      </p:grpSp>
      <p:sp>
        <p:nvSpPr>
          <p:cNvPr id="183" name="圆角矩形 182"/>
          <p:cNvSpPr/>
          <p:nvPr/>
        </p:nvSpPr>
        <p:spPr>
          <a:xfrm>
            <a:off x="7592060" y="400685"/>
            <a:ext cx="4752340" cy="2237740"/>
          </a:xfrm>
          <a:prstGeom prst="roundRect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8" name="组合 187"/>
          <p:cNvGrpSpPr/>
          <p:nvPr/>
        </p:nvGrpSpPr>
        <p:grpSpPr>
          <a:xfrm>
            <a:off x="704850" y="5937250"/>
            <a:ext cx="2447290" cy="1922145"/>
            <a:chOff x="19808" y="9321"/>
            <a:chExt cx="3854" cy="3027"/>
          </a:xfrm>
        </p:grpSpPr>
        <p:sp>
          <p:nvSpPr>
            <p:cNvPr id="98" name="圆角矩形 97"/>
            <p:cNvSpPr>
              <a:spLocks noGrp="1"/>
            </p:cNvSpPr>
            <p:nvPr/>
          </p:nvSpPr>
          <p:spPr>
            <a:xfrm>
              <a:off x="19808" y="9321"/>
              <a:ext cx="3804" cy="2922"/>
            </a:xfrm>
            <a:prstGeom prst="roundRect">
              <a:avLst>
                <a:gd name="adj" fmla="val 5682"/>
              </a:avLst>
            </a:prstGeom>
            <a:solidFill>
              <a:srgbClr val="F9FCFE"/>
            </a:solidFill>
            <a:ln w="13335">
              <a:solidFill>
                <a:srgbClr val="CFE0E8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85" name="组合 184"/>
            <p:cNvGrpSpPr/>
            <p:nvPr/>
          </p:nvGrpSpPr>
          <p:grpSpPr>
            <a:xfrm>
              <a:off x="20833" y="10368"/>
              <a:ext cx="1754" cy="1590"/>
              <a:chOff x="20190" y="7755"/>
              <a:chExt cx="1754" cy="1590"/>
            </a:xfrm>
          </p:grpSpPr>
          <p:grpSp>
            <p:nvGrpSpPr>
              <p:cNvPr id="184" name="组合 183"/>
              <p:cNvGrpSpPr/>
              <p:nvPr/>
            </p:nvGrpSpPr>
            <p:grpSpPr>
              <a:xfrm>
                <a:off x="20190" y="7755"/>
                <a:ext cx="1755" cy="1455"/>
                <a:chOff x="20190" y="7755"/>
                <a:chExt cx="1755" cy="1455"/>
              </a:xfrm>
            </p:grpSpPr>
            <p:sp>
              <p:nvSpPr>
                <p:cNvPr id="100" name="任意多边形 99"/>
                <p:cNvSpPr>
                  <a:spLocks noGrp="1"/>
                </p:cNvSpPr>
                <p:nvPr/>
              </p:nvSpPr>
              <p:spPr>
                <a:xfrm>
                  <a:off x="20325" y="7890"/>
                  <a:ext cx="615" cy="33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90525" h="209550">
                      <a:moveTo>
                        <a:pt x="0" y="209550"/>
                      </a:moveTo>
                      <a:lnTo>
                        <a:pt x="390525" y="0"/>
                      </a:lnTo>
                    </a:path>
                  </a:pathLst>
                </a:custGeom>
                <a:noFill/>
                <a:ln w="19050">
                  <a:solidFill>
                    <a:srgbClr val="88AFC4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1" name="任意多边形 100"/>
                <p:cNvSpPr>
                  <a:spLocks noGrp="1"/>
                </p:cNvSpPr>
                <p:nvPr/>
              </p:nvSpPr>
              <p:spPr>
                <a:xfrm>
                  <a:off x="20940" y="7890"/>
                  <a:ext cx="660" cy="36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19100" h="228600">
                      <a:moveTo>
                        <a:pt x="0" y="0"/>
                      </a:moveTo>
                      <a:lnTo>
                        <a:pt x="419100" y="228600"/>
                      </a:lnTo>
                    </a:path>
                  </a:pathLst>
                </a:custGeom>
                <a:noFill/>
                <a:ln w="19050">
                  <a:solidFill>
                    <a:srgbClr val="88AFC4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2" name="任意多边形 101"/>
                <p:cNvSpPr>
                  <a:spLocks noGrp="1"/>
                </p:cNvSpPr>
                <p:nvPr/>
              </p:nvSpPr>
              <p:spPr>
                <a:xfrm>
                  <a:off x="20325" y="8220"/>
                  <a:ext cx="600" cy="51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81000" h="323850">
                      <a:moveTo>
                        <a:pt x="0" y="0"/>
                      </a:moveTo>
                      <a:lnTo>
                        <a:pt x="381000" y="323850"/>
                      </a:lnTo>
                    </a:path>
                  </a:pathLst>
                </a:custGeom>
                <a:noFill/>
                <a:ln w="19050">
                  <a:solidFill>
                    <a:srgbClr val="88AFC4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3" name="任意多边形 102"/>
                <p:cNvSpPr>
                  <a:spLocks noGrp="1"/>
                </p:cNvSpPr>
                <p:nvPr/>
              </p:nvSpPr>
              <p:spPr>
                <a:xfrm>
                  <a:off x="20925" y="8250"/>
                  <a:ext cx="675" cy="48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28625" h="304800">
                      <a:moveTo>
                        <a:pt x="0" y="304800"/>
                      </a:moveTo>
                      <a:lnTo>
                        <a:pt x="428625" y="0"/>
                      </a:lnTo>
                    </a:path>
                  </a:pathLst>
                </a:custGeom>
                <a:noFill/>
                <a:ln w="19050">
                  <a:solidFill>
                    <a:srgbClr val="88AFC4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" name="任意多边形 103"/>
                <p:cNvSpPr>
                  <a:spLocks noGrp="1"/>
                </p:cNvSpPr>
                <p:nvPr/>
              </p:nvSpPr>
              <p:spPr>
                <a:xfrm>
                  <a:off x="20925" y="8730"/>
                  <a:ext cx="885" cy="27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61975" h="171450">
                      <a:moveTo>
                        <a:pt x="0" y="0"/>
                      </a:moveTo>
                      <a:lnTo>
                        <a:pt x="561975" y="171450"/>
                      </a:lnTo>
                    </a:path>
                  </a:pathLst>
                </a:custGeom>
                <a:noFill/>
                <a:ln w="19050">
                  <a:solidFill>
                    <a:srgbClr val="88AFC4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5" name="任意多边形 104"/>
                <p:cNvSpPr>
                  <a:spLocks noGrp="1"/>
                </p:cNvSpPr>
                <p:nvPr/>
              </p:nvSpPr>
              <p:spPr>
                <a:xfrm>
                  <a:off x="20400" y="8730"/>
                  <a:ext cx="525" cy="48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33375" h="304800">
                      <a:moveTo>
                        <a:pt x="0" y="304800"/>
                      </a:moveTo>
                      <a:lnTo>
                        <a:pt x="333375" y="0"/>
                      </a:lnTo>
                    </a:path>
                  </a:pathLst>
                </a:custGeom>
                <a:noFill/>
                <a:ln w="19050">
                  <a:solidFill>
                    <a:srgbClr val="88AFC4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6" name="任意多边形 105"/>
                <p:cNvSpPr>
                  <a:spLocks noGrp="1"/>
                </p:cNvSpPr>
                <p:nvPr/>
              </p:nvSpPr>
              <p:spPr>
                <a:xfrm>
                  <a:off x="20940" y="7890"/>
                  <a:ext cx="870" cy="111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52450" h="704850">
                      <a:moveTo>
                        <a:pt x="0" y="0"/>
                      </a:moveTo>
                      <a:lnTo>
                        <a:pt x="552450" y="704850"/>
                      </a:lnTo>
                    </a:path>
                  </a:pathLst>
                </a:custGeom>
                <a:noFill/>
                <a:ln w="19050">
                  <a:solidFill>
                    <a:srgbClr val="88AFC4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7" name="任意多边形 106"/>
                <p:cNvSpPr>
                  <a:spLocks noGrp="1"/>
                </p:cNvSpPr>
                <p:nvPr/>
              </p:nvSpPr>
              <p:spPr>
                <a:xfrm>
                  <a:off x="20325" y="8220"/>
                  <a:ext cx="75" cy="99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7625" h="628650">
                      <a:moveTo>
                        <a:pt x="0" y="0"/>
                      </a:moveTo>
                      <a:lnTo>
                        <a:pt x="47625" y="628650"/>
                      </a:lnTo>
                    </a:path>
                  </a:pathLst>
                </a:custGeom>
                <a:noFill/>
                <a:ln w="19050">
                  <a:solidFill>
                    <a:srgbClr val="88AFC4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8" name="椭圆 107"/>
                <p:cNvSpPr>
                  <a:spLocks noGrp="1"/>
                </p:cNvSpPr>
                <p:nvPr/>
              </p:nvSpPr>
              <p:spPr>
                <a:xfrm>
                  <a:off x="20190" y="8085"/>
                  <a:ext cx="270" cy="270"/>
                </a:xfrm>
                <a:prstGeom prst="ellipse">
                  <a:avLst/>
                </a:prstGeom>
                <a:solidFill>
                  <a:srgbClr val="1D70A2"/>
                </a:solidFill>
                <a:ln w="11430">
                  <a:solidFill>
                    <a:srgbClr val="0F4C75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9" name="椭圆 108"/>
                <p:cNvSpPr>
                  <a:spLocks noGrp="1"/>
                </p:cNvSpPr>
                <p:nvPr/>
              </p:nvSpPr>
              <p:spPr>
                <a:xfrm>
                  <a:off x="20805" y="7755"/>
                  <a:ext cx="270" cy="270"/>
                </a:xfrm>
                <a:prstGeom prst="ellipse">
                  <a:avLst/>
                </a:prstGeom>
                <a:solidFill>
                  <a:srgbClr val="1D70A2"/>
                </a:solidFill>
                <a:ln w="11430">
                  <a:solidFill>
                    <a:srgbClr val="0F4C75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0" name="椭圆 109"/>
                <p:cNvSpPr>
                  <a:spLocks noGrp="1"/>
                </p:cNvSpPr>
                <p:nvPr/>
              </p:nvSpPr>
              <p:spPr>
                <a:xfrm>
                  <a:off x="21465" y="8115"/>
                  <a:ext cx="270" cy="270"/>
                </a:xfrm>
                <a:prstGeom prst="ellipse">
                  <a:avLst/>
                </a:prstGeom>
                <a:solidFill>
                  <a:srgbClr val="1D70A2"/>
                </a:solidFill>
                <a:ln w="11430">
                  <a:solidFill>
                    <a:srgbClr val="0F4C75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1" name="椭圆 110"/>
                <p:cNvSpPr>
                  <a:spLocks noGrp="1"/>
                </p:cNvSpPr>
                <p:nvPr/>
              </p:nvSpPr>
              <p:spPr>
                <a:xfrm>
                  <a:off x="20790" y="8595"/>
                  <a:ext cx="270" cy="270"/>
                </a:xfrm>
                <a:prstGeom prst="ellipse">
                  <a:avLst/>
                </a:prstGeom>
                <a:solidFill>
                  <a:srgbClr val="1D70A2"/>
                </a:solidFill>
                <a:ln w="11430">
                  <a:solidFill>
                    <a:srgbClr val="0F4C75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" name="椭圆 111"/>
                <p:cNvSpPr>
                  <a:spLocks noGrp="1"/>
                </p:cNvSpPr>
                <p:nvPr/>
              </p:nvSpPr>
              <p:spPr>
                <a:xfrm>
                  <a:off x="21675" y="8865"/>
                  <a:ext cx="270" cy="270"/>
                </a:xfrm>
                <a:prstGeom prst="ellipse">
                  <a:avLst/>
                </a:prstGeom>
                <a:solidFill>
                  <a:srgbClr val="1D70A2"/>
                </a:solidFill>
                <a:ln w="11430">
                  <a:solidFill>
                    <a:srgbClr val="0F4C75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13" name="椭圆 112"/>
              <p:cNvSpPr>
                <a:spLocks noGrp="1"/>
              </p:cNvSpPr>
              <p:nvPr/>
            </p:nvSpPr>
            <p:spPr>
              <a:xfrm>
                <a:off x="20265" y="9075"/>
                <a:ext cx="270" cy="270"/>
              </a:xfrm>
              <a:prstGeom prst="ellipse">
                <a:avLst/>
              </a:prstGeom>
              <a:solidFill>
                <a:srgbClr val="1D70A2"/>
              </a:solidFill>
              <a:ln w="11430">
                <a:solidFill>
                  <a:srgbClr val="0F4C75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4" name="矩形 113"/>
            <p:cNvSpPr>
              <a:spLocks noGrp="1"/>
            </p:cNvSpPr>
            <p:nvPr/>
          </p:nvSpPr>
          <p:spPr>
            <a:xfrm>
              <a:off x="19808" y="11928"/>
              <a:ext cx="3854" cy="42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buNone/>
                <a:defRPr sz="1050" b="1">
                  <a:solidFill>
                    <a:srgbClr val="5B6770"/>
                  </a:solidFill>
                  <a:latin typeface="Aptos"/>
                  <a:ea typeface="Aptos"/>
                  <a:cs typeface="Aptos"/>
                </a:defRPr>
              </a:pPr>
              <a:r>
                <a:rPr sz="1050" b="1">
                  <a:solidFill>
                    <a:srgbClr val="5B6770"/>
                  </a:solidFill>
                  <a:latin typeface="Aptos"/>
                  <a:ea typeface="Aptos"/>
                  <a:cs typeface="Aptos"/>
                </a:rPr>
                <a:t>closed-form CfC+ sparse wiring</a:t>
              </a:r>
              <a:endParaRPr sz="1050" b="1">
                <a:solidFill>
                  <a:srgbClr val="5B6770"/>
                </a:solidFill>
                <a:latin typeface="Aptos"/>
                <a:ea typeface="Aptos"/>
                <a:cs typeface="Aptos"/>
              </a:endParaRPr>
            </a:p>
          </p:txBody>
        </p:sp>
        <p:sp>
          <p:nvSpPr>
            <p:cNvPr id="99" name="矩形 98"/>
            <p:cNvSpPr>
              <a:spLocks noGrp="1"/>
            </p:cNvSpPr>
            <p:nvPr/>
          </p:nvSpPr>
          <p:spPr>
            <a:xfrm>
              <a:off x="20400" y="9601"/>
              <a:ext cx="2430" cy="6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buNone/>
                <a:defRPr sz="1275" b="1">
                  <a:solidFill>
                    <a:srgbClr val="0B1F2A"/>
                  </a:solidFill>
                  <a:latin typeface="Aptos"/>
                  <a:ea typeface="Aptos"/>
                  <a:cs typeface="Aptos"/>
                </a:defRPr>
              </a:pPr>
              <a:r>
                <a:rPr sz="1275" b="1">
                  <a:solidFill>
                    <a:srgbClr val="0B1F2A"/>
                  </a:solidFill>
                  <a:latin typeface="Aptos"/>
                  <a:ea typeface="Aptos"/>
                  <a:cs typeface="Aptos"/>
                </a:rPr>
                <a:t>AutoNCP sparse</a:t>
              </a:r>
              <a:endParaRPr sz="1275" b="1">
                <a:solidFill>
                  <a:srgbClr val="0B1F2A"/>
                </a:solidFill>
                <a:latin typeface="Aptos"/>
                <a:ea typeface="Aptos"/>
                <a:cs typeface="Aptos"/>
              </a:endParaRPr>
            </a:p>
            <a:p>
              <a:pPr algn="ctr">
                <a:buNone/>
                <a:defRPr sz="1275" b="1">
                  <a:solidFill>
                    <a:srgbClr val="0B1F2A"/>
                  </a:solidFill>
                  <a:latin typeface="Aptos"/>
                  <a:ea typeface="Aptos"/>
                  <a:cs typeface="Aptos"/>
                </a:defRPr>
              </a:pPr>
              <a:r>
                <a:rPr sz="1275" b="1">
                  <a:solidFill>
                    <a:srgbClr val="0B1F2A"/>
                  </a:solidFill>
                  <a:latin typeface="Aptos"/>
                  <a:ea typeface="Aptos"/>
                  <a:cs typeface="Aptos"/>
                </a:rPr>
                <a:t>liquid dynamics</a:t>
              </a:r>
              <a:endParaRPr sz="1275" b="1">
                <a:solidFill>
                  <a:srgbClr val="0B1F2A"/>
                </a:solidFill>
                <a:latin typeface="Aptos"/>
                <a:ea typeface="Aptos"/>
                <a:cs typeface="Aptos"/>
              </a:endParaRPr>
            </a:p>
          </p:txBody>
        </p:sp>
      </p:grpSp>
      <p:sp>
        <p:nvSpPr>
          <p:cNvPr id="186" name="矩形 185"/>
          <p:cNvSpPr>
            <a:spLocks noGrp="1"/>
          </p:cNvSpPr>
          <p:nvPr/>
        </p:nvSpPr>
        <p:spPr>
          <a:xfrm>
            <a:off x="12733655" y="2977515"/>
            <a:ext cx="49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3000" b="1">
                <a:solidFill>
                  <a:srgbClr val="D33A2C"/>
                </a:solidFill>
                <a:latin typeface="Aptos"/>
                <a:ea typeface="Aptos"/>
                <a:cs typeface="Aptos"/>
              </a:defRPr>
            </a:pPr>
            <a:r>
              <a:rPr lang="en-US" sz="3000" b="1">
                <a:solidFill>
                  <a:srgbClr val="00B050"/>
                </a:solidFill>
                <a:latin typeface="Aptos"/>
                <a:ea typeface="Aptos"/>
                <a:cs typeface="Aptos"/>
              </a:rPr>
              <a:t>√</a:t>
            </a:r>
            <a:endParaRPr lang="en-US" sz="3000" b="1">
              <a:solidFill>
                <a:srgbClr val="00B050"/>
              </a:solidFill>
              <a:latin typeface="Aptos"/>
              <a:ea typeface="Aptos"/>
              <a:cs typeface="Aptos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3930650" y="3657600"/>
            <a:ext cx="8899525" cy="3773805"/>
            <a:chOff x="6190" y="5760"/>
            <a:chExt cx="14015" cy="5943"/>
          </a:xfrm>
        </p:grpSpPr>
        <p:sp>
          <p:nvSpPr>
            <p:cNvPr id="74" name="圆角矩形 73"/>
            <p:cNvSpPr>
              <a:spLocks noGrp="1"/>
            </p:cNvSpPr>
            <p:nvPr/>
          </p:nvSpPr>
          <p:spPr>
            <a:xfrm>
              <a:off x="6285" y="10443"/>
              <a:ext cx="2400" cy="1170"/>
            </a:xfrm>
            <a:prstGeom prst="roundRect">
              <a:avLst>
                <a:gd name="adj" fmla="val 12821"/>
              </a:avLst>
            </a:prstGeom>
            <a:solidFill>
              <a:srgbClr val="E7F1F8"/>
            </a:solidFill>
            <a:ln w="13335">
              <a:solidFill>
                <a:srgbClr val="AFC9D8"/>
              </a:solidFill>
              <a:prstDash val="solid"/>
            </a:ln>
          </p:spPr>
          <p:txBody>
            <a:bodyPr/>
            <a:lstStyle/>
            <a:p>
              <a:pPr algn="ctr">
                <a:buNone/>
                <a:defRPr sz="1425" b="1">
                  <a:solidFill>
                    <a:srgbClr val="0B1F2A"/>
                  </a:solidFill>
                  <a:latin typeface="Aptos"/>
                  <a:ea typeface="Aptos"/>
                  <a:cs typeface="Aptos"/>
                </a:defRPr>
              </a:pPr>
              <a:r>
                <a:rPr sz="1425" b="1">
                  <a:solidFill>
                    <a:srgbClr val="0B1F2A"/>
                  </a:solidFill>
                  <a:latin typeface="Aptos"/>
                  <a:ea typeface="Aptos"/>
                  <a:cs typeface="Aptos"/>
                </a:rPr>
                <a:t>1D CNN</a:t>
              </a:r>
              <a:endParaRPr sz="1425" b="1">
                <a:solidFill>
                  <a:srgbClr val="0B1F2A"/>
                </a:solidFill>
                <a:latin typeface="Aptos"/>
                <a:ea typeface="Aptos"/>
                <a:cs typeface="Aptos"/>
              </a:endParaRPr>
            </a:p>
            <a:p>
              <a:pPr algn="ctr">
                <a:buNone/>
                <a:defRPr sz="1425" b="1">
                  <a:solidFill>
                    <a:srgbClr val="0B1F2A"/>
                  </a:solidFill>
                  <a:latin typeface="Aptos"/>
                  <a:ea typeface="Aptos"/>
                  <a:cs typeface="Aptos"/>
                </a:defRPr>
              </a:pPr>
              <a:r>
                <a:rPr sz="1425" b="1">
                  <a:solidFill>
                    <a:srgbClr val="0B1F2A"/>
                  </a:solidFill>
                  <a:latin typeface="Aptos"/>
                  <a:ea typeface="Aptos"/>
                  <a:cs typeface="Aptos"/>
                </a:rPr>
                <a:t>encoder</a:t>
              </a:r>
              <a:endParaRPr sz="1425" b="1">
                <a:solidFill>
                  <a:srgbClr val="0B1F2A"/>
                </a:solidFill>
                <a:latin typeface="Aptos"/>
                <a:ea typeface="Aptos"/>
                <a:cs typeface="Aptos"/>
              </a:endParaRPr>
            </a:p>
          </p:txBody>
        </p:sp>
        <p:sp>
          <p:nvSpPr>
            <p:cNvPr id="76" name="矩形 75"/>
            <p:cNvSpPr>
              <a:spLocks noGrp="1"/>
            </p:cNvSpPr>
            <p:nvPr/>
          </p:nvSpPr>
          <p:spPr>
            <a:xfrm>
              <a:off x="9608" y="10293"/>
              <a:ext cx="3060" cy="3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buNone/>
                <a:defRPr sz="1650" b="1">
                  <a:solidFill>
                    <a:srgbClr val="1D70A2"/>
                  </a:solidFill>
                  <a:latin typeface="Aptos"/>
                  <a:ea typeface="Aptos"/>
                  <a:cs typeface="Aptos"/>
                </a:defRPr>
              </a:pPr>
              <a:r>
                <a:rPr sz="1650" b="1">
                  <a:solidFill>
                    <a:srgbClr val="1D70A2"/>
                  </a:solidFill>
                  <a:latin typeface="Aptos"/>
                  <a:ea typeface="Aptos"/>
                  <a:cs typeface="Aptos"/>
                </a:rPr>
                <a:t>BPCSCfC</a:t>
              </a:r>
              <a:endParaRPr sz="1650" b="1">
                <a:solidFill>
                  <a:srgbClr val="1D70A2"/>
                </a:solidFill>
                <a:latin typeface="Aptos"/>
                <a:ea typeface="Aptos"/>
                <a:cs typeface="Aptos"/>
              </a:endParaRPr>
            </a:p>
          </p:txBody>
        </p:sp>
        <p:sp>
          <p:nvSpPr>
            <p:cNvPr id="77" name="圆角矩形 76"/>
            <p:cNvSpPr>
              <a:spLocks noGrp="1"/>
            </p:cNvSpPr>
            <p:nvPr/>
          </p:nvSpPr>
          <p:spPr>
            <a:xfrm>
              <a:off x="9593" y="10833"/>
              <a:ext cx="630" cy="570"/>
            </a:xfrm>
            <a:prstGeom prst="roundRect">
              <a:avLst>
                <a:gd name="adj" fmla="val 26316"/>
              </a:avLst>
            </a:prstGeom>
            <a:solidFill>
              <a:srgbClr val="1D70A2"/>
            </a:solidFill>
            <a:ln w="13335">
              <a:solidFill>
                <a:srgbClr val="1D70A2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矩形 77"/>
            <p:cNvSpPr>
              <a:spLocks noGrp="1"/>
            </p:cNvSpPr>
            <p:nvPr/>
          </p:nvSpPr>
          <p:spPr>
            <a:xfrm>
              <a:off x="9593" y="10938"/>
              <a:ext cx="630" cy="3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buNone/>
                <a:defRPr sz="1125" b="1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  <a:r>
                <a:rPr sz="1125" b="1">
                  <a:solidFill>
                    <a:srgbClr val="FFFFFF"/>
                  </a:solidFill>
                  <a:latin typeface="Aptos"/>
                  <a:ea typeface="Aptos"/>
                  <a:cs typeface="Aptos"/>
                </a:rPr>
                <a:t>FL</a:t>
              </a:r>
              <a:endParaRPr sz="1125" b="1">
                <a:solidFill>
                  <a:srgbClr val="FFFFFF"/>
                </a:solidFill>
                <a:latin typeface="Aptos"/>
                <a:ea typeface="Aptos"/>
                <a:cs typeface="Aptos"/>
              </a:endParaRPr>
            </a:p>
          </p:txBody>
        </p:sp>
        <p:sp>
          <p:nvSpPr>
            <p:cNvPr id="79" name="圆角矩形 78"/>
            <p:cNvSpPr>
              <a:spLocks noGrp="1"/>
            </p:cNvSpPr>
            <p:nvPr/>
          </p:nvSpPr>
          <p:spPr>
            <a:xfrm>
              <a:off x="10373" y="10833"/>
              <a:ext cx="630" cy="570"/>
            </a:xfrm>
            <a:prstGeom prst="roundRect">
              <a:avLst>
                <a:gd name="adj" fmla="val 26316"/>
              </a:avLst>
            </a:prstGeom>
            <a:solidFill>
              <a:srgbClr val="3BB7C4"/>
            </a:solidFill>
            <a:ln w="13335">
              <a:solidFill>
                <a:srgbClr val="3BB7C4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矩形 79"/>
            <p:cNvSpPr>
              <a:spLocks noGrp="1"/>
            </p:cNvSpPr>
            <p:nvPr/>
          </p:nvSpPr>
          <p:spPr>
            <a:xfrm>
              <a:off x="10373" y="10938"/>
              <a:ext cx="630" cy="3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buNone/>
                <a:defRPr sz="1125" b="1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  <a:r>
                <a:rPr sz="1125" b="1">
                  <a:solidFill>
                    <a:srgbClr val="FFFFFF"/>
                  </a:solidFill>
                  <a:latin typeface="Aptos"/>
                  <a:ea typeface="Aptos"/>
                  <a:cs typeface="Aptos"/>
                </a:rPr>
                <a:t>FG</a:t>
              </a:r>
              <a:endParaRPr sz="1125" b="1">
                <a:solidFill>
                  <a:srgbClr val="FFFFFF"/>
                </a:solidFill>
                <a:latin typeface="Aptos"/>
                <a:ea typeface="Aptos"/>
                <a:cs typeface="Aptos"/>
              </a:endParaRPr>
            </a:p>
          </p:txBody>
        </p:sp>
        <p:sp>
          <p:nvSpPr>
            <p:cNvPr id="81" name="圆角矩形 80"/>
            <p:cNvSpPr>
              <a:spLocks noGrp="1"/>
            </p:cNvSpPr>
            <p:nvPr/>
          </p:nvSpPr>
          <p:spPr>
            <a:xfrm>
              <a:off x="11153" y="10833"/>
              <a:ext cx="630" cy="570"/>
            </a:xfrm>
            <a:prstGeom prst="roundRect">
              <a:avLst>
                <a:gd name="adj" fmla="val 26316"/>
              </a:avLst>
            </a:prstGeom>
            <a:solidFill>
              <a:srgbClr val="6A4C93"/>
            </a:solidFill>
            <a:ln w="13335">
              <a:solidFill>
                <a:srgbClr val="6A4C93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矩形 81"/>
            <p:cNvSpPr>
              <a:spLocks noGrp="1"/>
            </p:cNvSpPr>
            <p:nvPr/>
          </p:nvSpPr>
          <p:spPr>
            <a:xfrm>
              <a:off x="11153" y="10938"/>
              <a:ext cx="630" cy="3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buNone/>
                <a:defRPr sz="1125" b="1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  <a:r>
                <a:rPr sz="1125" b="1">
                  <a:solidFill>
                    <a:srgbClr val="FFFFFF"/>
                  </a:solidFill>
                  <a:latin typeface="Aptos"/>
                  <a:ea typeface="Aptos"/>
                  <a:cs typeface="Aptos"/>
                </a:rPr>
                <a:t>BL</a:t>
              </a:r>
              <a:endParaRPr sz="1125" b="1">
                <a:solidFill>
                  <a:srgbClr val="FFFFFF"/>
                </a:solidFill>
                <a:latin typeface="Aptos"/>
                <a:ea typeface="Aptos"/>
                <a:cs typeface="Aptos"/>
              </a:endParaRPr>
            </a:p>
          </p:txBody>
        </p:sp>
        <p:sp>
          <p:nvSpPr>
            <p:cNvPr id="83" name="圆角矩形 82"/>
            <p:cNvSpPr>
              <a:spLocks noGrp="1"/>
            </p:cNvSpPr>
            <p:nvPr/>
          </p:nvSpPr>
          <p:spPr>
            <a:xfrm>
              <a:off x="11933" y="10833"/>
              <a:ext cx="630" cy="570"/>
            </a:xfrm>
            <a:prstGeom prst="roundRect">
              <a:avLst>
                <a:gd name="adj" fmla="val 26316"/>
              </a:avLst>
            </a:prstGeom>
            <a:solidFill>
              <a:srgbClr val="39A844"/>
            </a:solidFill>
            <a:ln w="13335">
              <a:solidFill>
                <a:srgbClr val="39A844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矩形 83"/>
            <p:cNvSpPr>
              <a:spLocks noGrp="1"/>
            </p:cNvSpPr>
            <p:nvPr/>
          </p:nvSpPr>
          <p:spPr>
            <a:xfrm>
              <a:off x="11933" y="10938"/>
              <a:ext cx="630" cy="3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buNone/>
                <a:defRPr sz="1125" b="1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  <a:r>
                <a:rPr sz="1125" b="1">
                  <a:solidFill>
                    <a:srgbClr val="FFFFFF"/>
                  </a:solidFill>
                  <a:latin typeface="Aptos"/>
                  <a:ea typeface="Aptos"/>
                  <a:cs typeface="Aptos"/>
                </a:rPr>
                <a:t>BG</a:t>
              </a:r>
              <a:endParaRPr sz="1125" b="1">
                <a:solidFill>
                  <a:srgbClr val="FFFFFF"/>
                </a:solidFill>
                <a:latin typeface="Aptos"/>
                <a:ea typeface="Aptos"/>
                <a:cs typeface="Aptos"/>
              </a:endParaRPr>
            </a:p>
          </p:txBody>
        </p:sp>
        <p:sp>
          <p:nvSpPr>
            <p:cNvPr id="85" name="矩形 84"/>
            <p:cNvSpPr>
              <a:spLocks noGrp="1"/>
            </p:cNvSpPr>
            <p:nvPr/>
          </p:nvSpPr>
          <p:spPr>
            <a:xfrm>
              <a:off x="9264" y="11433"/>
              <a:ext cx="3750" cy="27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buNone/>
                <a:defRPr sz="975" b="1">
                  <a:solidFill>
                    <a:srgbClr val="5B6770"/>
                  </a:solidFill>
                  <a:latin typeface="Aptos"/>
                  <a:ea typeface="Aptos"/>
                  <a:cs typeface="Aptos"/>
                </a:defRPr>
              </a:pPr>
              <a:r>
                <a:rPr sz="975" b="1">
                  <a:solidFill>
                    <a:srgbClr val="5B6770"/>
                  </a:solidFill>
                  <a:latin typeface="Aptos"/>
                  <a:ea typeface="Aptos"/>
                  <a:cs typeface="Aptos"/>
                </a:rPr>
                <a:t>local windows + global cross-slices</a:t>
              </a:r>
              <a:endParaRPr sz="975" b="1">
                <a:solidFill>
                  <a:srgbClr val="5B6770"/>
                </a:solidFill>
                <a:latin typeface="Aptos"/>
                <a:ea typeface="Aptos"/>
                <a:cs typeface="Aptos"/>
              </a:endParaRPr>
            </a:p>
          </p:txBody>
        </p:sp>
        <p:sp>
          <p:nvSpPr>
            <p:cNvPr id="94" name="右箭头 93"/>
            <p:cNvSpPr>
              <a:spLocks noGrp="1"/>
            </p:cNvSpPr>
            <p:nvPr/>
          </p:nvSpPr>
          <p:spPr>
            <a:xfrm>
              <a:off x="8678" y="10698"/>
              <a:ext cx="570" cy="51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1D70A2"/>
            </a:solidFill>
            <a:ln w="7620">
              <a:solidFill>
                <a:srgbClr val="1D70A2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右箭头 94"/>
            <p:cNvSpPr>
              <a:spLocks noGrp="1"/>
            </p:cNvSpPr>
            <p:nvPr/>
          </p:nvSpPr>
          <p:spPr>
            <a:xfrm>
              <a:off x="13028" y="10713"/>
              <a:ext cx="540" cy="51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1D70A2"/>
            </a:solidFill>
            <a:ln w="7620">
              <a:solidFill>
                <a:srgbClr val="1D70A2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89" name="组合 188"/>
            <p:cNvGrpSpPr/>
            <p:nvPr/>
          </p:nvGrpSpPr>
          <p:grpSpPr>
            <a:xfrm>
              <a:off x="6190" y="5760"/>
              <a:ext cx="11255" cy="1740"/>
              <a:chOff x="6060" y="5760"/>
              <a:chExt cx="11255" cy="1740"/>
            </a:xfrm>
          </p:grpSpPr>
          <p:sp>
            <p:nvSpPr>
              <p:cNvPr id="71" name="圆角矩形 70"/>
              <p:cNvSpPr>
                <a:spLocks noGrp="1"/>
              </p:cNvSpPr>
              <p:nvPr/>
            </p:nvSpPr>
            <p:spPr>
              <a:xfrm>
                <a:off x="6060" y="5760"/>
                <a:ext cx="4290" cy="1110"/>
              </a:xfrm>
              <a:prstGeom prst="roundRect">
                <a:avLst>
                  <a:gd name="adj" fmla="val 13514"/>
                </a:avLst>
              </a:prstGeom>
              <a:solidFill>
                <a:srgbClr val="FFEDEB"/>
              </a:solidFill>
              <a:ln w="13335">
                <a:solidFill>
                  <a:srgbClr val="F3B1AA"/>
                </a:solidFill>
                <a:prstDash val="solid"/>
              </a:ln>
            </p:spPr>
            <p:txBody>
              <a:bodyPr/>
              <a:lstStyle/>
              <a:p>
                <a:pPr algn="ctr">
                  <a:buNone/>
                  <a:defRPr sz="1425" b="1">
                    <a:solidFill>
                      <a:srgbClr val="0B1F2A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1425" b="1">
                    <a:solidFill>
                      <a:srgbClr val="0B1F2A"/>
                    </a:solidFill>
                    <a:latin typeface="Aptos"/>
                    <a:ea typeface="Aptos"/>
                    <a:cs typeface="Aptos"/>
                  </a:rPr>
                  <a:t>Teacher: wav2vec 2.0</a:t>
                </a:r>
                <a:endParaRPr sz="1425" b="1">
                  <a:solidFill>
                    <a:srgbClr val="0B1F2A"/>
                  </a:solidFill>
                  <a:latin typeface="Aptos"/>
                  <a:ea typeface="Aptos"/>
                  <a:cs typeface="Aptos"/>
                </a:endParaRPr>
              </a:p>
              <a:p>
                <a:pPr algn="ctr">
                  <a:buNone/>
                  <a:defRPr sz="1425" b="1">
                    <a:solidFill>
                      <a:srgbClr val="0B1F2A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1425" b="1">
                    <a:solidFill>
                      <a:srgbClr val="0B1F2A"/>
                    </a:solidFill>
                    <a:latin typeface="Aptos"/>
                    <a:ea typeface="Aptos"/>
                    <a:cs typeface="Aptos"/>
                  </a:rPr>
                  <a:t>large semantic encoder</a:t>
                </a:r>
                <a:endParaRPr sz="1425" b="1">
                  <a:solidFill>
                    <a:srgbClr val="0B1F2A"/>
                  </a:solidFill>
                  <a:latin typeface="Aptos"/>
                  <a:ea typeface="Aptos"/>
                  <a:cs typeface="Aptos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2" name="圆角矩形 71"/>
                  <p:cNvSpPr>
                    <a:spLocks noGrp="1"/>
                  </p:cNvSpPr>
                  <p:nvPr/>
                </p:nvSpPr>
                <p:spPr>
                  <a:xfrm>
                    <a:off x="11025" y="5760"/>
                    <a:ext cx="3075" cy="1110"/>
                  </a:xfrm>
                  <a:prstGeom prst="roundRect">
                    <a:avLst>
                      <a:gd name="adj" fmla="val 13514"/>
                    </a:avLst>
                  </a:prstGeom>
                  <a:solidFill>
                    <a:srgbClr val="FFF5E3"/>
                  </a:solidFill>
                  <a:ln w="13335">
                    <a:solidFill>
                      <a:srgbClr val="F0C77A"/>
                    </a:solidFill>
                    <a:prstDash val="solid"/>
                  </a:ln>
                </p:spPr>
                <p:txBody>
                  <a:bodyPr/>
                  <a:lstStyle/>
                  <a:p>
                    <a:pPr algn="ctr">
                      <a:buNone/>
                      <a:defRPr sz="1350" b="1">
                        <a:solidFill>
                          <a:srgbClr val="0B1F2A"/>
                        </a:solidFill>
                        <a:latin typeface="Aptos"/>
                        <a:ea typeface="Aptos"/>
                        <a:cs typeface="Aptos"/>
                      </a:defRPr>
                    </a:pPr>
                    <a:r>
                      <a:rPr sz="1350" b="1" dirty="0">
                        <a:solidFill>
                          <a:srgbClr val="0B1F2A"/>
                        </a:solidFill>
                        <a:latin typeface="Aptos"/>
                        <a:ea typeface="Aptos"/>
                        <a:cs typeface="Aptos"/>
                      </a:rPr>
                      <a:t>Teacher states/logits</a:t>
                    </a:r>
                    <a:endParaRPr sz="1350" b="1" dirty="0">
                      <a:solidFill>
                        <a:srgbClr val="0B1F2A"/>
                      </a:solidFill>
                      <a:latin typeface="Aptos"/>
                      <a:ea typeface="Aptos"/>
                      <a:cs typeface="Aptos"/>
                    </a:endParaRPr>
                  </a:p>
                  <a:p>
                    <a:pPr algn="ctr">
                      <a:buNone/>
                      <a:defRPr sz="1350" b="1">
                        <a:solidFill>
                          <a:srgbClr val="0B1F2A"/>
                        </a:solidFill>
                        <a:latin typeface="Aptos"/>
                        <a:ea typeface="Aptos"/>
                        <a:cs typeface="Aptos"/>
                      </a:defRPr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350" b="1" i="1" smtClean="0">
                                  <a:solidFill>
                                    <a:srgbClr val="0B1F2A"/>
                                  </a:solidFill>
                                  <a:latin typeface="Cambria Math" panose="02040503050406030204" pitchFamily="18" charset="0"/>
                                  <a:ea typeface="Aptos"/>
                                  <a:cs typeface="Aptos"/>
                                </a:rPr>
                              </m:ctrlPr>
                            </m:sSubPr>
                            <m:e>
                              <m:r>
                                <a:rPr lang="en-US" altLang="zh-CN" sz="1350" b="1" i="1" smtClean="0">
                                  <a:solidFill>
                                    <a:srgbClr val="0B1F2A"/>
                                  </a:solidFill>
                                  <a:latin typeface="Cambria Math" panose="02040503050406030204" pitchFamily="18" charset="0"/>
                                  <a:ea typeface="Aptos"/>
                                  <a:cs typeface="Aptos"/>
                                </a:rPr>
                                <m:t>𝑯</m:t>
                              </m:r>
                            </m:e>
                            <m:sub>
                              <m:r>
                                <a:rPr lang="en-US" altLang="zh-CN" sz="1350" b="1" i="1" smtClean="0">
                                  <a:solidFill>
                                    <a:srgbClr val="0B1F2A"/>
                                  </a:solidFill>
                                  <a:latin typeface="Cambria Math" panose="02040503050406030204" pitchFamily="18" charset="0"/>
                                  <a:ea typeface="Aptos"/>
                                  <a:cs typeface="Aptos"/>
                                </a:rPr>
                                <m:t>𝑻</m:t>
                              </m:r>
                            </m:sub>
                          </m:sSub>
                          <m:r>
                            <a:rPr lang="zh-CN" altLang="en-US" sz="1350" b="1" i="1">
                              <a:solidFill>
                                <a:srgbClr val="0B1F2A"/>
                              </a:solidFill>
                              <a:latin typeface="Cambria Math" panose="02040503050406030204" pitchFamily="18" charset="0"/>
                              <a:ea typeface="Aptos"/>
                              <a:cs typeface="Aptos"/>
                            </a:rPr>
                            <m:t>，</m:t>
                          </m:r>
                          <m:sSub>
                            <m:sSubPr>
                              <m:ctrlPr>
                                <a:rPr lang="en-US" altLang="zh-CN" sz="1350" b="1" i="1" smtClean="0">
                                  <a:solidFill>
                                    <a:srgbClr val="0B1F2A"/>
                                  </a:solidFill>
                                  <a:latin typeface="Cambria Math" panose="02040503050406030204" pitchFamily="18" charset="0"/>
                                  <a:ea typeface="Aptos"/>
                                  <a:cs typeface="Aptos"/>
                                </a:rPr>
                              </m:ctrlPr>
                            </m:sSubPr>
                            <m:e>
                              <m:r>
                                <a:rPr lang="en-US" altLang="zh-CN" sz="1350" b="1" i="1" smtClean="0">
                                  <a:solidFill>
                                    <a:srgbClr val="0B1F2A"/>
                                  </a:solidFill>
                                  <a:latin typeface="Cambria Math" panose="02040503050406030204" pitchFamily="18" charset="0"/>
                                  <a:ea typeface="Aptos"/>
                                  <a:cs typeface="Aptos"/>
                                </a:rPr>
                                <m:t>𝒁</m:t>
                              </m:r>
                            </m:e>
                            <m:sub>
                              <m:r>
                                <a:rPr lang="en-US" altLang="zh-CN" sz="1350" b="1" i="1" smtClean="0">
                                  <a:solidFill>
                                    <a:srgbClr val="0B1F2A"/>
                                  </a:solidFill>
                                  <a:latin typeface="Cambria Math" panose="02040503050406030204" pitchFamily="18" charset="0"/>
                                  <a:ea typeface="Aptos"/>
                                  <a:cs typeface="Aptos"/>
                                </a:rPr>
                                <m:t>𝑻</m:t>
                              </m:r>
                            </m:sub>
                          </m:sSub>
                        </m:oMath>
                      </m:oMathPara>
                    </a14:m>
                    <a:endParaRPr sz="1350" b="1" dirty="0">
                      <a:solidFill>
                        <a:srgbClr val="0B1F2A"/>
                      </a:solidFill>
                      <a:latin typeface="Aptos"/>
                      <a:ea typeface="Aptos"/>
                      <a:cs typeface="Aptos"/>
                    </a:endParaRPr>
                  </a:p>
                </p:txBody>
              </p:sp>
            </mc:Choice>
            <mc:Fallback>
              <p:sp>
                <p:nvSpPr>
                  <p:cNvPr id="72" name="圆角矩形 7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025" y="5760"/>
                    <a:ext cx="3075" cy="1110"/>
                  </a:xfrm>
                  <a:prstGeom prst="roundRect">
                    <a:avLst>
                      <a:gd name="adj" fmla="val 13514"/>
                    </a:avLst>
                  </a:prstGeom>
                  <a:blipFill rotWithShape="1">
                    <a:blip r:embed="rId3"/>
                  </a:blipFill>
                  <a:ln w="13335">
                    <a:solidFill>
                      <a:srgbClr val="F0C77A"/>
                    </a:solidFill>
                    <a:prstDash val="solid"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3" name="右箭头 72"/>
              <p:cNvSpPr>
                <a:spLocks noGrp="1"/>
              </p:cNvSpPr>
              <p:nvPr/>
            </p:nvSpPr>
            <p:spPr>
              <a:xfrm>
                <a:off x="10350" y="6045"/>
                <a:ext cx="665" cy="51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rgbClr val="D33A2C"/>
              </a:solidFill>
              <a:ln w="7620">
                <a:solidFill>
                  <a:srgbClr val="D33A2C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9" name="任意多边形 118"/>
              <p:cNvSpPr>
                <a:spLocks noGrp="1"/>
              </p:cNvSpPr>
              <p:nvPr/>
            </p:nvSpPr>
            <p:spPr>
              <a:xfrm>
                <a:off x="14100" y="6300"/>
                <a:ext cx="1365" cy="1200"/>
              </a:xfrm>
              <a:custGeom>
                <a:avLst/>
                <a:gdLst/>
                <a:ahLst/>
                <a:cxnLst/>
                <a:rect l="0" t="0" r="0" b="0"/>
                <a:pathLst>
                  <a:path w="809625" h="514350">
                    <a:moveTo>
                      <a:pt x="0" y="0"/>
                    </a:moveTo>
                    <a:lnTo>
                      <a:pt x="809625" y="0"/>
                    </a:lnTo>
                    <a:lnTo>
                      <a:pt x="809625" y="514350"/>
                    </a:lnTo>
                  </a:path>
                </a:pathLst>
              </a:custGeom>
              <a:noFill/>
              <a:ln w="19050">
                <a:solidFill>
                  <a:srgbClr val="B6C2C8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" name="矩形 119"/>
              <p:cNvSpPr>
                <a:spLocks noGrp="1"/>
              </p:cNvSpPr>
              <p:nvPr/>
            </p:nvSpPr>
            <p:spPr>
              <a:xfrm>
                <a:off x="15515" y="6555"/>
                <a:ext cx="1800" cy="33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algn="ctr">
                  <a:buNone/>
                  <a:defRPr sz="1050" b="1">
                    <a:solidFill>
                      <a:srgbClr val="5B6770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1050" b="1">
                    <a:solidFill>
                      <a:srgbClr val="5B6770"/>
                    </a:solidFill>
                    <a:latin typeface="Aptos"/>
                    <a:ea typeface="Aptos"/>
                    <a:cs typeface="Aptos"/>
                  </a:rPr>
                  <a:t>avoid hard matching</a:t>
                </a:r>
                <a:endParaRPr sz="1050" b="1">
                  <a:solidFill>
                    <a:srgbClr val="5B6770"/>
                  </a:solidFill>
                  <a:latin typeface="Aptos"/>
                  <a:ea typeface="Aptos"/>
                  <a:cs typeface="Aptos"/>
                </a:endParaRPr>
              </a:p>
            </p:txBody>
          </p:sp>
        </p:grpSp>
        <p:sp>
          <p:nvSpPr>
            <p:cNvPr id="121" name="圆角矩形 120"/>
            <p:cNvSpPr>
              <a:spLocks noGrp="1"/>
            </p:cNvSpPr>
            <p:nvPr/>
          </p:nvSpPr>
          <p:spPr>
            <a:xfrm>
              <a:off x="6285" y="7489"/>
              <a:ext cx="7050" cy="2340"/>
            </a:xfrm>
            <a:prstGeom prst="roundRect">
              <a:avLst>
                <a:gd name="adj" fmla="val 6410"/>
              </a:avLst>
            </a:prstGeom>
            <a:solidFill>
              <a:srgbClr val="F8FCFF"/>
            </a:solidFill>
            <a:ln w="13335">
              <a:solidFill>
                <a:srgbClr val="79B6D8"/>
              </a:solidFill>
              <a:prstDash val="solid"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22" name="矩形 121"/>
            <p:cNvSpPr>
              <a:spLocks noGrp="1"/>
            </p:cNvSpPr>
            <p:nvPr/>
          </p:nvSpPr>
          <p:spPr>
            <a:xfrm>
              <a:off x="6299" y="7484"/>
              <a:ext cx="7036" cy="3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buNone/>
                <a:defRPr sz="1500" b="1">
                  <a:solidFill>
                    <a:srgbClr val="1D70A2"/>
                  </a:solidFill>
                  <a:latin typeface="Aptos"/>
                  <a:ea typeface="Aptos"/>
                  <a:cs typeface="Aptos"/>
                </a:defRPr>
              </a:pPr>
              <a:r>
                <a:rPr sz="1500" b="1" dirty="0" err="1">
                  <a:solidFill>
                    <a:srgbClr val="1D70A2"/>
                  </a:solidFill>
                  <a:latin typeface="Aptos"/>
                  <a:ea typeface="Aptos"/>
                  <a:cs typeface="Aptos"/>
                </a:rPr>
                <a:t>MemKD</a:t>
              </a:r>
              <a:r>
                <a:rPr sz="1500" b="1" dirty="0">
                  <a:solidFill>
                    <a:srgbClr val="1D70A2"/>
                  </a:solidFill>
                  <a:latin typeface="Aptos"/>
                  <a:ea typeface="Aptos"/>
                  <a:cs typeface="Aptos"/>
                </a:rPr>
                <a:t>: memory-discrepancy</a:t>
              </a:r>
              <a:r>
                <a:rPr lang="en-US" sz="1500" b="1" dirty="0">
                  <a:solidFill>
                    <a:srgbClr val="1D70A2"/>
                  </a:solidFill>
                  <a:latin typeface="Aptos"/>
                  <a:ea typeface="Aptos"/>
                  <a:cs typeface="Aptos"/>
                </a:rPr>
                <a:t> </a:t>
              </a:r>
              <a:r>
                <a:rPr sz="1500" b="1" dirty="0">
                  <a:solidFill>
                    <a:srgbClr val="1D70A2"/>
                  </a:solidFill>
                  <a:latin typeface="Aptos"/>
                  <a:ea typeface="Aptos"/>
                  <a:cs typeface="Aptos"/>
                </a:rPr>
                <a:t>trajectory alignment</a:t>
              </a:r>
              <a:endParaRPr sz="1500" b="1" dirty="0">
                <a:solidFill>
                  <a:srgbClr val="1D70A2"/>
                </a:solidFill>
                <a:latin typeface="Aptos"/>
                <a:ea typeface="Aptos"/>
                <a:cs typeface="Aptos"/>
              </a:endParaRPr>
            </a:p>
          </p:txBody>
        </p:sp>
        <p:sp>
          <p:nvSpPr>
            <p:cNvPr id="123" name="任意多边形 122"/>
            <p:cNvSpPr>
              <a:spLocks noGrp="1"/>
            </p:cNvSpPr>
            <p:nvPr/>
          </p:nvSpPr>
          <p:spPr>
            <a:xfrm>
              <a:off x="6855" y="8342"/>
              <a:ext cx="5040" cy="944"/>
            </a:xfrm>
            <a:custGeom>
              <a:avLst/>
              <a:gdLst/>
              <a:ahLst/>
              <a:cxnLst/>
              <a:rect l="0" t="0" r="0" b="0"/>
              <a:pathLst>
                <a:path w="3200400" h="599245">
                  <a:moveTo>
                    <a:pt x="0" y="411054"/>
                  </a:moveTo>
                  <a:lnTo>
                    <a:pt x="400050" y="177370"/>
                  </a:lnTo>
                  <a:lnTo>
                    <a:pt x="800100" y="23754"/>
                  </a:lnTo>
                  <a:lnTo>
                    <a:pt x="1200150" y="0"/>
                  </a:lnTo>
                  <a:lnTo>
                    <a:pt x="1600200" y="106807"/>
                  </a:lnTo>
                  <a:lnTo>
                    <a:pt x="2000250" y="295511"/>
                  </a:lnTo>
                  <a:lnTo>
                    <a:pt x="2400300" y="486485"/>
                  </a:lnTo>
                  <a:lnTo>
                    <a:pt x="2800350" y="599245"/>
                  </a:lnTo>
                  <a:lnTo>
                    <a:pt x="3200400" y="582876"/>
                  </a:lnTo>
                </a:path>
              </a:pathLst>
            </a:custGeom>
            <a:noFill/>
            <a:ln w="38100">
              <a:solidFill>
                <a:srgbClr val="1D70A2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" name="任意多边形 123"/>
            <p:cNvSpPr>
              <a:spLocks noGrp="1"/>
            </p:cNvSpPr>
            <p:nvPr/>
          </p:nvSpPr>
          <p:spPr>
            <a:xfrm>
              <a:off x="6855" y="8540"/>
              <a:ext cx="5040" cy="954"/>
            </a:xfrm>
            <a:custGeom>
              <a:avLst/>
              <a:gdLst/>
              <a:ahLst/>
              <a:cxnLst/>
              <a:rect l="0" t="0" r="0" b="0"/>
              <a:pathLst>
                <a:path w="3200400" h="487868">
                  <a:moveTo>
                    <a:pt x="0" y="163045"/>
                  </a:moveTo>
                  <a:lnTo>
                    <a:pt x="400050" y="16066"/>
                  </a:lnTo>
                  <a:lnTo>
                    <a:pt x="800100" y="0"/>
                  </a:lnTo>
                  <a:lnTo>
                    <a:pt x="1200150" y="114785"/>
                  </a:lnTo>
                  <a:lnTo>
                    <a:pt x="1600200" y="296388"/>
                  </a:lnTo>
                  <a:lnTo>
                    <a:pt x="2000250" y="448113"/>
                  </a:lnTo>
                  <a:lnTo>
                    <a:pt x="2400300" y="487868"/>
                  </a:lnTo>
                  <a:lnTo>
                    <a:pt x="2800350" y="388301"/>
                  </a:lnTo>
                  <a:lnTo>
                    <a:pt x="3200400" y="190173"/>
                  </a:lnTo>
                </a:path>
              </a:pathLst>
            </a:custGeom>
            <a:noFill/>
            <a:ln w="38100">
              <a:solidFill>
                <a:srgbClr val="3BB7C4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" name="椭圆 124"/>
            <p:cNvSpPr>
              <a:spLocks noGrp="1"/>
            </p:cNvSpPr>
            <p:nvPr/>
          </p:nvSpPr>
          <p:spPr>
            <a:xfrm>
              <a:off x="6765" y="8899"/>
              <a:ext cx="180" cy="180"/>
            </a:xfrm>
            <a:prstGeom prst="ellipse">
              <a:avLst/>
            </a:prstGeom>
            <a:solidFill>
              <a:srgbClr val="1D70A2"/>
            </a:solidFill>
            <a:ln w="11430">
              <a:solidFill>
                <a:srgbClr val="1D70A2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" name="椭圆 125"/>
            <p:cNvSpPr>
              <a:spLocks noGrp="1"/>
            </p:cNvSpPr>
            <p:nvPr/>
          </p:nvSpPr>
          <p:spPr>
            <a:xfrm>
              <a:off x="6765" y="8893"/>
              <a:ext cx="180" cy="180"/>
            </a:xfrm>
            <a:prstGeom prst="ellipse">
              <a:avLst/>
            </a:prstGeom>
            <a:solidFill>
              <a:srgbClr val="3BB7C4"/>
            </a:solidFill>
            <a:ln w="11430">
              <a:solidFill>
                <a:srgbClr val="3BB7C4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" name="椭圆 126"/>
            <p:cNvSpPr>
              <a:spLocks noGrp="1"/>
            </p:cNvSpPr>
            <p:nvPr/>
          </p:nvSpPr>
          <p:spPr>
            <a:xfrm>
              <a:off x="8025" y="8289"/>
              <a:ext cx="180" cy="180"/>
            </a:xfrm>
            <a:prstGeom prst="ellipse">
              <a:avLst/>
            </a:prstGeom>
            <a:solidFill>
              <a:srgbClr val="1D70A2"/>
            </a:solidFill>
            <a:ln w="11430">
              <a:solidFill>
                <a:srgbClr val="1D70A2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" name="椭圆 127"/>
            <p:cNvSpPr>
              <a:spLocks noGrp="1"/>
            </p:cNvSpPr>
            <p:nvPr/>
          </p:nvSpPr>
          <p:spPr>
            <a:xfrm>
              <a:off x="8025" y="8636"/>
              <a:ext cx="180" cy="180"/>
            </a:xfrm>
            <a:prstGeom prst="ellipse">
              <a:avLst/>
            </a:prstGeom>
            <a:solidFill>
              <a:srgbClr val="3BB7C4"/>
            </a:solidFill>
            <a:ln w="11430">
              <a:solidFill>
                <a:srgbClr val="3BB7C4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" name="椭圆 128"/>
            <p:cNvSpPr>
              <a:spLocks noGrp="1"/>
            </p:cNvSpPr>
            <p:nvPr/>
          </p:nvSpPr>
          <p:spPr>
            <a:xfrm>
              <a:off x="9285" y="8420"/>
              <a:ext cx="180" cy="180"/>
            </a:xfrm>
            <a:prstGeom prst="ellipse">
              <a:avLst/>
            </a:prstGeom>
            <a:solidFill>
              <a:srgbClr val="1D70A2"/>
            </a:solidFill>
            <a:ln w="11430">
              <a:solidFill>
                <a:srgbClr val="1D70A2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" name="椭圆 129"/>
            <p:cNvSpPr>
              <a:spLocks noGrp="1"/>
            </p:cNvSpPr>
            <p:nvPr/>
          </p:nvSpPr>
          <p:spPr>
            <a:xfrm>
              <a:off x="9285" y="9103"/>
              <a:ext cx="180" cy="180"/>
            </a:xfrm>
            <a:prstGeom prst="ellipse">
              <a:avLst/>
            </a:prstGeom>
            <a:solidFill>
              <a:srgbClr val="3BB7C4"/>
            </a:solidFill>
            <a:ln w="11430">
              <a:solidFill>
                <a:srgbClr val="3BB7C4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" name="椭圆 130"/>
            <p:cNvSpPr>
              <a:spLocks noGrp="1"/>
            </p:cNvSpPr>
            <p:nvPr/>
          </p:nvSpPr>
          <p:spPr>
            <a:xfrm>
              <a:off x="10545" y="9018"/>
              <a:ext cx="180" cy="180"/>
            </a:xfrm>
            <a:prstGeom prst="ellipse">
              <a:avLst/>
            </a:prstGeom>
            <a:solidFill>
              <a:srgbClr val="1D70A2"/>
            </a:solidFill>
            <a:ln w="11430">
              <a:solidFill>
                <a:srgbClr val="1D70A2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" name="椭圆 131"/>
            <p:cNvSpPr>
              <a:spLocks noGrp="1"/>
            </p:cNvSpPr>
            <p:nvPr/>
          </p:nvSpPr>
          <p:spPr>
            <a:xfrm>
              <a:off x="10545" y="9405"/>
              <a:ext cx="180" cy="180"/>
            </a:xfrm>
            <a:prstGeom prst="ellipse">
              <a:avLst/>
            </a:prstGeom>
            <a:solidFill>
              <a:srgbClr val="3BB7C4"/>
            </a:solidFill>
            <a:ln w="11430">
              <a:solidFill>
                <a:srgbClr val="3BB7C4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" name="椭圆 132"/>
            <p:cNvSpPr>
              <a:spLocks noGrp="1"/>
            </p:cNvSpPr>
            <p:nvPr/>
          </p:nvSpPr>
          <p:spPr>
            <a:xfrm>
              <a:off x="11805" y="9170"/>
              <a:ext cx="180" cy="180"/>
            </a:xfrm>
            <a:prstGeom prst="ellipse">
              <a:avLst/>
            </a:prstGeom>
            <a:solidFill>
              <a:srgbClr val="1D70A2"/>
            </a:solidFill>
            <a:ln w="11430">
              <a:solidFill>
                <a:srgbClr val="1D70A2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" name="椭圆 133"/>
            <p:cNvSpPr>
              <a:spLocks noGrp="1"/>
            </p:cNvSpPr>
            <p:nvPr/>
          </p:nvSpPr>
          <p:spPr>
            <a:xfrm>
              <a:off x="11850" y="8756"/>
              <a:ext cx="180" cy="180"/>
            </a:xfrm>
            <a:prstGeom prst="ellipse">
              <a:avLst/>
            </a:prstGeom>
            <a:solidFill>
              <a:srgbClr val="3BB7C4"/>
            </a:solidFill>
            <a:ln w="11430">
              <a:solidFill>
                <a:srgbClr val="3BB7C4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" name="矩形 134"/>
            <p:cNvSpPr>
              <a:spLocks noGrp="1"/>
            </p:cNvSpPr>
            <p:nvPr/>
          </p:nvSpPr>
          <p:spPr>
            <a:xfrm>
              <a:off x="7575" y="8959"/>
              <a:ext cx="1200" cy="3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buNone/>
                <a:defRPr sz="1050" b="1">
                  <a:solidFill>
                    <a:srgbClr val="D33A2C"/>
                  </a:solidFill>
                  <a:latin typeface="Aptos"/>
                  <a:ea typeface="Aptos"/>
                  <a:cs typeface="Aptos"/>
                </a:defRPr>
              </a:pPr>
              <a:r>
                <a:rPr sz="1050" b="1">
                  <a:solidFill>
                    <a:srgbClr val="D33A2C"/>
                  </a:solidFill>
                  <a:latin typeface="Aptos"/>
                  <a:ea typeface="Aptos"/>
                  <a:cs typeface="Aptos"/>
                </a:rPr>
                <a:t>short z=1</a:t>
              </a:r>
              <a:endParaRPr sz="1050" b="1">
                <a:solidFill>
                  <a:srgbClr val="D33A2C"/>
                </a:solidFill>
                <a:latin typeface="Aptos"/>
                <a:ea typeface="Aptos"/>
                <a:cs typeface="Aptos"/>
              </a:endParaRPr>
            </a:p>
          </p:txBody>
        </p:sp>
        <p:sp>
          <p:nvSpPr>
            <p:cNvPr id="136" name="矩形 135"/>
            <p:cNvSpPr>
              <a:spLocks noGrp="1"/>
            </p:cNvSpPr>
            <p:nvPr/>
          </p:nvSpPr>
          <p:spPr>
            <a:xfrm>
              <a:off x="9750" y="8209"/>
              <a:ext cx="2100" cy="3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buNone/>
                <a:defRPr sz="1050" b="1">
                  <a:solidFill>
                    <a:srgbClr val="6A4C93"/>
                  </a:solidFill>
                  <a:latin typeface="Aptos"/>
                  <a:ea typeface="Aptos"/>
                  <a:cs typeface="Aptos"/>
                </a:defRPr>
              </a:pPr>
              <a:r>
                <a:rPr sz="1050">
                  <a:solidFill>
                    <a:srgbClr val="6A4C93"/>
                  </a:solidFill>
                  <a:latin typeface="Aptos"/>
                  <a:ea typeface="Aptos"/>
                  <a:cs typeface="Aptos"/>
                </a:rPr>
                <a:t>long z~U(2,T/2)</a:t>
              </a:r>
              <a:endParaRPr sz="1050">
                <a:solidFill>
                  <a:srgbClr val="6A4C93"/>
                </a:solidFill>
                <a:latin typeface="Aptos"/>
                <a:ea typeface="Aptos"/>
                <a:cs typeface="Aptos"/>
              </a:endParaRPr>
            </a:p>
          </p:txBody>
        </p:sp>
        <p:grpSp>
          <p:nvGrpSpPr>
            <p:cNvPr id="194" name="组合 193"/>
            <p:cNvGrpSpPr/>
            <p:nvPr/>
          </p:nvGrpSpPr>
          <p:grpSpPr>
            <a:xfrm>
              <a:off x="12045" y="8503"/>
              <a:ext cx="1185" cy="390"/>
              <a:chOff x="11985" y="8209"/>
              <a:chExt cx="1185" cy="390"/>
            </a:xfrm>
          </p:grpSpPr>
          <p:sp>
            <p:nvSpPr>
              <p:cNvPr id="138" name="矩形 137"/>
              <p:cNvSpPr>
                <a:spLocks noGrp="1"/>
              </p:cNvSpPr>
              <p:nvPr/>
            </p:nvSpPr>
            <p:spPr>
              <a:xfrm>
                <a:off x="11985" y="8209"/>
                <a:ext cx="203" cy="390"/>
              </a:xfrm>
              <a:prstGeom prst="rect">
                <a:avLst/>
              </a:prstGeom>
              <a:solidFill>
                <a:srgbClr val="1D70A2"/>
              </a:solidFill>
              <a:ln w="13335">
                <a:solidFill>
                  <a:srgbClr val="1D70A2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9" name="矩形 138"/>
              <p:cNvSpPr>
                <a:spLocks noGrp="1"/>
              </p:cNvSpPr>
              <p:nvPr/>
            </p:nvSpPr>
            <p:spPr>
              <a:xfrm>
                <a:off x="12203" y="8209"/>
                <a:ext cx="203" cy="390"/>
              </a:xfrm>
              <a:prstGeom prst="rect">
                <a:avLst/>
              </a:prstGeom>
              <a:solidFill>
                <a:srgbClr val="9ADAE0"/>
              </a:solidFill>
              <a:ln w="13335">
                <a:solidFill>
                  <a:srgbClr val="9ADAE0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0" name="矩形 139"/>
              <p:cNvSpPr>
                <a:spLocks noGrp="1"/>
              </p:cNvSpPr>
              <p:nvPr/>
            </p:nvSpPr>
            <p:spPr>
              <a:xfrm>
                <a:off x="12420" y="8209"/>
                <a:ext cx="203" cy="390"/>
              </a:xfrm>
              <a:prstGeom prst="rect">
                <a:avLst/>
              </a:prstGeom>
              <a:solidFill>
                <a:srgbClr val="3BB7C4"/>
              </a:solidFill>
              <a:ln w="13335">
                <a:solidFill>
                  <a:srgbClr val="3BB7C4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1" name="矩形 140"/>
              <p:cNvSpPr>
                <a:spLocks noGrp="1"/>
              </p:cNvSpPr>
              <p:nvPr/>
            </p:nvSpPr>
            <p:spPr>
              <a:xfrm>
                <a:off x="12638" y="8209"/>
                <a:ext cx="203" cy="390"/>
              </a:xfrm>
              <a:prstGeom prst="rect">
                <a:avLst/>
              </a:prstGeom>
              <a:solidFill>
                <a:srgbClr val="D7F2F4"/>
              </a:solidFill>
              <a:ln w="13335">
                <a:solidFill>
                  <a:srgbClr val="D7F2F4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46" name="矩形 145"/>
                  <p:cNvSpPr>
                    <a:spLocks noGrp="1"/>
                  </p:cNvSpPr>
                  <p:nvPr/>
                </p:nvSpPr>
                <p:spPr>
                  <a:xfrm>
                    <a:off x="12750" y="8224"/>
                    <a:ext cx="420" cy="330"/>
                  </a:xfrm>
                  <a:prstGeom prst="rect">
                    <a:avLst/>
                  </a:prstGeom>
                  <a:noFill/>
                  <a:ln w="0">
                    <a:noFill/>
                    <a:prstDash val="solid"/>
                  </a:ln>
                </p:spPr>
                <p:txBody>
                  <a:bodyPr/>
                  <a:lstStyle/>
                  <a:p>
                    <a:pPr algn="l">
                      <a:buNone/>
                      <a:defRPr sz="975" b="1">
                        <a:solidFill>
                          <a:srgbClr val="1D70A2"/>
                        </a:solidFill>
                        <a:latin typeface="Aptos"/>
                        <a:ea typeface="Aptos"/>
                        <a:cs typeface="Aptos"/>
                      </a:defRPr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975" b="1" i="1" smtClean="0">
                                  <a:solidFill>
                                    <a:srgbClr val="1D70A2"/>
                                  </a:solidFill>
                                  <a:latin typeface="Cambria Math" panose="02040503050406030204" pitchFamily="18" charset="0"/>
                                  <a:ea typeface="Aptos"/>
                                  <a:cs typeface="Aptos"/>
                                </a:rPr>
                              </m:ctrlPr>
                            </m:sSubPr>
                            <m:e>
                              <m:r>
                                <a:rPr lang="en-US" sz="975" b="1" i="1" smtClean="0">
                                  <a:solidFill>
                                    <a:srgbClr val="1D70A2"/>
                                  </a:solidFill>
                                  <a:latin typeface="Cambria Math" panose="02040503050406030204" pitchFamily="18" charset="0"/>
                                  <a:ea typeface="Aptos"/>
                                  <a:cs typeface="Aptos"/>
                                </a:rPr>
                                <m:t>𝑴</m:t>
                              </m:r>
                            </m:e>
                            <m:sub>
                              <m:r>
                                <a:rPr lang="en-US" sz="975" b="1" i="1" smtClean="0">
                                  <a:solidFill>
                                    <a:srgbClr val="1D70A2"/>
                                  </a:solidFill>
                                  <a:latin typeface="Cambria Math" panose="02040503050406030204" pitchFamily="18" charset="0"/>
                                  <a:ea typeface="Aptos"/>
                                  <a:cs typeface="Aptos"/>
                                </a:rPr>
                                <m:t>𝑻</m:t>
                              </m:r>
                            </m:sub>
                          </m:sSub>
                        </m:oMath>
                      </m:oMathPara>
                    </a14:m>
                    <a:endParaRPr sz="975" b="1" dirty="0">
                      <a:solidFill>
                        <a:srgbClr val="1D70A2"/>
                      </a:solidFill>
                      <a:latin typeface="Aptos"/>
                      <a:ea typeface="Aptos"/>
                      <a:cs typeface="Aptos"/>
                    </a:endParaRPr>
                  </a:p>
                </p:txBody>
              </p:sp>
            </mc:Choice>
            <mc:Fallback>
              <p:sp>
                <p:nvSpPr>
                  <p:cNvPr id="146" name="矩形 145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750" y="8224"/>
                    <a:ext cx="420" cy="330"/>
                  </a:xfrm>
                  <a:prstGeom prst="rect">
                    <a:avLst/>
                  </a:prstGeom>
                  <a:blipFill rotWithShape="1">
                    <a:blip r:embed="rId4"/>
                  </a:blipFill>
                  <a:ln w="0">
                    <a:noFill/>
                    <a:prstDash val="solid"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2" name="组合 191"/>
            <p:cNvGrpSpPr/>
            <p:nvPr/>
          </p:nvGrpSpPr>
          <p:grpSpPr>
            <a:xfrm>
              <a:off x="12075" y="9116"/>
              <a:ext cx="1163" cy="390"/>
              <a:chOff x="11985" y="8839"/>
              <a:chExt cx="1163" cy="390"/>
            </a:xfrm>
          </p:grpSpPr>
          <p:sp>
            <p:nvSpPr>
              <p:cNvPr id="142" name="矩形 141"/>
              <p:cNvSpPr>
                <a:spLocks noGrp="1"/>
              </p:cNvSpPr>
              <p:nvPr/>
            </p:nvSpPr>
            <p:spPr>
              <a:xfrm>
                <a:off x="11985" y="8839"/>
                <a:ext cx="203" cy="390"/>
              </a:xfrm>
              <a:prstGeom prst="rect">
                <a:avLst/>
              </a:prstGeom>
              <a:solidFill>
                <a:srgbClr val="39A844"/>
              </a:solidFill>
              <a:ln w="13335">
                <a:solidFill>
                  <a:srgbClr val="39A844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" name="矩形 142"/>
              <p:cNvSpPr>
                <a:spLocks noGrp="1"/>
              </p:cNvSpPr>
              <p:nvPr/>
            </p:nvSpPr>
            <p:spPr>
              <a:xfrm>
                <a:off x="12203" y="8839"/>
                <a:ext cx="203" cy="390"/>
              </a:xfrm>
              <a:prstGeom prst="rect">
                <a:avLst/>
              </a:prstGeom>
              <a:solidFill>
                <a:srgbClr val="DDF3DF"/>
              </a:solidFill>
              <a:ln w="13335">
                <a:solidFill>
                  <a:srgbClr val="DDF3DF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4" name="矩形 143"/>
              <p:cNvSpPr>
                <a:spLocks noGrp="1"/>
              </p:cNvSpPr>
              <p:nvPr/>
            </p:nvSpPr>
            <p:spPr>
              <a:xfrm>
                <a:off x="12420" y="8839"/>
                <a:ext cx="203" cy="390"/>
              </a:xfrm>
              <a:prstGeom prst="rect">
                <a:avLst/>
              </a:prstGeom>
              <a:solidFill>
                <a:srgbClr val="F4A62A"/>
              </a:solidFill>
              <a:ln w="13335">
                <a:solidFill>
                  <a:srgbClr val="F4A62A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5" name="矩形 144"/>
              <p:cNvSpPr>
                <a:spLocks noGrp="1"/>
              </p:cNvSpPr>
              <p:nvPr/>
            </p:nvSpPr>
            <p:spPr>
              <a:xfrm>
                <a:off x="12638" y="8839"/>
                <a:ext cx="203" cy="390"/>
              </a:xfrm>
              <a:prstGeom prst="rect">
                <a:avLst/>
              </a:prstGeom>
              <a:solidFill>
                <a:srgbClr val="FFE3A8"/>
              </a:solidFill>
              <a:ln w="13335">
                <a:solidFill>
                  <a:srgbClr val="FFE3A8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47" name="矩形 146"/>
                  <p:cNvSpPr>
                    <a:spLocks noGrp="1"/>
                  </p:cNvSpPr>
                  <p:nvPr/>
                </p:nvSpPr>
                <p:spPr>
                  <a:xfrm>
                    <a:off x="12782" y="8845"/>
                    <a:ext cx="367" cy="330"/>
                  </a:xfrm>
                  <a:prstGeom prst="rect">
                    <a:avLst/>
                  </a:prstGeom>
                  <a:noFill/>
                  <a:ln w="0">
                    <a:noFill/>
                    <a:prstDash val="solid"/>
                  </a:ln>
                </p:spPr>
                <p:txBody>
                  <a:bodyPr/>
                  <a:lstStyle/>
                  <a:p>
                    <a:pPr algn="l">
                      <a:buNone/>
                      <a:defRPr sz="975" b="1">
                        <a:solidFill>
                          <a:srgbClr val="39A844"/>
                        </a:solidFill>
                        <a:latin typeface="Aptos"/>
                        <a:ea typeface="Aptos"/>
                        <a:cs typeface="Aptos"/>
                      </a:defRPr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975" b="1" i="1" smtClean="0">
                                  <a:solidFill>
                                    <a:srgbClr val="39A844"/>
                                  </a:solidFill>
                                  <a:latin typeface="Cambria Math" panose="02040503050406030204" pitchFamily="18" charset="0"/>
                                  <a:ea typeface="Aptos"/>
                                  <a:cs typeface="Aptos"/>
                                </a:rPr>
                              </m:ctrlPr>
                            </m:sSubPr>
                            <m:e>
                              <m:r>
                                <a:rPr lang="en-US" altLang="zh-CN" sz="975" b="1" i="1" smtClean="0">
                                  <a:solidFill>
                                    <a:srgbClr val="39A844"/>
                                  </a:solidFill>
                                  <a:latin typeface="Cambria Math" panose="02040503050406030204" pitchFamily="18" charset="0"/>
                                  <a:ea typeface="Aptos"/>
                                  <a:cs typeface="Aptos"/>
                                </a:rPr>
                                <m:t>𝑴</m:t>
                              </m:r>
                            </m:e>
                            <m:sub>
                              <m:r>
                                <a:rPr lang="en-US" altLang="zh-CN" sz="975" b="1" i="1" smtClean="0">
                                  <a:solidFill>
                                    <a:srgbClr val="39A844"/>
                                  </a:solidFill>
                                  <a:latin typeface="Cambria Math" panose="02040503050406030204" pitchFamily="18" charset="0"/>
                                  <a:ea typeface="Aptos"/>
                                  <a:cs typeface="Aptos"/>
                                </a:rPr>
                                <m:t>𝑺</m:t>
                              </m:r>
                            </m:sub>
                          </m:sSub>
                        </m:oMath>
                      </m:oMathPara>
                    </a14:m>
                    <a:endParaRPr sz="975" b="1" dirty="0">
                      <a:solidFill>
                        <a:srgbClr val="39A844"/>
                      </a:solidFill>
                      <a:latin typeface="Aptos"/>
                      <a:ea typeface="Aptos"/>
                      <a:cs typeface="Aptos"/>
                    </a:endParaRPr>
                  </a:p>
                </p:txBody>
              </p:sp>
            </mc:Choice>
            <mc:Fallback>
              <p:sp>
                <p:nvSpPr>
                  <p:cNvPr id="147" name="矩形 146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782" y="8845"/>
                    <a:ext cx="367" cy="330"/>
                  </a:xfrm>
                  <a:prstGeom prst="rect">
                    <a:avLst/>
                  </a:prstGeom>
                  <a:blipFill rotWithShape="1">
                    <a:blip r:embed="rId5"/>
                  </a:blipFill>
                  <a:ln w="0">
                    <a:noFill/>
                    <a:prstDash val="solid"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48" name="圆角矩形 147"/>
            <p:cNvSpPr>
              <a:spLocks noGrp="1"/>
            </p:cNvSpPr>
            <p:nvPr/>
          </p:nvSpPr>
          <p:spPr>
            <a:xfrm>
              <a:off x="13755" y="7489"/>
              <a:ext cx="5880" cy="2340"/>
            </a:xfrm>
            <a:prstGeom prst="roundRect">
              <a:avLst>
                <a:gd name="adj" fmla="val 6410"/>
              </a:avLst>
            </a:prstGeom>
            <a:solidFill>
              <a:srgbClr val="FBFFF5"/>
            </a:solidFill>
            <a:ln w="13335">
              <a:solidFill>
                <a:srgbClr val="8BCB72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" name="矩形 148"/>
            <p:cNvSpPr>
              <a:spLocks noGrp="1"/>
            </p:cNvSpPr>
            <p:nvPr/>
          </p:nvSpPr>
          <p:spPr>
            <a:xfrm>
              <a:off x="13636" y="7489"/>
              <a:ext cx="5991" cy="3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buNone/>
                <a:defRPr sz="1500" b="1">
                  <a:solidFill>
                    <a:srgbClr val="24722D"/>
                  </a:solidFill>
                  <a:latin typeface="Aptos"/>
                  <a:ea typeface="Aptos"/>
                  <a:cs typeface="Aptos"/>
                </a:defRPr>
              </a:pPr>
              <a:r>
                <a:rPr sz="1500" b="1" dirty="0">
                  <a:solidFill>
                    <a:srgbClr val="24722D"/>
                  </a:solidFill>
                  <a:latin typeface="Aptos"/>
                  <a:ea typeface="Aptos"/>
                  <a:cs typeface="Aptos"/>
                </a:rPr>
                <a:t>TS-T: temporal separation with adaptive temperature</a:t>
              </a:r>
              <a:endParaRPr sz="1500" b="1" dirty="0">
                <a:solidFill>
                  <a:srgbClr val="24722D"/>
                </a:solidFill>
                <a:latin typeface="Aptos"/>
                <a:ea typeface="Aptos"/>
                <a:cs typeface="Aptos"/>
              </a:endParaRPr>
            </a:p>
          </p:txBody>
        </p:sp>
        <p:sp>
          <p:nvSpPr>
            <p:cNvPr id="150" name="任意多边形 149"/>
            <p:cNvSpPr>
              <a:spLocks noGrp="1"/>
            </p:cNvSpPr>
            <p:nvPr/>
          </p:nvSpPr>
          <p:spPr>
            <a:xfrm>
              <a:off x="14505" y="8599"/>
              <a:ext cx="4425" cy="15"/>
            </a:xfrm>
            <a:custGeom>
              <a:avLst/>
              <a:gdLst/>
              <a:ahLst/>
              <a:cxnLst/>
              <a:rect l="0" t="0" r="0" b="0"/>
              <a:pathLst>
                <a:path w="2809875" h="9525">
                  <a:moveTo>
                    <a:pt x="0" y="0"/>
                  </a:moveTo>
                  <a:lnTo>
                    <a:pt x="2809875" y="0"/>
                  </a:lnTo>
                </a:path>
              </a:pathLst>
            </a:custGeom>
            <a:noFill/>
            <a:ln w="19050">
              <a:solidFill>
                <a:srgbClr val="0B1F2A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" name="右箭头 150"/>
            <p:cNvSpPr>
              <a:spLocks noGrp="1"/>
            </p:cNvSpPr>
            <p:nvPr/>
          </p:nvSpPr>
          <p:spPr>
            <a:xfrm>
              <a:off x="18825" y="8299"/>
              <a:ext cx="360" cy="24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0B1F2A"/>
            </a:solidFill>
            <a:ln w="7620">
              <a:solidFill>
                <a:srgbClr val="0B1F2A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" name="矩形 151"/>
            <p:cNvSpPr>
              <a:spLocks noGrp="1"/>
            </p:cNvSpPr>
            <p:nvPr/>
          </p:nvSpPr>
          <p:spPr>
            <a:xfrm>
              <a:off x="15197" y="8179"/>
              <a:ext cx="3150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buNone/>
                <a:defRPr sz="1200" b="1">
                  <a:solidFill>
                    <a:srgbClr val="0B1F2A"/>
                  </a:solidFill>
                  <a:latin typeface="Aptos"/>
                  <a:ea typeface="Aptos"/>
                  <a:cs typeface="Aptos"/>
                </a:defRPr>
              </a:pPr>
              <a:r>
                <a:rPr sz="1200" b="1">
                  <a:solidFill>
                    <a:srgbClr val="0B1F2A"/>
                  </a:solidFill>
                  <a:latin typeface="Aptos"/>
                  <a:ea typeface="Aptos"/>
                  <a:cs typeface="Aptos"/>
                </a:rPr>
                <a:t>t=1      2      ...      Ts</a:t>
              </a:r>
              <a:endParaRPr sz="1200" b="1">
                <a:solidFill>
                  <a:srgbClr val="0B1F2A"/>
                </a:solidFill>
                <a:latin typeface="Aptos"/>
                <a:ea typeface="Aptos"/>
                <a:cs typeface="Aptos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3" name="矩形 152"/>
                <p:cNvSpPr>
                  <a:spLocks noGrp="1"/>
                </p:cNvSpPr>
                <p:nvPr/>
              </p:nvSpPr>
              <p:spPr>
                <a:xfrm>
                  <a:off x="14115" y="8689"/>
                  <a:ext cx="2310" cy="330"/>
                </a:xfrm>
                <a:prstGeom prst="rect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algn="l">
                    <a:buNone/>
                    <a:defRPr sz="1125" b="1">
                      <a:solidFill>
                        <a:srgbClr val="5B6770"/>
                      </a:solidFill>
                      <a:latin typeface="Aptos"/>
                      <a:ea typeface="Aptos"/>
                      <a:cs typeface="Aptos"/>
                    </a:defRPr>
                  </a:pPr>
                  <a:r>
                    <a:rPr sz="1125" b="1" dirty="0">
                      <a:solidFill>
                        <a:srgbClr val="5B6770"/>
                      </a:solidFill>
                      <a:latin typeface="Aptos"/>
                      <a:ea typeface="Aptos"/>
                      <a:cs typeface="Aptos"/>
                    </a:rPr>
                    <a:t>Teacher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125" b="1" i="1" smtClean="0">
                              <a:solidFill>
                                <a:srgbClr val="5B6770"/>
                              </a:solidFill>
                              <a:latin typeface="Cambria Math" panose="02040503050406030204" pitchFamily="18" charset="0"/>
                              <a:ea typeface="Aptos"/>
                              <a:cs typeface="Aptos"/>
                            </a:rPr>
                          </m:ctrlPr>
                        </m:sSubPr>
                        <m:e>
                          <m:r>
                            <a:rPr lang="en-US" altLang="zh-CN" sz="1125" b="1" i="1" smtClean="0">
                              <a:solidFill>
                                <a:srgbClr val="5B6770"/>
                              </a:solidFill>
                              <a:latin typeface="Cambria Math" panose="02040503050406030204" pitchFamily="18" charset="0"/>
                              <a:ea typeface="Aptos"/>
                              <a:cs typeface="Aptos"/>
                            </a:rPr>
                            <m:t>𝒁</m:t>
                          </m:r>
                        </m:e>
                        <m:sub>
                          <m:r>
                            <a:rPr lang="en-US" altLang="zh-CN" sz="1125" b="1" i="1" smtClean="0">
                              <a:solidFill>
                                <a:srgbClr val="5B6770"/>
                              </a:solidFill>
                              <a:latin typeface="Cambria Math" panose="02040503050406030204" pitchFamily="18" charset="0"/>
                              <a:ea typeface="Aptos"/>
                              <a:cs typeface="Aptos"/>
                            </a:rPr>
                            <m:t>𝑻</m:t>
                          </m:r>
                        </m:sub>
                      </m:sSub>
                    </m:oMath>
                  </a14:m>
                  <a:r>
                    <a:rPr sz="1125" b="1" dirty="0">
                      <a:solidFill>
                        <a:srgbClr val="5B6770"/>
                      </a:solidFill>
                      <a:latin typeface="Aptos"/>
                      <a:ea typeface="Aptos"/>
                      <a:cs typeface="Aptos"/>
                    </a:rPr>
                    <a:t>-&gt; broadcast</a:t>
                  </a:r>
                  <a:endParaRPr sz="1125" b="1" dirty="0">
                    <a:solidFill>
                      <a:srgbClr val="5B6770"/>
                    </a:solidFill>
                    <a:latin typeface="Aptos"/>
                    <a:ea typeface="Aptos"/>
                    <a:cs typeface="Aptos"/>
                  </a:endParaRPr>
                </a:p>
              </p:txBody>
            </p:sp>
          </mc:Choice>
          <mc:Fallback>
            <p:sp>
              <p:nvSpPr>
                <p:cNvPr id="153" name="矩形 15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15" y="8689"/>
                  <a:ext cx="2310" cy="330"/>
                </a:xfrm>
                <a:prstGeom prst="rect">
                  <a:avLst/>
                </a:prstGeom>
                <a:blipFill rotWithShape="1">
                  <a:blip r:embed="rId6"/>
                </a:blipFill>
                <a:ln w="0">
                  <a:noFill/>
                  <a:prstDash val="solid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4" name="矩形 153"/>
            <p:cNvSpPr>
              <a:spLocks noGrp="1"/>
            </p:cNvSpPr>
            <p:nvPr/>
          </p:nvSpPr>
          <p:spPr>
            <a:xfrm>
              <a:off x="16605" y="8689"/>
              <a:ext cx="480" cy="390"/>
            </a:xfrm>
            <a:prstGeom prst="rect">
              <a:avLst/>
            </a:prstGeom>
            <a:solidFill>
              <a:srgbClr val="1D70A2"/>
            </a:solidFill>
            <a:ln w="13335">
              <a:solidFill>
                <a:srgbClr val="1D70A2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" name="矩形 154"/>
            <p:cNvSpPr>
              <a:spLocks noGrp="1"/>
            </p:cNvSpPr>
            <p:nvPr/>
          </p:nvSpPr>
          <p:spPr>
            <a:xfrm>
              <a:off x="17100" y="8689"/>
              <a:ext cx="480" cy="390"/>
            </a:xfrm>
            <a:prstGeom prst="rect">
              <a:avLst/>
            </a:prstGeom>
            <a:solidFill>
              <a:srgbClr val="B5D6EA"/>
            </a:solidFill>
            <a:ln w="13335">
              <a:solidFill>
                <a:srgbClr val="B5D6EA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" name="矩形 155"/>
            <p:cNvSpPr>
              <a:spLocks noGrp="1"/>
            </p:cNvSpPr>
            <p:nvPr/>
          </p:nvSpPr>
          <p:spPr>
            <a:xfrm>
              <a:off x="17595" y="8689"/>
              <a:ext cx="480" cy="390"/>
            </a:xfrm>
            <a:prstGeom prst="rect">
              <a:avLst/>
            </a:prstGeom>
            <a:solidFill>
              <a:srgbClr val="D9EAF4"/>
            </a:solidFill>
            <a:ln w="13335">
              <a:solidFill>
                <a:srgbClr val="D9EAF4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" name="矩形 156"/>
            <p:cNvSpPr>
              <a:spLocks noGrp="1"/>
            </p:cNvSpPr>
            <p:nvPr/>
          </p:nvSpPr>
          <p:spPr>
            <a:xfrm>
              <a:off x="18090" y="8689"/>
              <a:ext cx="480" cy="390"/>
            </a:xfrm>
            <a:prstGeom prst="rect">
              <a:avLst/>
            </a:prstGeom>
            <a:solidFill>
              <a:srgbClr val="F4A62A"/>
            </a:solidFill>
            <a:ln w="13335">
              <a:solidFill>
                <a:srgbClr val="F4A62A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8" name="矩形 157"/>
                <p:cNvSpPr>
                  <a:spLocks noGrp="1"/>
                </p:cNvSpPr>
                <p:nvPr/>
              </p:nvSpPr>
              <p:spPr>
                <a:xfrm>
                  <a:off x="14115" y="9259"/>
                  <a:ext cx="1800" cy="330"/>
                </a:xfrm>
                <a:prstGeom prst="rect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algn="l">
                    <a:buNone/>
                    <a:defRPr sz="1125" b="1">
                      <a:solidFill>
                        <a:srgbClr val="5B6770"/>
                      </a:solidFill>
                      <a:latin typeface="Aptos"/>
                      <a:ea typeface="Aptos"/>
                      <a:cs typeface="Aptos"/>
                    </a:defRPr>
                  </a:pPr>
                  <a:r>
                    <a:rPr sz="1125" b="1" dirty="0">
                      <a:solidFill>
                        <a:srgbClr val="5B6770"/>
                      </a:solidFill>
                      <a:latin typeface="Aptos"/>
                      <a:ea typeface="Aptos"/>
                      <a:cs typeface="Aptos"/>
                    </a:rPr>
                    <a:t>Student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125" b="1" i="1" smtClean="0">
                              <a:solidFill>
                                <a:srgbClr val="5B6770"/>
                              </a:solidFill>
                              <a:latin typeface="Cambria Math" panose="02040503050406030204" pitchFamily="18" charset="0"/>
                              <a:ea typeface="Aptos"/>
                              <a:cs typeface="Aptos"/>
                            </a:rPr>
                          </m:ctrlPr>
                        </m:sSubPr>
                        <m:e>
                          <m:r>
                            <a:rPr lang="en-US" altLang="zh-CN" sz="1125" b="1" i="1" smtClean="0">
                              <a:solidFill>
                                <a:srgbClr val="5B6770"/>
                              </a:solidFill>
                              <a:latin typeface="Cambria Math" panose="02040503050406030204" pitchFamily="18" charset="0"/>
                              <a:ea typeface="Aptos"/>
                              <a:cs typeface="Aptos"/>
                            </a:rPr>
                            <m:t>𝒁</m:t>
                          </m:r>
                        </m:e>
                        <m:sub>
                          <m:r>
                            <a:rPr lang="en-US" altLang="zh-CN" sz="1125" b="1" i="1" smtClean="0">
                              <a:solidFill>
                                <a:srgbClr val="5B6770"/>
                              </a:solidFill>
                              <a:latin typeface="Cambria Math" panose="02040503050406030204" pitchFamily="18" charset="0"/>
                              <a:ea typeface="Aptos"/>
                              <a:cs typeface="Aptos"/>
                            </a:rPr>
                            <m:t>𝑺</m:t>
                          </m:r>
                        </m:sub>
                      </m:sSub>
                      <m:d>
                        <m:dPr>
                          <m:ctrlPr>
                            <a:rPr lang="en-US" altLang="zh-CN" sz="1125" b="1" i="1" smtClean="0">
                              <a:solidFill>
                                <a:srgbClr val="5B6770"/>
                              </a:solidFill>
                              <a:latin typeface="Cambria Math" panose="02040503050406030204" pitchFamily="18" charset="0"/>
                              <a:ea typeface="Aptos"/>
                              <a:cs typeface="Aptos"/>
                            </a:rPr>
                          </m:ctrlPr>
                        </m:dPr>
                        <m:e>
                          <m:r>
                            <a:rPr lang="en-US" altLang="zh-CN" sz="1125" b="1" i="1">
                              <a:solidFill>
                                <a:srgbClr val="5B6770"/>
                              </a:solidFill>
                              <a:latin typeface="Cambria Math" panose="02040503050406030204" pitchFamily="18" charset="0"/>
                              <a:ea typeface="Aptos"/>
                              <a:cs typeface="Aptos"/>
                            </a:rPr>
                            <m:t>𝒕</m:t>
                          </m:r>
                        </m:e>
                      </m:d>
                    </m:oMath>
                  </a14:m>
                  <a:endParaRPr sz="1125" b="1" dirty="0">
                    <a:solidFill>
                      <a:srgbClr val="5B6770"/>
                    </a:solidFill>
                    <a:latin typeface="Aptos"/>
                    <a:ea typeface="Aptos"/>
                    <a:cs typeface="Aptos"/>
                  </a:endParaRPr>
                </a:p>
              </p:txBody>
            </p:sp>
          </mc:Choice>
          <mc:Fallback>
            <p:sp>
              <p:nvSpPr>
                <p:cNvPr id="158" name="矩形 15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15" y="9259"/>
                  <a:ext cx="1800" cy="330"/>
                </a:xfrm>
                <a:prstGeom prst="rect">
                  <a:avLst/>
                </a:prstGeom>
                <a:blipFill rotWithShape="1">
                  <a:blip r:embed="rId7"/>
                </a:blipFill>
                <a:ln w="0">
                  <a:noFill/>
                  <a:prstDash val="solid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9" name="矩形 158"/>
            <p:cNvSpPr>
              <a:spLocks noGrp="1"/>
            </p:cNvSpPr>
            <p:nvPr/>
          </p:nvSpPr>
          <p:spPr>
            <a:xfrm>
              <a:off x="16605" y="9259"/>
              <a:ext cx="480" cy="390"/>
            </a:xfrm>
            <a:prstGeom prst="rect">
              <a:avLst/>
            </a:prstGeom>
            <a:solidFill>
              <a:srgbClr val="39A844"/>
            </a:solidFill>
            <a:ln w="13335">
              <a:solidFill>
                <a:srgbClr val="39A844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0" name="矩形 159"/>
            <p:cNvSpPr>
              <a:spLocks noGrp="1"/>
            </p:cNvSpPr>
            <p:nvPr/>
          </p:nvSpPr>
          <p:spPr>
            <a:xfrm>
              <a:off x="17100" y="9259"/>
              <a:ext cx="480" cy="390"/>
            </a:xfrm>
            <a:prstGeom prst="rect">
              <a:avLst/>
            </a:prstGeom>
            <a:solidFill>
              <a:srgbClr val="CDEFD1"/>
            </a:solidFill>
            <a:ln w="13335">
              <a:solidFill>
                <a:srgbClr val="CDEFD1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" name="矩形 160"/>
            <p:cNvSpPr>
              <a:spLocks noGrp="1"/>
            </p:cNvSpPr>
            <p:nvPr/>
          </p:nvSpPr>
          <p:spPr>
            <a:xfrm>
              <a:off x="17595" y="9259"/>
              <a:ext cx="480" cy="390"/>
            </a:xfrm>
            <a:prstGeom prst="rect">
              <a:avLst/>
            </a:prstGeom>
            <a:solidFill>
              <a:srgbClr val="F4A62A"/>
            </a:solidFill>
            <a:ln w="13335">
              <a:solidFill>
                <a:srgbClr val="F4A62A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" name="矩形 161"/>
            <p:cNvSpPr>
              <a:spLocks noGrp="1"/>
            </p:cNvSpPr>
            <p:nvPr/>
          </p:nvSpPr>
          <p:spPr>
            <a:xfrm>
              <a:off x="18090" y="9259"/>
              <a:ext cx="480" cy="390"/>
            </a:xfrm>
            <a:prstGeom prst="rect">
              <a:avLst/>
            </a:prstGeom>
            <a:solidFill>
              <a:srgbClr val="FFD7A1"/>
            </a:solidFill>
            <a:ln w="13335">
              <a:solidFill>
                <a:srgbClr val="FFD7A1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" name="右箭头 164"/>
            <p:cNvSpPr>
              <a:spLocks noGrp="1"/>
            </p:cNvSpPr>
            <p:nvPr/>
          </p:nvSpPr>
          <p:spPr>
            <a:xfrm>
              <a:off x="13230" y="8329"/>
              <a:ext cx="720" cy="45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1D70A2"/>
            </a:solidFill>
            <a:ln w="7620">
              <a:solidFill>
                <a:srgbClr val="1D70A2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" name="右箭头 165"/>
            <p:cNvSpPr>
              <a:spLocks noGrp="1"/>
            </p:cNvSpPr>
            <p:nvPr/>
          </p:nvSpPr>
          <p:spPr>
            <a:xfrm>
              <a:off x="19625" y="8089"/>
              <a:ext cx="570" cy="45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39A844"/>
            </a:solidFill>
            <a:ln w="7620">
              <a:solidFill>
                <a:srgbClr val="39A844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" name="右箭头 166"/>
            <p:cNvSpPr>
              <a:spLocks noGrp="1"/>
            </p:cNvSpPr>
            <p:nvPr/>
          </p:nvSpPr>
          <p:spPr>
            <a:xfrm>
              <a:off x="19635" y="8816"/>
              <a:ext cx="570" cy="45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4A62A"/>
            </a:solidFill>
            <a:ln w="7620">
              <a:solidFill>
                <a:srgbClr val="F4A62A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0" name="圆角矩形 189"/>
            <p:cNvSpPr/>
            <p:nvPr/>
          </p:nvSpPr>
          <p:spPr>
            <a:xfrm>
              <a:off x="7612" y="7969"/>
              <a:ext cx="981" cy="1676"/>
            </a:xfrm>
            <a:prstGeom prst="roundRect">
              <a:avLst/>
            </a:prstGeom>
            <a:ln w="12700">
              <a:solidFill>
                <a:schemeClr val="accent1"/>
              </a:solidFill>
              <a:prstDash val="dash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6" name="上箭头 195"/>
          <p:cNvSpPr/>
          <p:nvPr/>
        </p:nvSpPr>
        <p:spPr>
          <a:xfrm rot="3960000">
            <a:off x="2806700" y="963295"/>
            <a:ext cx="213995" cy="1326515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7" name="矩形 196"/>
          <p:cNvSpPr>
            <a:spLocks noGrp="1"/>
          </p:cNvSpPr>
          <p:nvPr/>
        </p:nvSpPr>
        <p:spPr>
          <a:xfrm>
            <a:off x="3333750" y="17272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0B1F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2A"/>
                </a:solidFill>
                <a:latin typeface="Aptos"/>
                <a:ea typeface="Aptos"/>
                <a:cs typeface="Aptos"/>
              </a:rPr>
              <a:t>TMSKD-LNN</a:t>
            </a:r>
            <a:endParaRPr sz="1650" b="1">
              <a:solidFill>
                <a:srgbClr val="0B1F2A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198" name="直接连接符 197"/>
          <p:cNvCxnSpPr/>
          <p:nvPr/>
        </p:nvCxnSpPr>
        <p:spPr>
          <a:xfrm>
            <a:off x="4592320" y="1171575"/>
            <a:ext cx="1508760" cy="15240"/>
          </a:xfrm>
          <a:prstGeom prst="line">
            <a:avLst/>
          </a:prstGeom>
          <a:ln w="31750" cap="rnd">
            <a:solidFill>
              <a:schemeClr val="accent1"/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WM1Nzc1YzNmZmM0NTVmNmUyZTAzYWNkYjJlMTA1MjAifQ==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1269</Words>
  <Application>WPS 演示</Application>
  <PresentationFormat>自定义</PresentationFormat>
  <Paragraphs>162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Aptos</vt:lpstr>
      <vt:lpstr>Segoe UI</vt:lpstr>
      <vt:lpstr>Cambria Math</vt:lpstr>
      <vt:lpstr>Calibri</vt:lpstr>
      <vt:lpstr>微软雅黑</vt:lpstr>
      <vt:lpstr>Arial Unicode MS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岳洋</cp:lastModifiedBy>
  <cp:revision>28</cp:revision>
  <dcterms:created xsi:type="dcterms:W3CDTF">2026-06-21T11:41:00Z</dcterms:created>
  <dcterms:modified xsi:type="dcterms:W3CDTF">2026-06-30T13:09:10Z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501ECA16F83B43A9A58C04391DBB351B_13</vt:lpwstr>
  </property>
  <property fmtid="{D5CDD505-2E9C-101B-9397-08002B2CF9AE}" pid="3" name="KSOProductBuildVer">
    <vt:lpwstr>2052-12.1.0.23542</vt:lpwstr>
  </property>
</Properties>
</file>