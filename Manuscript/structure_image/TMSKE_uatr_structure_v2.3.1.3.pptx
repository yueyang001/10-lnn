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4201775" cy="10048875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原则是在</a:t>
            </a:r>
            <a:r>
              <a:t>MemKD</a:t>
            </a:r>
            <a:r>
              <a:t>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6" Type="http://schemas.openxmlformats.org/officeDocument/2006/relationships/notesSlide" Target="../notesSlides/notesSlide1.xml"/><Relationship Id="rId25" Type="http://schemas.openxmlformats.org/officeDocument/2006/relationships/slideLayout" Target="../slideLayouts/slideLayout1.xml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anchor"/>
          <p:cNvSpPr>
            <a:spLocks noGrp="1"/>
          </p:cNvSpPr>
          <p:nvPr/>
        </p:nvSpPr>
        <p:spPr>
          <a:xfrm>
            <a:off x="266700" y="47815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8" name="anchor"/>
          <p:cNvSpPr>
            <a:spLocks noGrp="1"/>
          </p:cNvSpPr>
          <p:nvPr/>
        </p:nvSpPr>
        <p:spPr>
          <a:xfrm>
            <a:off x="266700" y="51054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0" name="anchor"/>
          <p:cNvSpPr>
            <a:spLocks noGrp="1"/>
          </p:cNvSpPr>
          <p:nvPr/>
        </p:nvSpPr>
        <p:spPr>
          <a:xfrm>
            <a:off x="289084" y="4732491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1" name="anchor"/>
          <p:cNvSpPr>
            <a:spLocks noGrp="1"/>
          </p:cNvSpPr>
          <p:nvPr/>
        </p:nvSpPr>
        <p:spPr>
          <a:xfrm>
            <a:off x="289084" y="5154459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52" name="Teacher panel"/>
          <p:cNvSpPr>
            <a:spLocks noGrp="1"/>
          </p:cNvSpPr>
          <p:nvPr/>
        </p:nvSpPr>
        <p:spPr>
          <a:xfrm>
            <a:off x="2028825" y="114300"/>
            <a:ext cx="5215255" cy="1651000"/>
          </a:xfrm>
          <a:custGeom>
            <a:avLst/>
            <a:gdLst>
              <a:gd name="csX0" fmla="*/ 0 w 5215255"/>
              <a:gd name="csY0" fmla="*/ 87222 h 1651000"/>
              <a:gd name="csX1" fmla="*/ 87222 w 5215255"/>
              <a:gd name="csY1" fmla="*/ 0 h 1651000"/>
              <a:gd name="csX2" fmla="*/ 666915 w 5215255"/>
              <a:gd name="csY2" fmla="*/ 0 h 1651000"/>
              <a:gd name="csX3" fmla="*/ 1145792 w 5215255"/>
              <a:gd name="csY3" fmla="*/ 0 h 1651000"/>
              <a:gd name="csX4" fmla="*/ 1826302 w 5215255"/>
              <a:gd name="csY4" fmla="*/ 0 h 1651000"/>
              <a:gd name="csX5" fmla="*/ 2355587 w 5215255"/>
              <a:gd name="csY5" fmla="*/ 0 h 1651000"/>
              <a:gd name="csX6" fmla="*/ 2834464 w 5215255"/>
              <a:gd name="csY6" fmla="*/ 0 h 1651000"/>
              <a:gd name="csX7" fmla="*/ 3363749 w 5215255"/>
              <a:gd name="csY7" fmla="*/ 0 h 1651000"/>
              <a:gd name="csX8" fmla="*/ 4044259 w 5215255"/>
              <a:gd name="csY8" fmla="*/ 0 h 1651000"/>
              <a:gd name="csX9" fmla="*/ 4573544 w 5215255"/>
              <a:gd name="csY9" fmla="*/ 0 h 1651000"/>
              <a:gd name="csX10" fmla="*/ 5128033 w 5215255"/>
              <a:gd name="csY10" fmla="*/ 0 h 1651000"/>
              <a:gd name="csX11" fmla="*/ 5215255 w 5215255"/>
              <a:gd name="csY11" fmla="*/ 87222 h 1651000"/>
              <a:gd name="csX12" fmla="*/ 5215255 w 5215255"/>
              <a:gd name="csY12" fmla="*/ 594173 h 1651000"/>
              <a:gd name="csX13" fmla="*/ 5215255 w 5215255"/>
              <a:gd name="csY13" fmla="*/ 1056827 h 1651000"/>
              <a:gd name="csX14" fmla="*/ 5215255 w 5215255"/>
              <a:gd name="csY14" fmla="*/ 1563778 h 1651000"/>
              <a:gd name="csX15" fmla="*/ 5128033 w 5215255"/>
              <a:gd name="csY15" fmla="*/ 1651000 h 1651000"/>
              <a:gd name="csX16" fmla="*/ 4649156 w 5215255"/>
              <a:gd name="csY16" fmla="*/ 1651000 h 1651000"/>
              <a:gd name="csX17" fmla="*/ 4069463 w 5215255"/>
              <a:gd name="csY17" fmla="*/ 1651000 h 1651000"/>
              <a:gd name="csX18" fmla="*/ 3388953 w 5215255"/>
              <a:gd name="csY18" fmla="*/ 1651000 h 1651000"/>
              <a:gd name="csX19" fmla="*/ 2859668 w 5215255"/>
              <a:gd name="csY19" fmla="*/ 1651000 h 1651000"/>
              <a:gd name="csX20" fmla="*/ 2229567 w 5215255"/>
              <a:gd name="csY20" fmla="*/ 1651000 h 1651000"/>
              <a:gd name="csX21" fmla="*/ 1750690 w 5215255"/>
              <a:gd name="csY21" fmla="*/ 1651000 h 1651000"/>
              <a:gd name="csX22" fmla="*/ 1019772 w 5215255"/>
              <a:gd name="csY22" fmla="*/ 1651000 h 1651000"/>
              <a:gd name="csX23" fmla="*/ 87222 w 5215255"/>
              <a:gd name="csY23" fmla="*/ 1651000 h 1651000"/>
              <a:gd name="csX24" fmla="*/ 0 w 5215255"/>
              <a:gd name="csY24" fmla="*/ 1563778 h 1651000"/>
              <a:gd name="csX25" fmla="*/ 0 w 5215255"/>
              <a:gd name="csY25" fmla="*/ 1071593 h 1651000"/>
              <a:gd name="csX26" fmla="*/ 0 w 5215255"/>
              <a:gd name="csY26" fmla="*/ 579407 h 1651000"/>
              <a:gd name="csX27" fmla="*/ 0 w 5215255"/>
              <a:gd name="csY27" fmla="*/ 87222 h 1651000"/>
            </a:gdLst>
            <a:ahLst/>
            <a:cxnLst/>
            <a:rect l="l" t="t" r="r" b="b"/>
            <a:pathLst>
              <a:path w="5215255" h="1651000">
                <a:moveTo>
                  <a:pt x="0" y="87222"/>
                </a:moveTo>
                <a:cubicBezTo>
                  <a:pt x="-348" y="31835"/>
                  <a:pt x="48766" y="6120"/>
                  <a:pt x="87222" y="0"/>
                </a:cubicBezTo>
                <a:cubicBezTo>
                  <a:pt x="219344" y="-19475"/>
                  <a:pt x="516872" y="3078"/>
                  <a:pt x="666915" y="0"/>
                </a:cubicBezTo>
                <a:cubicBezTo>
                  <a:pt x="816958" y="-3078"/>
                  <a:pt x="949497" y="11849"/>
                  <a:pt x="1145792" y="0"/>
                </a:cubicBezTo>
                <a:cubicBezTo>
                  <a:pt x="1342087" y="-11849"/>
                  <a:pt x="1533473" y="17626"/>
                  <a:pt x="1826302" y="0"/>
                </a:cubicBezTo>
                <a:cubicBezTo>
                  <a:pt x="2119131" y="-17626"/>
                  <a:pt x="2226742" y="-4384"/>
                  <a:pt x="2355587" y="0"/>
                </a:cubicBezTo>
                <a:cubicBezTo>
                  <a:pt x="2484432" y="4384"/>
                  <a:pt x="2620557" y="-6446"/>
                  <a:pt x="2834464" y="0"/>
                </a:cubicBezTo>
                <a:cubicBezTo>
                  <a:pt x="3048371" y="6446"/>
                  <a:pt x="3163223" y="5595"/>
                  <a:pt x="3363749" y="0"/>
                </a:cubicBezTo>
                <a:cubicBezTo>
                  <a:pt x="3564275" y="-5595"/>
                  <a:pt x="3748597" y="29995"/>
                  <a:pt x="4044259" y="0"/>
                </a:cubicBezTo>
                <a:cubicBezTo>
                  <a:pt x="4339921" y="-29995"/>
                  <a:pt x="4348515" y="-3114"/>
                  <a:pt x="4573544" y="0"/>
                </a:cubicBezTo>
                <a:cubicBezTo>
                  <a:pt x="4798573" y="3114"/>
                  <a:pt x="4997988" y="19105"/>
                  <a:pt x="5128033" y="0"/>
                </a:cubicBezTo>
                <a:cubicBezTo>
                  <a:pt x="5186862" y="2113"/>
                  <a:pt x="5211734" y="41325"/>
                  <a:pt x="5215255" y="87222"/>
                </a:cubicBezTo>
                <a:cubicBezTo>
                  <a:pt x="5215952" y="197890"/>
                  <a:pt x="5196838" y="481441"/>
                  <a:pt x="5215255" y="594173"/>
                </a:cubicBezTo>
                <a:cubicBezTo>
                  <a:pt x="5233672" y="706905"/>
                  <a:pt x="5221423" y="882662"/>
                  <a:pt x="5215255" y="1056827"/>
                </a:cubicBezTo>
                <a:cubicBezTo>
                  <a:pt x="5209087" y="1230992"/>
                  <a:pt x="5200999" y="1330290"/>
                  <a:pt x="5215255" y="1563778"/>
                </a:cubicBezTo>
                <a:cubicBezTo>
                  <a:pt x="5211387" y="1605039"/>
                  <a:pt x="5173194" y="1652399"/>
                  <a:pt x="5128033" y="1651000"/>
                </a:cubicBezTo>
                <a:cubicBezTo>
                  <a:pt x="4993040" y="1673204"/>
                  <a:pt x="4854154" y="1640656"/>
                  <a:pt x="4649156" y="1651000"/>
                </a:cubicBezTo>
                <a:cubicBezTo>
                  <a:pt x="4444158" y="1661344"/>
                  <a:pt x="4299961" y="1675904"/>
                  <a:pt x="4069463" y="1651000"/>
                </a:cubicBezTo>
                <a:cubicBezTo>
                  <a:pt x="3838965" y="1626096"/>
                  <a:pt x="3570126" y="1647770"/>
                  <a:pt x="3388953" y="1651000"/>
                </a:cubicBezTo>
                <a:cubicBezTo>
                  <a:pt x="3207780" y="1654231"/>
                  <a:pt x="2994305" y="1649606"/>
                  <a:pt x="2859668" y="1651000"/>
                </a:cubicBezTo>
                <a:cubicBezTo>
                  <a:pt x="2725032" y="1652394"/>
                  <a:pt x="2520404" y="1678532"/>
                  <a:pt x="2229567" y="1651000"/>
                </a:cubicBezTo>
                <a:cubicBezTo>
                  <a:pt x="1938730" y="1623468"/>
                  <a:pt x="1910377" y="1635317"/>
                  <a:pt x="1750690" y="1651000"/>
                </a:cubicBezTo>
                <a:cubicBezTo>
                  <a:pt x="1591003" y="1666683"/>
                  <a:pt x="1226053" y="1646688"/>
                  <a:pt x="1019772" y="1651000"/>
                </a:cubicBezTo>
                <a:cubicBezTo>
                  <a:pt x="813491" y="1655312"/>
                  <a:pt x="468755" y="1636778"/>
                  <a:pt x="87222" y="1651000"/>
                </a:cubicBezTo>
                <a:cubicBezTo>
                  <a:pt x="40689" y="1644660"/>
                  <a:pt x="2975" y="1600776"/>
                  <a:pt x="0" y="1563778"/>
                </a:cubicBezTo>
                <a:cubicBezTo>
                  <a:pt x="21172" y="1376235"/>
                  <a:pt x="-4497" y="1301134"/>
                  <a:pt x="0" y="1071593"/>
                </a:cubicBezTo>
                <a:cubicBezTo>
                  <a:pt x="4497" y="842053"/>
                  <a:pt x="-13182" y="785780"/>
                  <a:pt x="0" y="579407"/>
                </a:cubicBezTo>
                <a:cubicBezTo>
                  <a:pt x="13182" y="373034"/>
                  <a:pt x="-5582" y="270388"/>
                  <a:pt x="0" y="87222"/>
                </a:cubicBezTo>
                <a:close/>
              </a:path>
              <a:path w="5215255" h="1651000">
                <a:moveTo>
                  <a:pt x="0" y="87222"/>
                </a:moveTo>
                <a:cubicBezTo>
                  <a:pt x="-5292" y="35787"/>
                  <a:pt x="31588" y="2801"/>
                  <a:pt x="87222" y="0"/>
                </a:cubicBezTo>
                <a:cubicBezTo>
                  <a:pt x="297401" y="-9109"/>
                  <a:pt x="666877" y="3859"/>
                  <a:pt x="818140" y="0"/>
                </a:cubicBezTo>
                <a:cubicBezTo>
                  <a:pt x="969403" y="-3859"/>
                  <a:pt x="1192771" y="15059"/>
                  <a:pt x="1397833" y="0"/>
                </a:cubicBezTo>
                <a:cubicBezTo>
                  <a:pt x="1602895" y="-15059"/>
                  <a:pt x="1713593" y="8112"/>
                  <a:pt x="1927118" y="0"/>
                </a:cubicBezTo>
                <a:cubicBezTo>
                  <a:pt x="2140643" y="-8112"/>
                  <a:pt x="2361292" y="12628"/>
                  <a:pt x="2607628" y="0"/>
                </a:cubicBezTo>
                <a:cubicBezTo>
                  <a:pt x="2853964" y="-12628"/>
                  <a:pt x="3044152" y="2543"/>
                  <a:pt x="3187321" y="0"/>
                </a:cubicBezTo>
                <a:cubicBezTo>
                  <a:pt x="3330490" y="-2543"/>
                  <a:pt x="3722040" y="4353"/>
                  <a:pt x="3918238" y="0"/>
                </a:cubicBezTo>
                <a:cubicBezTo>
                  <a:pt x="4114436" y="-4353"/>
                  <a:pt x="4305001" y="-7587"/>
                  <a:pt x="4447524" y="0"/>
                </a:cubicBezTo>
                <a:cubicBezTo>
                  <a:pt x="4590047" y="7587"/>
                  <a:pt x="4958273" y="-5095"/>
                  <a:pt x="5128033" y="0"/>
                </a:cubicBezTo>
                <a:cubicBezTo>
                  <a:pt x="5182843" y="1596"/>
                  <a:pt x="5206660" y="37661"/>
                  <a:pt x="5215255" y="87222"/>
                </a:cubicBezTo>
                <a:cubicBezTo>
                  <a:pt x="5239566" y="267237"/>
                  <a:pt x="5207796" y="409408"/>
                  <a:pt x="5215255" y="579407"/>
                </a:cubicBezTo>
                <a:cubicBezTo>
                  <a:pt x="5222714" y="749406"/>
                  <a:pt x="5224116" y="907381"/>
                  <a:pt x="5215255" y="1056827"/>
                </a:cubicBezTo>
                <a:cubicBezTo>
                  <a:pt x="5206394" y="1206273"/>
                  <a:pt x="5198872" y="1381030"/>
                  <a:pt x="5215255" y="1563778"/>
                </a:cubicBezTo>
                <a:cubicBezTo>
                  <a:pt x="5222730" y="1602669"/>
                  <a:pt x="5165829" y="1646989"/>
                  <a:pt x="5128033" y="1651000"/>
                </a:cubicBezTo>
                <a:cubicBezTo>
                  <a:pt x="4979641" y="1628568"/>
                  <a:pt x="4637271" y="1660044"/>
                  <a:pt x="4497932" y="1651000"/>
                </a:cubicBezTo>
                <a:cubicBezTo>
                  <a:pt x="4358593" y="1641956"/>
                  <a:pt x="4099037" y="1619522"/>
                  <a:pt x="3767014" y="1651000"/>
                </a:cubicBezTo>
                <a:cubicBezTo>
                  <a:pt x="3434991" y="1682478"/>
                  <a:pt x="3323615" y="1679928"/>
                  <a:pt x="3136913" y="1651000"/>
                </a:cubicBezTo>
                <a:cubicBezTo>
                  <a:pt x="2950211" y="1622072"/>
                  <a:pt x="2770734" y="1650149"/>
                  <a:pt x="2658036" y="1651000"/>
                </a:cubicBezTo>
                <a:cubicBezTo>
                  <a:pt x="2545338" y="1651851"/>
                  <a:pt x="2382607" y="1625923"/>
                  <a:pt x="2128750" y="1651000"/>
                </a:cubicBezTo>
                <a:cubicBezTo>
                  <a:pt x="1874893" y="1676077"/>
                  <a:pt x="1653138" y="1683895"/>
                  <a:pt x="1397833" y="1651000"/>
                </a:cubicBezTo>
                <a:cubicBezTo>
                  <a:pt x="1142528" y="1618105"/>
                  <a:pt x="1037284" y="1648344"/>
                  <a:pt x="767731" y="1651000"/>
                </a:cubicBezTo>
                <a:cubicBezTo>
                  <a:pt x="498178" y="1653656"/>
                  <a:pt x="286330" y="1677069"/>
                  <a:pt x="87222" y="1651000"/>
                </a:cubicBezTo>
                <a:cubicBezTo>
                  <a:pt x="38782" y="1643751"/>
                  <a:pt x="11706" y="1614390"/>
                  <a:pt x="0" y="1563778"/>
                </a:cubicBezTo>
                <a:cubicBezTo>
                  <a:pt x="18886" y="1458745"/>
                  <a:pt x="10895" y="1230740"/>
                  <a:pt x="0" y="1071593"/>
                </a:cubicBezTo>
                <a:cubicBezTo>
                  <a:pt x="-10895" y="912446"/>
                  <a:pt x="13298" y="738236"/>
                  <a:pt x="0" y="579407"/>
                </a:cubicBezTo>
                <a:cubicBezTo>
                  <a:pt x="-13298" y="420578"/>
                  <a:pt x="-1561" y="187395"/>
                  <a:pt x="0" y="87222"/>
                </a:cubicBezTo>
                <a:close/>
              </a:path>
            </a:pathLst>
          </a:custGeom>
          <a:solidFill>
            <a:srgbClr val="F8FBFF"/>
          </a:solidFill>
          <a:ln w="12383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53" name="Teacher title"/>
          <p:cNvSpPr>
            <a:spLocks noGrp="1"/>
          </p:cNvSpPr>
          <p:nvPr/>
        </p:nvSpPr>
        <p:spPr>
          <a:xfrm>
            <a:off x="2301394" y="209550"/>
            <a:ext cx="4669801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0646AD"/>
                </a:solidFill>
              </a:defRPr>
            </a:pPr>
            <a:r>
              <a:rPr sz="1650" b="1" i="0" u="none" cap="none">
                <a:ln>
                  <a:noFill/>
                </a:ln>
                <a:solidFill>
                  <a:srgbClr val="0646AD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Teacher: pretrained wav2vec 2.0</a:t>
            </a:r>
            <a:endParaRPr sz="1650" b="1" i="0" u="none" cap="none">
              <a:ln>
                <a:noFill/>
              </a:ln>
              <a:solidFill>
                <a:srgbClr val="0646AD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54" name="module-CNN&#10;encoder"/>
          <p:cNvSpPr>
            <a:spLocks noGrp="1"/>
          </p:cNvSpPr>
          <p:nvPr/>
        </p:nvSpPr>
        <p:spPr>
          <a:xfrm>
            <a:off x="2247900" y="523875"/>
            <a:ext cx="1133475" cy="1152525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55" name="module-title-CNN&#10;encoder"/>
          <p:cNvSpPr>
            <a:spLocks noGrp="1"/>
          </p:cNvSpPr>
          <p:nvPr/>
        </p:nvSpPr>
        <p:spPr>
          <a:xfrm>
            <a:off x="2305050" y="619124"/>
            <a:ext cx="10191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CNN</a:t>
            </a:r>
            <a:endParaRPr sz="1425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encoder</a:t>
            </a:r>
            <a:endParaRPr sz="1425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59" name="anchor"/>
          <p:cNvSpPr>
            <a:spLocks noGrp="1"/>
          </p:cNvSpPr>
          <p:nvPr/>
        </p:nvSpPr>
        <p:spPr>
          <a:xfrm>
            <a:off x="2714625" y="13525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0" name="anchor"/>
          <p:cNvSpPr>
            <a:spLocks noGrp="1"/>
          </p:cNvSpPr>
          <p:nvPr/>
        </p:nvSpPr>
        <p:spPr>
          <a:xfrm>
            <a:off x="2857500" y="12382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2" name="anchor"/>
          <p:cNvSpPr>
            <a:spLocks noGrp="1"/>
          </p:cNvSpPr>
          <p:nvPr/>
        </p:nvSpPr>
        <p:spPr>
          <a:xfrm>
            <a:off x="2914650" y="1381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3" name="anchor"/>
          <p:cNvSpPr>
            <a:spLocks noGrp="1"/>
          </p:cNvSpPr>
          <p:nvPr/>
        </p:nvSpPr>
        <p:spPr>
          <a:xfrm>
            <a:off x="3076575" y="1266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5" name="module-Transformer"/>
          <p:cNvSpPr>
            <a:spLocks noGrp="1"/>
          </p:cNvSpPr>
          <p:nvPr/>
        </p:nvSpPr>
        <p:spPr>
          <a:xfrm>
            <a:off x="3629025" y="523875"/>
            <a:ext cx="1771650" cy="1152525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6" name="module-title-Transformer"/>
          <p:cNvSpPr>
            <a:spLocks noGrp="1"/>
          </p:cNvSpPr>
          <p:nvPr/>
        </p:nvSpPr>
        <p:spPr>
          <a:xfrm>
            <a:off x="3681413" y="559185"/>
            <a:ext cx="1657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Transformer</a:t>
            </a: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 layer</a:t>
            </a:r>
            <a:endParaRPr sz="1425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67" name="tr-top"/>
          <p:cNvSpPr>
            <a:spLocks noGrp="1"/>
          </p:cNvSpPr>
          <p:nvPr/>
        </p:nvSpPr>
        <p:spPr>
          <a:xfrm>
            <a:off x="3895725" y="1038225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6" name="anchor"/>
          <p:cNvSpPr>
            <a:spLocks noGrp="1"/>
          </p:cNvSpPr>
          <p:nvPr/>
        </p:nvSpPr>
        <p:spPr>
          <a:xfrm>
            <a:off x="4314825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8" name="anchor"/>
          <p:cNvSpPr>
            <a:spLocks noGrp="1"/>
          </p:cNvSpPr>
          <p:nvPr/>
        </p:nvSpPr>
        <p:spPr>
          <a:xfrm>
            <a:off x="4314825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9" name="anchor"/>
          <p:cNvSpPr>
            <a:spLocks noGrp="1"/>
          </p:cNvSpPr>
          <p:nvPr/>
        </p:nvSpPr>
        <p:spPr>
          <a:xfrm>
            <a:off x="3952875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1" name="anchor"/>
          <p:cNvSpPr>
            <a:spLocks noGrp="1"/>
          </p:cNvSpPr>
          <p:nvPr/>
        </p:nvSpPr>
        <p:spPr>
          <a:xfrm>
            <a:off x="4314825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2" name="anchor"/>
          <p:cNvSpPr>
            <a:spLocks noGrp="1"/>
          </p:cNvSpPr>
          <p:nvPr/>
        </p:nvSpPr>
        <p:spPr>
          <a:xfrm>
            <a:off x="466725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4" name="anchor"/>
          <p:cNvSpPr>
            <a:spLocks noGrp="1"/>
          </p:cNvSpPr>
          <p:nvPr/>
        </p:nvSpPr>
        <p:spPr>
          <a:xfrm>
            <a:off x="466725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7" name="anchor"/>
          <p:cNvSpPr>
            <a:spLocks noGrp="1"/>
          </p:cNvSpPr>
          <p:nvPr/>
        </p:nvSpPr>
        <p:spPr>
          <a:xfrm>
            <a:off x="466725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8" name="anchor"/>
          <p:cNvSpPr>
            <a:spLocks noGrp="1"/>
          </p:cNvSpPr>
          <p:nvPr/>
        </p:nvSpPr>
        <p:spPr>
          <a:xfrm>
            <a:off x="518160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0" name="anchor"/>
          <p:cNvSpPr>
            <a:spLocks noGrp="1"/>
          </p:cNvSpPr>
          <p:nvPr/>
        </p:nvSpPr>
        <p:spPr>
          <a:xfrm>
            <a:off x="518160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1" name="anchor"/>
          <p:cNvSpPr>
            <a:spLocks noGrp="1"/>
          </p:cNvSpPr>
          <p:nvPr/>
        </p:nvSpPr>
        <p:spPr>
          <a:xfrm>
            <a:off x="466725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3" name="ellipsis"/>
          <p:cNvSpPr>
            <a:spLocks noGrp="1"/>
          </p:cNvSpPr>
          <p:nvPr/>
        </p:nvSpPr>
        <p:spPr>
          <a:xfrm>
            <a:off x="4757038" y="1134490"/>
            <a:ext cx="348362" cy="295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11111"/>
                </a:solidFill>
              </a:defRPr>
            </a:pPr>
            <a:r>
              <a:rPr sz="1275" b="0" i="0" u="none" cap="none">
                <a:ln>
                  <a:noFill/>
                </a:ln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r>
              <a:rPr sz="1275" b="0" i="0" u="none" cap="none">
                <a:ln>
                  <a:noFill/>
                </a:ln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r>
              <a:rPr sz="1275" b="0" i="0" u="none" cap="none">
                <a:ln>
                  <a:noFill/>
                </a:ln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  <a:endParaRPr sz="1275" b="0" i="0" u="none" cap="none">
              <a:ln>
                <a:noFill/>
              </a:ln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4" name="module-Classifier"/>
          <p:cNvSpPr>
            <a:spLocks noGrp="1"/>
          </p:cNvSpPr>
          <p:nvPr/>
        </p:nvSpPr>
        <p:spPr>
          <a:xfrm>
            <a:off x="5657850" y="523875"/>
            <a:ext cx="1238250" cy="1152525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5" name="module-title-Classifier"/>
          <p:cNvSpPr>
            <a:spLocks noGrp="1"/>
          </p:cNvSpPr>
          <p:nvPr/>
        </p:nvSpPr>
        <p:spPr>
          <a:xfrm>
            <a:off x="5715000" y="619125"/>
            <a:ext cx="112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Classifier</a:t>
            </a:r>
            <a:endParaRPr sz="1425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96" name="bar-0"/>
          <p:cNvSpPr>
            <a:spLocks noGrp="1"/>
          </p:cNvSpPr>
          <p:nvPr/>
        </p:nvSpPr>
        <p:spPr>
          <a:xfrm>
            <a:off x="5916930" y="1351598"/>
            <a:ext cx="85725" cy="193357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7" name="bar-1"/>
          <p:cNvSpPr>
            <a:spLocks noGrp="1"/>
          </p:cNvSpPr>
          <p:nvPr/>
        </p:nvSpPr>
        <p:spPr>
          <a:xfrm>
            <a:off x="6116955" y="1202436"/>
            <a:ext cx="85725" cy="342519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8" name="bar-2"/>
          <p:cNvSpPr>
            <a:spLocks noGrp="1"/>
          </p:cNvSpPr>
          <p:nvPr/>
        </p:nvSpPr>
        <p:spPr>
          <a:xfrm>
            <a:off x="6316980" y="1020128"/>
            <a:ext cx="85725" cy="524828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9" name="bar-3"/>
          <p:cNvSpPr>
            <a:spLocks noGrp="1"/>
          </p:cNvSpPr>
          <p:nvPr/>
        </p:nvSpPr>
        <p:spPr>
          <a:xfrm>
            <a:off x="6517005" y="1202436"/>
            <a:ext cx="85725" cy="342519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0" name="anchor"/>
          <p:cNvSpPr>
            <a:spLocks noGrp="1"/>
          </p:cNvSpPr>
          <p:nvPr/>
        </p:nvSpPr>
        <p:spPr>
          <a:xfrm>
            <a:off x="338137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1" name="anchor"/>
          <p:cNvSpPr>
            <a:spLocks noGrp="1"/>
          </p:cNvSpPr>
          <p:nvPr/>
        </p:nvSpPr>
        <p:spPr>
          <a:xfrm>
            <a:off x="362902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11" name="直接箭头连接符 852"/>
          <p:cNvCxnSpPr>
            <a:stCxn id="200" idx="6"/>
            <a:endCxn id="201" idx="2"/>
          </p:cNvCxnSpPr>
          <p:nvPr/>
        </p:nvCxnSpPr>
        <p:spPr>
          <a:xfrm>
            <a:off x="3400425" y="1104900"/>
            <a:ext cx="22860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3" name="anchor"/>
          <p:cNvSpPr>
            <a:spLocks noGrp="1"/>
          </p:cNvSpPr>
          <p:nvPr/>
        </p:nvSpPr>
        <p:spPr>
          <a:xfrm>
            <a:off x="540067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4" name="anchor"/>
          <p:cNvSpPr>
            <a:spLocks noGrp="1"/>
          </p:cNvSpPr>
          <p:nvPr/>
        </p:nvSpPr>
        <p:spPr>
          <a:xfrm>
            <a:off x="564832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14" name="直接箭头连接符 855"/>
          <p:cNvCxnSpPr>
            <a:stCxn id="203" idx="6"/>
            <a:endCxn id="204" idx="2"/>
          </p:cNvCxnSpPr>
          <p:nvPr/>
        </p:nvCxnSpPr>
        <p:spPr>
          <a:xfrm>
            <a:off x="5419725" y="1104900"/>
            <a:ext cx="22860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6" name="anchor"/>
          <p:cNvSpPr>
            <a:spLocks noGrp="1"/>
          </p:cNvSpPr>
          <p:nvPr/>
        </p:nvSpPr>
        <p:spPr>
          <a:xfrm>
            <a:off x="6896100" y="12096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7" name="anchor"/>
          <p:cNvSpPr>
            <a:spLocks noGrp="1"/>
          </p:cNvSpPr>
          <p:nvPr/>
        </p:nvSpPr>
        <p:spPr>
          <a:xfrm>
            <a:off x="7458075" y="12096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17" name="直接箭头连接符 858"/>
          <p:cNvCxnSpPr>
            <a:stCxn id="206" idx="6"/>
            <a:endCxn id="207" idx="2"/>
          </p:cNvCxnSpPr>
          <p:nvPr/>
        </p:nvCxnSpPr>
        <p:spPr>
          <a:xfrm>
            <a:off x="6915150" y="1219200"/>
            <a:ext cx="542925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9" name="bar-0"/>
          <p:cNvSpPr>
            <a:spLocks noGrp="1"/>
          </p:cNvSpPr>
          <p:nvPr/>
        </p:nvSpPr>
        <p:spPr>
          <a:xfrm>
            <a:off x="7574471" y="1128712"/>
            <a:ext cx="85725" cy="200025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5" name="zt"/>
              <p:cNvSpPr>
                <a:spLocks noGrp="1"/>
              </p:cNvSpPr>
              <p:nvPr/>
            </p:nvSpPr>
            <p:spPr>
              <a:xfrm>
                <a:off x="7450455" y="1461135"/>
                <a:ext cx="419100" cy="3048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indent="0" algn="ctr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50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𝒁</m:t>
                          </m:r>
                        </m:e>
                        <m:sub>
                          <m:r>
                            <a:rPr lang="en-US" sz="150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15" name="z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455" y="1461135"/>
                <a:ext cx="419100" cy="304800"/>
              </a:xfrm>
              <a:prstGeom prst="rect">
                <a:avLst/>
              </a:prstGeom>
              <a:blipFill rotWithShape="1">
                <a:blip r:embed="rId1"/>
                <a:stretch>
                  <a:fillRect b="-666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7" name="HT"/>
              <p:cNvSpPr>
                <a:spLocks noGrp="1"/>
              </p:cNvSpPr>
              <p:nvPr/>
            </p:nvSpPr>
            <p:spPr>
              <a:xfrm>
                <a:off x="2143125" y="2019300"/>
                <a:ext cx="428625" cy="2476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indent="0" algn="ctr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7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575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𝑯</m:t>
                          </m:r>
                        </m:e>
                        <m:sub>
                          <m:r>
                            <a:rPr lang="en-US" sz="1575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17" name="H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125" y="2019300"/>
                <a:ext cx="428625" cy="247650"/>
              </a:xfrm>
              <a:prstGeom prst="rect">
                <a:avLst/>
              </a:prstGeom>
              <a:blipFill rotWithShape="1">
                <a:blip r:embed="rId2"/>
                <a:stretch>
                  <a:fillRect b="-37179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8" name="teacher hidden"/>
          <p:cNvSpPr>
            <a:spLocks noGrp="1"/>
          </p:cNvSpPr>
          <p:nvPr/>
        </p:nvSpPr>
        <p:spPr>
          <a:xfrm>
            <a:off x="2628900" y="1933575"/>
            <a:ext cx="3943350" cy="409575"/>
          </a:xfrm>
          <a:prstGeom prst="roundRect">
            <a:avLst>
              <a:gd name="adj" fmla="val 13953"/>
            </a:avLst>
          </a:prstGeom>
          <a:solidFill>
            <a:srgbClr val="E9F2FF"/>
          </a:solidFill>
          <a:ln w="9525">
            <a:solidFill>
              <a:srgbClr val="2F73E8"/>
            </a:solidFill>
            <a:prstDash val="dash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19" name="token-0"/>
          <p:cNvSpPr>
            <a:spLocks noGrp="1"/>
          </p:cNvSpPr>
          <p:nvPr/>
        </p:nvSpPr>
        <p:spPr>
          <a:xfrm>
            <a:off x="27717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20" name="token-label-0"/>
          <p:cNvSpPr>
            <a:spLocks noGrp="1"/>
          </p:cNvSpPr>
          <p:nvPr/>
        </p:nvSpPr>
        <p:spPr>
          <a:xfrm>
            <a:off x="27717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975" b="1" i="0" u="none" cap="none">
              <a:ln>
                <a:noFill/>
              </a:ln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1" name="token-1"/>
          <p:cNvSpPr>
            <a:spLocks noGrp="1"/>
          </p:cNvSpPr>
          <p:nvPr/>
        </p:nvSpPr>
        <p:spPr>
          <a:xfrm>
            <a:off x="34194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22" name="token-label-1"/>
          <p:cNvSpPr>
            <a:spLocks noGrp="1"/>
          </p:cNvSpPr>
          <p:nvPr/>
        </p:nvSpPr>
        <p:spPr>
          <a:xfrm>
            <a:off x="34194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975" b="1" i="0" u="none" cap="none">
              <a:ln>
                <a:noFill/>
              </a:ln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3" name="token-2"/>
          <p:cNvSpPr>
            <a:spLocks noGrp="1"/>
          </p:cNvSpPr>
          <p:nvPr/>
        </p:nvSpPr>
        <p:spPr>
          <a:xfrm>
            <a:off x="40671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24" name="token-label-2"/>
          <p:cNvSpPr>
            <a:spLocks noGrp="1"/>
          </p:cNvSpPr>
          <p:nvPr/>
        </p:nvSpPr>
        <p:spPr>
          <a:xfrm>
            <a:off x="40671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975" b="1" i="0" u="none" cap="none">
              <a:ln>
                <a:noFill/>
              </a:ln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5" name="token-3"/>
          <p:cNvSpPr>
            <a:spLocks noGrp="1"/>
          </p:cNvSpPr>
          <p:nvPr/>
        </p:nvSpPr>
        <p:spPr>
          <a:xfrm>
            <a:off x="47148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26" name="token-label-3"/>
          <p:cNvSpPr>
            <a:spLocks noGrp="1"/>
          </p:cNvSpPr>
          <p:nvPr/>
        </p:nvSpPr>
        <p:spPr>
          <a:xfrm>
            <a:off x="47148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·</a:t>
            </a:r>
            <a:endParaRPr sz="975" b="1" i="0" u="none" cap="none">
              <a:ln>
                <a:noFill/>
              </a:ln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7" name="teacher dots"/>
          <p:cNvSpPr>
            <a:spLocks noGrp="1"/>
          </p:cNvSpPr>
          <p:nvPr/>
        </p:nvSpPr>
        <p:spPr>
          <a:xfrm>
            <a:off x="5467350" y="200977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sz="1650" b="1" i="0" u="none" cap="none">
                <a:ln>
                  <a:noFill/>
                </a:ln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sz="1650" b="1" i="0" u="none" cap="none">
              <a:ln>
                <a:noFill/>
              </a:ln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8" name="token-0"/>
          <p:cNvSpPr>
            <a:spLocks noGrp="1"/>
          </p:cNvSpPr>
          <p:nvPr/>
        </p:nvSpPr>
        <p:spPr>
          <a:xfrm>
            <a:off x="6210300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token-label-0"/>
              <p:cNvSpPr>
                <a:spLocks noGrp="1"/>
              </p:cNvSpPr>
              <p:nvPr/>
            </p:nvSpPr>
            <p:spPr>
              <a:xfrm>
                <a:off x="6210300" y="2038350"/>
                <a:ext cx="304800" cy="209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indent="0" algn="ctr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7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975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𝑻</m:t>
                          </m:r>
                        </m:e>
                        <m:sub>
                          <m:r>
                            <a:rPr lang="en-US" sz="975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229" name="token-label-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2038350"/>
                <a:ext cx="304800" cy="209550"/>
              </a:xfrm>
              <a:prstGeom prst="rect">
                <a:avLst/>
              </a:prstGeom>
              <a:blipFill rotWithShape="1">
                <a:blip r:embed="rId3"/>
                <a:stretch>
                  <a:fillRect b="-9091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5" name="Student panel"/>
          <p:cNvSpPr>
            <a:spLocks noGrp="1"/>
          </p:cNvSpPr>
          <p:nvPr/>
        </p:nvSpPr>
        <p:spPr>
          <a:xfrm>
            <a:off x="1447800" y="7486650"/>
            <a:ext cx="6650355" cy="1516380"/>
          </a:xfrm>
          <a:custGeom>
            <a:avLst/>
            <a:gdLst>
              <a:gd name="csX0" fmla="*/ 0 w 6650355"/>
              <a:gd name="csY0" fmla="*/ 64177 h 1583055"/>
              <a:gd name="csX1" fmla="*/ 64177 w 6650355"/>
              <a:gd name="csY1" fmla="*/ 0 h 1583055"/>
              <a:gd name="csX2" fmla="*/ 716377 w 6650355"/>
              <a:gd name="csY2" fmla="*/ 0 h 1583055"/>
              <a:gd name="csX3" fmla="*/ 1433797 w 6650355"/>
              <a:gd name="csY3" fmla="*/ 0 h 1583055"/>
              <a:gd name="csX4" fmla="*/ 1955557 w 6650355"/>
              <a:gd name="csY4" fmla="*/ 0 h 1583055"/>
              <a:gd name="csX5" fmla="*/ 2412097 w 6650355"/>
              <a:gd name="csY5" fmla="*/ 0 h 1583055"/>
              <a:gd name="csX6" fmla="*/ 2933857 w 6650355"/>
              <a:gd name="csY6" fmla="*/ 0 h 1583055"/>
              <a:gd name="csX7" fmla="*/ 3520838 w 6650355"/>
              <a:gd name="csY7" fmla="*/ 0 h 1583055"/>
              <a:gd name="csX8" fmla="*/ 4173038 w 6650355"/>
              <a:gd name="csY8" fmla="*/ 0 h 1583055"/>
              <a:gd name="csX9" fmla="*/ 4694798 w 6650355"/>
              <a:gd name="csY9" fmla="*/ 0 h 1583055"/>
              <a:gd name="csX10" fmla="*/ 5477438 w 6650355"/>
              <a:gd name="csY10" fmla="*/ 0 h 1583055"/>
              <a:gd name="csX11" fmla="*/ 6586178 w 6650355"/>
              <a:gd name="csY11" fmla="*/ 0 h 1583055"/>
              <a:gd name="csX12" fmla="*/ 6650355 w 6650355"/>
              <a:gd name="csY12" fmla="*/ 64177 h 1583055"/>
              <a:gd name="csX13" fmla="*/ 6650355 w 6650355"/>
              <a:gd name="csY13" fmla="*/ 549077 h 1583055"/>
              <a:gd name="csX14" fmla="*/ 6650355 w 6650355"/>
              <a:gd name="csY14" fmla="*/ 1048525 h 1583055"/>
              <a:gd name="csX15" fmla="*/ 6650355 w 6650355"/>
              <a:gd name="csY15" fmla="*/ 1518878 h 1583055"/>
              <a:gd name="csX16" fmla="*/ 6586178 w 6650355"/>
              <a:gd name="csY16" fmla="*/ 1583055 h 1583055"/>
              <a:gd name="csX17" fmla="*/ 5868758 w 6650355"/>
              <a:gd name="csY17" fmla="*/ 1583055 h 1583055"/>
              <a:gd name="csX18" fmla="*/ 5216558 w 6650355"/>
              <a:gd name="csY18" fmla="*/ 1583055 h 1583055"/>
              <a:gd name="csX19" fmla="*/ 4433918 w 6650355"/>
              <a:gd name="csY19" fmla="*/ 1583055 h 1583055"/>
              <a:gd name="csX20" fmla="*/ 3846938 w 6650355"/>
              <a:gd name="csY20" fmla="*/ 1583055 h 1583055"/>
              <a:gd name="csX21" fmla="*/ 3325178 w 6650355"/>
              <a:gd name="csY21" fmla="*/ 1583055 h 1583055"/>
              <a:gd name="csX22" fmla="*/ 2672977 w 6650355"/>
              <a:gd name="csY22" fmla="*/ 1583055 h 1583055"/>
              <a:gd name="csX23" fmla="*/ 1955557 w 6650355"/>
              <a:gd name="csY23" fmla="*/ 1583055 h 1583055"/>
              <a:gd name="csX24" fmla="*/ 1172917 w 6650355"/>
              <a:gd name="csY24" fmla="*/ 1583055 h 1583055"/>
              <a:gd name="csX25" fmla="*/ 64177 w 6650355"/>
              <a:gd name="csY25" fmla="*/ 1583055 h 1583055"/>
              <a:gd name="csX26" fmla="*/ 0 w 6650355"/>
              <a:gd name="csY26" fmla="*/ 1518878 h 1583055"/>
              <a:gd name="csX27" fmla="*/ 0 w 6650355"/>
              <a:gd name="csY27" fmla="*/ 1077619 h 1583055"/>
              <a:gd name="csX28" fmla="*/ 0 w 6650355"/>
              <a:gd name="csY28" fmla="*/ 578171 h 1583055"/>
              <a:gd name="csX29" fmla="*/ 0 w 6650355"/>
              <a:gd name="csY29" fmla="*/ 64177 h 1583055"/>
            </a:gdLst>
            <a:ahLst/>
            <a:cxnLst/>
            <a:rect l="l" t="t" r="r" b="b"/>
            <a:pathLst>
              <a:path w="6650355" h="1583055">
                <a:moveTo>
                  <a:pt x="0" y="64177"/>
                </a:moveTo>
                <a:cubicBezTo>
                  <a:pt x="1297" y="29936"/>
                  <a:pt x="32970" y="-2533"/>
                  <a:pt x="64177" y="0"/>
                </a:cubicBezTo>
                <a:cubicBezTo>
                  <a:pt x="222300" y="15709"/>
                  <a:pt x="437416" y="-2734"/>
                  <a:pt x="716377" y="0"/>
                </a:cubicBezTo>
                <a:cubicBezTo>
                  <a:pt x="995338" y="2734"/>
                  <a:pt x="1092410" y="6518"/>
                  <a:pt x="1433797" y="0"/>
                </a:cubicBezTo>
                <a:cubicBezTo>
                  <a:pt x="1775184" y="-6518"/>
                  <a:pt x="1807060" y="-24701"/>
                  <a:pt x="1955557" y="0"/>
                </a:cubicBezTo>
                <a:cubicBezTo>
                  <a:pt x="2104054" y="24701"/>
                  <a:pt x="2251650" y="-13803"/>
                  <a:pt x="2412097" y="0"/>
                </a:cubicBezTo>
                <a:cubicBezTo>
                  <a:pt x="2572544" y="13803"/>
                  <a:pt x="2789451" y="17994"/>
                  <a:pt x="2933857" y="0"/>
                </a:cubicBezTo>
                <a:cubicBezTo>
                  <a:pt x="3078263" y="-17994"/>
                  <a:pt x="3239421" y="7293"/>
                  <a:pt x="3520838" y="0"/>
                </a:cubicBezTo>
                <a:cubicBezTo>
                  <a:pt x="3802255" y="-7293"/>
                  <a:pt x="3999259" y="20166"/>
                  <a:pt x="4173038" y="0"/>
                </a:cubicBezTo>
                <a:cubicBezTo>
                  <a:pt x="4346817" y="-20166"/>
                  <a:pt x="4497820" y="-13197"/>
                  <a:pt x="4694798" y="0"/>
                </a:cubicBezTo>
                <a:cubicBezTo>
                  <a:pt x="4891776" y="13197"/>
                  <a:pt x="5253937" y="6499"/>
                  <a:pt x="5477438" y="0"/>
                </a:cubicBezTo>
                <a:cubicBezTo>
                  <a:pt x="5700939" y="-6499"/>
                  <a:pt x="6228934" y="11610"/>
                  <a:pt x="6586178" y="0"/>
                </a:cubicBezTo>
                <a:cubicBezTo>
                  <a:pt x="6623159" y="5397"/>
                  <a:pt x="6652882" y="29797"/>
                  <a:pt x="6650355" y="64177"/>
                </a:cubicBezTo>
                <a:cubicBezTo>
                  <a:pt x="6664442" y="164555"/>
                  <a:pt x="6637307" y="398075"/>
                  <a:pt x="6650355" y="549077"/>
                </a:cubicBezTo>
                <a:cubicBezTo>
                  <a:pt x="6663403" y="700079"/>
                  <a:pt x="6663619" y="862129"/>
                  <a:pt x="6650355" y="1048525"/>
                </a:cubicBezTo>
                <a:cubicBezTo>
                  <a:pt x="6637091" y="1234921"/>
                  <a:pt x="6627279" y="1298755"/>
                  <a:pt x="6650355" y="1518878"/>
                </a:cubicBezTo>
                <a:cubicBezTo>
                  <a:pt x="6650481" y="1553048"/>
                  <a:pt x="6622142" y="1581517"/>
                  <a:pt x="6586178" y="1583055"/>
                </a:cubicBezTo>
                <a:cubicBezTo>
                  <a:pt x="6261415" y="1603609"/>
                  <a:pt x="6131337" y="1599235"/>
                  <a:pt x="5868758" y="1583055"/>
                </a:cubicBezTo>
                <a:cubicBezTo>
                  <a:pt x="5606179" y="1566875"/>
                  <a:pt x="5440783" y="1603715"/>
                  <a:pt x="5216558" y="1583055"/>
                </a:cubicBezTo>
                <a:cubicBezTo>
                  <a:pt x="4992333" y="1562395"/>
                  <a:pt x="4654989" y="1589075"/>
                  <a:pt x="4433918" y="1583055"/>
                </a:cubicBezTo>
                <a:cubicBezTo>
                  <a:pt x="4212847" y="1577035"/>
                  <a:pt x="4104176" y="1598462"/>
                  <a:pt x="3846938" y="1583055"/>
                </a:cubicBezTo>
                <a:cubicBezTo>
                  <a:pt x="3589700" y="1567648"/>
                  <a:pt x="3503749" y="1568366"/>
                  <a:pt x="3325178" y="1583055"/>
                </a:cubicBezTo>
                <a:cubicBezTo>
                  <a:pt x="3146607" y="1597744"/>
                  <a:pt x="2826049" y="1561412"/>
                  <a:pt x="2672977" y="1583055"/>
                </a:cubicBezTo>
                <a:cubicBezTo>
                  <a:pt x="2519905" y="1604698"/>
                  <a:pt x="2177059" y="1576449"/>
                  <a:pt x="1955557" y="1583055"/>
                </a:cubicBezTo>
                <a:cubicBezTo>
                  <a:pt x="1734055" y="1589661"/>
                  <a:pt x="1413403" y="1576197"/>
                  <a:pt x="1172917" y="1583055"/>
                </a:cubicBezTo>
                <a:cubicBezTo>
                  <a:pt x="932431" y="1589913"/>
                  <a:pt x="529146" y="1634007"/>
                  <a:pt x="64177" y="1583055"/>
                </a:cubicBezTo>
                <a:cubicBezTo>
                  <a:pt x="31718" y="1588859"/>
                  <a:pt x="6963" y="1552362"/>
                  <a:pt x="0" y="1518878"/>
                </a:cubicBezTo>
                <a:cubicBezTo>
                  <a:pt x="-17466" y="1304430"/>
                  <a:pt x="6900" y="1259338"/>
                  <a:pt x="0" y="1077619"/>
                </a:cubicBezTo>
                <a:cubicBezTo>
                  <a:pt x="-6900" y="895900"/>
                  <a:pt x="9881" y="788217"/>
                  <a:pt x="0" y="578171"/>
                </a:cubicBezTo>
                <a:cubicBezTo>
                  <a:pt x="-9881" y="368125"/>
                  <a:pt x="6862" y="230313"/>
                  <a:pt x="0" y="64177"/>
                </a:cubicBezTo>
                <a:close/>
              </a:path>
              <a:path w="6650355" h="1583055">
                <a:moveTo>
                  <a:pt x="0" y="64177"/>
                </a:moveTo>
                <a:cubicBezTo>
                  <a:pt x="-4037" y="26243"/>
                  <a:pt x="20700" y="3015"/>
                  <a:pt x="64177" y="0"/>
                </a:cubicBezTo>
                <a:cubicBezTo>
                  <a:pt x="230173" y="-16661"/>
                  <a:pt x="487585" y="22001"/>
                  <a:pt x="846817" y="0"/>
                </a:cubicBezTo>
                <a:cubicBezTo>
                  <a:pt x="1206049" y="-22001"/>
                  <a:pt x="1165223" y="815"/>
                  <a:pt x="1433797" y="0"/>
                </a:cubicBezTo>
                <a:cubicBezTo>
                  <a:pt x="1702371" y="-815"/>
                  <a:pt x="1740518" y="-17128"/>
                  <a:pt x="1955557" y="0"/>
                </a:cubicBezTo>
                <a:cubicBezTo>
                  <a:pt x="2170596" y="17128"/>
                  <a:pt x="2441209" y="8126"/>
                  <a:pt x="2672977" y="0"/>
                </a:cubicBezTo>
                <a:cubicBezTo>
                  <a:pt x="2904745" y="-8126"/>
                  <a:pt x="3118378" y="28942"/>
                  <a:pt x="3259957" y="0"/>
                </a:cubicBezTo>
                <a:cubicBezTo>
                  <a:pt x="3401536" y="-28942"/>
                  <a:pt x="3711247" y="18149"/>
                  <a:pt x="4042598" y="0"/>
                </a:cubicBezTo>
                <a:cubicBezTo>
                  <a:pt x="4373949" y="-18149"/>
                  <a:pt x="4327807" y="25823"/>
                  <a:pt x="4564358" y="0"/>
                </a:cubicBezTo>
                <a:cubicBezTo>
                  <a:pt x="4800909" y="-25823"/>
                  <a:pt x="5089633" y="32895"/>
                  <a:pt x="5346998" y="0"/>
                </a:cubicBezTo>
                <a:cubicBezTo>
                  <a:pt x="5604363" y="-32895"/>
                  <a:pt x="5664950" y="-736"/>
                  <a:pt x="5803538" y="0"/>
                </a:cubicBezTo>
                <a:cubicBezTo>
                  <a:pt x="5942126" y="736"/>
                  <a:pt x="6417945" y="-4870"/>
                  <a:pt x="6586178" y="0"/>
                </a:cubicBezTo>
                <a:cubicBezTo>
                  <a:pt x="6623334" y="2548"/>
                  <a:pt x="6650699" y="32300"/>
                  <a:pt x="6650355" y="64177"/>
                </a:cubicBezTo>
                <a:cubicBezTo>
                  <a:pt x="6635697" y="247848"/>
                  <a:pt x="6629005" y="350341"/>
                  <a:pt x="6650355" y="505436"/>
                </a:cubicBezTo>
                <a:cubicBezTo>
                  <a:pt x="6671705" y="660531"/>
                  <a:pt x="6626894" y="888546"/>
                  <a:pt x="6650355" y="1019431"/>
                </a:cubicBezTo>
                <a:cubicBezTo>
                  <a:pt x="6673816" y="1150316"/>
                  <a:pt x="6659080" y="1303906"/>
                  <a:pt x="6650355" y="1518878"/>
                </a:cubicBezTo>
                <a:cubicBezTo>
                  <a:pt x="6648224" y="1552314"/>
                  <a:pt x="6618700" y="1578686"/>
                  <a:pt x="6586178" y="1583055"/>
                </a:cubicBezTo>
                <a:cubicBezTo>
                  <a:pt x="6233046" y="1581411"/>
                  <a:pt x="6090673" y="1601370"/>
                  <a:pt x="5868758" y="1583055"/>
                </a:cubicBezTo>
                <a:cubicBezTo>
                  <a:pt x="5646843" y="1564740"/>
                  <a:pt x="5622067" y="1597379"/>
                  <a:pt x="5412218" y="1583055"/>
                </a:cubicBezTo>
                <a:cubicBezTo>
                  <a:pt x="5202369" y="1568731"/>
                  <a:pt x="5066641" y="1604888"/>
                  <a:pt x="4890458" y="1583055"/>
                </a:cubicBezTo>
                <a:cubicBezTo>
                  <a:pt x="4714275" y="1561222"/>
                  <a:pt x="4418301" y="1616731"/>
                  <a:pt x="4107818" y="1583055"/>
                </a:cubicBezTo>
                <a:cubicBezTo>
                  <a:pt x="3797335" y="1549379"/>
                  <a:pt x="3778690" y="1575718"/>
                  <a:pt x="3455618" y="1583055"/>
                </a:cubicBezTo>
                <a:cubicBezTo>
                  <a:pt x="3132546" y="1590392"/>
                  <a:pt x="3093428" y="1581161"/>
                  <a:pt x="2933857" y="1583055"/>
                </a:cubicBezTo>
                <a:cubicBezTo>
                  <a:pt x="2774286" y="1584949"/>
                  <a:pt x="2565551" y="1607491"/>
                  <a:pt x="2281657" y="1583055"/>
                </a:cubicBezTo>
                <a:cubicBezTo>
                  <a:pt x="1997763" y="1558619"/>
                  <a:pt x="1924261" y="1602378"/>
                  <a:pt x="1825117" y="1583055"/>
                </a:cubicBezTo>
                <a:cubicBezTo>
                  <a:pt x="1725973" y="1563732"/>
                  <a:pt x="1532926" y="1605048"/>
                  <a:pt x="1368577" y="1583055"/>
                </a:cubicBezTo>
                <a:cubicBezTo>
                  <a:pt x="1204228" y="1561062"/>
                  <a:pt x="895567" y="1577477"/>
                  <a:pt x="716377" y="1583055"/>
                </a:cubicBezTo>
                <a:cubicBezTo>
                  <a:pt x="537187" y="1588633"/>
                  <a:pt x="287724" y="1608416"/>
                  <a:pt x="64177" y="1583055"/>
                </a:cubicBezTo>
                <a:cubicBezTo>
                  <a:pt x="28616" y="1580631"/>
                  <a:pt x="3343" y="1556428"/>
                  <a:pt x="0" y="1518878"/>
                </a:cubicBezTo>
                <a:cubicBezTo>
                  <a:pt x="16789" y="1328319"/>
                  <a:pt x="11578" y="1271644"/>
                  <a:pt x="0" y="1048525"/>
                </a:cubicBezTo>
                <a:cubicBezTo>
                  <a:pt x="-11578" y="825406"/>
                  <a:pt x="-11491" y="780847"/>
                  <a:pt x="0" y="607265"/>
                </a:cubicBezTo>
                <a:cubicBezTo>
                  <a:pt x="11491" y="433683"/>
                  <a:pt x="-9426" y="189570"/>
                  <a:pt x="0" y="64177"/>
                </a:cubicBezTo>
                <a:close/>
              </a:path>
            </a:pathLst>
          </a:custGeom>
          <a:solidFill>
            <a:srgbClr val="FBFFF8"/>
          </a:solidFill>
          <a:ln w="12383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96" name="Student title"/>
          <p:cNvSpPr>
            <a:spLocks noGrp="1"/>
          </p:cNvSpPr>
          <p:nvPr/>
        </p:nvSpPr>
        <p:spPr>
          <a:xfrm>
            <a:off x="3087370" y="8592185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>
                <a:solidFill>
                  <a:srgbClr val="188326"/>
                </a:solidFill>
              </a:defRPr>
            </a:pPr>
            <a:r>
              <a:rPr sz="1725" b="1" i="0" u="none" cap="none">
                <a:ln>
                  <a:noFill/>
                </a:ln>
                <a:solidFill>
                  <a:srgbClr val="188326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Student: lightweight LNN</a:t>
            </a:r>
            <a:endParaRPr sz="1725" b="1" i="0" u="none" cap="none">
              <a:ln>
                <a:noFill/>
              </a:ln>
              <a:solidFill>
                <a:srgbClr val="188326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0" name="HS"/>
              <p:cNvSpPr>
                <a:spLocks noGrp="1"/>
              </p:cNvSpPr>
              <p:nvPr/>
            </p:nvSpPr>
            <p:spPr>
              <a:xfrm>
                <a:off x="2143125" y="6934835"/>
                <a:ext cx="428625" cy="2476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indent="0" algn="ctr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7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575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𝑯</m:t>
                          </m:r>
                        </m:e>
                        <m:sub>
                          <m:r>
                            <a:rPr lang="en-US" sz="1575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60" name="H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125" y="6934835"/>
                <a:ext cx="428625" cy="247650"/>
              </a:xfrm>
              <a:prstGeom prst="rect">
                <a:avLst/>
              </a:prstGeom>
              <a:blipFill rotWithShape="1">
                <a:blip r:embed="rId4"/>
                <a:stretch>
                  <a:fillRect b="-37179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1" name="student hidden"/>
          <p:cNvSpPr>
            <a:spLocks noGrp="1"/>
          </p:cNvSpPr>
          <p:nvPr/>
        </p:nvSpPr>
        <p:spPr>
          <a:xfrm>
            <a:off x="2590800" y="6830060"/>
            <a:ext cx="4133850" cy="409575"/>
          </a:xfrm>
          <a:prstGeom prst="roundRect">
            <a:avLst>
              <a:gd name="adj" fmla="val 13953"/>
            </a:avLst>
          </a:prstGeom>
          <a:solidFill>
            <a:srgbClr val="EFF9EB"/>
          </a:solidFill>
          <a:ln w="9525">
            <a:solidFill>
              <a:srgbClr val="55A83C"/>
            </a:solidFill>
            <a:prstDash val="dash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2" name="token-0"/>
          <p:cNvSpPr>
            <a:spLocks noGrp="1"/>
          </p:cNvSpPr>
          <p:nvPr/>
        </p:nvSpPr>
        <p:spPr>
          <a:xfrm>
            <a:off x="2790825" y="692531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3" name="token-label-0"/>
          <p:cNvSpPr>
            <a:spLocks noGrp="1"/>
          </p:cNvSpPr>
          <p:nvPr/>
        </p:nvSpPr>
        <p:spPr>
          <a:xfrm>
            <a:off x="2790825" y="693483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endParaRPr sz="975" b="1" i="0" u="none" cap="none">
              <a:ln>
                <a:noFill/>
              </a:ln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64" name="token-1"/>
          <p:cNvSpPr>
            <a:spLocks noGrp="1"/>
          </p:cNvSpPr>
          <p:nvPr/>
        </p:nvSpPr>
        <p:spPr>
          <a:xfrm>
            <a:off x="3457575" y="692531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5" name="token-label-1"/>
          <p:cNvSpPr>
            <a:spLocks noGrp="1"/>
          </p:cNvSpPr>
          <p:nvPr/>
        </p:nvSpPr>
        <p:spPr>
          <a:xfrm>
            <a:off x="3457575" y="693483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</a:t>
            </a:r>
            <a:endParaRPr sz="975" b="1" i="0" u="none" cap="none">
              <a:ln>
                <a:noFill/>
              </a:ln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66" name="token-2"/>
          <p:cNvSpPr>
            <a:spLocks noGrp="1"/>
          </p:cNvSpPr>
          <p:nvPr/>
        </p:nvSpPr>
        <p:spPr>
          <a:xfrm>
            <a:off x="4124325" y="692531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7" name="token-label-2"/>
          <p:cNvSpPr>
            <a:spLocks noGrp="1"/>
          </p:cNvSpPr>
          <p:nvPr/>
        </p:nvSpPr>
        <p:spPr>
          <a:xfrm>
            <a:off x="4124325" y="693483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</a:t>
            </a:r>
            <a:endParaRPr sz="975" b="1" i="0" u="none" cap="none">
              <a:ln>
                <a:noFill/>
              </a:ln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68" name="token-3"/>
          <p:cNvSpPr>
            <a:spLocks noGrp="1"/>
          </p:cNvSpPr>
          <p:nvPr/>
        </p:nvSpPr>
        <p:spPr>
          <a:xfrm>
            <a:off x="4791075" y="692531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9" name="token-label-3"/>
          <p:cNvSpPr>
            <a:spLocks noGrp="1"/>
          </p:cNvSpPr>
          <p:nvPr/>
        </p:nvSpPr>
        <p:spPr>
          <a:xfrm>
            <a:off x="4791075" y="693483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·</a:t>
            </a:r>
            <a:endParaRPr sz="975" b="1" i="0" u="none" cap="none">
              <a:ln>
                <a:noFill/>
              </a:ln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70" name="student dots"/>
          <p:cNvSpPr>
            <a:spLocks noGrp="1"/>
          </p:cNvSpPr>
          <p:nvPr/>
        </p:nvSpPr>
        <p:spPr>
          <a:xfrm>
            <a:off x="5619750" y="690626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sz="1650" b="1" i="0" u="none" cap="none">
                <a:ln>
                  <a:noFill/>
                </a:ln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sz="1650" b="1" i="0" u="none" cap="none">
              <a:ln>
                <a:noFill/>
              </a:ln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71" name="token-0"/>
          <p:cNvSpPr>
            <a:spLocks noGrp="1"/>
          </p:cNvSpPr>
          <p:nvPr/>
        </p:nvSpPr>
        <p:spPr>
          <a:xfrm>
            <a:off x="6238875" y="692531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2" name="token-label-0"/>
              <p:cNvSpPr>
                <a:spLocks noGrp="1"/>
              </p:cNvSpPr>
              <p:nvPr/>
            </p:nvSpPr>
            <p:spPr>
              <a:xfrm>
                <a:off x="6238875" y="6934835"/>
                <a:ext cx="304800" cy="209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indent="0" algn="ctr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97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975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𝑻</m:t>
                          </m:r>
                        </m:e>
                        <m:sub>
                          <m:r>
                            <a:rPr lang="en-US" sz="975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72" name="token-label-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875" y="6934835"/>
                <a:ext cx="304800" cy="209550"/>
              </a:xfrm>
              <a:prstGeom prst="rect">
                <a:avLst/>
              </a:prstGeom>
              <a:blipFill rotWithShape="1">
                <a:blip r:embed="rId5"/>
                <a:stretch>
                  <a:fillRect b="-9091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1" name="student-zst"/>
              <p:cNvSpPr>
                <a:spLocks noGrp="1"/>
              </p:cNvSpPr>
              <p:nvPr/>
            </p:nvSpPr>
            <p:spPr>
              <a:xfrm>
                <a:off x="9998710" y="7326630"/>
                <a:ext cx="428625" cy="285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indent="0" algn="ctr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grow m:val="off"/>
                              <m:ctrlPr>
                                <a:rPr/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/>
                                  </m:ctrlPr>
                                </m:sSubSupPr>
                                <m:e>
                                  <m:r>
                                    <a:rPr lang="en-US" b="0" i="1">
                                      <a:solidFill>
                                        <a:srgbClr val="111111"/>
                                      </a:solidFill>
                                      <a:latin typeface="Cambria Math" panose="02040503050406030204"/>
                                      <a:ea typeface="Cambria Math" panose="02040503050406030204"/>
                                      <a:cs typeface="Cambria Math" panose="02040503050406030204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b="0" i="1">
                                      <a:solidFill>
                                        <a:srgbClr val="111111"/>
                                      </a:solidFill>
                                      <a:latin typeface="Cambria Math" panose="02040503050406030204"/>
                                      <a:ea typeface="Cambria Math" panose="02040503050406030204"/>
                                      <a:cs typeface="Cambria Math" panose="02040503050406030204"/>
                                    </a:rPr>
                                    <m:t>𝑆</m:t>
                                  </m:r>
                                </m:sub>
                                <m:sup>
                                  <m:r>
                                    <a:rPr lang="en-US" b="0" i="1">
                                      <a:solidFill>
                                        <a:srgbClr val="111111"/>
                                      </a:solidFill>
                                      <a:latin typeface="Cambria Math" panose="02040503050406030204"/>
                                      <a:ea typeface="Cambria Math" panose="02040503050406030204"/>
                                      <a:cs typeface="Cambria Math" panose="02040503050406030204"/>
                                    </a:rPr>
                                    <m:t>𝑡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US" sz="150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𝒕</m:t>
                          </m:r>
                          <m:r>
                            <a:rPr lang="en-US" sz="150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=</m:t>
                          </m:r>
                          <m:r>
                            <a:rPr lang="en-US" sz="150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𝟏</m:t>
                          </m:r>
                        </m:sub>
                        <m:sup>
                          <m:r>
                            <a:rPr lang="en-US" sz="150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𝑻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511" name="student-zs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8710" y="7326630"/>
                <a:ext cx="428625" cy="285750"/>
              </a:xfrm>
              <a:prstGeom prst="rect">
                <a:avLst/>
              </a:prstGeom>
              <a:blipFill rotWithShape="1">
                <a:blip r:embed="rId6"/>
                <a:stretch>
                  <a:fillRect r="-56889" b="-13778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" name="bar-0"/>
          <p:cNvSpPr>
            <a:spLocks noGrp="1"/>
          </p:cNvSpPr>
          <p:nvPr/>
        </p:nvSpPr>
        <p:spPr>
          <a:xfrm>
            <a:off x="8524875" y="7326630"/>
            <a:ext cx="95250" cy="236220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3" name="bar-1"/>
          <p:cNvSpPr>
            <a:spLocks noGrp="1"/>
          </p:cNvSpPr>
          <p:nvPr/>
        </p:nvSpPr>
        <p:spPr>
          <a:xfrm>
            <a:off x="8734425" y="7350252"/>
            <a:ext cx="95250" cy="212598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4" name="bar-2"/>
          <p:cNvSpPr>
            <a:spLocks noGrp="1"/>
          </p:cNvSpPr>
          <p:nvPr/>
        </p:nvSpPr>
        <p:spPr>
          <a:xfrm>
            <a:off x="8943975" y="7338441"/>
            <a:ext cx="95250" cy="224409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5" name="per-step"/>
          <p:cNvSpPr>
            <a:spLocks noGrp="1"/>
          </p:cNvSpPr>
          <p:nvPr/>
        </p:nvSpPr>
        <p:spPr>
          <a:xfrm>
            <a:off x="9124950" y="72961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sz="1425" b="1" i="0" u="none" cap="none">
              <a:ln>
                <a:noFill/>
              </a:ln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16" name="bar-0"/>
          <p:cNvSpPr>
            <a:spLocks noGrp="1"/>
          </p:cNvSpPr>
          <p:nvPr/>
        </p:nvSpPr>
        <p:spPr>
          <a:xfrm>
            <a:off x="9525000" y="7341394"/>
            <a:ext cx="95250" cy="221456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7" name="bar-1"/>
          <p:cNvSpPr>
            <a:spLocks noGrp="1"/>
          </p:cNvSpPr>
          <p:nvPr/>
        </p:nvSpPr>
        <p:spPr>
          <a:xfrm>
            <a:off x="9791700" y="7350252"/>
            <a:ext cx="95250" cy="212598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9" name="student-zs"/>
              <p:cNvSpPr>
                <a:spLocks noGrp="1"/>
              </p:cNvSpPr>
              <p:nvPr/>
            </p:nvSpPr>
            <p:spPr>
              <a:xfrm>
                <a:off x="8710612" y="8122920"/>
                <a:ext cx="428625" cy="2667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indent="0" algn="ctr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500" b="0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𝑍</m:t>
                          </m:r>
                        </m:e>
                        <m:sub>
                          <m:r>
                            <a:rPr lang="en-US" sz="1500" b="0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19" name="student-z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612" y="8122920"/>
                <a:ext cx="428625" cy="266700"/>
              </a:xfrm>
              <a:prstGeom prst="rect">
                <a:avLst/>
              </a:prstGeom>
              <a:blipFill rotWithShape="1">
                <a:blip r:embed="rId7"/>
                <a:stretch>
                  <a:fillRect l="-74" r="74" b="-21905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0" name="bar-0"/>
          <p:cNvSpPr>
            <a:spLocks noGrp="1"/>
          </p:cNvSpPr>
          <p:nvPr/>
        </p:nvSpPr>
        <p:spPr>
          <a:xfrm>
            <a:off x="8858250" y="8449151"/>
            <a:ext cx="95250" cy="370999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21" name="final-label"/>
          <p:cNvSpPr>
            <a:spLocks noGrp="1"/>
          </p:cNvSpPr>
          <p:nvPr/>
        </p:nvSpPr>
        <p:spPr>
          <a:xfrm>
            <a:off x="8562975" y="8839200"/>
            <a:ext cx="914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111111"/>
                </a:solidFill>
              </a:defRPr>
            </a:pPr>
            <a:r>
              <a:rPr sz="1125" b="1" i="1" u="none" cap="none">
                <a:ln>
                  <a:noFill/>
                </a:ln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 </a:t>
            </a:r>
            <a:r>
              <a:rPr sz="1125" b="0" i="0" u="none" cap="none">
                <a:ln>
                  <a:noFill/>
                </a:ln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classes</a:t>
            </a:r>
            <a:endParaRPr sz="1125" b="0" i="0" u="none" cap="none">
              <a:ln>
                <a:noFill/>
              </a:ln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22" name="loss"/>
          <p:cNvSpPr>
            <a:spLocks noGrp="1"/>
          </p:cNvSpPr>
          <p:nvPr/>
        </p:nvSpPr>
        <p:spPr>
          <a:xfrm>
            <a:off x="8515350" y="1020445"/>
            <a:ext cx="1657350" cy="1155700"/>
          </a:xfrm>
          <a:custGeom>
            <a:avLst/>
            <a:gdLst>
              <a:gd name="csX0" fmla="*/ 0 w 1657350"/>
              <a:gd name="csY0" fmla="*/ 102279 h 1155700"/>
              <a:gd name="csX1" fmla="*/ 102279 w 1657350"/>
              <a:gd name="csY1" fmla="*/ 0 h 1155700"/>
              <a:gd name="csX2" fmla="*/ 601071 w 1657350"/>
              <a:gd name="csY2" fmla="*/ 0 h 1155700"/>
              <a:gd name="csX3" fmla="*/ 1056279 w 1657350"/>
              <a:gd name="csY3" fmla="*/ 0 h 1155700"/>
              <a:gd name="csX4" fmla="*/ 1555071 w 1657350"/>
              <a:gd name="csY4" fmla="*/ 0 h 1155700"/>
              <a:gd name="csX5" fmla="*/ 1657350 w 1657350"/>
              <a:gd name="csY5" fmla="*/ 102279 h 1155700"/>
              <a:gd name="csX6" fmla="*/ 1657350 w 1657350"/>
              <a:gd name="csY6" fmla="*/ 558827 h 1155700"/>
              <a:gd name="csX7" fmla="*/ 1657350 w 1657350"/>
              <a:gd name="csY7" fmla="*/ 1053421 h 1155700"/>
              <a:gd name="csX8" fmla="*/ 1555071 w 1657350"/>
              <a:gd name="csY8" fmla="*/ 1155700 h 1155700"/>
              <a:gd name="csX9" fmla="*/ 1041751 w 1657350"/>
              <a:gd name="csY9" fmla="*/ 1155700 h 1155700"/>
              <a:gd name="csX10" fmla="*/ 542959 w 1657350"/>
              <a:gd name="csY10" fmla="*/ 1155700 h 1155700"/>
              <a:gd name="csX11" fmla="*/ 102279 w 1657350"/>
              <a:gd name="csY11" fmla="*/ 1155700 h 1155700"/>
              <a:gd name="csX12" fmla="*/ 0 w 1657350"/>
              <a:gd name="csY12" fmla="*/ 1053421 h 1155700"/>
              <a:gd name="csX13" fmla="*/ 0 w 1657350"/>
              <a:gd name="csY13" fmla="*/ 577850 h 1155700"/>
              <a:gd name="csX14" fmla="*/ 0 w 1657350"/>
              <a:gd name="csY14" fmla="*/ 102279 h 1155700"/>
            </a:gdLst>
            <a:ahLst/>
            <a:cxnLst/>
            <a:rect l="l" t="t" r="r" b="b"/>
            <a:pathLst>
              <a:path w="1657350" h="1155700">
                <a:moveTo>
                  <a:pt x="0" y="102279"/>
                </a:moveTo>
                <a:cubicBezTo>
                  <a:pt x="-5204" y="35185"/>
                  <a:pt x="45959" y="-2257"/>
                  <a:pt x="102279" y="0"/>
                </a:cubicBezTo>
                <a:cubicBezTo>
                  <a:pt x="304020" y="13055"/>
                  <a:pt x="386704" y="-12001"/>
                  <a:pt x="601071" y="0"/>
                </a:cubicBezTo>
                <a:cubicBezTo>
                  <a:pt x="815438" y="12001"/>
                  <a:pt x="844931" y="-6527"/>
                  <a:pt x="1056279" y="0"/>
                </a:cubicBezTo>
                <a:cubicBezTo>
                  <a:pt x="1267627" y="6527"/>
                  <a:pt x="1425664" y="16735"/>
                  <a:pt x="1555071" y="0"/>
                </a:cubicBezTo>
                <a:cubicBezTo>
                  <a:pt x="1615094" y="-748"/>
                  <a:pt x="1658326" y="55060"/>
                  <a:pt x="1657350" y="102279"/>
                </a:cubicBezTo>
                <a:cubicBezTo>
                  <a:pt x="1667711" y="276571"/>
                  <a:pt x="1651553" y="416038"/>
                  <a:pt x="1657350" y="558827"/>
                </a:cubicBezTo>
                <a:cubicBezTo>
                  <a:pt x="1663147" y="701616"/>
                  <a:pt x="1654890" y="831885"/>
                  <a:pt x="1657350" y="1053421"/>
                </a:cubicBezTo>
                <a:cubicBezTo>
                  <a:pt x="1659994" y="1101776"/>
                  <a:pt x="1613122" y="1157391"/>
                  <a:pt x="1555071" y="1155700"/>
                </a:cubicBezTo>
                <a:cubicBezTo>
                  <a:pt x="1303222" y="1151101"/>
                  <a:pt x="1209543" y="1160429"/>
                  <a:pt x="1041751" y="1155700"/>
                </a:cubicBezTo>
                <a:cubicBezTo>
                  <a:pt x="873959" y="1150971"/>
                  <a:pt x="665865" y="1154475"/>
                  <a:pt x="542959" y="1155700"/>
                </a:cubicBezTo>
                <a:cubicBezTo>
                  <a:pt x="420053" y="1156925"/>
                  <a:pt x="278583" y="1143518"/>
                  <a:pt x="102279" y="1155700"/>
                </a:cubicBezTo>
                <a:cubicBezTo>
                  <a:pt x="41612" y="1168731"/>
                  <a:pt x="-3504" y="1098874"/>
                  <a:pt x="0" y="1053421"/>
                </a:cubicBezTo>
                <a:cubicBezTo>
                  <a:pt x="18729" y="867212"/>
                  <a:pt x="-4507" y="686474"/>
                  <a:pt x="0" y="577850"/>
                </a:cubicBezTo>
                <a:cubicBezTo>
                  <a:pt x="4507" y="469226"/>
                  <a:pt x="16964" y="241845"/>
                  <a:pt x="0" y="102279"/>
                </a:cubicBezTo>
                <a:close/>
              </a:path>
              <a:path w="1657350" h="1155700">
                <a:moveTo>
                  <a:pt x="0" y="102279"/>
                </a:moveTo>
                <a:cubicBezTo>
                  <a:pt x="-10777" y="39145"/>
                  <a:pt x="34370" y="4287"/>
                  <a:pt x="102279" y="0"/>
                </a:cubicBezTo>
                <a:cubicBezTo>
                  <a:pt x="246129" y="-20315"/>
                  <a:pt x="500598" y="-16605"/>
                  <a:pt x="615599" y="0"/>
                </a:cubicBezTo>
                <a:cubicBezTo>
                  <a:pt x="730600" y="16605"/>
                  <a:pt x="863804" y="14696"/>
                  <a:pt x="1085335" y="0"/>
                </a:cubicBezTo>
                <a:cubicBezTo>
                  <a:pt x="1306866" y="-14696"/>
                  <a:pt x="1440881" y="-4024"/>
                  <a:pt x="1555071" y="0"/>
                </a:cubicBezTo>
                <a:cubicBezTo>
                  <a:pt x="1610791" y="-2470"/>
                  <a:pt x="1660394" y="34529"/>
                  <a:pt x="1657350" y="102279"/>
                </a:cubicBezTo>
                <a:cubicBezTo>
                  <a:pt x="1635750" y="226616"/>
                  <a:pt x="1677404" y="445846"/>
                  <a:pt x="1657350" y="558827"/>
                </a:cubicBezTo>
                <a:cubicBezTo>
                  <a:pt x="1637296" y="671808"/>
                  <a:pt x="1645855" y="841176"/>
                  <a:pt x="1657350" y="1053421"/>
                </a:cubicBezTo>
                <a:cubicBezTo>
                  <a:pt x="1653215" y="1116748"/>
                  <a:pt x="1603325" y="1146151"/>
                  <a:pt x="1555071" y="1155700"/>
                </a:cubicBezTo>
                <a:cubicBezTo>
                  <a:pt x="1452605" y="1139714"/>
                  <a:pt x="1260909" y="1140226"/>
                  <a:pt x="1099863" y="1155700"/>
                </a:cubicBezTo>
                <a:cubicBezTo>
                  <a:pt x="938817" y="1171174"/>
                  <a:pt x="718673" y="1170466"/>
                  <a:pt x="615599" y="1155700"/>
                </a:cubicBezTo>
                <a:cubicBezTo>
                  <a:pt x="512525" y="1140934"/>
                  <a:pt x="207863" y="1170176"/>
                  <a:pt x="102279" y="1155700"/>
                </a:cubicBezTo>
                <a:cubicBezTo>
                  <a:pt x="54191" y="1165989"/>
                  <a:pt x="3630" y="1106730"/>
                  <a:pt x="0" y="1053421"/>
                </a:cubicBezTo>
                <a:cubicBezTo>
                  <a:pt x="1347" y="851741"/>
                  <a:pt x="-12747" y="706086"/>
                  <a:pt x="0" y="577850"/>
                </a:cubicBezTo>
                <a:cubicBezTo>
                  <a:pt x="12747" y="449614"/>
                  <a:pt x="9420" y="254191"/>
                  <a:pt x="0" y="102279"/>
                </a:cubicBezTo>
                <a:close/>
              </a:path>
            </a:pathLst>
          </a:custGeom>
          <a:solidFill>
            <a:srgbClr val="FFF6F6"/>
          </a:solidFill>
          <a:ln w="14288">
            <a:solidFill>
              <a:srgbClr val="E60000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00000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Total loss</a:t>
            </a:r>
            <a:endParaRPr sz="1800" b="0" i="0" u="none" cap="none">
              <a:ln>
                <a:noFill/>
              </a:ln>
              <a:solidFill>
                <a:srgbClr val="00000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3" name="loss equation"/>
              <p:cNvSpPr>
                <a:spLocks noGrp="1"/>
              </p:cNvSpPr>
              <p:nvPr/>
            </p:nvSpPr>
            <p:spPr>
              <a:xfrm>
                <a:off x="8638540" y="1360170"/>
                <a:ext cx="1485900" cy="73914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marL="0" marR="0" indent="0" algn="ctr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350" b="0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35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𝑳</m:t>
                          </m:r>
                        </m:e>
                        <m:sub>
                          <m:r>
                            <a:rPr lang="en-US" sz="135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𝒕𝒐𝒕𝒂</m:t>
                          </m:r>
                          <m:r>
                            <a:rPr lang="en-US" sz="135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𝒍</m:t>
                          </m:r>
                        </m:sub>
                      </m:sSub>
                      <m:r>
                        <a:rPr lang="en-US" sz="1350" b="1" i="1">
                          <a:solidFill>
                            <a:srgbClr val="11111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35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𝑳</m:t>
                          </m:r>
                        </m:e>
                        <m:sub>
                          <m:r>
                            <a:rPr lang="en-US" sz="135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𝑪𝑬</m:t>
                          </m:r>
                        </m:sub>
                      </m:sSub>
                      <m:r>
                        <a:rPr lang="en-US" sz="1350" b="1" i="1">
                          <a:solidFill>
                            <a:srgbClr val="11111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+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zh-CN" sz="135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𝝀</m:t>
                          </m:r>
                        </m:e>
                        <m:sub>
                          <m:r>
                            <a:rPr lang="en-US" sz="135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𝒎</m:t>
                          </m:r>
                        </m:sub>
                      </m:sSub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35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𝑳</m:t>
                          </m:r>
                        </m:e>
                        <m:sub>
                          <m:r>
                            <a:rPr lang="en-US" sz="135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𝑴</m:t>
                          </m:r>
                        </m:sub>
                      </m:sSub>
                      <m:r>
                        <a:rPr lang="en-US" sz="1350" b="1" i="1">
                          <a:solidFill>
                            <a:srgbClr val="11111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+</m:t>
                      </m:r>
                      <m:d>
                        <m:dPr>
                          <m:grow m:val="off"/>
                          <m:ctrlPr>
                            <a:rPr/>
                          </m:ctrlPr>
                        </m:dPr>
                        <m:e>
                          <m:r>
                            <a:rPr lang="en-US" sz="135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𝟏</m:t>
                          </m:r>
                          <m:r>
                            <a:rPr lang="en-US" sz="135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−</m:t>
                          </m:r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lang="zh-CN" sz="1350" b="1" i="1">
                                  <a:solidFill>
                                    <a:srgbClr val="11111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Cambria Math" panose="02040503050406030204"/>
                                </a:rPr>
                                <m:t>𝝀</m:t>
                              </m:r>
                            </m:e>
                            <m:sub>
                              <m:r>
                                <a:rPr lang="en-US" sz="1350" b="1" i="1">
                                  <a:solidFill>
                                    <a:srgbClr val="111111"/>
                                  </a:solidFill>
                                  <a:latin typeface="Cambria Math" panose="02040503050406030204"/>
                                  <a:ea typeface="Cambria Math" panose="02040503050406030204"/>
                                  <a:cs typeface="Cambria Math" panose="02040503050406030204"/>
                                </a:rPr>
                                <m:t>𝒎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35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𝑳</m:t>
                          </m:r>
                        </m:e>
                        <m:sub>
                          <m:r>
                            <a:rPr lang="en-US" sz="135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𝑻𝑺</m:t>
                          </m:r>
                          <m:r>
                            <a:rPr lang="en-US" sz="135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−</m:t>
                          </m:r>
                          <m:r>
                            <a:rPr lang="en-US" sz="1350" b="1" i="1">
                              <a:solidFill>
                                <a:srgbClr val="11111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523" name="loss equa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540" y="1360170"/>
                <a:ext cx="1485900" cy="739140"/>
              </a:xfrm>
              <a:prstGeom prst="rect">
                <a:avLst/>
              </a:prstGeom>
              <a:blipFill rotWithShape="1">
                <a:blip r:embed="rId8"/>
                <a:stretch>
                  <a:fillRect b="-824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7" name="anchor"/>
          <p:cNvSpPr>
            <a:spLocks noGrp="1"/>
          </p:cNvSpPr>
          <p:nvPr/>
        </p:nvSpPr>
        <p:spPr>
          <a:xfrm>
            <a:off x="9363075" y="82772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30" name="anchor"/>
          <p:cNvSpPr>
            <a:spLocks noGrp="1"/>
          </p:cNvSpPr>
          <p:nvPr/>
        </p:nvSpPr>
        <p:spPr>
          <a:xfrm>
            <a:off x="8886825" y="879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89" name="Legend"/>
          <p:cNvSpPr>
            <a:spLocks noGrp="1"/>
          </p:cNvSpPr>
          <p:nvPr/>
        </p:nvSpPr>
        <p:spPr>
          <a:xfrm>
            <a:off x="266700" y="9185275"/>
            <a:ext cx="11719560" cy="62928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dash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10" name="anchor"/>
          <p:cNvSpPr>
            <a:spLocks noGrp="1"/>
          </p:cNvSpPr>
          <p:nvPr/>
        </p:nvSpPr>
        <p:spPr>
          <a:xfrm>
            <a:off x="1571625" y="1085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11" name="anchor"/>
          <p:cNvSpPr>
            <a:spLocks noGrp="1"/>
          </p:cNvSpPr>
          <p:nvPr/>
        </p:nvSpPr>
        <p:spPr>
          <a:xfrm>
            <a:off x="2238375" y="1085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19" name="anchor"/>
          <p:cNvSpPr>
            <a:spLocks noGrp="1"/>
          </p:cNvSpPr>
          <p:nvPr/>
        </p:nvSpPr>
        <p:spPr>
          <a:xfrm>
            <a:off x="4371975" y="2619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66" name="直接箭头连接符 1271"/>
          <p:cNvCxnSpPr>
            <a:endCxn id="620" idx="0"/>
          </p:cNvCxnSpPr>
          <p:nvPr/>
        </p:nvCxnSpPr>
        <p:spPr>
          <a:xfrm>
            <a:off x="3800475" y="2343150"/>
            <a:ext cx="0" cy="581025"/>
          </a:xfrm>
          <a:prstGeom prst="straightConnector1">
            <a:avLst/>
          </a:prstGeom>
          <a:ln w="38100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623" name="anchor"/>
          <p:cNvSpPr>
            <a:spLocks noGrp="1"/>
          </p:cNvSpPr>
          <p:nvPr/>
        </p:nvSpPr>
        <p:spPr>
          <a:xfrm>
            <a:off x="4371975" y="6734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68" name="直接箭头连接符 1274"/>
          <p:cNvCxnSpPr/>
          <p:nvPr/>
        </p:nvCxnSpPr>
        <p:spPr>
          <a:xfrm flipV="1">
            <a:off x="4357370" y="6530975"/>
            <a:ext cx="0" cy="280035"/>
          </a:xfrm>
          <a:prstGeom prst="straightConnector1">
            <a:avLst/>
          </a:prstGeom>
          <a:ln w="38100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628" name="anchor"/>
          <p:cNvSpPr>
            <a:spLocks noGrp="1"/>
          </p:cNvSpPr>
          <p:nvPr/>
        </p:nvSpPr>
        <p:spPr>
          <a:xfrm>
            <a:off x="8362950" y="2143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31" name="anchor"/>
          <p:cNvSpPr>
            <a:spLocks noGrp="1"/>
          </p:cNvSpPr>
          <p:nvPr/>
        </p:nvSpPr>
        <p:spPr>
          <a:xfrm>
            <a:off x="8639175" y="2143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34" name="anchor"/>
          <p:cNvSpPr>
            <a:spLocks noGrp="1"/>
          </p:cNvSpPr>
          <p:nvPr/>
        </p:nvSpPr>
        <p:spPr>
          <a:xfrm>
            <a:off x="8905875" y="12001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72" name="连接符: 肘形 1286"/>
          <p:cNvCxnSpPr/>
          <p:nvPr/>
        </p:nvCxnSpPr>
        <p:spPr>
          <a:xfrm rot="5400000" flipV="1">
            <a:off x="7565560" y="2473790"/>
            <a:ext cx="180000" cy="0"/>
          </a:xfrm>
          <a:prstGeom prst="bentConnector3">
            <a:avLst>
              <a:gd name="adj1" fmla="val 50140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sp>
        <p:nvSpPr>
          <p:cNvPr id="640" name="anchor"/>
          <p:cNvSpPr>
            <a:spLocks noGrp="1"/>
          </p:cNvSpPr>
          <p:nvPr/>
        </p:nvSpPr>
        <p:spPr>
          <a:xfrm>
            <a:off x="9896475" y="74199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43" name="anchor"/>
          <p:cNvSpPr>
            <a:spLocks noGrp="1"/>
          </p:cNvSpPr>
          <p:nvPr/>
        </p:nvSpPr>
        <p:spPr>
          <a:xfrm>
            <a:off x="9163050" y="86963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50" name="anchor"/>
          <p:cNvSpPr>
            <a:spLocks noGrp="1"/>
          </p:cNvSpPr>
          <p:nvPr/>
        </p:nvSpPr>
        <p:spPr>
          <a:xfrm>
            <a:off x="8515350" y="8258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" name="立方体 11"/>
          <p:cNvSpPr>
            <a:spLocks noGrp="1"/>
          </p:cNvSpPr>
          <p:nvPr/>
        </p:nvSpPr>
        <p:spPr>
          <a:xfrm>
            <a:off x="2423160" y="1112520"/>
            <a:ext cx="381000" cy="472440"/>
          </a:xfrm>
          <a:prstGeom prst="cube">
            <a:avLst>
              <a:gd name="adj" fmla="val 60185"/>
            </a:avLst>
          </a:prstGeom>
          <a:solidFill>
            <a:srgbClr val="90B4F3"/>
          </a:solidFill>
          <a:ln>
            <a:solidFill>
              <a:srgbClr val="498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3" name="立方体 32"/>
          <p:cNvSpPr>
            <a:spLocks noGrp="1"/>
          </p:cNvSpPr>
          <p:nvPr/>
        </p:nvSpPr>
        <p:spPr>
          <a:xfrm>
            <a:off x="2880360" y="1196340"/>
            <a:ext cx="381000" cy="358140"/>
          </a:xfrm>
          <a:prstGeom prst="cube">
            <a:avLst>
              <a:gd name="adj" fmla="val 47419"/>
            </a:avLst>
          </a:prstGeom>
          <a:solidFill>
            <a:srgbClr val="90B4F3"/>
          </a:solidFill>
          <a:ln>
            <a:solidFill>
              <a:srgbClr val="498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478" name="图片 10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8150" y="171594"/>
            <a:ext cx="425132" cy="425132"/>
          </a:xfrm>
          <a:prstGeom prst="rect">
            <a:avLst/>
          </a:prstGeom>
        </p:spPr>
      </p:pic>
      <p:sp>
        <p:nvSpPr>
          <p:cNvPr id="590" name="anchor"/>
          <p:cNvSpPr>
            <a:spLocks noGrp="1"/>
          </p:cNvSpPr>
          <p:nvPr/>
        </p:nvSpPr>
        <p:spPr>
          <a:xfrm>
            <a:off x="11858625" y="74491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91" name="anchor"/>
          <p:cNvSpPr>
            <a:spLocks noGrp="1"/>
          </p:cNvSpPr>
          <p:nvPr/>
        </p:nvSpPr>
        <p:spPr>
          <a:xfrm>
            <a:off x="12315825" y="74491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81" name="直接箭头连接符 1242"/>
          <p:cNvCxnSpPr>
            <a:stCxn id="590" idx="6"/>
            <a:endCxn id="591" idx="2"/>
          </p:cNvCxnSpPr>
          <p:nvPr/>
        </p:nvCxnSpPr>
        <p:spPr>
          <a:xfrm>
            <a:off x="3064510" y="9544685"/>
            <a:ext cx="438150" cy="0"/>
          </a:xfrm>
          <a:prstGeom prst="straightConnector1">
            <a:avLst/>
          </a:prstGeom>
          <a:ln w="18098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593" name="leg1"/>
          <p:cNvSpPr>
            <a:spLocks noGrp="1"/>
          </p:cNvSpPr>
          <p:nvPr/>
        </p:nvSpPr>
        <p:spPr>
          <a:xfrm>
            <a:off x="3630295" y="943991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Data flow</a:t>
            </a:r>
            <a:endParaRPr sz="975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594" name="anchor"/>
          <p:cNvSpPr>
            <a:spLocks noGrp="1"/>
          </p:cNvSpPr>
          <p:nvPr/>
        </p:nvSpPr>
        <p:spPr>
          <a:xfrm>
            <a:off x="11858625" y="770636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95" name="anchor"/>
          <p:cNvSpPr>
            <a:spLocks noGrp="1"/>
          </p:cNvSpPr>
          <p:nvPr/>
        </p:nvSpPr>
        <p:spPr>
          <a:xfrm>
            <a:off x="12315825" y="770636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98" name="anchor"/>
          <p:cNvSpPr>
            <a:spLocks noGrp="1"/>
          </p:cNvSpPr>
          <p:nvPr/>
        </p:nvSpPr>
        <p:spPr>
          <a:xfrm>
            <a:off x="11858625" y="796353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99" name="anchor"/>
          <p:cNvSpPr>
            <a:spLocks noGrp="1"/>
          </p:cNvSpPr>
          <p:nvPr/>
        </p:nvSpPr>
        <p:spPr>
          <a:xfrm>
            <a:off x="12315825" y="796353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01" name="leg3"/>
          <p:cNvSpPr>
            <a:spLocks noGrp="1"/>
          </p:cNvSpPr>
          <p:nvPr/>
        </p:nvSpPr>
        <p:spPr>
          <a:xfrm>
            <a:off x="7242810" y="9439910"/>
            <a:ext cx="14255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TS-T </a:t>
            </a: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KL </a:t>
            </a: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divergence</a:t>
            </a:r>
            <a:endParaRPr sz="975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cxnSp>
        <p:nvCxnSpPr>
          <p:cNvPr id="1488" name="直接箭头连接符 1250"/>
          <p:cNvCxnSpPr>
            <a:stCxn id="598" idx="6"/>
            <a:endCxn id="599" idx="2"/>
          </p:cNvCxnSpPr>
          <p:nvPr/>
        </p:nvCxnSpPr>
        <p:spPr>
          <a:xfrm>
            <a:off x="6661785" y="9544685"/>
            <a:ext cx="438150" cy="0"/>
          </a:xfrm>
          <a:prstGeom prst="straightConnector1">
            <a:avLst/>
          </a:prstGeom>
          <a:ln w="18098">
            <a:solidFill>
              <a:srgbClr val="7A35CC"/>
            </a:solidFill>
            <a:prstDash val="dash"/>
            <a:headEnd type="triangle"/>
            <a:tailEnd type="triangle" w="med" len="med"/>
          </a:ln>
        </p:spPr>
      </p:cxnSp>
      <p:sp>
        <p:nvSpPr>
          <p:cNvPr id="602" name="anchor"/>
          <p:cNvSpPr>
            <a:spLocks noGrp="1"/>
          </p:cNvSpPr>
          <p:nvPr/>
        </p:nvSpPr>
        <p:spPr>
          <a:xfrm>
            <a:off x="11858625" y="822071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03" name="anchor"/>
          <p:cNvSpPr>
            <a:spLocks noGrp="1"/>
          </p:cNvSpPr>
          <p:nvPr/>
        </p:nvSpPr>
        <p:spPr>
          <a:xfrm>
            <a:off x="12315825" y="822071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91" name="直接箭头连接符 1254"/>
          <p:cNvCxnSpPr>
            <a:stCxn id="602" idx="6"/>
            <a:endCxn id="603" idx="2"/>
          </p:cNvCxnSpPr>
          <p:nvPr/>
        </p:nvCxnSpPr>
        <p:spPr>
          <a:xfrm>
            <a:off x="8668385" y="9544685"/>
            <a:ext cx="438150" cy="0"/>
          </a:xfrm>
          <a:prstGeom prst="straightConnector1">
            <a:avLst/>
          </a:prstGeom>
          <a:ln w="18098">
            <a:solidFill>
              <a:srgbClr val="C00000"/>
            </a:solidFill>
            <a:prstDash val="solid"/>
            <a:tailEnd type="triangle" w="med" len="med"/>
          </a:ln>
        </p:spPr>
      </p:cxnSp>
      <p:sp>
        <p:nvSpPr>
          <p:cNvPr id="605" name="leg4"/>
          <p:cNvSpPr>
            <a:spLocks noGrp="1"/>
          </p:cNvSpPr>
          <p:nvPr/>
        </p:nvSpPr>
        <p:spPr>
          <a:xfrm>
            <a:off x="9249410" y="943991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Loss supervision</a:t>
            </a:r>
            <a:endParaRPr sz="975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606" name="anchor"/>
          <p:cNvSpPr>
            <a:spLocks noGrp="1"/>
          </p:cNvSpPr>
          <p:nvPr/>
        </p:nvSpPr>
        <p:spPr>
          <a:xfrm>
            <a:off x="11858625" y="84778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07" name="anchor"/>
          <p:cNvSpPr>
            <a:spLocks noGrp="1"/>
          </p:cNvSpPr>
          <p:nvPr/>
        </p:nvSpPr>
        <p:spPr>
          <a:xfrm>
            <a:off x="12315825" y="84778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95" name="直接箭头连接符 1258"/>
          <p:cNvCxnSpPr/>
          <p:nvPr/>
        </p:nvCxnSpPr>
        <p:spPr>
          <a:xfrm>
            <a:off x="10373360" y="9570720"/>
            <a:ext cx="360045" cy="0"/>
          </a:xfrm>
          <a:prstGeom prst="straightConnector1">
            <a:avLst/>
          </a:prstGeom>
          <a:ln w="18098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609" name="leg5"/>
          <p:cNvSpPr>
            <a:spLocks noGrp="1"/>
          </p:cNvSpPr>
          <p:nvPr/>
        </p:nvSpPr>
        <p:spPr>
          <a:xfrm>
            <a:off x="10746740" y="945642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Final prediction</a:t>
            </a:r>
            <a:endParaRPr sz="975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pic>
        <p:nvPicPr>
          <p:cNvPr id="1497" name="图片 1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13255" y="9368155"/>
            <a:ext cx="297815" cy="297815"/>
          </a:xfrm>
          <a:prstGeom prst="rect">
            <a:avLst/>
          </a:prstGeom>
        </p:spPr>
      </p:pic>
      <p:sp>
        <p:nvSpPr>
          <p:cNvPr id="114" name="leg1"/>
          <p:cNvSpPr>
            <a:spLocks noGrp="1"/>
          </p:cNvSpPr>
          <p:nvPr/>
        </p:nvSpPr>
        <p:spPr>
          <a:xfrm>
            <a:off x="2383155" y="9411970"/>
            <a:ext cx="62103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F</a:t>
            </a: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rozen</a:t>
            </a:r>
            <a:endParaRPr sz="975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2" name="Input title"/>
          <p:cNvSpPr>
            <a:spLocks noGrp="1"/>
          </p:cNvSpPr>
          <p:nvPr/>
        </p:nvSpPr>
        <p:spPr>
          <a:xfrm>
            <a:off x="266700" y="64135"/>
            <a:ext cx="1200150" cy="7835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11111"/>
                </a:solidFill>
              </a:defRPr>
            </a:pPr>
            <a:r>
              <a:rPr sz="1500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Raw Waveform Input</a:t>
            </a:r>
            <a:endParaRPr sz="1500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6" name="waveform image frame"/>
          <p:cNvSpPr>
            <a:spLocks noGrp="1"/>
          </p:cNvSpPr>
          <p:nvPr/>
        </p:nvSpPr>
        <p:spPr>
          <a:xfrm>
            <a:off x="200025" y="989330"/>
            <a:ext cx="1314450" cy="1476375"/>
          </a:xfrm>
          <a:custGeom>
            <a:avLst/>
            <a:gdLst>
              <a:gd name="csX0" fmla="*/ 0 w 1314450"/>
              <a:gd name="csY0" fmla="*/ 95245 h 1476375"/>
              <a:gd name="csX1" fmla="*/ 95245 w 1314450"/>
              <a:gd name="csY1" fmla="*/ 0 h 1476375"/>
              <a:gd name="csX2" fmla="*/ 668465 w 1314450"/>
              <a:gd name="csY2" fmla="*/ 0 h 1476375"/>
              <a:gd name="csX3" fmla="*/ 1219205 w 1314450"/>
              <a:gd name="csY3" fmla="*/ 0 h 1476375"/>
              <a:gd name="csX4" fmla="*/ 1314450 w 1314450"/>
              <a:gd name="csY4" fmla="*/ 95245 h 1476375"/>
              <a:gd name="csX5" fmla="*/ 1314450 w 1314450"/>
              <a:gd name="csY5" fmla="*/ 712470 h 1476375"/>
              <a:gd name="csX6" fmla="*/ 1314450 w 1314450"/>
              <a:gd name="csY6" fmla="*/ 1381130 h 1476375"/>
              <a:gd name="csX7" fmla="*/ 1219205 w 1314450"/>
              <a:gd name="csY7" fmla="*/ 1476375 h 1476375"/>
              <a:gd name="csX8" fmla="*/ 645985 w 1314450"/>
              <a:gd name="csY8" fmla="*/ 1476375 h 1476375"/>
              <a:gd name="csX9" fmla="*/ 95245 w 1314450"/>
              <a:gd name="csY9" fmla="*/ 1476375 h 1476375"/>
              <a:gd name="csX10" fmla="*/ 0 w 1314450"/>
              <a:gd name="csY10" fmla="*/ 1381130 h 1476375"/>
              <a:gd name="csX11" fmla="*/ 0 w 1314450"/>
              <a:gd name="csY11" fmla="*/ 725329 h 1476375"/>
              <a:gd name="csX12" fmla="*/ 0 w 1314450"/>
              <a:gd name="csY12" fmla="*/ 95245 h 1476375"/>
            </a:gdLst>
            <a:ahLst/>
            <a:cxnLst/>
            <a:rect l="l" t="t" r="r" b="b"/>
            <a:pathLst>
              <a:path w="1314450" h="1476375">
                <a:moveTo>
                  <a:pt x="0" y="95245"/>
                </a:moveTo>
                <a:cubicBezTo>
                  <a:pt x="-3058" y="43145"/>
                  <a:pt x="40733" y="-1318"/>
                  <a:pt x="95245" y="0"/>
                </a:cubicBezTo>
                <a:cubicBezTo>
                  <a:pt x="212142" y="19900"/>
                  <a:pt x="518819" y="-3087"/>
                  <a:pt x="668465" y="0"/>
                </a:cubicBezTo>
                <a:cubicBezTo>
                  <a:pt x="818111" y="3087"/>
                  <a:pt x="1024008" y="11205"/>
                  <a:pt x="1219205" y="0"/>
                </a:cubicBezTo>
                <a:cubicBezTo>
                  <a:pt x="1267762" y="7233"/>
                  <a:pt x="1323596" y="49439"/>
                  <a:pt x="1314450" y="95245"/>
                </a:cubicBezTo>
                <a:cubicBezTo>
                  <a:pt x="1342476" y="403270"/>
                  <a:pt x="1284231" y="462336"/>
                  <a:pt x="1314450" y="712470"/>
                </a:cubicBezTo>
                <a:cubicBezTo>
                  <a:pt x="1344669" y="962605"/>
                  <a:pt x="1338816" y="1122446"/>
                  <a:pt x="1314450" y="1381130"/>
                </a:cubicBezTo>
                <a:cubicBezTo>
                  <a:pt x="1316199" y="1437194"/>
                  <a:pt x="1262667" y="1481195"/>
                  <a:pt x="1219205" y="1476375"/>
                </a:cubicBezTo>
                <a:cubicBezTo>
                  <a:pt x="968480" y="1453494"/>
                  <a:pt x="881870" y="1493178"/>
                  <a:pt x="645985" y="1476375"/>
                </a:cubicBezTo>
                <a:cubicBezTo>
                  <a:pt x="410100" y="1459572"/>
                  <a:pt x="239555" y="1452114"/>
                  <a:pt x="95245" y="1476375"/>
                </a:cubicBezTo>
                <a:cubicBezTo>
                  <a:pt x="38083" y="1485528"/>
                  <a:pt x="-5724" y="1426138"/>
                  <a:pt x="0" y="1381130"/>
                </a:cubicBezTo>
                <a:cubicBezTo>
                  <a:pt x="26020" y="1227904"/>
                  <a:pt x="-26361" y="862478"/>
                  <a:pt x="0" y="725329"/>
                </a:cubicBezTo>
                <a:cubicBezTo>
                  <a:pt x="26361" y="588180"/>
                  <a:pt x="5410" y="376424"/>
                  <a:pt x="0" y="95245"/>
                </a:cubicBezTo>
                <a:close/>
              </a:path>
              <a:path w="1314450" h="1476375">
                <a:moveTo>
                  <a:pt x="0" y="95245"/>
                </a:moveTo>
                <a:cubicBezTo>
                  <a:pt x="-1099" y="41965"/>
                  <a:pt x="41433" y="454"/>
                  <a:pt x="95245" y="0"/>
                </a:cubicBezTo>
                <a:cubicBezTo>
                  <a:pt x="261984" y="-13839"/>
                  <a:pt x="388910" y="-14742"/>
                  <a:pt x="679704" y="0"/>
                </a:cubicBezTo>
                <a:cubicBezTo>
                  <a:pt x="970498" y="14742"/>
                  <a:pt x="1078858" y="-3116"/>
                  <a:pt x="1219205" y="0"/>
                </a:cubicBezTo>
                <a:cubicBezTo>
                  <a:pt x="1265551" y="-3423"/>
                  <a:pt x="1319691" y="45147"/>
                  <a:pt x="1314450" y="95245"/>
                </a:cubicBezTo>
                <a:cubicBezTo>
                  <a:pt x="1300123" y="271300"/>
                  <a:pt x="1322561" y="445064"/>
                  <a:pt x="1314450" y="712470"/>
                </a:cubicBezTo>
                <a:cubicBezTo>
                  <a:pt x="1306339" y="979877"/>
                  <a:pt x="1330754" y="1218156"/>
                  <a:pt x="1314450" y="1381130"/>
                </a:cubicBezTo>
                <a:cubicBezTo>
                  <a:pt x="1314101" y="1430401"/>
                  <a:pt x="1269195" y="1480005"/>
                  <a:pt x="1219205" y="1476375"/>
                </a:cubicBezTo>
                <a:cubicBezTo>
                  <a:pt x="1025268" y="1464596"/>
                  <a:pt x="938239" y="1467613"/>
                  <a:pt x="679704" y="1476375"/>
                </a:cubicBezTo>
                <a:cubicBezTo>
                  <a:pt x="421169" y="1485137"/>
                  <a:pt x="316164" y="1503677"/>
                  <a:pt x="95245" y="1476375"/>
                </a:cubicBezTo>
                <a:cubicBezTo>
                  <a:pt x="46875" y="1482674"/>
                  <a:pt x="765" y="1441654"/>
                  <a:pt x="0" y="1381130"/>
                </a:cubicBezTo>
                <a:cubicBezTo>
                  <a:pt x="11638" y="1126982"/>
                  <a:pt x="15690" y="943851"/>
                  <a:pt x="0" y="776764"/>
                </a:cubicBezTo>
                <a:cubicBezTo>
                  <a:pt x="-15690" y="609677"/>
                  <a:pt x="-18168" y="306193"/>
                  <a:pt x="0" y="95245"/>
                </a:cubicBezTo>
                <a:close/>
              </a:path>
            </a:pathLst>
          </a:custGeom>
          <a:solidFill>
            <a:srgbClr val="FFFFFF"/>
          </a:solidFill>
          <a:ln w="13335">
            <a:solidFill>
              <a:srgbClr val="999999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501" name="图片 35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065" y="1263015"/>
            <a:ext cx="929005" cy="929005"/>
          </a:xfrm>
          <a:prstGeom prst="rect">
            <a:avLst/>
          </a:prstGeom>
        </p:spPr>
      </p:pic>
      <p:sp>
        <p:nvSpPr>
          <p:cNvPr id="397" name="module-1D CNN&#10;encoder"/>
          <p:cNvSpPr>
            <a:spLocks noGrp="1"/>
          </p:cNvSpPr>
          <p:nvPr/>
        </p:nvSpPr>
        <p:spPr>
          <a:xfrm>
            <a:off x="1887855" y="7553960"/>
            <a:ext cx="1057275" cy="1200150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14288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98" name="module-title-1D CNN&#10;encoder"/>
          <p:cNvSpPr>
            <a:spLocks noGrp="1"/>
          </p:cNvSpPr>
          <p:nvPr/>
        </p:nvSpPr>
        <p:spPr>
          <a:xfrm>
            <a:off x="1945005" y="7553960"/>
            <a:ext cx="942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1D CNN</a:t>
            </a:r>
            <a:endParaRPr sz="1425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encoder</a:t>
            </a:r>
            <a:endParaRPr sz="1425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402" name="anchor"/>
          <p:cNvSpPr>
            <a:spLocks noGrp="1"/>
          </p:cNvSpPr>
          <p:nvPr/>
        </p:nvSpPr>
        <p:spPr>
          <a:xfrm>
            <a:off x="2354580" y="82873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03" name="anchor"/>
          <p:cNvSpPr>
            <a:spLocks noGrp="1"/>
          </p:cNvSpPr>
          <p:nvPr/>
        </p:nvSpPr>
        <p:spPr>
          <a:xfrm>
            <a:off x="2497455" y="81730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05" name="anchor"/>
          <p:cNvSpPr>
            <a:spLocks noGrp="1"/>
          </p:cNvSpPr>
          <p:nvPr/>
        </p:nvSpPr>
        <p:spPr>
          <a:xfrm>
            <a:off x="2554605" y="831596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06" name="anchor"/>
          <p:cNvSpPr>
            <a:spLocks noGrp="1"/>
          </p:cNvSpPr>
          <p:nvPr/>
        </p:nvSpPr>
        <p:spPr>
          <a:xfrm>
            <a:off x="2716530" y="820166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45" name="module-Classifier"/>
          <p:cNvSpPr>
            <a:spLocks noGrp="1"/>
          </p:cNvSpPr>
          <p:nvPr/>
        </p:nvSpPr>
        <p:spPr>
          <a:xfrm>
            <a:off x="6745605" y="7553960"/>
            <a:ext cx="1019175" cy="120015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4288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46" name="module-title-Classifier"/>
          <p:cNvSpPr>
            <a:spLocks noGrp="1"/>
          </p:cNvSpPr>
          <p:nvPr/>
        </p:nvSpPr>
        <p:spPr>
          <a:xfrm>
            <a:off x="6802755" y="7553960"/>
            <a:ext cx="904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Classifier</a:t>
            </a:r>
            <a:endParaRPr sz="1425" b="1" i="0" u="none" cap="none">
              <a:ln>
                <a:noFill/>
              </a:ln>
              <a:solidFill>
                <a:srgbClr val="11111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47" name="bar-0"/>
          <p:cNvSpPr>
            <a:spLocks noGrp="1"/>
          </p:cNvSpPr>
          <p:nvPr/>
        </p:nvSpPr>
        <p:spPr>
          <a:xfrm>
            <a:off x="6873875" y="8317230"/>
            <a:ext cx="85725" cy="193040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48" name="bar-1"/>
          <p:cNvSpPr>
            <a:spLocks noGrp="1"/>
          </p:cNvSpPr>
          <p:nvPr/>
        </p:nvSpPr>
        <p:spPr>
          <a:xfrm>
            <a:off x="7073900" y="8168005"/>
            <a:ext cx="85725" cy="342265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49" name="bar-2"/>
          <p:cNvSpPr>
            <a:spLocks noGrp="1"/>
          </p:cNvSpPr>
          <p:nvPr/>
        </p:nvSpPr>
        <p:spPr>
          <a:xfrm>
            <a:off x="7273925" y="7985760"/>
            <a:ext cx="85725" cy="525145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50" name="bar-3"/>
          <p:cNvSpPr>
            <a:spLocks noGrp="1"/>
          </p:cNvSpPr>
          <p:nvPr/>
        </p:nvSpPr>
        <p:spPr>
          <a:xfrm>
            <a:off x="7473950" y="8168005"/>
            <a:ext cx="85725" cy="342265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51" name="anchor"/>
          <p:cNvSpPr>
            <a:spLocks noGrp="1"/>
          </p:cNvSpPr>
          <p:nvPr/>
        </p:nvSpPr>
        <p:spPr>
          <a:xfrm>
            <a:off x="2945130" y="80968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15" name="直接箭头连接符 1103"/>
          <p:cNvCxnSpPr>
            <a:stCxn id="451" idx="6"/>
            <a:endCxn id="452" idx="2"/>
          </p:cNvCxnSpPr>
          <p:nvPr/>
        </p:nvCxnSpPr>
        <p:spPr>
          <a:xfrm>
            <a:off x="2964180" y="8106410"/>
            <a:ext cx="20955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516" name="直接箭头连接符 1106"/>
          <p:cNvCxnSpPr>
            <a:stCxn id="454" idx="6"/>
            <a:endCxn id="455" idx="2"/>
          </p:cNvCxnSpPr>
          <p:nvPr/>
        </p:nvCxnSpPr>
        <p:spPr>
          <a:xfrm>
            <a:off x="4926330" y="8106410"/>
            <a:ext cx="200025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458" name="anchor"/>
          <p:cNvSpPr>
            <a:spLocks noGrp="1"/>
          </p:cNvSpPr>
          <p:nvPr/>
        </p:nvSpPr>
        <p:spPr>
          <a:xfrm>
            <a:off x="6736080" y="80968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18" name="直接箭头连接符 1109"/>
          <p:cNvCxnSpPr>
            <a:stCxn id="457" idx="6"/>
            <a:endCxn id="458" idx="2"/>
          </p:cNvCxnSpPr>
          <p:nvPr/>
        </p:nvCxnSpPr>
        <p:spPr>
          <a:xfrm>
            <a:off x="6536055" y="8106410"/>
            <a:ext cx="200025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617" name="anchor"/>
          <p:cNvSpPr>
            <a:spLocks noGrp="1"/>
          </p:cNvSpPr>
          <p:nvPr/>
        </p:nvSpPr>
        <p:spPr>
          <a:xfrm>
            <a:off x="1659255" y="807783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46" name="anchor"/>
          <p:cNvSpPr>
            <a:spLocks noGrp="1"/>
          </p:cNvSpPr>
          <p:nvPr/>
        </p:nvSpPr>
        <p:spPr>
          <a:xfrm>
            <a:off x="7755255" y="808736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47" name="anchor"/>
          <p:cNvSpPr>
            <a:spLocks noGrp="1"/>
          </p:cNvSpPr>
          <p:nvPr/>
        </p:nvSpPr>
        <p:spPr>
          <a:xfrm>
            <a:off x="8107680" y="808736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49" name="anchor"/>
          <p:cNvSpPr>
            <a:spLocks noGrp="1"/>
          </p:cNvSpPr>
          <p:nvPr/>
        </p:nvSpPr>
        <p:spPr>
          <a:xfrm>
            <a:off x="7755255" y="857313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23" name="直接箭头连接符 1301"/>
          <p:cNvCxnSpPr>
            <a:stCxn id="649" idx="6"/>
            <a:endCxn id="650" idx="2"/>
          </p:cNvCxnSpPr>
          <p:nvPr/>
        </p:nvCxnSpPr>
        <p:spPr>
          <a:xfrm>
            <a:off x="7774305" y="8582660"/>
            <a:ext cx="51435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41" name="立方体 240"/>
          <p:cNvSpPr>
            <a:spLocks noGrp="1"/>
          </p:cNvSpPr>
          <p:nvPr/>
        </p:nvSpPr>
        <p:spPr>
          <a:xfrm>
            <a:off x="2030095" y="8178800"/>
            <a:ext cx="381000" cy="506730"/>
          </a:xfrm>
          <a:prstGeom prst="cube">
            <a:avLst>
              <a:gd name="adj" fmla="val 60185"/>
            </a:avLst>
          </a:prstGeom>
          <a:solidFill>
            <a:srgbClr val="A4D197"/>
          </a:solidFill>
          <a:ln>
            <a:solidFill>
              <a:srgbClr val="55A8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4" name="立方体 243"/>
          <p:cNvSpPr>
            <a:spLocks noGrp="1"/>
          </p:cNvSpPr>
          <p:nvPr/>
        </p:nvSpPr>
        <p:spPr>
          <a:xfrm>
            <a:off x="2487295" y="8296910"/>
            <a:ext cx="303530" cy="358140"/>
          </a:xfrm>
          <a:prstGeom prst="cube">
            <a:avLst>
              <a:gd name="adj" fmla="val 47419"/>
            </a:avLst>
          </a:prstGeom>
          <a:solidFill>
            <a:srgbClr val="A4D197"/>
          </a:solidFill>
          <a:ln>
            <a:solidFill>
              <a:srgbClr val="55A8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08" name="module-BPCSCfC"/>
          <p:cNvSpPr>
            <a:spLocks noGrp="1"/>
          </p:cNvSpPr>
          <p:nvPr/>
        </p:nvSpPr>
        <p:spPr>
          <a:xfrm>
            <a:off x="3183255" y="7877810"/>
            <a:ext cx="1724025" cy="440055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4288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09" name="module-title-BPCSCfC"/>
          <p:cNvSpPr>
            <a:spLocks noGrp="1"/>
          </p:cNvSpPr>
          <p:nvPr/>
        </p:nvSpPr>
        <p:spPr>
          <a:xfrm>
            <a:off x="3564890" y="7983855"/>
            <a:ext cx="96139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BPCSCfC</a:t>
            </a:r>
            <a:endParaRPr sz="1425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419" name="anchor"/>
          <p:cNvSpPr>
            <a:spLocks noGrp="1"/>
          </p:cNvSpPr>
          <p:nvPr/>
        </p:nvSpPr>
        <p:spPr>
          <a:xfrm>
            <a:off x="3507105" y="810641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0" name="anchor"/>
          <p:cNvSpPr>
            <a:spLocks noGrp="1"/>
          </p:cNvSpPr>
          <p:nvPr/>
        </p:nvSpPr>
        <p:spPr>
          <a:xfrm>
            <a:off x="3869055" y="84016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2" name="anchor"/>
          <p:cNvSpPr>
            <a:spLocks noGrp="1"/>
          </p:cNvSpPr>
          <p:nvPr/>
        </p:nvSpPr>
        <p:spPr>
          <a:xfrm>
            <a:off x="3869055" y="810641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3" name="anchor"/>
          <p:cNvSpPr>
            <a:spLocks noGrp="1"/>
          </p:cNvSpPr>
          <p:nvPr/>
        </p:nvSpPr>
        <p:spPr>
          <a:xfrm>
            <a:off x="3507105" y="84016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5" name="anchor"/>
          <p:cNvSpPr>
            <a:spLocks noGrp="1"/>
          </p:cNvSpPr>
          <p:nvPr/>
        </p:nvSpPr>
        <p:spPr>
          <a:xfrm>
            <a:off x="3869055" y="810641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6" name="anchor"/>
          <p:cNvSpPr>
            <a:spLocks noGrp="1"/>
          </p:cNvSpPr>
          <p:nvPr/>
        </p:nvSpPr>
        <p:spPr>
          <a:xfrm>
            <a:off x="4221480" y="84016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8" name="anchor"/>
          <p:cNvSpPr>
            <a:spLocks noGrp="1"/>
          </p:cNvSpPr>
          <p:nvPr/>
        </p:nvSpPr>
        <p:spPr>
          <a:xfrm>
            <a:off x="4221480" y="810641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9" name="anchor"/>
          <p:cNvSpPr>
            <a:spLocks noGrp="1"/>
          </p:cNvSpPr>
          <p:nvPr/>
        </p:nvSpPr>
        <p:spPr>
          <a:xfrm>
            <a:off x="3869055" y="84016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1" name="anchor"/>
          <p:cNvSpPr>
            <a:spLocks noGrp="1"/>
          </p:cNvSpPr>
          <p:nvPr/>
        </p:nvSpPr>
        <p:spPr>
          <a:xfrm>
            <a:off x="4221480" y="810641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2" name="anchor"/>
          <p:cNvSpPr>
            <a:spLocks noGrp="1"/>
          </p:cNvSpPr>
          <p:nvPr/>
        </p:nvSpPr>
        <p:spPr>
          <a:xfrm>
            <a:off x="4735830" y="84016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4" name="anchor"/>
          <p:cNvSpPr>
            <a:spLocks noGrp="1"/>
          </p:cNvSpPr>
          <p:nvPr/>
        </p:nvSpPr>
        <p:spPr>
          <a:xfrm>
            <a:off x="4735830" y="810641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5" name="anchor"/>
          <p:cNvSpPr>
            <a:spLocks noGrp="1"/>
          </p:cNvSpPr>
          <p:nvPr/>
        </p:nvSpPr>
        <p:spPr>
          <a:xfrm>
            <a:off x="4221480" y="84016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52" name="anchor"/>
          <p:cNvSpPr>
            <a:spLocks noGrp="1"/>
          </p:cNvSpPr>
          <p:nvPr/>
        </p:nvSpPr>
        <p:spPr>
          <a:xfrm>
            <a:off x="3173730" y="80968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54" name="anchor"/>
          <p:cNvSpPr>
            <a:spLocks noGrp="1"/>
          </p:cNvSpPr>
          <p:nvPr/>
        </p:nvSpPr>
        <p:spPr>
          <a:xfrm>
            <a:off x="4907280" y="80968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8" name="module-DRASP"/>
          <p:cNvSpPr>
            <a:spLocks noGrp="1"/>
          </p:cNvSpPr>
          <p:nvPr/>
        </p:nvSpPr>
        <p:spPr>
          <a:xfrm>
            <a:off x="5145405" y="7867650"/>
            <a:ext cx="1381125" cy="46736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4288">
            <a:solidFill>
              <a:srgbClr val="55A83C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9" name="module-title-DRASP"/>
          <p:cNvSpPr>
            <a:spLocks noGrp="1"/>
          </p:cNvSpPr>
          <p:nvPr/>
        </p:nvSpPr>
        <p:spPr>
          <a:xfrm>
            <a:off x="5193030" y="7983855"/>
            <a:ext cx="12668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DRASP</a:t>
            </a:r>
            <a:endParaRPr sz="1425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455" name="anchor"/>
          <p:cNvSpPr>
            <a:spLocks noGrp="1"/>
          </p:cNvSpPr>
          <p:nvPr/>
        </p:nvSpPr>
        <p:spPr>
          <a:xfrm>
            <a:off x="5126355" y="80968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57" name="anchor"/>
          <p:cNvSpPr>
            <a:spLocks noGrp="1"/>
          </p:cNvSpPr>
          <p:nvPr/>
        </p:nvSpPr>
        <p:spPr>
          <a:xfrm>
            <a:off x="6517005" y="809688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546" name="图片 7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13490" y="8422640"/>
            <a:ext cx="474345" cy="474345"/>
          </a:xfrm>
          <a:prstGeom prst="rect">
            <a:avLst/>
          </a:prstGeom>
        </p:spPr>
      </p:pic>
      <p:pic>
        <p:nvPicPr>
          <p:cNvPr id="1547" name="图片 8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1480" y="9350721"/>
            <a:ext cx="299085" cy="298800"/>
          </a:xfrm>
          <a:prstGeom prst="rect">
            <a:avLst/>
          </a:prstGeom>
        </p:spPr>
      </p:pic>
      <p:sp>
        <p:nvSpPr>
          <p:cNvPr id="85" name="leg1"/>
          <p:cNvSpPr>
            <a:spLocks noGrp="1"/>
          </p:cNvSpPr>
          <p:nvPr/>
        </p:nvSpPr>
        <p:spPr>
          <a:xfrm>
            <a:off x="866140" y="9367850"/>
            <a:ext cx="850265" cy="20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0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T</a:t>
            </a:r>
            <a:r>
              <a:rPr sz="975" b="0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rainable</a:t>
            </a:r>
            <a:endParaRPr sz="975" b="0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25" name="xlab"/>
          <p:cNvSpPr>
            <a:spLocks noGrp="1"/>
          </p:cNvSpPr>
          <p:nvPr/>
        </p:nvSpPr>
        <p:spPr>
          <a:xfrm>
            <a:off x="8401050" y="7706360"/>
            <a:ext cx="238125" cy="146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900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1</a:t>
            </a:r>
            <a:endParaRPr sz="900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cxnSp>
        <p:nvCxnSpPr>
          <p:cNvPr id="1550" name="直接箭头连接符 20"/>
          <p:cNvCxnSpPr/>
          <p:nvPr/>
        </p:nvCxnSpPr>
        <p:spPr>
          <a:xfrm>
            <a:off x="1514475" y="1360805"/>
            <a:ext cx="522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51" name="连接符: 肘形 46"/>
          <p:cNvCxnSpPr/>
          <p:nvPr/>
        </p:nvCxnSpPr>
        <p:spPr>
          <a:xfrm rot="5400000" flipV="1">
            <a:off x="7512368" y="1937703"/>
            <a:ext cx="259080" cy="0"/>
          </a:xfrm>
          <a:prstGeom prst="bentConnector3">
            <a:avLst>
              <a:gd name="adj1" fmla="val 50245"/>
            </a:avLst>
          </a:prstGeom>
          <a:ln w="25400">
            <a:solidFill>
              <a:srgbClr val="7A35CC"/>
            </a:solidFill>
            <a:prstDash val="solid"/>
            <a:tailEnd type="triangle" w="med" len="med"/>
          </a:ln>
        </p:spPr>
      </p:cxnSp>
      <p:sp>
        <p:nvSpPr>
          <p:cNvPr id="60" name="直接连接符 59"/>
          <p:cNvSpPr>
            <a:spLocks noGrp="1"/>
          </p:cNvSpPr>
          <p:nvPr/>
        </p:nvSpPr>
        <p:spPr>
          <a:xfrm>
            <a:off x="3499372" y="1181100"/>
            <a:ext cx="0" cy="752475"/>
          </a:xfrm>
          <a:prstGeom prst="line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矩形: 圆角 14"/>
          <p:cNvSpPr>
            <a:spLocks noGrp="1"/>
          </p:cNvSpPr>
          <p:nvPr/>
        </p:nvSpPr>
        <p:spPr>
          <a:xfrm>
            <a:off x="6839585" y="2061210"/>
            <a:ext cx="1478280" cy="27051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>
                <a:ln>
                  <a:noFill/>
                </a:ln>
                <a:solidFill>
                  <a:srgbClr val="FFFFF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Broadcast</a:t>
            </a:r>
            <a:endParaRPr sz="1800" b="1" i="0" u="none" cap="none">
              <a:ln>
                <a:noFill/>
              </a:ln>
              <a:solidFill>
                <a:srgbClr val="FFFFF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81" name="leg2"/>
          <p:cNvSpPr>
            <a:spLocks noGrp="1"/>
          </p:cNvSpPr>
          <p:nvPr/>
        </p:nvSpPr>
        <p:spPr>
          <a:xfrm>
            <a:off x="4926330" y="9439910"/>
            <a:ext cx="167703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MemKD</a:t>
            </a: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 </a:t>
            </a: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Smooth L1 Loss</a:t>
            </a:r>
            <a:endParaRPr sz="975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cxnSp>
        <p:nvCxnSpPr>
          <p:cNvPr id="1555" name="直接箭头连接符 81"/>
          <p:cNvCxnSpPr/>
          <p:nvPr/>
        </p:nvCxnSpPr>
        <p:spPr>
          <a:xfrm>
            <a:off x="4427855" y="9544685"/>
            <a:ext cx="438150" cy="0"/>
          </a:xfrm>
          <a:prstGeom prst="straightConnector1">
            <a:avLst/>
          </a:prstGeom>
          <a:ln w="18098">
            <a:solidFill>
              <a:srgbClr val="FF6A00"/>
            </a:solidFill>
            <a:prstDash val="dash"/>
            <a:headEnd type="triangle"/>
            <a:tailEnd type="triangle" w="med" len="med"/>
          </a:ln>
        </p:spPr>
      </p:cxnSp>
      <p:sp>
        <p:nvSpPr>
          <p:cNvPr id="89" name="直接连接符 88"/>
          <p:cNvSpPr>
            <a:spLocks noGrp="1"/>
          </p:cNvSpPr>
          <p:nvPr/>
        </p:nvSpPr>
        <p:spPr>
          <a:xfrm flipV="1">
            <a:off x="3064397" y="7255510"/>
            <a:ext cx="0" cy="752475"/>
          </a:xfrm>
          <a:prstGeom prst="line">
            <a:avLst/>
          </a:prstGeom>
          <a:ln w="2540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tr-top"/>
          <p:cNvSpPr>
            <a:spLocks noGrp="1"/>
          </p:cNvSpPr>
          <p:nvPr/>
        </p:nvSpPr>
        <p:spPr>
          <a:xfrm>
            <a:off x="4259580" y="1038225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5" name="tr-top"/>
          <p:cNvSpPr>
            <a:spLocks noGrp="1"/>
          </p:cNvSpPr>
          <p:nvPr/>
        </p:nvSpPr>
        <p:spPr>
          <a:xfrm>
            <a:off x="4610100" y="1038225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6" name="tr-top"/>
          <p:cNvSpPr>
            <a:spLocks noGrp="1"/>
          </p:cNvSpPr>
          <p:nvPr/>
        </p:nvSpPr>
        <p:spPr>
          <a:xfrm>
            <a:off x="5124450" y="1038225"/>
            <a:ext cx="142875" cy="466090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60" name="肘形连接符 136"/>
          <p:cNvCxnSpPr/>
          <p:nvPr/>
        </p:nvCxnSpPr>
        <p:spPr>
          <a:xfrm flipV="1">
            <a:off x="6632575" y="7402830"/>
            <a:ext cx="1720215" cy="589280"/>
          </a:xfrm>
          <a:prstGeom prst="bentConnector3">
            <a:avLst>
              <a:gd name="adj1" fmla="val -3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61" name="直接连接符 142"/>
          <p:cNvCxnSpPr>
            <a:stCxn id="6" idx="8"/>
          </p:cNvCxnSpPr>
          <p:nvPr/>
        </p:nvCxnSpPr>
        <p:spPr>
          <a:xfrm flipH="1">
            <a:off x="844550" y="2465705"/>
            <a:ext cx="1270" cy="579691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62" name="直接箭头连接符 143"/>
          <p:cNvCxnSpPr/>
          <p:nvPr/>
        </p:nvCxnSpPr>
        <p:spPr>
          <a:xfrm flipV="1">
            <a:off x="838200" y="8245475"/>
            <a:ext cx="60198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4" name="xlab"/>
          <p:cNvSpPr>
            <a:spLocks noGrp="1"/>
          </p:cNvSpPr>
          <p:nvPr/>
        </p:nvSpPr>
        <p:spPr>
          <a:xfrm>
            <a:off x="8668385" y="7706360"/>
            <a:ext cx="238125" cy="146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900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2</a:t>
            </a:r>
            <a:endParaRPr sz="900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01" name="xlab"/>
          <p:cNvSpPr>
            <a:spLocks noGrp="1"/>
          </p:cNvSpPr>
          <p:nvPr/>
        </p:nvSpPr>
        <p:spPr>
          <a:xfrm>
            <a:off x="8858250" y="7706360"/>
            <a:ext cx="238125" cy="146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900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3</a:t>
            </a:r>
            <a:endParaRPr sz="900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02" name="xlab"/>
          <p:cNvSpPr>
            <a:spLocks noGrp="1"/>
          </p:cNvSpPr>
          <p:nvPr/>
        </p:nvSpPr>
        <p:spPr>
          <a:xfrm>
            <a:off x="9733280" y="7706360"/>
            <a:ext cx="238125" cy="146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900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T</a:t>
            </a:r>
            <a:endParaRPr sz="900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41" name="xlab"/>
          <p:cNvSpPr>
            <a:spLocks noGrp="1"/>
          </p:cNvSpPr>
          <p:nvPr/>
        </p:nvSpPr>
        <p:spPr>
          <a:xfrm>
            <a:off x="9328150" y="7706360"/>
            <a:ext cx="405130" cy="146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900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T-1</a:t>
            </a:r>
            <a:endParaRPr sz="900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36" name="class-Cargo ship"/>
          <p:cNvSpPr>
            <a:spLocks noGrp="1"/>
          </p:cNvSpPr>
          <p:nvPr/>
        </p:nvSpPr>
        <p:spPr>
          <a:xfrm>
            <a:off x="8793480" y="810895"/>
            <a:ext cx="1205865" cy="284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>
                <a:solidFill>
                  <a:srgbClr val="111111"/>
                </a:solidFill>
              </a:defRPr>
            </a:pPr>
            <a:r>
              <a:rPr sz="1050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Predicted Class</a:t>
            </a:r>
            <a:endParaRPr sz="1050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pic>
        <p:nvPicPr>
          <p:cNvPr id="1568" name="图片 4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35745" y="237490"/>
            <a:ext cx="521970" cy="521970"/>
          </a:xfrm>
          <a:prstGeom prst="rect">
            <a:avLst/>
          </a:prstGeom>
        </p:spPr>
      </p:pic>
      <p:sp>
        <p:nvSpPr>
          <p:cNvPr id="620" name="anchor"/>
          <p:cNvSpPr>
            <a:spLocks noGrp="1"/>
          </p:cNvSpPr>
          <p:nvPr/>
        </p:nvSpPr>
        <p:spPr>
          <a:xfrm>
            <a:off x="3790950" y="2924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34" name="anchor"/>
          <p:cNvSpPr>
            <a:spLocks noGrp="1"/>
          </p:cNvSpPr>
          <p:nvPr/>
        </p:nvSpPr>
        <p:spPr>
          <a:xfrm>
            <a:off x="3646805" y="314198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31" name="MemKD panel"/>
          <p:cNvSpPr>
            <a:spLocks noGrp="1"/>
          </p:cNvSpPr>
          <p:nvPr/>
        </p:nvSpPr>
        <p:spPr>
          <a:xfrm>
            <a:off x="1446530" y="2969260"/>
            <a:ext cx="5560060" cy="2627630"/>
          </a:xfrm>
          <a:custGeom>
            <a:avLst/>
            <a:gdLst>
              <a:gd name="csX0" fmla="*/ 0 w 4647565"/>
              <a:gd name="csY0" fmla="*/ 142580 h 3625215"/>
              <a:gd name="csX1" fmla="*/ 142580 w 4647565"/>
              <a:gd name="csY1" fmla="*/ 0 h 3625215"/>
              <a:gd name="csX2" fmla="*/ 765781 w 4647565"/>
              <a:gd name="csY2" fmla="*/ 0 h 3625215"/>
              <a:gd name="csX3" fmla="*/ 1301733 w 4647565"/>
              <a:gd name="csY3" fmla="*/ 0 h 3625215"/>
              <a:gd name="csX4" fmla="*/ 1794062 w 4647565"/>
              <a:gd name="csY4" fmla="*/ 0 h 3625215"/>
              <a:gd name="csX5" fmla="*/ 2330015 w 4647565"/>
              <a:gd name="csY5" fmla="*/ 0 h 3625215"/>
              <a:gd name="csX6" fmla="*/ 2996839 w 4647565"/>
              <a:gd name="csY6" fmla="*/ 0 h 3625215"/>
              <a:gd name="csX7" fmla="*/ 3532792 w 4647565"/>
              <a:gd name="csY7" fmla="*/ 0 h 3625215"/>
              <a:gd name="csX8" fmla="*/ 4504985 w 4647565"/>
              <a:gd name="csY8" fmla="*/ 0 h 3625215"/>
              <a:gd name="csX9" fmla="*/ 4647565 w 4647565"/>
              <a:gd name="csY9" fmla="*/ 142580 h 3625215"/>
              <a:gd name="csX10" fmla="*/ 4647565 w 4647565"/>
              <a:gd name="csY10" fmla="*/ 843992 h 3625215"/>
              <a:gd name="csX11" fmla="*/ 4647565 w 4647565"/>
              <a:gd name="csY11" fmla="*/ 1445201 h 3625215"/>
              <a:gd name="csX12" fmla="*/ 4647565 w 4647565"/>
              <a:gd name="csY12" fmla="*/ 2180014 h 3625215"/>
              <a:gd name="csX13" fmla="*/ 4647565 w 4647565"/>
              <a:gd name="csY13" fmla="*/ 2848025 h 3625215"/>
              <a:gd name="csX14" fmla="*/ 4647565 w 4647565"/>
              <a:gd name="csY14" fmla="*/ 3482635 h 3625215"/>
              <a:gd name="csX15" fmla="*/ 4504985 w 4647565"/>
              <a:gd name="csY15" fmla="*/ 3625215 h 3625215"/>
              <a:gd name="csX16" fmla="*/ 3794536 w 4647565"/>
              <a:gd name="csY16" fmla="*/ 3625215 h 3625215"/>
              <a:gd name="csX17" fmla="*/ 3258584 w 4647565"/>
              <a:gd name="csY17" fmla="*/ 3625215 h 3625215"/>
              <a:gd name="csX18" fmla="*/ 2635383 w 4647565"/>
              <a:gd name="csY18" fmla="*/ 3625215 h 3625215"/>
              <a:gd name="csX19" fmla="*/ 2143054 w 4647565"/>
              <a:gd name="csY19" fmla="*/ 3625215 h 3625215"/>
              <a:gd name="csX20" fmla="*/ 1432605 w 4647565"/>
              <a:gd name="csY20" fmla="*/ 3625215 h 3625215"/>
              <a:gd name="csX21" fmla="*/ 809405 w 4647565"/>
              <a:gd name="csY21" fmla="*/ 3625215 h 3625215"/>
              <a:gd name="csX22" fmla="*/ 142580 w 4647565"/>
              <a:gd name="csY22" fmla="*/ 3625215 h 3625215"/>
              <a:gd name="csX23" fmla="*/ 0 w 4647565"/>
              <a:gd name="csY23" fmla="*/ 3482635 h 3625215"/>
              <a:gd name="csX24" fmla="*/ 0 w 4647565"/>
              <a:gd name="csY24" fmla="*/ 2781223 h 3625215"/>
              <a:gd name="csX25" fmla="*/ 0 w 4647565"/>
              <a:gd name="csY25" fmla="*/ 2079812 h 3625215"/>
              <a:gd name="csX26" fmla="*/ 0 w 4647565"/>
              <a:gd name="csY26" fmla="*/ 1345000 h 3625215"/>
              <a:gd name="csX27" fmla="*/ 0 w 4647565"/>
              <a:gd name="csY27" fmla="*/ 142580 h 3625215"/>
            </a:gdLst>
            <a:ahLst/>
            <a:cxnLst/>
            <a:rect l="l" t="t" r="r" b="b"/>
            <a:pathLst>
              <a:path w="4647565" h="3625215">
                <a:moveTo>
                  <a:pt x="0" y="142580"/>
                </a:moveTo>
                <a:cubicBezTo>
                  <a:pt x="-5257" y="80223"/>
                  <a:pt x="61287" y="-8024"/>
                  <a:pt x="142580" y="0"/>
                </a:cubicBezTo>
                <a:cubicBezTo>
                  <a:pt x="317576" y="-24160"/>
                  <a:pt x="455241" y="9832"/>
                  <a:pt x="765781" y="0"/>
                </a:cubicBezTo>
                <a:cubicBezTo>
                  <a:pt x="1076321" y="-9832"/>
                  <a:pt x="1056203" y="23477"/>
                  <a:pt x="1301733" y="0"/>
                </a:cubicBezTo>
                <a:cubicBezTo>
                  <a:pt x="1547263" y="-23477"/>
                  <a:pt x="1681055" y="11749"/>
                  <a:pt x="1794062" y="0"/>
                </a:cubicBezTo>
                <a:cubicBezTo>
                  <a:pt x="1907069" y="-11749"/>
                  <a:pt x="2192405" y="-3709"/>
                  <a:pt x="2330015" y="0"/>
                </a:cubicBezTo>
                <a:cubicBezTo>
                  <a:pt x="2467625" y="3709"/>
                  <a:pt x="2744632" y="-10756"/>
                  <a:pt x="2996839" y="0"/>
                </a:cubicBezTo>
                <a:cubicBezTo>
                  <a:pt x="3249046" y="10756"/>
                  <a:pt x="3299716" y="21484"/>
                  <a:pt x="3532792" y="0"/>
                </a:cubicBezTo>
                <a:cubicBezTo>
                  <a:pt x="3765868" y="-21484"/>
                  <a:pt x="4122929" y="-48271"/>
                  <a:pt x="4504985" y="0"/>
                </a:cubicBezTo>
                <a:cubicBezTo>
                  <a:pt x="4592244" y="1688"/>
                  <a:pt x="4638160" y="69908"/>
                  <a:pt x="4647565" y="142580"/>
                </a:cubicBezTo>
                <a:cubicBezTo>
                  <a:pt x="4622689" y="437056"/>
                  <a:pt x="4635386" y="633268"/>
                  <a:pt x="4647565" y="843992"/>
                </a:cubicBezTo>
                <a:cubicBezTo>
                  <a:pt x="4659744" y="1054716"/>
                  <a:pt x="4662974" y="1297996"/>
                  <a:pt x="4647565" y="1445201"/>
                </a:cubicBezTo>
                <a:cubicBezTo>
                  <a:pt x="4632156" y="1592406"/>
                  <a:pt x="4658873" y="1905697"/>
                  <a:pt x="4647565" y="2180014"/>
                </a:cubicBezTo>
                <a:cubicBezTo>
                  <a:pt x="4636257" y="2454331"/>
                  <a:pt x="4616297" y="2693922"/>
                  <a:pt x="4647565" y="2848025"/>
                </a:cubicBezTo>
                <a:cubicBezTo>
                  <a:pt x="4678833" y="3002128"/>
                  <a:pt x="4617446" y="3205598"/>
                  <a:pt x="4647565" y="3482635"/>
                </a:cubicBezTo>
                <a:cubicBezTo>
                  <a:pt x="4645675" y="3559217"/>
                  <a:pt x="4586370" y="3622359"/>
                  <a:pt x="4504985" y="3625215"/>
                </a:cubicBezTo>
                <a:cubicBezTo>
                  <a:pt x="4262132" y="3637215"/>
                  <a:pt x="4012087" y="3639438"/>
                  <a:pt x="3794536" y="3625215"/>
                </a:cubicBezTo>
                <a:cubicBezTo>
                  <a:pt x="3576985" y="3610992"/>
                  <a:pt x="3487447" y="3647010"/>
                  <a:pt x="3258584" y="3625215"/>
                </a:cubicBezTo>
                <a:cubicBezTo>
                  <a:pt x="3029721" y="3603420"/>
                  <a:pt x="2851247" y="3650274"/>
                  <a:pt x="2635383" y="3625215"/>
                </a:cubicBezTo>
                <a:cubicBezTo>
                  <a:pt x="2419519" y="3600156"/>
                  <a:pt x="2357106" y="3609583"/>
                  <a:pt x="2143054" y="3625215"/>
                </a:cubicBezTo>
                <a:cubicBezTo>
                  <a:pt x="1929002" y="3640847"/>
                  <a:pt x="1663387" y="3590237"/>
                  <a:pt x="1432605" y="3625215"/>
                </a:cubicBezTo>
                <a:cubicBezTo>
                  <a:pt x="1201823" y="3660193"/>
                  <a:pt x="998673" y="3655125"/>
                  <a:pt x="809405" y="3625215"/>
                </a:cubicBezTo>
                <a:cubicBezTo>
                  <a:pt x="620137" y="3595305"/>
                  <a:pt x="452101" y="3593742"/>
                  <a:pt x="142580" y="3625215"/>
                </a:cubicBezTo>
                <a:cubicBezTo>
                  <a:pt x="65223" y="3628177"/>
                  <a:pt x="-4351" y="3579176"/>
                  <a:pt x="0" y="3482635"/>
                </a:cubicBezTo>
                <a:cubicBezTo>
                  <a:pt x="-16064" y="3241780"/>
                  <a:pt x="-2964" y="3099007"/>
                  <a:pt x="0" y="2781223"/>
                </a:cubicBezTo>
                <a:cubicBezTo>
                  <a:pt x="2964" y="2463439"/>
                  <a:pt x="20522" y="2302843"/>
                  <a:pt x="0" y="2079812"/>
                </a:cubicBezTo>
                <a:cubicBezTo>
                  <a:pt x="-20522" y="1856781"/>
                  <a:pt x="-26404" y="1508486"/>
                  <a:pt x="0" y="1345000"/>
                </a:cubicBezTo>
                <a:cubicBezTo>
                  <a:pt x="26404" y="1181514"/>
                  <a:pt x="8754" y="393849"/>
                  <a:pt x="0" y="142580"/>
                </a:cubicBezTo>
                <a:close/>
              </a:path>
              <a:path w="4647565" h="3625215">
                <a:moveTo>
                  <a:pt x="0" y="142580"/>
                </a:moveTo>
                <a:cubicBezTo>
                  <a:pt x="-13113" y="55747"/>
                  <a:pt x="55745" y="3036"/>
                  <a:pt x="142580" y="0"/>
                </a:cubicBezTo>
                <a:cubicBezTo>
                  <a:pt x="408546" y="-28904"/>
                  <a:pt x="670720" y="27566"/>
                  <a:pt x="853029" y="0"/>
                </a:cubicBezTo>
                <a:cubicBezTo>
                  <a:pt x="1035338" y="-27566"/>
                  <a:pt x="1217293" y="-16743"/>
                  <a:pt x="1432605" y="0"/>
                </a:cubicBezTo>
                <a:cubicBezTo>
                  <a:pt x="1647917" y="16743"/>
                  <a:pt x="1778459" y="-16940"/>
                  <a:pt x="1968558" y="0"/>
                </a:cubicBezTo>
                <a:cubicBezTo>
                  <a:pt x="2158657" y="16940"/>
                  <a:pt x="2476484" y="-6587"/>
                  <a:pt x="2635383" y="0"/>
                </a:cubicBezTo>
                <a:cubicBezTo>
                  <a:pt x="2794282" y="6587"/>
                  <a:pt x="2962141" y="30"/>
                  <a:pt x="3214960" y="0"/>
                </a:cubicBezTo>
                <a:cubicBezTo>
                  <a:pt x="3467779" y="-30"/>
                  <a:pt x="3584344" y="28552"/>
                  <a:pt x="3925408" y="0"/>
                </a:cubicBezTo>
                <a:cubicBezTo>
                  <a:pt x="4266472" y="-28552"/>
                  <a:pt x="4284370" y="-17307"/>
                  <a:pt x="4504985" y="0"/>
                </a:cubicBezTo>
                <a:cubicBezTo>
                  <a:pt x="4573550" y="16841"/>
                  <a:pt x="4645664" y="61630"/>
                  <a:pt x="4647565" y="142580"/>
                </a:cubicBezTo>
                <a:cubicBezTo>
                  <a:pt x="4618822" y="307277"/>
                  <a:pt x="4655287" y="453566"/>
                  <a:pt x="4647565" y="743790"/>
                </a:cubicBezTo>
                <a:cubicBezTo>
                  <a:pt x="4639844" y="1034014"/>
                  <a:pt x="4636366" y="1221858"/>
                  <a:pt x="4647565" y="1411801"/>
                </a:cubicBezTo>
                <a:cubicBezTo>
                  <a:pt x="4658764" y="1601744"/>
                  <a:pt x="4623292" y="1892812"/>
                  <a:pt x="4647565" y="2046411"/>
                </a:cubicBezTo>
                <a:cubicBezTo>
                  <a:pt x="4671839" y="2200010"/>
                  <a:pt x="4628319" y="2490449"/>
                  <a:pt x="4647565" y="2781223"/>
                </a:cubicBezTo>
                <a:cubicBezTo>
                  <a:pt x="4666811" y="3071997"/>
                  <a:pt x="4615533" y="3205424"/>
                  <a:pt x="4647565" y="3482635"/>
                </a:cubicBezTo>
                <a:cubicBezTo>
                  <a:pt x="4639210" y="3562752"/>
                  <a:pt x="4577625" y="3621003"/>
                  <a:pt x="4504985" y="3625215"/>
                </a:cubicBezTo>
                <a:cubicBezTo>
                  <a:pt x="4261112" y="3649805"/>
                  <a:pt x="4090112" y="3627809"/>
                  <a:pt x="3838160" y="3625215"/>
                </a:cubicBezTo>
                <a:cubicBezTo>
                  <a:pt x="3586208" y="3622621"/>
                  <a:pt x="3359208" y="3600245"/>
                  <a:pt x="3214960" y="3625215"/>
                </a:cubicBezTo>
                <a:cubicBezTo>
                  <a:pt x="3070712" y="3650185"/>
                  <a:pt x="2894418" y="3631674"/>
                  <a:pt x="2722631" y="3625215"/>
                </a:cubicBezTo>
                <a:cubicBezTo>
                  <a:pt x="2550844" y="3618756"/>
                  <a:pt x="2413683" y="3621630"/>
                  <a:pt x="2186678" y="3625215"/>
                </a:cubicBezTo>
                <a:cubicBezTo>
                  <a:pt x="1959673" y="3628800"/>
                  <a:pt x="1829772" y="3659232"/>
                  <a:pt x="1476230" y="3625215"/>
                </a:cubicBezTo>
                <a:cubicBezTo>
                  <a:pt x="1122688" y="3591198"/>
                  <a:pt x="1156995" y="3631413"/>
                  <a:pt x="853029" y="3625215"/>
                </a:cubicBezTo>
                <a:cubicBezTo>
                  <a:pt x="549063" y="3619017"/>
                  <a:pt x="453221" y="3590757"/>
                  <a:pt x="142580" y="3625215"/>
                </a:cubicBezTo>
                <a:cubicBezTo>
                  <a:pt x="63448" y="3614790"/>
                  <a:pt x="15644" y="3564642"/>
                  <a:pt x="0" y="3482635"/>
                </a:cubicBezTo>
                <a:cubicBezTo>
                  <a:pt x="-27644" y="3280499"/>
                  <a:pt x="20976" y="3105757"/>
                  <a:pt x="0" y="2814624"/>
                </a:cubicBezTo>
                <a:cubicBezTo>
                  <a:pt x="-20976" y="2523491"/>
                  <a:pt x="-24689" y="2292220"/>
                  <a:pt x="0" y="2146613"/>
                </a:cubicBezTo>
                <a:cubicBezTo>
                  <a:pt x="24689" y="2001006"/>
                  <a:pt x="5991" y="1790952"/>
                  <a:pt x="0" y="1545403"/>
                </a:cubicBezTo>
                <a:cubicBezTo>
                  <a:pt x="-5991" y="1299854"/>
                  <a:pt x="-35067" y="1150075"/>
                  <a:pt x="0" y="843992"/>
                </a:cubicBezTo>
                <a:cubicBezTo>
                  <a:pt x="35067" y="537909"/>
                  <a:pt x="7690" y="426275"/>
                  <a:pt x="0" y="142580"/>
                </a:cubicBezTo>
                <a:close/>
              </a:path>
            </a:pathLst>
          </a:custGeom>
          <a:solidFill>
            <a:srgbClr val="FFFDF9"/>
          </a:solidFill>
          <a:ln w="13335">
            <a:solidFill>
              <a:srgbClr val="FF6A00"/>
            </a:solidFill>
            <a:prstDash val="dash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32" name="MemKD title"/>
          <p:cNvSpPr>
            <a:spLocks noGrp="1"/>
          </p:cNvSpPr>
          <p:nvPr/>
        </p:nvSpPr>
        <p:spPr>
          <a:xfrm>
            <a:off x="3742690" y="5220335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FF6A00"/>
                </a:solidFill>
              </a:defRPr>
            </a:pPr>
            <a:r>
              <a:rPr sz="1800" b="1" i="0" u="none" cap="none">
                <a:ln>
                  <a:noFill/>
                </a:ln>
                <a:solidFill>
                  <a:srgbClr val="FF6A0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MemKD</a:t>
            </a:r>
            <a:endParaRPr sz="1800" b="1" i="0" u="none" cap="none">
              <a:ln>
                <a:noFill/>
              </a:ln>
              <a:solidFill>
                <a:srgbClr val="FF6A0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文本框 117"/>
              <p:cNvSpPr>
                <a:spLocks noGrp="1"/>
              </p:cNvSpPr>
              <p:nvPr/>
            </p:nvSpPr>
            <p:spPr>
              <a:xfrm>
                <a:off x="4788535" y="4056380"/>
                <a:ext cx="424180" cy="42037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0" marR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b="1" i="1">
                              <a:solidFill>
                                <a:srgbClr val="000000"/>
                              </a:solidFill>
                              <a:latin typeface="DejaVu Math TeX Gyre" panose="02000503000000000000"/>
                              <a:ea typeface="DejaVu Math TeX Gyre" panose="02000503000000000000"/>
                              <a:cs typeface="DejaVu Math TeX Gyre" panose="02000503000000000000"/>
                            </a:rPr>
                            <m:t>𝑳</m:t>
                          </m:r>
                        </m:e>
                        <m:sub>
                          <m:r>
                            <a:rPr lang="en-US" sz="1800" b="1" i="1">
                              <a:solidFill>
                                <a:srgbClr val="000000"/>
                              </a:solidFill>
                              <a:latin typeface="DejaVu Math TeX Gyre" panose="02000503000000000000"/>
                              <a:ea typeface="DejaVu Math TeX Gyre" panose="02000503000000000000"/>
                              <a:cs typeface="DejaVu Math TeX Gyre" panose="0200050300000000000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8" name="文本框 1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535" y="4056380"/>
                <a:ext cx="424180" cy="42037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矩形: 圆角 121"/>
              <p:cNvSpPr>
                <a:spLocks noGrp="1"/>
              </p:cNvSpPr>
              <p:nvPr/>
            </p:nvSpPr>
            <p:spPr>
              <a:xfrm>
                <a:off x="2880360" y="3233420"/>
                <a:ext cx="1845945" cy="512445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FFFF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ℒ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FFFFFF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𝑀</m:t>
                          </m:r>
                        </m:sub>
                      </m:sSub>
                      <m:r>
                        <a:rPr lang="en-US" sz="1600" b="1" i="1">
                          <a:solidFill>
                            <a:srgbClr val="FFFFFF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FFFF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𝜆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FFFFFF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𝑠</m:t>
                          </m:r>
                        </m:sub>
                      </m:sSub>
                      <m:r>
                        <a:rPr lang="en-US" sz="1600" b="1" i="1">
                          <a:solidFill>
                            <a:srgbClr val="FFFFFF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 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FFFF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ℒ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FFFFFF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𝑠</m:t>
                          </m:r>
                        </m:sub>
                      </m:sSub>
                      <m:r>
                        <a:rPr lang="en-US" sz="1600" b="1" i="1">
                          <a:solidFill>
                            <a:srgbClr val="FFFFFF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+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FFFF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𝜆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FFFFFF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𝑙</m:t>
                          </m:r>
                        </m:sub>
                      </m:sSub>
                      <m:r>
                        <a:rPr lang="en-US" sz="1600" b="1" i="1">
                          <a:solidFill>
                            <a:srgbClr val="FFFFFF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 </m:t>
                      </m:r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FFFFFF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ℒ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FFFFFF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2" name="矩形: 圆角 1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360" y="3233420"/>
                <a:ext cx="1845945" cy="512445"/>
              </a:xfrm>
              <a:prstGeom prst="roundRect">
                <a:avLst/>
              </a:prstGeom>
              <a:blipFill rotWithShape="1">
                <a:blip r:embed="rId16"/>
                <a:stretch>
                  <a:fillRect l="-516" t="-1859" r="-516" b="-1859"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75" name="直接箭头连接符 134"/>
          <p:cNvCxnSpPr/>
          <p:nvPr/>
        </p:nvCxnSpPr>
        <p:spPr>
          <a:xfrm rot="16200000">
            <a:off x="2944495" y="4132580"/>
            <a:ext cx="0" cy="179705"/>
          </a:xfrm>
          <a:prstGeom prst="straightConnector1">
            <a:avLst/>
          </a:prstGeom>
          <a:ln w="10541">
            <a:solidFill>
              <a:srgbClr val="FF6A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文本框 138"/>
          <p:cNvSpPr>
            <a:spLocks noGrp="1"/>
          </p:cNvSpPr>
          <p:nvPr/>
        </p:nvSpPr>
        <p:spPr>
          <a:xfrm>
            <a:off x="5114290" y="2895600"/>
            <a:ext cx="751205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1">
                <a:solidFill>
                  <a:srgbClr val="FF6A0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z steps</a:t>
            </a:r>
            <a:endParaRPr sz="1200" b="1">
              <a:solidFill>
                <a:srgbClr val="FF6A0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pic>
        <p:nvPicPr>
          <p:cNvPr id="1577" name="图片 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91945" y="5197475"/>
            <a:ext cx="215900" cy="215900"/>
          </a:xfrm>
          <a:prstGeom prst="rect">
            <a:avLst/>
          </a:prstGeom>
        </p:spPr>
      </p:pic>
      <p:sp>
        <p:nvSpPr>
          <p:cNvPr id="41" name="文本框 40"/>
          <p:cNvSpPr>
            <a:spLocks noGrp="1"/>
          </p:cNvSpPr>
          <p:nvPr/>
        </p:nvSpPr>
        <p:spPr>
          <a:xfrm>
            <a:off x="1773555" y="5190490"/>
            <a:ext cx="119126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1">
                <a:solidFill>
                  <a:srgbClr val="FF6A0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sample z</a:t>
            </a:r>
            <a:endParaRPr sz="1200" b="1">
              <a:solidFill>
                <a:srgbClr val="FF6A0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  <a:p>
            <a:pPr algn="l">
              <a:buNone/>
            </a:pPr>
            <a:r>
              <a:rPr sz="800" b="1" i="1">
                <a:ln>
                  <a:noFill/>
                </a:ln>
                <a:solidFill>
                  <a:srgbClr val="FF6A0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z ~ U(2, floor(T/2))</a:t>
            </a:r>
            <a:endParaRPr sz="800" b="1" i="1">
              <a:ln>
                <a:noFill/>
              </a:ln>
              <a:solidFill>
                <a:srgbClr val="FF6A0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318" name="anchor"/>
          <p:cNvSpPr>
            <a:spLocks noGrp="1"/>
          </p:cNvSpPr>
          <p:nvPr/>
        </p:nvSpPr>
        <p:spPr>
          <a:xfrm>
            <a:off x="4702175" y="339217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6" name="anchor"/>
          <p:cNvSpPr>
            <a:spLocks noGrp="1"/>
          </p:cNvSpPr>
          <p:nvPr/>
        </p:nvSpPr>
        <p:spPr>
          <a:xfrm>
            <a:off x="4777105" y="386143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7" name="anchor"/>
          <p:cNvSpPr>
            <a:spLocks noGrp="1"/>
          </p:cNvSpPr>
          <p:nvPr/>
        </p:nvSpPr>
        <p:spPr>
          <a:xfrm>
            <a:off x="5162550" y="381317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82" name="直接箭头连接符 978"/>
          <p:cNvCxnSpPr>
            <a:stCxn id="326" idx="6"/>
            <a:endCxn id="327" idx="2"/>
          </p:cNvCxnSpPr>
          <p:nvPr/>
        </p:nvCxnSpPr>
        <p:spPr>
          <a:xfrm flipV="1">
            <a:off x="4801235" y="3825240"/>
            <a:ext cx="361315" cy="48260"/>
          </a:xfrm>
          <a:prstGeom prst="straightConnector1">
            <a:avLst/>
          </a:prstGeom>
          <a:ln w="12700">
            <a:solidFill>
              <a:srgbClr val="2F73E8"/>
            </a:solidFill>
            <a:prstDash val="solid"/>
          </a:ln>
        </p:spPr>
      </p:cxnSp>
      <p:sp>
        <p:nvSpPr>
          <p:cNvPr id="332" name="anchor"/>
          <p:cNvSpPr>
            <a:spLocks noGrp="1"/>
          </p:cNvSpPr>
          <p:nvPr/>
        </p:nvSpPr>
        <p:spPr>
          <a:xfrm>
            <a:off x="5162550" y="381317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33" name="anchor"/>
          <p:cNvSpPr>
            <a:spLocks noGrp="1"/>
          </p:cNvSpPr>
          <p:nvPr/>
        </p:nvSpPr>
        <p:spPr>
          <a:xfrm>
            <a:off x="5547360" y="374142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85" name="直接箭头连接符 984"/>
          <p:cNvCxnSpPr>
            <a:stCxn id="332" idx="6"/>
            <a:endCxn id="333" idx="2"/>
          </p:cNvCxnSpPr>
          <p:nvPr/>
        </p:nvCxnSpPr>
        <p:spPr>
          <a:xfrm flipV="1">
            <a:off x="5186680" y="3753485"/>
            <a:ext cx="361315" cy="72390"/>
          </a:xfrm>
          <a:prstGeom prst="straightConnector1">
            <a:avLst/>
          </a:prstGeom>
          <a:ln w="12700">
            <a:solidFill>
              <a:srgbClr val="2F73E8"/>
            </a:solidFill>
            <a:prstDash val="solid"/>
          </a:ln>
        </p:spPr>
      </p:cxnSp>
      <p:sp>
        <p:nvSpPr>
          <p:cNvPr id="338" name="anchor"/>
          <p:cNvSpPr>
            <a:spLocks noGrp="1"/>
          </p:cNvSpPr>
          <p:nvPr/>
        </p:nvSpPr>
        <p:spPr>
          <a:xfrm>
            <a:off x="5547360" y="374142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39" name="anchor"/>
          <p:cNvSpPr>
            <a:spLocks noGrp="1"/>
          </p:cNvSpPr>
          <p:nvPr/>
        </p:nvSpPr>
        <p:spPr>
          <a:xfrm>
            <a:off x="5932805" y="374142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88" name="直接箭头连接符 990"/>
          <p:cNvCxnSpPr>
            <a:stCxn id="338" idx="6"/>
            <a:endCxn id="339" idx="2"/>
          </p:cNvCxnSpPr>
          <p:nvPr/>
        </p:nvCxnSpPr>
        <p:spPr>
          <a:xfrm>
            <a:off x="5571490" y="3753485"/>
            <a:ext cx="361315" cy="0"/>
          </a:xfrm>
          <a:prstGeom prst="straightConnector1">
            <a:avLst/>
          </a:prstGeom>
          <a:ln w="12700">
            <a:solidFill>
              <a:srgbClr val="2F73E8"/>
            </a:solidFill>
            <a:prstDash val="solid"/>
          </a:ln>
        </p:spPr>
      </p:cxnSp>
      <p:sp>
        <p:nvSpPr>
          <p:cNvPr id="344" name="anchor"/>
          <p:cNvSpPr>
            <a:spLocks noGrp="1"/>
          </p:cNvSpPr>
          <p:nvPr/>
        </p:nvSpPr>
        <p:spPr>
          <a:xfrm>
            <a:off x="5932805" y="374142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45" name="anchor"/>
          <p:cNvSpPr>
            <a:spLocks noGrp="1"/>
          </p:cNvSpPr>
          <p:nvPr/>
        </p:nvSpPr>
        <p:spPr>
          <a:xfrm>
            <a:off x="6342380" y="366903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0" name="anchor"/>
          <p:cNvSpPr>
            <a:spLocks noGrp="1"/>
          </p:cNvSpPr>
          <p:nvPr/>
        </p:nvSpPr>
        <p:spPr>
          <a:xfrm>
            <a:off x="6342380" y="366903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1" name="anchor"/>
          <p:cNvSpPr>
            <a:spLocks noGrp="1"/>
          </p:cNvSpPr>
          <p:nvPr/>
        </p:nvSpPr>
        <p:spPr>
          <a:xfrm>
            <a:off x="6727190" y="374142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93" name="直接箭头连接符 1002"/>
          <p:cNvCxnSpPr>
            <a:stCxn id="350" idx="6"/>
            <a:endCxn id="351" idx="2"/>
          </p:cNvCxnSpPr>
          <p:nvPr/>
        </p:nvCxnSpPr>
        <p:spPr>
          <a:xfrm>
            <a:off x="6366510" y="3681095"/>
            <a:ext cx="361315" cy="72390"/>
          </a:xfrm>
          <a:prstGeom prst="straightConnector1">
            <a:avLst/>
          </a:prstGeom>
          <a:ln w="12700">
            <a:solidFill>
              <a:srgbClr val="2F73E8"/>
            </a:solidFill>
            <a:prstDash val="solid"/>
          </a:ln>
        </p:spPr>
      </p:cxnSp>
      <p:sp>
        <p:nvSpPr>
          <p:cNvPr id="356" name="teacher-point"/>
          <p:cNvSpPr>
            <a:spLocks noGrp="1"/>
          </p:cNvSpPr>
          <p:nvPr/>
        </p:nvSpPr>
        <p:spPr>
          <a:xfrm>
            <a:off x="4740910" y="3825240"/>
            <a:ext cx="96520" cy="9652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8" name="anchor"/>
          <p:cNvSpPr>
            <a:spLocks noGrp="1"/>
          </p:cNvSpPr>
          <p:nvPr/>
        </p:nvSpPr>
        <p:spPr>
          <a:xfrm>
            <a:off x="4777105" y="390969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1" name="teacher-point"/>
          <p:cNvSpPr>
            <a:spLocks noGrp="1"/>
          </p:cNvSpPr>
          <p:nvPr/>
        </p:nvSpPr>
        <p:spPr>
          <a:xfrm>
            <a:off x="5126355" y="3777615"/>
            <a:ext cx="96520" cy="9652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3" name="anchor"/>
          <p:cNvSpPr>
            <a:spLocks noGrp="1"/>
          </p:cNvSpPr>
          <p:nvPr/>
        </p:nvSpPr>
        <p:spPr>
          <a:xfrm>
            <a:off x="5162550" y="386143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6" name="teacher-point"/>
          <p:cNvSpPr>
            <a:spLocks noGrp="1"/>
          </p:cNvSpPr>
          <p:nvPr/>
        </p:nvSpPr>
        <p:spPr>
          <a:xfrm>
            <a:off x="5511165" y="3705225"/>
            <a:ext cx="96520" cy="9652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8" name="anchor"/>
          <p:cNvSpPr>
            <a:spLocks noGrp="1"/>
          </p:cNvSpPr>
          <p:nvPr/>
        </p:nvSpPr>
        <p:spPr>
          <a:xfrm>
            <a:off x="5547360" y="378904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1" name="teacher-point"/>
          <p:cNvSpPr>
            <a:spLocks noGrp="1"/>
          </p:cNvSpPr>
          <p:nvPr/>
        </p:nvSpPr>
        <p:spPr>
          <a:xfrm>
            <a:off x="5896610" y="3705225"/>
            <a:ext cx="96520" cy="9652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3" name="anchor"/>
          <p:cNvSpPr>
            <a:spLocks noGrp="1"/>
          </p:cNvSpPr>
          <p:nvPr/>
        </p:nvSpPr>
        <p:spPr>
          <a:xfrm>
            <a:off x="5932805" y="378904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6" name="teacher-point"/>
          <p:cNvSpPr>
            <a:spLocks noGrp="1"/>
          </p:cNvSpPr>
          <p:nvPr/>
        </p:nvSpPr>
        <p:spPr>
          <a:xfrm>
            <a:off x="6306185" y="3632835"/>
            <a:ext cx="96520" cy="9652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8" name="anchor"/>
          <p:cNvSpPr>
            <a:spLocks noGrp="1"/>
          </p:cNvSpPr>
          <p:nvPr/>
        </p:nvSpPr>
        <p:spPr>
          <a:xfrm>
            <a:off x="6342380" y="371729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81" name="teacher-point"/>
          <p:cNvSpPr>
            <a:spLocks noGrp="1"/>
          </p:cNvSpPr>
          <p:nvPr/>
        </p:nvSpPr>
        <p:spPr>
          <a:xfrm>
            <a:off x="6691630" y="3705225"/>
            <a:ext cx="96520" cy="9652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83" name="anchor"/>
          <p:cNvSpPr>
            <a:spLocks noGrp="1"/>
          </p:cNvSpPr>
          <p:nvPr/>
        </p:nvSpPr>
        <p:spPr>
          <a:xfrm>
            <a:off x="6727190" y="378904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25" name="anchor"/>
          <p:cNvSpPr>
            <a:spLocks noGrp="1"/>
          </p:cNvSpPr>
          <p:nvPr/>
        </p:nvSpPr>
        <p:spPr>
          <a:xfrm>
            <a:off x="6835775" y="389763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607" name="直接箭头连接符 124"/>
          <p:cNvCxnSpPr>
            <a:stCxn id="371" idx="6"/>
            <a:endCxn id="376" idx="2"/>
          </p:cNvCxnSpPr>
          <p:nvPr/>
        </p:nvCxnSpPr>
        <p:spPr>
          <a:xfrm flipV="1">
            <a:off x="5993130" y="3681095"/>
            <a:ext cx="313055" cy="72390"/>
          </a:xfrm>
          <a:prstGeom prst="straightConnector1">
            <a:avLst/>
          </a:prstGeom>
          <a:ln w="12700">
            <a:solidFill>
              <a:srgbClr val="4985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08" name="曲线连接符 128"/>
          <p:cNvCxnSpPr/>
          <p:nvPr/>
        </p:nvCxnSpPr>
        <p:spPr>
          <a:xfrm rot="16200000">
            <a:off x="5475605" y="2946400"/>
            <a:ext cx="192405" cy="1565275"/>
          </a:xfrm>
          <a:prstGeom prst="curvedConnector3">
            <a:avLst>
              <a:gd name="adj1" fmla="val 256250"/>
            </a:avLst>
          </a:prstGeom>
          <a:ln w="12700">
            <a:solidFill>
              <a:srgbClr val="4985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文本框 129"/>
              <p:cNvSpPr>
                <a:spLocks noGrp="1"/>
              </p:cNvSpPr>
              <p:nvPr/>
            </p:nvSpPr>
            <p:spPr>
              <a:xfrm>
                <a:off x="5186680" y="3284220"/>
                <a:ext cx="694055" cy="433070"/>
              </a:xfrm>
              <a:prstGeom prst="rect">
                <a:avLst/>
              </a:prstGeom>
              <a:noFill/>
            </p:spPr>
            <p:txBody>
              <a:bodyPr wrap="none" anchor="t">
                <a:spAutoFit/>
              </a:bodyPr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2F73E8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∆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lang="en-US" b="1" i="1">
                              <a:solidFill>
                                <a:srgbClr val="2F73E8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𝒉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2F73E8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𝑻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2F73E8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(</m:t>
                          </m:r>
                          <m:r>
                            <a:rPr lang="en-US" b="1" i="1">
                              <a:solidFill>
                                <a:srgbClr val="2F73E8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𝒛</m:t>
                          </m:r>
                          <m:r>
                            <a:rPr lang="en-US" b="1" i="1">
                              <a:solidFill>
                                <a:srgbClr val="2F73E8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130" name="文本框 1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680" y="3284220"/>
                <a:ext cx="694055" cy="433070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右大括号 137"/>
          <p:cNvSpPr>
            <a:spLocks noGrp="1"/>
          </p:cNvSpPr>
          <p:nvPr/>
        </p:nvSpPr>
        <p:spPr>
          <a:xfrm rot="16200000">
            <a:off x="5491480" y="2456815"/>
            <a:ext cx="147955" cy="1576705"/>
          </a:xfrm>
          <a:prstGeom prst="rightBrace">
            <a:avLst/>
          </a:prstGeom>
          <a:ln>
            <a:solidFill>
              <a:srgbClr val="FF6A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</a:p>
        </p:txBody>
      </p:sp>
      <p:cxnSp>
        <p:nvCxnSpPr>
          <p:cNvPr id="1611" name="直接箭头连接符 139"/>
          <p:cNvCxnSpPr/>
          <p:nvPr/>
        </p:nvCxnSpPr>
        <p:spPr>
          <a:xfrm>
            <a:off x="5561330" y="3839845"/>
            <a:ext cx="0" cy="647700"/>
          </a:xfrm>
          <a:prstGeom prst="straightConnector1">
            <a:avLst/>
          </a:prstGeom>
          <a:ln w="10478">
            <a:solidFill>
              <a:srgbClr val="FF6A00"/>
            </a:solidFill>
            <a:prstDash val="dash"/>
            <a:headEnd type="triangle"/>
            <a:tailEnd type="triangle"/>
          </a:ln>
        </p:spPr>
      </p:cxnSp>
      <p:sp>
        <p:nvSpPr>
          <p:cNvPr id="235" name="anchor"/>
          <p:cNvSpPr>
            <a:spLocks noGrp="1"/>
          </p:cNvSpPr>
          <p:nvPr/>
        </p:nvSpPr>
        <p:spPr>
          <a:xfrm>
            <a:off x="3733165" y="527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14" name="anchor"/>
          <p:cNvSpPr>
            <a:spLocks noGrp="1"/>
          </p:cNvSpPr>
          <p:nvPr/>
        </p:nvSpPr>
        <p:spPr>
          <a:xfrm>
            <a:off x="1237615" y="41910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22" name="anchor"/>
          <p:cNvSpPr>
            <a:spLocks noGrp="1"/>
          </p:cNvSpPr>
          <p:nvPr/>
        </p:nvSpPr>
        <p:spPr>
          <a:xfrm>
            <a:off x="3723640" y="58102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39" name="anchor"/>
          <p:cNvSpPr>
            <a:spLocks noGrp="1"/>
          </p:cNvSpPr>
          <p:nvPr/>
        </p:nvSpPr>
        <p:spPr>
          <a:xfrm>
            <a:off x="1376680" y="340296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0" name="anchor"/>
          <p:cNvSpPr>
            <a:spLocks noGrp="1"/>
          </p:cNvSpPr>
          <p:nvPr/>
        </p:nvSpPr>
        <p:spPr>
          <a:xfrm>
            <a:off x="1376680" y="490791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2" name="anchor"/>
          <p:cNvSpPr>
            <a:spLocks noGrp="1"/>
          </p:cNvSpPr>
          <p:nvPr/>
        </p:nvSpPr>
        <p:spPr>
          <a:xfrm>
            <a:off x="1376680" y="490791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3" name="anchor"/>
          <p:cNvSpPr>
            <a:spLocks noGrp="1"/>
          </p:cNvSpPr>
          <p:nvPr/>
        </p:nvSpPr>
        <p:spPr>
          <a:xfrm>
            <a:off x="3230880" y="490791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0" name="anchor"/>
          <p:cNvSpPr>
            <a:spLocks noGrp="1"/>
          </p:cNvSpPr>
          <p:nvPr/>
        </p:nvSpPr>
        <p:spPr>
          <a:xfrm>
            <a:off x="1617345" y="467931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1" name="anchor"/>
          <p:cNvSpPr>
            <a:spLocks noGrp="1"/>
          </p:cNvSpPr>
          <p:nvPr/>
        </p:nvSpPr>
        <p:spPr>
          <a:xfrm>
            <a:off x="2002790" y="436626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6" name="anchor"/>
          <p:cNvSpPr>
            <a:spLocks noGrp="1"/>
          </p:cNvSpPr>
          <p:nvPr/>
        </p:nvSpPr>
        <p:spPr>
          <a:xfrm>
            <a:off x="2002790" y="436626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7" name="anchor"/>
          <p:cNvSpPr>
            <a:spLocks noGrp="1"/>
          </p:cNvSpPr>
          <p:nvPr/>
        </p:nvSpPr>
        <p:spPr>
          <a:xfrm>
            <a:off x="2387600" y="434213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2" name="anchor"/>
          <p:cNvSpPr>
            <a:spLocks noGrp="1"/>
          </p:cNvSpPr>
          <p:nvPr/>
        </p:nvSpPr>
        <p:spPr>
          <a:xfrm>
            <a:off x="2387600" y="434213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3" name="anchor"/>
          <p:cNvSpPr>
            <a:spLocks noGrp="1"/>
          </p:cNvSpPr>
          <p:nvPr/>
        </p:nvSpPr>
        <p:spPr>
          <a:xfrm>
            <a:off x="2773045" y="453517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8" name="anchor"/>
          <p:cNvSpPr>
            <a:spLocks noGrp="1"/>
          </p:cNvSpPr>
          <p:nvPr/>
        </p:nvSpPr>
        <p:spPr>
          <a:xfrm>
            <a:off x="2773045" y="453517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9" name="anchor"/>
          <p:cNvSpPr>
            <a:spLocks noGrp="1"/>
          </p:cNvSpPr>
          <p:nvPr/>
        </p:nvSpPr>
        <p:spPr>
          <a:xfrm>
            <a:off x="3182620" y="458279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4" name="anchor"/>
          <p:cNvSpPr>
            <a:spLocks noGrp="1"/>
          </p:cNvSpPr>
          <p:nvPr/>
        </p:nvSpPr>
        <p:spPr>
          <a:xfrm>
            <a:off x="3182620" y="458279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5" name="anchor"/>
          <p:cNvSpPr>
            <a:spLocks noGrp="1"/>
          </p:cNvSpPr>
          <p:nvPr/>
        </p:nvSpPr>
        <p:spPr>
          <a:xfrm>
            <a:off x="3567430" y="459486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8" name="student-point"/>
          <p:cNvSpPr>
            <a:spLocks noGrp="1"/>
          </p:cNvSpPr>
          <p:nvPr/>
        </p:nvSpPr>
        <p:spPr>
          <a:xfrm>
            <a:off x="1581150" y="4643120"/>
            <a:ext cx="96520" cy="9652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0" name="anchor"/>
          <p:cNvSpPr>
            <a:spLocks noGrp="1"/>
          </p:cNvSpPr>
          <p:nvPr/>
        </p:nvSpPr>
        <p:spPr>
          <a:xfrm>
            <a:off x="1653540" y="463105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3" name="student-point"/>
          <p:cNvSpPr>
            <a:spLocks noGrp="1"/>
          </p:cNvSpPr>
          <p:nvPr/>
        </p:nvSpPr>
        <p:spPr>
          <a:xfrm>
            <a:off x="1966595" y="4330065"/>
            <a:ext cx="96520" cy="9652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5" name="anchor"/>
          <p:cNvSpPr>
            <a:spLocks noGrp="1"/>
          </p:cNvSpPr>
          <p:nvPr/>
        </p:nvSpPr>
        <p:spPr>
          <a:xfrm>
            <a:off x="2002790" y="431800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8" name="student-point"/>
          <p:cNvSpPr>
            <a:spLocks noGrp="1"/>
          </p:cNvSpPr>
          <p:nvPr/>
        </p:nvSpPr>
        <p:spPr>
          <a:xfrm>
            <a:off x="2352040" y="4305935"/>
            <a:ext cx="96520" cy="9652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0" name="anchor"/>
          <p:cNvSpPr>
            <a:spLocks noGrp="1"/>
          </p:cNvSpPr>
          <p:nvPr/>
        </p:nvSpPr>
        <p:spPr>
          <a:xfrm>
            <a:off x="2387600" y="429387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3" name="student-point"/>
          <p:cNvSpPr>
            <a:spLocks noGrp="1"/>
          </p:cNvSpPr>
          <p:nvPr/>
        </p:nvSpPr>
        <p:spPr>
          <a:xfrm>
            <a:off x="2736850" y="4498975"/>
            <a:ext cx="96520" cy="9652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5" name="anchor"/>
          <p:cNvSpPr>
            <a:spLocks noGrp="1"/>
          </p:cNvSpPr>
          <p:nvPr/>
        </p:nvSpPr>
        <p:spPr>
          <a:xfrm>
            <a:off x="2773045" y="448691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8" name="student-point"/>
          <p:cNvSpPr>
            <a:spLocks noGrp="1"/>
          </p:cNvSpPr>
          <p:nvPr/>
        </p:nvSpPr>
        <p:spPr>
          <a:xfrm>
            <a:off x="3146425" y="4546600"/>
            <a:ext cx="96520" cy="9652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0" name="anchor"/>
          <p:cNvSpPr>
            <a:spLocks noGrp="1"/>
          </p:cNvSpPr>
          <p:nvPr/>
        </p:nvSpPr>
        <p:spPr>
          <a:xfrm>
            <a:off x="3182620" y="453517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3" name="student-point"/>
          <p:cNvSpPr>
            <a:spLocks noGrp="1"/>
          </p:cNvSpPr>
          <p:nvPr/>
        </p:nvSpPr>
        <p:spPr>
          <a:xfrm>
            <a:off x="3531235" y="4558665"/>
            <a:ext cx="96520" cy="9652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5" name="anchor"/>
          <p:cNvSpPr>
            <a:spLocks noGrp="1"/>
          </p:cNvSpPr>
          <p:nvPr/>
        </p:nvSpPr>
        <p:spPr>
          <a:xfrm>
            <a:off x="3567430" y="454660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15" name="xlab"/>
          <p:cNvSpPr>
            <a:spLocks noGrp="1"/>
          </p:cNvSpPr>
          <p:nvPr/>
        </p:nvSpPr>
        <p:spPr>
          <a:xfrm>
            <a:off x="3441700" y="5135880"/>
            <a:ext cx="300990" cy="180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T</a:t>
            </a:r>
            <a:endParaRPr sz="1200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312" name="xlab"/>
          <p:cNvSpPr>
            <a:spLocks noGrp="1"/>
          </p:cNvSpPr>
          <p:nvPr/>
        </p:nvSpPr>
        <p:spPr>
          <a:xfrm>
            <a:off x="1909445" y="4982845"/>
            <a:ext cx="300990" cy="2006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t</a:t>
            </a:r>
            <a:endParaRPr sz="1200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313" name="xlab"/>
          <p:cNvSpPr>
            <a:spLocks noGrp="1"/>
          </p:cNvSpPr>
          <p:nvPr/>
        </p:nvSpPr>
        <p:spPr>
          <a:xfrm>
            <a:off x="2193925" y="5046345"/>
            <a:ext cx="508000" cy="180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t+1</a:t>
            </a:r>
            <a:endParaRPr sz="1200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2806168" y="5223510"/>
            <a:ext cx="22466" cy="222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3012376" y="5223510"/>
            <a:ext cx="22466" cy="222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3197722" y="5223510"/>
            <a:ext cx="22466" cy="222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7" name="anchor"/>
          <p:cNvSpPr>
            <a:spLocks noGrp="1"/>
          </p:cNvSpPr>
          <p:nvPr/>
        </p:nvSpPr>
        <p:spPr>
          <a:xfrm>
            <a:off x="1617345" y="377698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8" name="anchor"/>
          <p:cNvSpPr>
            <a:spLocks noGrp="1"/>
          </p:cNvSpPr>
          <p:nvPr/>
        </p:nvSpPr>
        <p:spPr>
          <a:xfrm>
            <a:off x="2002790" y="336804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3" name="anchor"/>
          <p:cNvSpPr>
            <a:spLocks noGrp="1"/>
          </p:cNvSpPr>
          <p:nvPr/>
        </p:nvSpPr>
        <p:spPr>
          <a:xfrm>
            <a:off x="2002790" y="336804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4" name="anchor"/>
          <p:cNvSpPr>
            <a:spLocks noGrp="1"/>
          </p:cNvSpPr>
          <p:nvPr/>
        </p:nvSpPr>
        <p:spPr>
          <a:xfrm>
            <a:off x="2387600" y="358457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9" name="anchor"/>
          <p:cNvSpPr>
            <a:spLocks noGrp="1"/>
          </p:cNvSpPr>
          <p:nvPr/>
        </p:nvSpPr>
        <p:spPr>
          <a:xfrm>
            <a:off x="2387600" y="358457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0" name="anchor"/>
          <p:cNvSpPr>
            <a:spLocks noGrp="1"/>
          </p:cNvSpPr>
          <p:nvPr/>
        </p:nvSpPr>
        <p:spPr>
          <a:xfrm>
            <a:off x="2773045" y="380111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5" name="anchor"/>
          <p:cNvSpPr>
            <a:spLocks noGrp="1"/>
          </p:cNvSpPr>
          <p:nvPr/>
        </p:nvSpPr>
        <p:spPr>
          <a:xfrm>
            <a:off x="2773045" y="380111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6" name="anchor"/>
          <p:cNvSpPr>
            <a:spLocks noGrp="1"/>
          </p:cNvSpPr>
          <p:nvPr/>
        </p:nvSpPr>
        <p:spPr>
          <a:xfrm>
            <a:off x="3182620" y="392176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1" name="anchor"/>
          <p:cNvSpPr>
            <a:spLocks noGrp="1"/>
          </p:cNvSpPr>
          <p:nvPr/>
        </p:nvSpPr>
        <p:spPr>
          <a:xfrm>
            <a:off x="3182620" y="392176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2" name="anchor"/>
          <p:cNvSpPr>
            <a:spLocks noGrp="1"/>
          </p:cNvSpPr>
          <p:nvPr/>
        </p:nvSpPr>
        <p:spPr>
          <a:xfrm>
            <a:off x="3567430" y="397002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7" name="teacher-point"/>
          <p:cNvSpPr>
            <a:spLocks noGrp="1"/>
          </p:cNvSpPr>
          <p:nvPr/>
        </p:nvSpPr>
        <p:spPr>
          <a:xfrm>
            <a:off x="1581150" y="3741420"/>
            <a:ext cx="96520" cy="9652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9" name="anchor"/>
          <p:cNvSpPr>
            <a:spLocks noGrp="1"/>
          </p:cNvSpPr>
          <p:nvPr/>
        </p:nvSpPr>
        <p:spPr>
          <a:xfrm>
            <a:off x="1617345" y="382524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2" name="teacher-point"/>
          <p:cNvSpPr>
            <a:spLocks noGrp="1"/>
          </p:cNvSpPr>
          <p:nvPr/>
        </p:nvSpPr>
        <p:spPr>
          <a:xfrm>
            <a:off x="1966595" y="3331845"/>
            <a:ext cx="96520" cy="9652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4" name="anchor"/>
          <p:cNvSpPr>
            <a:spLocks noGrp="1"/>
          </p:cNvSpPr>
          <p:nvPr/>
        </p:nvSpPr>
        <p:spPr>
          <a:xfrm>
            <a:off x="2002790" y="341630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7" name="teacher-point"/>
          <p:cNvSpPr>
            <a:spLocks noGrp="1"/>
          </p:cNvSpPr>
          <p:nvPr/>
        </p:nvSpPr>
        <p:spPr>
          <a:xfrm>
            <a:off x="2352040" y="3548380"/>
            <a:ext cx="96520" cy="9652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9" name="anchor"/>
          <p:cNvSpPr>
            <a:spLocks noGrp="1"/>
          </p:cNvSpPr>
          <p:nvPr/>
        </p:nvSpPr>
        <p:spPr>
          <a:xfrm>
            <a:off x="2387600" y="363283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663" name="直接箭头连接符 941"/>
          <p:cNvCxnSpPr/>
          <p:nvPr/>
        </p:nvCxnSpPr>
        <p:spPr>
          <a:xfrm>
            <a:off x="2125345" y="3564890"/>
            <a:ext cx="0" cy="682625"/>
          </a:xfrm>
          <a:prstGeom prst="straightConnector1">
            <a:avLst/>
          </a:prstGeom>
          <a:ln w="10478">
            <a:solidFill>
              <a:srgbClr val="FF6A00"/>
            </a:solidFill>
            <a:prstDash val="dash"/>
            <a:headEnd type="triangle"/>
            <a:tailEnd type="triangle"/>
          </a:ln>
        </p:spPr>
      </p:cxnSp>
      <p:sp>
        <p:nvSpPr>
          <p:cNvPr id="292" name="teacher-point"/>
          <p:cNvSpPr>
            <a:spLocks noGrp="1"/>
          </p:cNvSpPr>
          <p:nvPr/>
        </p:nvSpPr>
        <p:spPr>
          <a:xfrm>
            <a:off x="2736850" y="3764915"/>
            <a:ext cx="96520" cy="9652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4" name="anchor"/>
          <p:cNvSpPr>
            <a:spLocks noGrp="1"/>
          </p:cNvSpPr>
          <p:nvPr/>
        </p:nvSpPr>
        <p:spPr>
          <a:xfrm>
            <a:off x="2773045" y="384937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7" name="teacher-point"/>
          <p:cNvSpPr>
            <a:spLocks noGrp="1"/>
          </p:cNvSpPr>
          <p:nvPr/>
        </p:nvSpPr>
        <p:spPr>
          <a:xfrm>
            <a:off x="3146425" y="3885565"/>
            <a:ext cx="96520" cy="9652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9" name="anchor"/>
          <p:cNvSpPr>
            <a:spLocks noGrp="1"/>
          </p:cNvSpPr>
          <p:nvPr/>
        </p:nvSpPr>
        <p:spPr>
          <a:xfrm>
            <a:off x="3182620" y="397002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2" name="teacher-point"/>
          <p:cNvSpPr>
            <a:spLocks noGrp="1"/>
          </p:cNvSpPr>
          <p:nvPr/>
        </p:nvSpPr>
        <p:spPr>
          <a:xfrm>
            <a:off x="3531235" y="3933825"/>
            <a:ext cx="96520" cy="96520"/>
          </a:xfrm>
          <a:prstGeom prst="ellipse">
            <a:avLst/>
          </a:prstGeom>
          <a:solidFill>
            <a:srgbClr val="9DBC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4" name="anchor"/>
          <p:cNvSpPr>
            <a:spLocks noGrp="1"/>
          </p:cNvSpPr>
          <p:nvPr/>
        </p:nvSpPr>
        <p:spPr>
          <a:xfrm>
            <a:off x="3567430" y="401828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670" name="直接箭头连接符 4"/>
          <p:cNvCxnSpPr>
            <a:stCxn id="277" idx="7"/>
            <a:endCxn id="282" idx="2"/>
          </p:cNvCxnSpPr>
          <p:nvPr/>
        </p:nvCxnSpPr>
        <p:spPr>
          <a:xfrm flipV="1">
            <a:off x="1663065" y="3380105"/>
            <a:ext cx="303530" cy="375285"/>
          </a:xfrm>
          <a:prstGeom prst="straightConnector1">
            <a:avLst/>
          </a:prstGeom>
          <a:ln w="12700">
            <a:solidFill>
              <a:srgbClr val="2F73E8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71" name="直接箭头连接符 16"/>
          <p:cNvCxnSpPr>
            <a:stCxn id="282" idx="6"/>
            <a:endCxn id="287" idx="1"/>
          </p:cNvCxnSpPr>
          <p:nvPr/>
        </p:nvCxnSpPr>
        <p:spPr>
          <a:xfrm>
            <a:off x="2063115" y="3380105"/>
            <a:ext cx="303530" cy="182880"/>
          </a:xfrm>
          <a:prstGeom prst="straightConnector1">
            <a:avLst/>
          </a:prstGeom>
          <a:ln w="12700">
            <a:solidFill>
              <a:srgbClr val="4985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72" name="直接箭头连接符 19"/>
          <p:cNvCxnSpPr>
            <a:stCxn id="287" idx="6"/>
            <a:endCxn id="292" idx="1"/>
          </p:cNvCxnSpPr>
          <p:nvPr/>
        </p:nvCxnSpPr>
        <p:spPr>
          <a:xfrm>
            <a:off x="2447925" y="3596640"/>
            <a:ext cx="303530" cy="182880"/>
          </a:xfrm>
          <a:prstGeom prst="straightConnector1">
            <a:avLst/>
          </a:prstGeom>
          <a:ln w="12700">
            <a:solidFill>
              <a:srgbClr val="4985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73" name="直接箭头连接符 26"/>
          <p:cNvCxnSpPr>
            <a:stCxn id="292" idx="6"/>
            <a:endCxn id="297" idx="2"/>
          </p:cNvCxnSpPr>
          <p:nvPr/>
        </p:nvCxnSpPr>
        <p:spPr>
          <a:xfrm>
            <a:off x="2833370" y="3813175"/>
            <a:ext cx="313055" cy="120650"/>
          </a:xfrm>
          <a:prstGeom prst="straightConnector1">
            <a:avLst/>
          </a:prstGeom>
          <a:ln w="12700">
            <a:solidFill>
              <a:srgbClr val="4985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74" name="直接箭头连接符 38"/>
          <p:cNvCxnSpPr>
            <a:stCxn id="297" idx="6"/>
            <a:endCxn id="302" idx="2"/>
          </p:cNvCxnSpPr>
          <p:nvPr/>
        </p:nvCxnSpPr>
        <p:spPr>
          <a:xfrm>
            <a:off x="3242310" y="3933825"/>
            <a:ext cx="288925" cy="48260"/>
          </a:xfrm>
          <a:prstGeom prst="straightConnector1">
            <a:avLst/>
          </a:prstGeom>
          <a:ln w="12700">
            <a:solidFill>
              <a:srgbClr val="4985EB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右大括号 60"/>
          <p:cNvSpPr>
            <a:spLocks noGrp="1"/>
          </p:cNvSpPr>
          <p:nvPr/>
        </p:nvSpPr>
        <p:spPr>
          <a:xfrm rot="18180000">
            <a:off x="2225040" y="3143250"/>
            <a:ext cx="96520" cy="425450"/>
          </a:xfrm>
          <a:prstGeom prst="rightBrace">
            <a:avLst/>
          </a:prstGeom>
          <a:ln>
            <a:solidFill>
              <a:srgbClr val="4985E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/>
              <p:cNvSpPr>
                <a:spLocks noGrp="1"/>
              </p:cNvSpPr>
              <p:nvPr/>
            </p:nvSpPr>
            <p:spPr>
              <a:xfrm>
                <a:off x="2093595" y="2969895"/>
                <a:ext cx="708025" cy="433070"/>
              </a:xfrm>
              <a:prstGeom prst="rect">
                <a:avLst/>
              </a:prstGeom>
              <a:noFill/>
            </p:spPr>
            <p:txBody>
              <a:bodyPr wrap="none" anchor="t">
                <a:spAutoFit/>
              </a:bodyPr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2F73E8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∆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lang="en-US" b="1" i="1">
                              <a:solidFill>
                                <a:srgbClr val="2F73E8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𝒉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2F73E8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𝑻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2F73E8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(</m:t>
                          </m:r>
                          <m:r>
                            <a:rPr lang="en-US" b="1" i="1">
                              <a:solidFill>
                                <a:srgbClr val="2F73E8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𝟏</m:t>
                          </m:r>
                          <m:r>
                            <a:rPr lang="en-US" b="1" i="1">
                              <a:solidFill>
                                <a:srgbClr val="2F73E8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62" name="文本框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595" y="2969895"/>
                <a:ext cx="708025" cy="433070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77" name="直接箭头连接符 105"/>
          <p:cNvCxnSpPr>
            <a:stCxn id="278" idx="7"/>
            <a:endCxn id="283" idx="3"/>
          </p:cNvCxnSpPr>
          <p:nvPr/>
        </p:nvCxnSpPr>
        <p:spPr>
          <a:xfrm flipV="1">
            <a:off x="1663065" y="4411980"/>
            <a:ext cx="317500" cy="245745"/>
          </a:xfrm>
          <a:prstGeom prst="straightConnector1">
            <a:avLst/>
          </a:prstGeom>
          <a:ln w="12700"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78" name="直接箭头连接符 108"/>
          <p:cNvCxnSpPr>
            <a:stCxn id="283" idx="6"/>
            <a:endCxn id="288" idx="2"/>
          </p:cNvCxnSpPr>
          <p:nvPr/>
        </p:nvCxnSpPr>
        <p:spPr>
          <a:xfrm flipV="1">
            <a:off x="2063115" y="4354195"/>
            <a:ext cx="288925" cy="24130"/>
          </a:xfrm>
          <a:prstGeom prst="straightConnector1">
            <a:avLst/>
          </a:prstGeom>
          <a:ln w="12700"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79" name="直接箭头连接符 109"/>
          <p:cNvCxnSpPr>
            <a:stCxn id="288" idx="6"/>
            <a:endCxn id="293" idx="2"/>
          </p:cNvCxnSpPr>
          <p:nvPr/>
        </p:nvCxnSpPr>
        <p:spPr>
          <a:xfrm>
            <a:off x="2447925" y="4354195"/>
            <a:ext cx="288925" cy="192405"/>
          </a:xfrm>
          <a:prstGeom prst="straightConnector1">
            <a:avLst/>
          </a:prstGeom>
          <a:ln w="12700"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80" name="直接箭头连接符 111"/>
          <p:cNvCxnSpPr>
            <a:stCxn id="293" idx="6"/>
            <a:endCxn id="298" idx="2"/>
          </p:cNvCxnSpPr>
          <p:nvPr/>
        </p:nvCxnSpPr>
        <p:spPr>
          <a:xfrm>
            <a:off x="2833370" y="4546600"/>
            <a:ext cx="313055" cy="48260"/>
          </a:xfrm>
          <a:prstGeom prst="straightConnector1">
            <a:avLst/>
          </a:prstGeom>
          <a:ln w="12700"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81" name="直接箭头连接符 115"/>
          <p:cNvCxnSpPr>
            <a:stCxn id="298" idx="6"/>
            <a:endCxn id="303" idx="2"/>
          </p:cNvCxnSpPr>
          <p:nvPr/>
        </p:nvCxnSpPr>
        <p:spPr>
          <a:xfrm>
            <a:off x="3242310" y="4594860"/>
            <a:ext cx="288925" cy="12065"/>
          </a:xfrm>
          <a:prstGeom prst="straightConnector1">
            <a:avLst/>
          </a:prstGeom>
          <a:ln w="12700"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0" name="左大括号 119"/>
          <p:cNvSpPr>
            <a:spLocks noGrp="1"/>
          </p:cNvSpPr>
          <p:nvPr/>
        </p:nvSpPr>
        <p:spPr>
          <a:xfrm rot="15900000">
            <a:off x="2162175" y="4323080"/>
            <a:ext cx="114935" cy="375285"/>
          </a:xfrm>
          <a:prstGeom prst="leftBrace">
            <a:avLst/>
          </a:prstGeom>
          <a:ln>
            <a:solidFill>
              <a:srgbClr val="18832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文本框 122"/>
              <p:cNvSpPr>
                <a:spLocks noGrp="1"/>
              </p:cNvSpPr>
              <p:nvPr/>
            </p:nvSpPr>
            <p:spPr>
              <a:xfrm>
                <a:off x="1938020" y="4498975"/>
                <a:ext cx="708025" cy="434975"/>
              </a:xfrm>
              <a:prstGeom prst="rect">
                <a:avLst/>
              </a:prstGeom>
              <a:noFill/>
            </p:spPr>
            <p:txBody>
              <a:bodyPr wrap="none" anchor="t">
                <a:spAutoFit/>
              </a:bodyPr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188326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∆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lang="en-US" b="1" i="1">
                              <a:solidFill>
                                <a:srgbClr val="188326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𝒉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188326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𝑺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188326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(</m:t>
                          </m:r>
                          <m:r>
                            <a:rPr lang="en-US" b="1" i="1">
                              <a:solidFill>
                                <a:srgbClr val="188326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𝟏</m:t>
                          </m:r>
                          <m:r>
                            <a:rPr lang="en-US" b="1" i="1">
                              <a:solidFill>
                                <a:srgbClr val="188326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123" name="文本框 1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020" y="4498975"/>
                <a:ext cx="708025" cy="434975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" name="任意形状 244"/>
          <p:cNvSpPr>
            <a:spLocks noGrp="1"/>
          </p:cNvSpPr>
          <p:nvPr/>
        </p:nvSpPr>
        <p:spPr>
          <a:xfrm>
            <a:off x="1733550" y="4903470"/>
            <a:ext cx="1875790" cy="253365"/>
          </a:xfrm>
          <a:custGeom>
            <a:avLst/>
            <a:gdLst>
              <a:gd name="connsiteX0" fmla="*/ 0 w 2954"/>
              <a:gd name="connsiteY0" fmla="*/ 392 h 399"/>
              <a:gd name="connsiteX1" fmla="*/ 960 w 2954"/>
              <a:gd name="connsiteY1" fmla="*/ 5 h 399"/>
              <a:gd name="connsiteX2" fmla="*/ 2014 w 2954"/>
              <a:gd name="connsiteY2" fmla="*/ 344 h 399"/>
              <a:gd name="connsiteX3" fmla="*/ 2954 w 2954"/>
              <a:gd name="connsiteY3" fmla="*/ 392 h 399"/>
            </a:gdLst>
            <a:ahLst/>
            <a:cxnLst/>
            <a:rect l="l" t="t" r="r" b="b"/>
            <a:pathLst>
              <a:path w="2954" h="399">
                <a:moveTo>
                  <a:pt x="0" y="392"/>
                </a:moveTo>
                <a:cubicBezTo>
                  <a:pt x="369" y="276"/>
                  <a:pt x="604" y="-43"/>
                  <a:pt x="960" y="5"/>
                </a:cubicBezTo>
                <a:cubicBezTo>
                  <a:pt x="1316" y="53"/>
                  <a:pt x="1667" y="272"/>
                  <a:pt x="2014" y="344"/>
                </a:cubicBezTo>
                <a:cubicBezTo>
                  <a:pt x="2362" y="417"/>
                  <a:pt x="2772" y="400"/>
                  <a:pt x="2954" y="392"/>
                </a:cubicBezTo>
              </a:path>
            </a:pathLst>
          </a:custGeom>
          <a:noFill/>
          <a:ln w="28575">
            <a:solidFill>
              <a:srgbClr val="FF6A00"/>
            </a:solidFill>
            <a:prstDash val="dash"/>
            <a:tailEnd type="arrow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cxnSp>
        <p:nvCxnSpPr>
          <p:cNvPr id="1685" name="直接箭头连接符 114"/>
          <p:cNvCxnSpPr/>
          <p:nvPr/>
        </p:nvCxnSpPr>
        <p:spPr>
          <a:xfrm rot="5400000" flipH="1">
            <a:off x="5388610" y="4162425"/>
            <a:ext cx="1270" cy="179705"/>
          </a:xfrm>
          <a:prstGeom prst="straightConnector1">
            <a:avLst/>
          </a:prstGeom>
          <a:ln w="10541">
            <a:solidFill>
              <a:srgbClr val="FF6A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anchor"/>
          <p:cNvSpPr>
            <a:spLocks noGrp="1"/>
          </p:cNvSpPr>
          <p:nvPr/>
        </p:nvSpPr>
        <p:spPr>
          <a:xfrm>
            <a:off x="4702175" y="505460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1" name="anchor"/>
          <p:cNvSpPr>
            <a:spLocks noGrp="1"/>
          </p:cNvSpPr>
          <p:nvPr/>
        </p:nvSpPr>
        <p:spPr>
          <a:xfrm>
            <a:off x="4702175" y="505460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2" name="anchor"/>
          <p:cNvSpPr>
            <a:spLocks noGrp="1"/>
          </p:cNvSpPr>
          <p:nvPr/>
        </p:nvSpPr>
        <p:spPr>
          <a:xfrm>
            <a:off x="6483985" y="505460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9" name="anchor"/>
          <p:cNvSpPr>
            <a:spLocks noGrp="1"/>
          </p:cNvSpPr>
          <p:nvPr/>
        </p:nvSpPr>
        <p:spPr>
          <a:xfrm>
            <a:off x="4777105" y="454850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30" name="anchor"/>
          <p:cNvSpPr>
            <a:spLocks noGrp="1"/>
          </p:cNvSpPr>
          <p:nvPr/>
        </p:nvSpPr>
        <p:spPr>
          <a:xfrm>
            <a:off x="5162550" y="460883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691" name="直接箭头连接符 981"/>
          <p:cNvCxnSpPr>
            <a:stCxn id="329" idx="6"/>
            <a:endCxn id="330" idx="2"/>
          </p:cNvCxnSpPr>
          <p:nvPr/>
        </p:nvCxnSpPr>
        <p:spPr>
          <a:xfrm>
            <a:off x="4801235" y="4560570"/>
            <a:ext cx="361315" cy="60325"/>
          </a:xfrm>
          <a:prstGeom prst="straightConnector1">
            <a:avLst/>
          </a:prstGeom>
          <a:ln w="12700">
            <a:solidFill>
              <a:srgbClr val="188326"/>
            </a:solidFill>
            <a:prstDash val="solid"/>
          </a:ln>
        </p:spPr>
      </p:cxnSp>
      <p:sp>
        <p:nvSpPr>
          <p:cNvPr id="335" name="anchor"/>
          <p:cNvSpPr>
            <a:spLocks noGrp="1"/>
          </p:cNvSpPr>
          <p:nvPr/>
        </p:nvSpPr>
        <p:spPr>
          <a:xfrm>
            <a:off x="5162550" y="460883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36" name="anchor"/>
          <p:cNvSpPr>
            <a:spLocks noGrp="1"/>
          </p:cNvSpPr>
          <p:nvPr/>
        </p:nvSpPr>
        <p:spPr>
          <a:xfrm>
            <a:off x="5547360" y="457263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694" name="直接箭头连接符 987"/>
          <p:cNvCxnSpPr>
            <a:stCxn id="335" idx="6"/>
            <a:endCxn id="336" idx="2"/>
          </p:cNvCxnSpPr>
          <p:nvPr/>
        </p:nvCxnSpPr>
        <p:spPr>
          <a:xfrm flipV="1">
            <a:off x="5186680" y="4584700"/>
            <a:ext cx="361315" cy="36195"/>
          </a:xfrm>
          <a:prstGeom prst="straightConnector1">
            <a:avLst/>
          </a:prstGeom>
          <a:ln w="12700">
            <a:solidFill>
              <a:srgbClr val="188326"/>
            </a:solidFill>
            <a:prstDash val="solid"/>
          </a:ln>
        </p:spPr>
      </p:cxnSp>
      <p:sp>
        <p:nvSpPr>
          <p:cNvPr id="341" name="anchor"/>
          <p:cNvSpPr>
            <a:spLocks noGrp="1"/>
          </p:cNvSpPr>
          <p:nvPr/>
        </p:nvSpPr>
        <p:spPr>
          <a:xfrm>
            <a:off x="5547360" y="457263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42" name="anchor"/>
          <p:cNvSpPr>
            <a:spLocks noGrp="1"/>
          </p:cNvSpPr>
          <p:nvPr/>
        </p:nvSpPr>
        <p:spPr>
          <a:xfrm>
            <a:off x="5932805" y="450088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697" name="直接箭头连接符 993"/>
          <p:cNvCxnSpPr>
            <a:stCxn id="341" idx="6"/>
            <a:endCxn id="342" idx="2"/>
          </p:cNvCxnSpPr>
          <p:nvPr/>
        </p:nvCxnSpPr>
        <p:spPr>
          <a:xfrm flipV="1">
            <a:off x="5571490" y="4512945"/>
            <a:ext cx="361315" cy="72390"/>
          </a:xfrm>
          <a:prstGeom prst="straightConnector1">
            <a:avLst/>
          </a:prstGeom>
          <a:ln w="12700">
            <a:solidFill>
              <a:srgbClr val="188326"/>
            </a:solidFill>
            <a:prstDash val="solid"/>
          </a:ln>
        </p:spPr>
      </p:cxnSp>
      <p:sp>
        <p:nvSpPr>
          <p:cNvPr id="347" name="anchor"/>
          <p:cNvSpPr>
            <a:spLocks noGrp="1"/>
          </p:cNvSpPr>
          <p:nvPr/>
        </p:nvSpPr>
        <p:spPr>
          <a:xfrm>
            <a:off x="5932805" y="450088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48" name="anchor"/>
          <p:cNvSpPr>
            <a:spLocks noGrp="1"/>
          </p:cNvSpPr>
          <p:nvPr/>
        </p:nvSpPr>
        <p:spPr>
          <a:xfrm>
            <a:off x="6342380" y="438023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3" name="anchor"/>
          <p:cNvSpPr>
            <a:spLocks noGrp="1"/>
          </p:cNvSpPr>
          <p:nvPr/>
        </p:nvSpPr>
        <p:spPr>
          <a:xfrm>
            <a:off x="6342380" y="438023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4" name="anchor"/>
          <p:cNvSpPr>
            <a:spLocks noGrp="1"/>
          </p:cNvSpPr>
          <p:nvPr/>
        </p:nvSpPr>
        <p:spPr>
          <a:xfrm>
            <a:off x="6727190" y="430784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702" name="直接箭头连接符 1005"/>
          <p:cNvCxnSpPr>
            <a:stCxn id="353" idx="6"/>
            <a:endCxn id="354" idx="2"/>
          </p:cNvCxnSpPr>
          <p:nvPr/>
        </p:nvCxnSpPr>
        <p:spPr>
          <a:xfrm flipV="1">
            <a:off x="6366510" y="4319905"/>
            <a:ext cx="361315" cy="72390"/>
          </a:xfrm>
          <a:prstGeom prst="straightConnector1">
            <a:avLst/>
          </a:prstGeom>
          <a:ln w="12700">
            <a:solidFill>
              <a:srgbClr val="188326"/>
            </a:solidFill>
            <a:prstDash val="solid"/>
          </a:ln>
        </p:spPr>
      </p:cxnSp>
      <p:sp>
        <p:nvSpPr>
          <p:cNvPr id="357" name="student-point"/>
          <p:cNvSpPr>
            <a:spLocks noGrp="1"/>
          </p:cNvSpPr>
          <p:nvPr/>
        </p:nvSpPr>
        <p:spPr>
          <a:xfrm>
            <a:off x="4740910" y="4512945"/>
            <a:ext cx="96520" cy="9652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9" name="anchor"/>
          <p:cNvSpPr>
            <a:spLocks noGrp="1"/>
          </p:cNvSpPr>
          <p:nvPr/>
        </p:nvSpPr>
        <p:spPr>
          <a:xfrm>
            <a:off x="4777105" y="450088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2" name="student-point"/>
          <p:cNvSpPr>
            <a:spLocks noGrp="1"/>
          </p:cNvSpPr>
          <p:nvPr/>
        </p:nvSpPr>
        <p:spPr>
          <a:xfrm>
            <a:off x="5126355" y="4572635"/>
            <a:ext cx="96520" cy="9652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4" name="anchor"/>
          <p:cNvSpPr>
            <a:spLocks noGrp="1"/>
          </p:cNvSpPr>
          <p:nvPr/>
        </p:nvSpPr>
        <p:spPr>
          <a:xfrm>
            <a:off x="5162550" y="456057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7" name="student-point"/>
          <p:cNvSpPr>
            <a:spLocks noGrp="1"/>
          </p:cNvSpPr>
          <p:nvPr/>
        </p:nvSpPr>
        <p:spPr>
          <a:xfrm>
            <a:off x="5511165" y="4536440"/>
            <a:ext cx="96520" cy="9652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9" name="anchor"/>
          <p:cNvSpPr>
            <a:spLocks noGrp="1"/>
          </p:cNvSpPr>
          <p:nvPr/>
        </p:nvSpPr>
        <p:spPr>
          <a:xfrm>
            <a:off x="5547360" y="4524375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2" name="student-point"/>
          <p:cNvSpPr>
            <a:spLocks noGrp="1"/>
          </p:cNvSpPr>
          <p:nvPr/>
        </p:nvSpPr>
        <p:spPr>
          <a:xfrm>
            <a:off x="5896610" y="4464685"/>
            <a:ext cx="96520" cy="9652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4" name="anchor"/>
          <p:cNvSpPr>
            <a:spLocks noGrp="1"/>
          </p:cNvSpPr>
          <p:nvPr/>
        </p:nvSpPr>
        <p:spPr>
          <a:xfrm>
            <a:off x="5932805" y="445262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7" name="student-point"/>
          <p:cNvSpPr>
            <a:spLocks noGrp="1"/>
          </p:cNvSpPr>
          <p:nvPr/>
        </p:nvSpPr>
        <p:spPr>
          <a:xfrm>
            <a:off x="6306185" y="4344035"/>
            <a:ext cx="96520" cy="9652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9" name="anchor"/>
          <p:cNvSpPr>
            <a:spLocks noGrp="1"/>
          </p:cNvSpPr>
          <p:nvPr/>
        </p:nvSpPr>
        <p:spPr>
          <a:xfrm>
            <a:off x="6342380" y="433197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82" name="student-point"/>
          <p:cNvSpPr>
            <a:spLocks noGrp="1"/>
          </p:cNvSpPr>
          <p:nvPr/>
        </p:nvSpPr>
        <p:spPr>
          <a:xfrm>
            <a:off x="6691630" y="4271645"/>
            <a:ext cx="96520" cy="96520"/>
          </a:xfrm>
          <a:prstGeom prst="ellipse">
            <a:avLst/>
          </a:prstGeom>
          <a:solidFill>
            <a:srgbClr val="61C15D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84" name="anchor"/>
          <p:cNvSpPr>
            <a:spLocks noGrp="1"/>
          </p:cNvSpPr>
          <p:nvPr/>
        </p:nvSpPr>
        <p:spPr>
          <a:xfrm>
            <a:off x="6727190" y="4259580"/>
            <a:ext cx="24130" cy="2413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" name="xlab"/>
          <p:cNvSpPr>
            <a:spLocks noGrp="1"/>
          </p:cNvSpPr>
          <p:nvPr/>
        </p:nvSpPr>
        <p:spPr>
          <a:xfrm>
            <a:off x="4952365" y="5187315"/>
            <a:ext cx="484505" cy="2006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t+1</a:t>
            </a:r>
            <a:endParaRPr sz="1200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28" name="xlab"/>
          <p:cNvSpPr>
            <a:spLocks noGrp="1"/>
          </p:cNvSpPr>
          <p:nvPr/>
        </p:nvSpPr>
        <p:spPr>
          <a:xfrm>
            <a:off x="5292090" y="5233035"/>
            <a:ext cx="532130" cy="180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t+2</a:t>
            </a:r>
            <a:endParaRPr sz="1200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5843270" y="5316855"/>
            <a:ext cx="22225" cy="222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6049645" y="5316855"/>
            <a:ext cx="22225" cy="222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" name="椭圆 34"/>
          <p:cNvSpPr>
            <a:spLocks noGrp="1"/>
          </p:cNvSpPr>
          <p:nvPr/>
        </p:nvSpPr>
        <p:spPr>
          <a:xfrm>
            <a:off x="6235065" y="5316855"/>
            <a:ext cx="22225" cy="222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4" name="xlab"/>
          <p:cNvSpPr>
            <a:spLocks noGrp="1"/>
          </p:cNvSpPr>
          <p:nvPr/>
        </p:nvSpPr>
        <p:spPr>
          <a:xfrm>
            <a:off x="6159500" y="5158740"/>
            <a:ext cx="532130" cy="180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t+z</a:t>
            </a:r>
            <a:endParaRPr sz="1200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cxnSp>
        <p:nvCxnSpPr>
          <p:cNvPr id="1721" name="直接箭头连接符 127"/>
          <p:cNvCxnSpPr/>
          <p:nvPr/>
        </p:nvCxnSpPr>
        <p:spPr>
          <a:xfrm flipV="1">
            <a:off x="5996940" y="4418965"/>
            <a:ext cx="314325" cy="80010"/>
          </a:xfrm>
          <a:prstGeom prst="straightConnector1">
            <a:avLst/>
          </a:prstGeom>
          <a:ln w="12700"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22" name="曲线连接符 130"/>
          <p:cNvCxnSpPr>
            <a:stCxn id="357" idx="4"/>
            <a:endCxn id="377" idx="4"/>
          </p:cNvCxnSpPr>
          <p:nvPr/>
        </p:nvCxnSpPr>
        <p:spPr>
          <a:xfrm rot="5400000" flipH="1" flipV="1">
            <a:off x="5487035" y="3742055"/>
            <a:ext cx="168275" cy="1565275"/>
          </a:xfrm>
          <a:prstGeom prst="curvedConnector3">
            <a:avLst>
              <a:gd name="adj1" fmla="val -178571"/>
            </a:avLst>
          </a:prstGeom>
          <a:ln>
            <a:solidFill>
              <a:srgbClr val="188326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文本框 135"/>
              <p:cNvSpPr>
                <a:spLocks noGrp="1"/>
              </p:cNvSpPr>
              <p:nvPr/>
            </p:nvSpPr>
            <p:spPr>
              <a:xfrm>
                <a:off x="6004560" y="4608830"/>
                <a:ext cx="694055" cy="434975"/>
              </a:xfrm>
              <a:prstGeom prst="rect">
                <a:avLst/>
              </a:prstGeom>
              <a:noFill/>
            </p:spPr>
            <p:txBody>
              <a:bodyPr wrap="none" anchor="t">
                <a:spAutoFit/>
              </a:bodyPr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rgbClr val="188326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∆</m:t>
                      </m:r>
                      <m:sSubSup>
                        <m:sSubSupPr>
                          <m:ctrlPr>
                            <a:rPr/>
                          </m:ctrlPr>
                        </m:sSubSupPr>
                        <m:e>
                          <m:r>
                            <a:rPr lang="en-US" b="1" i="1">
                              <a:solidFill>
                                <a:srgbClr val="188326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𝒉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188326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𝑺</m:t>
                          </m:r>
                        </m:sub>
                        <m:sup>
                          <m:r>
                            <a:rPr lang="en-US" b="1" i="1">
                              <a:solidFill>
                                <a:srgbClr val="188326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(</m:t>
                          </m:r>
                          <m:r>
                            <a:rPr lang="en-US" b="1" i="1">
                              <a:solidFill>
                                <a:srgbClr val="188326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𝒛</m:t>
                          </m:r>
                          <m:r>
                            <a:rPr lang="en-US" b="1" i="1">
                              <a:solidFill>
                                <a:srgbClr val="188326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136" name="文本框 1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560" y="4608830"/>
                <a:ext cx="694055" cy="434975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xlab"/>
          <p:cNvSpPr>
            <a:spLocks noGrp="1"/>
          </p:cNvSpPr>
          <p:nvPr/>
        </p:nvSpPr>
        <p:spPr>
          <a:xfrm>
            <a:off x="4668520" y="5015865"/>
            <a:ext cx="300990" cy="1847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t</a:t>
            </a:r>
            <a:endParaRPr sz="1200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23" name="xlab"/>
          <p:cNvSpPr>
            <a:spLocks noGrp="1"/>
          </p:cNvSpPr>
          <p:nvPr/>
        </p:nvSpPr>
        <p:spPr>
          <a:xfrm>
            <a:off x="6638290" y="5012690"/>
            <a:ext cx="300990" cy="180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T</a:t>
            </a:r>
            <a:endParaRPr sz="1200" b="1" i="0" u="none" cap="none">
              <a:ln>
                <a:noFill/>
              </a:ln>
              <a:solidFill>
                <a:srgbClr val="111111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73" name="任意形状 244"/>
          <p:cNvSpPr>
            <a:spLocks noGrp="1"/>
          </p:cNvSpPr>
          <p:nvPr/>
        </p:nvSpPr>
        <p:spPr>
          <a:xfrm>
            <a:off x="4714875" y="4923790"/>
            <a:ext cx="2176780" cy="296545"/>
          </a:xfrm>
          <a:custGeom>
            <a:avLst/>
            <a:gdLst>
              <a:gd name="connsiteX0" fmla="*/ 0 w 3428"/>
              <a:gd name="connsiteY0" fmla="*/ 22 h 466"/>
              <a:gd name="connsiteX1" fmla="*/ 851 w 3428"/>
              <a:gd name="connsiteY1" fmla="*/ 458 h 466"/>
              <a:gd name="connsiteX2" fmla="*/ 2178 w 3428"/>
              <a:gd name="connsiteY2" fmla="*/ 404 h 466"/>
              <a:gd name="connsiteX3" fmla="*/ 3428 w 3428"/>
              <a:gd name="connsiteY3" fmla="*/ 0 h 466"/>
            </a:gdLst>
            <a:ahLst/>
            <a:cxnLst/>
            <a:rect l="l" t="t" r="r" b="b"/>
            <a:pathLst>
              <a:path w="3428" h="467">
                <a:moveTo>
                  <a:pt x="0" y="22"/>
                </a:moveTo>
                <a:cubicBezTo>
                  <a:pt x="369" y="-94"/>
                  <a:pt x="495" y="410"/>
                  <a:pt x="851" y="458"/>
                </a:cubicBezTo>
                <a:cubicBezTo>
                  <a:pt x="1207" y="507"/>
                  <a:pt x="1831" y="332"/>
                  <a:pt x="2178" y="404"/>
                </a:cubicBezTo>
                <a:cubicBezTo>
                  <a:pt x="2526" y="478"/>
                  <a:pt x="3246" y="8"/>
                  <a:pt x="3428" y="0"/>
                </a:cubicBezTo>
              </a:path>
            </a:pathLst>
          </a:custGeom>
          <a:noFill/>
          <a:ln w="28575">
            <a:solidFill>
              <a:srgbClr val="FF6A00"/>
            </a:solidFill>
            <a:prstDash val="dash"/>
            <a:tailEnd type="arrow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文本框 141"/>
              <p:cNvSpPr>
                <a:spLocks noGrp="1"/>
              </p:cNvSpPr>
              <p:nvPr/>
            </p:nvSpPr>
            <p:spPr>
              <a:xfrm>
                <a:off x="3197860" y="4072890"/>
                <a:ext cx="424180" cy="368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indent="0" algn="l" defTabSz="91440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/>
                          </m:ctrlPr>
                        </m:sSubPr>
                        <m:e>
                          <m:r>
                            <a:rPr lang="en-US" sz="1800" b="1" i="1">
                              <a:solidFill>
                                <a:srgbClr val="000000"/>
                              </a:solidFill>
                              <a:latin typeface="DejaVu Math TeX Gyre" panose="02000503000000000000"/>
                              <a:ea typeface="DejaVu Math TeX Gyre" panose="02000503000000000000"/>
                              <a:cs typeface="DejaVu Math TeX Gyre" panose="02000503000000000000"/>
                            </a:rPr>
                            <m:t>𝑳</m:t>
                          </m:r>
                        </m:e>
                        <m:sub>
                          <m:r>
                            <a:rPr lang="en-US" sz="1800" b="1" i="1">
                              <a:solidFill>
                                <a:srgbClr val="000000"/>
                              </a:solidFill>
                              <a:latin typeface="DejaVu Math TeX Gyre" panose="02000503000000000000"/>
                              <a:ea typeface="DejaVu Math TeX Gyre" panose="02000503000000000000"/>
                              <a:cs typeface="DejaVu Math TeX Gyre" panose="02000503000000000000"/>
                            </a:rPr>
                            <m:t>𝒍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42" name="文本框 1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860" y="4072890"/>
                <a:ext cx="424180" cy="368300"/>
              </a:xfrm>
              <a:prstGeom prst="rect">
                <a:avLst/>
              </a:prstGeom>
              <a:blipFill rotWithShape="1">
                <a:blip r:embed="rId22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28" name="图片 145"/>
          <p:cNvPicPr>
            <a:picLocks noChangeAspect="1"/>
          </p:cNvPicPr>
          <p:nvPr/>
        </p:nvPicPr>
        <p:blipFill>
          <a:blip r:embed="rId2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14165" y="3764915"/>
            <a:ext cx="347980" cy="347980"/>
          </a:xfrm>
          <a:prstGeom prst="rect">
            <a:avLst/>
          </a:prstGeom>
        </p:spPr>
      </p:pic>
      <p:sp>
        <p:nvSpPr>
          <p:cNvPr id="147" name="文本框 146"/>
          <p:cNvSpPr>
            <a:spLocks noGrp="1"/>
          </p:cNvSpPr>
          <p:nvPr/>
        </p:nvSpPr>
        <p:spPr>
          <a:xfrm>
            <a:off x="3896360" y="4024630"/>
            <a:ext cx="78295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985EB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Teacher</a:t>
            </a:r>
            <a:endParaRPr sz="1200" b="1">
              <a:solidFill>
                <a:srgbClr val="4985EB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pic>
        <p:nvPicPr>
          <p:cNvPr id="1730" name="图片 149"/>
          <p:cNvPicPr>
            <a:picLocks noChangeAspect="1"/>
          </p:cNvPicPr>
          <p:nvPr/>
        </p:nvPicPr>
        <p:blipFill>
          <a:blip r:embed="rId2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18915" y="4328160"/>
            <a:ext cx="350520" cy="350520"/>
          </a:xfrm>
          <a:prstGeom prst="rect">
            <a:avLst/>
          </a:prstGeom>
        </p:spPr>
      </p:pic>
      <p:sp>
        <p:nvSpPr>
          <p:cNvPr id="151" name="文本框 150"/>
          <p:cNvSpPr>
            <a:spLocks noGrp="1"/>
          </p:cNvSpPr>
          <p:nvPr/>
        </p:nvSpPr>
        <p:spPr>
          <a:xfrm>
            <a:off x="3904615" y="4653915"/>
            <a:ext cx="76581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68B34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Student</a:t>
            </a:r>
            <a:endParaRPr sz="1200" b="1">
              <a:solidFill>
                <a:srgbClr val="268B34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312" name="TS-T node panel"/>
          <p:cNvSpPr>
            <a:spLocks noGrp="1"/>
          </p:cNvSpPr>
          <p:nvPr/>
        </p:nvSpPr>
        <p:spPr>
          <a:xfrm>
            <a:off x="9334500" y="2781300"/>
            <a:ext cx="3810000" cy="3714750"/>
          </a:xfrm>
          <a:prstGeom prst="roundRect">
            <a:avLst>
              <a:gd name="adj" fmla="val 1795"/>
            </a:avLst>
          </a:prstGeom>
          <a:noFill/>
          <a:ln w="15240">
            <a:solidFill>
              <a:srgbClr val="8C2A85"/>
            </a:solidFill>
            <a:prstDash val="dash"/>
          </a:ln>
        </p:spPr>
      </p:sp>
      <p:sp>
        <p:nvSpPr>
          <p:cNvPr id="1313" name="TS-T fusion frame"/>
          <p:cNvSpPr>
            <a:spLocks noGrp="1"/>
          </p:cNvSpPr>
          <p:nvPr/>
        </p:nvSpPr>
        <p:spPr>
          <a:xfrm>
            <a:off x="9486900" y="2933700"/>
            <a:ext cx="3505200" cy="514350"/>
          </a:xfrm>
          <a:prstGeom prst="roundRect">
            <a:avLst>
              <a:gd name="adj" fmla="val 12963"/>
            </a:avLst>
          </a:prstGeom>
          <a:solidFill>
            <a:srgbClr val="F5DFF5"/>
          </a:solidFill>
          <a:ln w="11430">
            <a:solidFill>
              <a:srgbClr val="8C2A85"/>
            </a:solidFill>
            <a:prstDash val="solid"/>
          </a:ln>
        </p:spPr>
      </p:sp>
      <p:sp>
        <p:nvSpPr>
          <p:cNvPr id="1314" name="Fused TS-T loss variable"/>
          <p:cNvSpPr>
            <a:spLocks noGrp="1"/>
          </p:cNvSpPr>
          <p:nvPr/>
        </p:nvSpPr>
        <p:spPr>
          <a:xfrm>
            <a:off x="9563100" y="3019425"/>
            <a:ext cx="781050" cy="342900"/>
          </a:xfrm>
          <a:prstGeom prst="roundRect">
            <a:avLst>
              <a:gd name="adj" fmla="val 19444"/>
            </a:avLst>
          </a:prstGeom>
          <a:solidFill>
            <a:srgbClr val="76206F"/>
          </a:solidFill>
          <a:ln w="11430">
            <a:solidFill>
              <a:srgbClr val="76206F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350" b="1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L_TS–T</a:t>
            </a:r>
            <a:endParaRPr sz="1350" b="1">
              <a:solidFill>
                <a:srgbClr val="FFFFFF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15" name="Fusion equals"/>
          <p:cNvSpPr>
            <a:spLocks noGrp="1"/>
          </p:cNvSpPr>
          <p:nvPr/>
        </p:nvSpPr>
        <p:spPr>
          <a:xfrm>
            <a:off x="10363200" y="3028950"/>
            <a:ext cx="19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9525" rIns="9525" bIns="9525" anchor="ctr">
            <a:normAutofit/>
          </a:bodyPr>
          <a:lstStyle/>
          <a:p>
            <a:pPr algn="ctr">
              <a:defRPr sz="1575" b="1">
                <a:solidFill>
                  <a:srgbClr val="76206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defRPr>
            </a:pPr>
            <a:r>
              <a:rPr sz="1575" b="1">
                <a:solidFill>
                  <a:srgbClr val="76206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=</a:t>
            </a:r>
            <a:endParaRPr sz="1575" b="1">
              <a:solidFill>
                <a:srgbClr val="76206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316" name="Fusion beta"/>
          <p:cNvSpPr>
            <a:spLocks noGrp="1"/>
          </p:cNvSpPr>
          <p:nvPr/>
        </p:nvSpPr>
        <p:spPr>
          <a:xfrm>
            <a:off x="10553700" y="302895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9525" rIns="9525" bIns="9525" anchor="ctr">
            <a:normAutofit/>
          </a:bodyPr>
          <a:lstStyle/>
          <a:p>
            <a:pPr algn="ctr">
              <a:defRPr sz="1500" b="1">
                <a:solidFill>
                  <a:srgbClr val="76206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500" b="1">
                <a:solidFill>
                  <a:srgbClr val="76206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β</a:t>
            </a:r>
            <a:endParaRPr sz="1500" b="1">
              <a:solidFill>
                <a:srgbClr val="76206F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17" name="Sequential loss variable top"/>
          <p:cNvSpPr>
            <a:spLocks noGrp="1"/>
          </p:cNvSpPr>
          <p:nvPr/>
        </p:nvSpPr>
        <p:spPr>
          <a:xfrm>
            <a:off x="10801350" y="3019425"/>
            <a:ext cx="628650" cy="342900"/>
          </a:xfrm>
          <a:prstGeom prst="roundRect">
            <a:avLst>
              <a:gd name="adj" fmla="val 19444"/>
            </a:avLst>
          </a:prstGeom>
          <a:solidFill>
            <a:srgbClr val="76206F"/>
          </a:solidFill>
          <a:ln w="11430">
            <a:solidFill>
              <a:srgbClr val="76206F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275" b="1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L_seq</a:t>
            </a:r>
            <a:endParaRPr sz="1275" b="1">
              <a:solidFill>
                <a:srgbClr val="FFFFFF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18" name="Fusion plus"/>
          <p:cNvSpPr>
            <a:spLocks noGrp="1"/>
          </p:cNvSpPr>
          <p:nvPr/>
        </p:nvSpPr>
        <p:spPr>
          <a:xfrm>
            <a:off x="11449050" y="3028950"/>
            <a:ext cx="19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9525" rIns="9525" bIns="9525" anchor="ctr">
            <a:normAutofit/>
          </a:bodyPr>
          <a:lstStyle/>
          <a:p>
            <a:pPr algn="ctr">
              <a:defRPr sz="1575" b="1">
                <a:solidFill>
                  <a:srgbClr val="76206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defRPr>
            </a:pPr>
            <a:r>
              <a:rPr sz="1575" b="1">
                <a:solidFill>
                  <a:srgbClr val="76206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+</a:t>
            </a:r>
            <a:endParaRPr sz="1575" b="1">
              <a:solidFill>
                <a:srgbClr val="76206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319" name="Fusion complement"/>
          <p:cNvSpPr>
            <a:spLocks noGrp="1"/>
          </p:cNvSpPr>
          <p:nvPr/>
        </p:nvSpPr>
        <p:spPr>
          <a:xfrm>
            <a:off x="11639550" y="3028950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9525" rIns="9525" bIns="9525" anchor="ctr">
            <a:normAutofit/>
          </a:bodyPr>
          <a:lstStyle/>
          <a:p>
            <a:pPr algn="ctr">
              <a:defRPr sz="1350" b="1">
                <a:solidFill>
                  <a:srgbClr val="76206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350" b="1">
                <a:solidFill>
                  <a:srgbClr val="76206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1−β</a:t>
            </a:r>
            <a:endParaRPr sz="1350" b="1">
              <a:solidFill>
                <a:srgbClr val="76206F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20" name="Final loss variable top"/>
          <p:cNvSpPr>
            <a:spLocks noGrp="1"/>
          </p:cNvSpPr>
          <p:nvPr/>
        </p:nvSpPr>
        <p:spPr>
          <a:xfrm>
            <a:off x="12134850" y="3019425"/>
            <a:ext cx="742950" cy="342900"/>
          </a:xfrm>
          <a:prstGeom prst="roundRect">
            <a:avLst>
              <a:gd name="adj" fmla="val 19444"/>
            </a:avLst>
          </a:prstGeom>
          <a:solidFill>
            <a:srgbClr val="76206F"/>
          </a:solidFill>
          <a:ln w="11430">
            <a:solidFill>
              <a:srgbClr val="76206F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275" b="1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L_final</a:t>
            </a:r>
            <a:endParaRPr sz="1275" b="1">
              <a:solidFill>
                <a:srgbClr val="FFFFFF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21" name="Z-score operation"/>
          <p:cNvSpPr>
            <a:spLocks noGrp="1"/>
          </p:cNvSpPr>
          <p:nvPr/>
        </p:nvSpPr>
        <p:spPr>
          <a:xfrm>
            <a:off x="9544050" y="3524250"/>
            <a:ext cx="704850" cy="32385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1430">
            <a:solidFill>
              <a:srgbClr val="8C2A85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75" b="1">
                <a:solidFill>
                  <a:srgbClr val="76206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275" b="1">
                <a:solidFill>
                  <a:srgbClr val="76206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Z-score</a:t>
            </a:r>
            <a:endParaRPr sz="1275" b="1">
              <a:solidFill>
                <a:srgbClr val="76206F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22" name="Z-score arrow 1"/>
          <p:cNvSpPr>
            <a:spLocks noGrp="1"/>
          </p:cNvSpPr>
          <p:nvPr/>
        </p:nvSpPr>
        <p:spPr>
          <a:xfrm>
            <a:off x="10267950" y="3524250"/>
            <a:ext cx="152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9525" rIns="9525" bIns="9525" anchor="ctr">
            <a:normAutofit fontScale="81887"/>
          </a:bodyPr>
          <a:lstStyle/>
          <a:p>
            <a:pPr algn="ctr">
              <a:defRPr sz="1425" b="1">
                <a:solidFill>
                  <a:srgbClr val="8C2A85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defRPr>
            </a:pPr>
            <a:r>
              <a:rPr sz="1425" b="1">
                <a:solidFill>
                  <a:srgbClr val="8C2A85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→</a:t>
            </a:r>
            <a:endParaRPr sz="1425" b="1">
              <a:solidFill>
                <a:srgbClr val="8C2A85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323" name="Standardized logit variable"/>
          <p:cNvSpPr>
            <a:spLocks noGrp="1"/>
          </p:cNvSpPr>
          <p:nvPr/>
        </p:nvSpPr>
        <p:spPr>
          <a:xfrm>
            <a:off x="10439400" y="3524250"/>
            <a:ext cx="1466850" cy="32385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1430">
            <a:solidFill>
              <a:srgbClr val="8C2A85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350" b="1">
                <a:solidFill>
                  <a:srgbClr val="76206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350" b="1">
                <a:solidFill>
                  <a:srgbClr val="76206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ẑ=(z−μ)/(σ+ε)</a:t>
            </a:r>
            <a:endParaRPr sz="1350" b="1">
              <a:solidFill>
                <a:srgbClr val="76206F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24" name="Z-score arrow 2"/>
          <p:cNvSpPr>
            <a:spLocks noGrp="1"/>
          </p:cNvSpPr>
          <p:nvPr/>
        </p:nvSpPr>
        <p:spPr>
          <a:xfrm>
            <a:off x="11925300" y="3524250"/>
            <a:ext cx="152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9525" rIns="9525" bIns="9525" anchor="ctr">
            <a:normAutofit fontScale="81887"/>
          </a:bodyPr>
          <a:lstStyle/>
          <a:p>
            <a:pPr algn="ctr">
              <a:defRPr sz="1425" b="1">
                <a:solidFill>
                  <a:srgbClr val="8C2A85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defRPr>
            </a:pPr>
            <a:r>
              <a:rPr sz="1425" b="1">
                <a:solidFill>
                  <a:srgbClr val="8C2A85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→</a:t>
            </a:r>
            <a:endParaRPr sz="1425" b="1">
              <a:solidFill>
                <a:srgbClr val="8C2A85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325" name="Adaptive temperature variable"/>
          <p:cNvSpPr>
            <a:spLocks noGrp="1"/>
          </p:cNvSpPr>
          <p:nvPr/>
        </p:nvSpPr>
        <p:spPr>
          <a:xfrm>
            <a:off x="12096750" y="3524250"/>
            <a:ext cx="838200" cy="32385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1430">
            <a:solidFill>
              <a:srgbClr val="8C2A85"/>
            </a:solidFill>
            <a:prstDash val="solid"/>
          </a:ln>
        </p:spPr>
        <p:txBody>
          <a:bodyPr wrap="square" lIns="28575" tIns="19050" rIns="28575" bIns="19050" anchor="ctr">
            <a:normAutofit fontScale="75328"/>
          </a:bodyPr>
          <a:lstStyle/>
          <a:p>
            <a:pPr algn="ctr">
              <a:defRPr sz="1200" b="1">
                <a:solidFill>
                  <a:srgbClr val="76206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200" b="1">
                <a:solidFill>
                  <a:srgbClr val="76206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σ = adaptive T</a:t>
            </a:r>
            <a:endParaRPr sz="1200" b="1">
              <a:solidFill>
                <a:srgbClr val="76206F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26" name="Temporal branch frame"/>
          <p:cNvSpPr>
            <a:spLocks noGrp="1"/>
          </p:cNvSpPr>
          <p:nvPr/>
        </p:nvSpPr>
        <p:spPr>
          <a:xfrm>
            <a:off x="9448800" y="3924300"/>
            <a:ext cx="2400300" cy="2057400"/>
          </a:xfrm>
          <a:prstGeom prst="roundRect">
            <a:avLst>
              <a:gd name="adj" fmla="val 3241"/>
            </a:avLst>
          </a:prstGeom>
          <a:noFill/>
          <a:ln w="10478">
            <a:solidFill>
              <a:srgbClr val="8C2A85"/>
            </a:solidFill>
            <a:prstDash val="solid"/>
          </a:ln>
        </p:spPr>
      </p:sp>
      <p:sp>
        <p:nvSpPr>
          <p:cNvPr id="1327" name="Final branch frame"/>
          <p:cNvSpPr>
            <a:spLocks noGrp="1"/>
          </p:cNvSpPr>
          <p:nvPr/>
        </p:nvSpPr>
        <p:spPr>
          <a:xfrm>
            <a:off x="11906250" y="3924300"/>
            <a:ext cx="1123950" cy="2057400"/>
          </a:xfrm>
          <a:prstGeom prst="roundRect">
            <a:avLst>
              <a:gd name="adj" fmla="val 5932"/>
            </a:avLst>
          </a:prstGeom>
          <a:noFill/>
          <a:ln w="10478">
            <a:solidFill>
              <a:srgbClr val="8C2A85"/>
            </a:solidFill>
            <a:prstDash val="solid"/>
          </a:ln>
        </p:spPr>
      </p:sp>
      <p:sp>
        <p:nvSpPr>
          <p:cNvPr id="1328" name="Temporal branch title"/>
          <p:cNvSpPr>
            <a:spLocks noGrp="1"/>
          </p:cNvSpPr>
          <p:nvPr/>
        </p:nvSpPr>
        <p:spPr>
          <a:xfrm>
            <a:off x="9525000" y="3962400"/>
            <a:ext cx="2247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9525" rIns="9525" bIns="9525" anchor="ctr">
            <a:normAutofit fontScale="95833"/>
          </a:bodyPr>
          <a:lstStyle/>
          <a:p>
            <a:pPr algn="ctr">
              <a:defRPr sz="1500" b="1">
                <a:solidFill>
                  <a:srgbClr val="76206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defRPr>
            </a:pPr>
            <a:r>
              <a:rPr sz="1500" b="1">
                <a:solidFill>
                  <a:srgbClr val="76206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Temporal branch</a:t>
            </a:r>
            <a:endParaRPr sz="1500" b="1">
              <a:solidFill>
                <a:srgbClr val="76206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329" name="Final branch title"/>
          <p:cNvSpPr>
            <a:spLocks noGrp="1"/>
          </p:cNvSpPr>
          <p:nvPr/>
        </p:nvSpPr>
        <p:spPr>
          <a:xfrm>
            <a:off x="11944350" y="3962400"/>
            <a:ext cx="104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9525" rIns="9525" bIns="9525" anchor="ctr">
            <a:normAutofit fontScale="96124"/>
          </a:bodyPr>
          <a:lstStyle/>
          <a:p>
            <a:pPr algn="ctr">
              <a:defRPr sz="1425" b="1">
                <a:solidFill>
                  <a:srgbClr val="76206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defRPr>
            </a:pPr>
            <a:r>
              <a:rPr sz="1425" b="1">
                <a:solidFill>
                  <a:srgbClr val="76206F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Final branch</a:t>
            </a:r>
            <a:endParaRPr sz="1425" b="1">
              <a:solidFill>
                <a:srgbClr val="76206F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330" name="Teacher final logit variable tensor layer 1"/>
          <p:cNvSpPr>
            <a:spLocks noGrp="1"/>
          </p:cNvSpPr>
          <p:nvPr/>
        </p:nvSpPr>
        <p:spPr>
          <a:xfrm>
            <a:off x="9650730" y="4257675"/>
            <a:ext cx="350520" cy="198120"/>
          </a:xfrm>
          <a:prstGeom prst="rect">
            <a:avLst/>
          </a:prstGeom>
          <a:solidFill>
            <a:srgbClr val="E9F1FF"/>
          </a:solidFill>
          <a:ln w="9525">
            <a:solidFill>
              <a:srgbClr val="4A83EA"/>
            </a:solidFill>
            <a:prstDash val="solid"/>
          </a:ln>
        </p:spPr>
      </p:sp>
      <p:sp>
        <p:nvSpPr>
          <p:cNvPr id="1331" name="Teacher final logit variable tensor layer 2"/>
          <p:cNvSpPr>
            <a:spLocks noGrp="1"/>
          </p:cNvSpPr>
          <p:nvPr/>
        </p:nvSpPr>
        <p:spPr>
          <a:xfrm>
            <a:off x="9606915" y="4301490"/>
            <a:ext cx="350520" cy="198120"/>
          </a:xfrm>
          <a:prstGeom prst="rect">
            <a:avLst/>
          </a:prstGeom>
          <a:solidFill>
            <a:srgbClr val="E9F1FF"/>
          </a:solidFill>
          <a:ln w="9525">
            <a:solidFill>
              <a:srgbClr val="4A83EA"/>
            </a:solidFill>
            <a:prstDash val="solid"/>
          </a:ln>
        </p:spPr>
      </p:sp>
      <p:sp>
        <p:nvSpPr>
          <p:cNvPr id="1332" name="Teacher final logit variable tensor layer 3"/>
          <p:cNvSpPr>
            <a:spLocks noGrp="1"/>
          </p:cNvSpPr>
          <p:nvPr/>
        </p:nvSpPr>
        <p:spPr>
          <a:xfrm>
            <a:off x="9563100" y="4345305"/>
            <a:ext cx="350520" cy="198120"/>
          </a:xfrm>
          <a:prstGeom prst="rect">
            <a:avLst/>
          </a:prstGeom>
          <a:solidFill>
            <a:srgbClr val="D5E5FF"/>
          </a:solidFill>
          <a:ln w="13335">
            <a:solidFill>
              <a:srgbClr val="4A83EA"/>
            </a:solidFill>
            <a:prstDash val="solid"/>
          </a:ln>
        </p:spPr>
        <p:txBody>
          <a:bodyPr wrap="none" lIns="9525" tIns="9525" rIns="9525" bIns="9525" anchor="ctr">
            <a:normAutofit fontScale="78333"/>
          </a:bodyPr>
          <a:lstStyle/>
          <a:p>
            <a:pPr algn="ctr">
              <a:defRPr sz="1500" b="1">
                <a:solidFill>
                  <a:srgbClr val="245EB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500" b="1">
                <a:solidFill>
                  <a:srgbClr val="245EB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Zᵀ</a:t>
            </a:r>
            <a:endParaRPr sz="1500" b="1">
              <a:solidFill>
                <a:srgbClr val="245EBE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33" name="Broadcast input arrow"/>
          <p:cNvSpPr>
            <a:spLocks noGrp="1"/>
          </p:cNvSpPr>
          <p:nvPr/>
        </p:nvSpPr>
        <p:spPr>
          <a:xfrm>
            <a:off x="10020300" y="4257675"/>
            <a:ext cx="133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9525" rIns="9525" bIns="9525" anchor="ctr">
            <a:normAutofit fontScale="74164"/>
          </a:bodyPr>
          <a:lstStyle/>
          <a:p>
            <a:pPr algn="ctr">
              <a:defRPr sz="1350" b="1">
                <a:solidFill>
                  <a:srgbClr val="4A83EA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defRPr>
            </a:pPr>
            <a:r>
              <a:rPr sz="1350" b="1">
                <a:solidFill>
                  <a:srgbClr val="4A83EA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→</a:t>
            </a:r>
            <a:endParaRPr sz="1350" b="1">
              <a:solidFill>
                <a:srgbClr val="4A83EA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334" name="Broadcast operation"/>
          <p:cNvSpPr>
            <a:spLocks noGrp="1"/>
          </p:cNvSpPr>
          <p:nvPr/>
        </p:nvSpPr>
        <p:spPr>
          <a:xfrm>
            <a:off x="10172700" y="4257675"/>
            <a:ext cx="942975" cy="285750"/>
          </a:xfrm>
          <a:prstGeom prst="roundRect">
            <a:avLst>
              <a:gd name="adj" fmla="val 23333"/>
            </a:avLst>
          </a:prstGeom>
          <a:solidFill>
            <a:srgbClr val="E9F1FF"/>
          </a:solidFill>
          <a:ln w="11430">
            <a:solidFill>
              <a:srgbClr val="4A83EA"/>
            </a:solidFill>
            <a:prstDash val="solid"/>
          </a:ln>
        </p:spPr>
        <p:txBody>
          <a:bodyPr wrap="square" lIns="28575" tIns="19050" rIns="28575" bIns="19050" anchor="ctr">
            <a:normAutofit fontScale="68428"/>
          </a:bodyPr>
          <a:lstStyle/>
          <a:p>
            <a:pPr algn="ctr">
              <a:defRPr sz="1200" b="1">
                <a:solidFill>
                  <a:srgbClr val="245EBE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defRPr>
            </a:pPr>
            <a:r>
              <a:rPr sz="1200" b="1">
                <a:solidFill>
                  <a:srgbClr val="245EBE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Broadcast × T_s</a:t>
            </a:r>
            <a:endParaRPr sz="1200" b="1">
              <a:solidFill>
                <a:srgbClr val="245EBE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335" name="Broadcast output arrow"/>
          <p:cNvSpPr>
            <a:spLocks noGrp="1"/>
          </p:cNvSpPr>
          <p:nvPr/>
        </p:nvSpPr>
        <p:spPr>
          <a:xfrm>
            <a:off x="11134725" y="4257675"/>
            <a:ext cx="133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9525" rIns="9525" bIns="9525" anchor="ctr">
            <a:normAutofit fontScale="74164"/>
          </a:bodyPr>
          <a:lstStyle/>
          <a:p>
            <a:pPr algn="ctr">
              <a:defRPr sz="1350" b="1">
                <a:solidFill>
                  <a:srgbClr val="4A83EA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defRPr>
            </a:pPr>
            <a:r>
              <a:rPr sz="1350" b="1">
                <a:solidFill>
                  <a:srgbClr val="4A83EA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→</a:t>
            </a:r>
            <a:endParaRPr sz="1350" b="1">
              <a:solidFill>
                <a:srgbClr val="4A83EA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336" name="Broadcast teacher sequence variable tensor layer 1"/>
          <p:cNvSpPr>
            <a:spLocks noGrp="1"/>
          </p:cNvSpPr>
          <p:nvPr/>
        </p:nvSpPr>
        <p:spPr>
          <a:xfrm>
            <a:off x="11378565" y="4257675"/>
            <a:ext cx="365760" cy="194310"/>
          </a:xfrm>
          <a:prstGeom prst="rect">
            <a:avLst/>
          </a:prstGeom>
          <a:solidFill>
            <a:srgbClr val="E9F1FF"/>
          </a:solidFill>
          <a:ln w="9525">
            <a:solidFill>
              <a:srgbClr val="4A83EA"/>
            </a:solidFill>
            <a:prstDash val="solid"/>
          </a:ln>
        </p:spPr>
      </p:sp>
      <p:sp>
        <p:nvSpPr>
          <p:cNvPr id="1337" name="Broadcast teacher sequence variable tensor layer 2"/>
          <p:cNvSpPr>
            <a:spLocks noGrp="1"/>
          </p:cNvSpPr>
          <p:nvPr/>
        </p:nvSpPr>
        <p:spPr>
          <a:xfrm>
            <a:off x="11332845" y="4303395"/>
            <a:ext cx="365760" cy="194310"/>
          </a:xfrm>
          <a:prstGeom prst="rect">
            <a:avLst/>
          </a:prstGeom>
          <a:solidFill>
            <a:srgbClr val="E9F1FF"/>
          </a:solidFill>
          <a:ln w="9525">
            <a:solidFill>
              <a:srgbClr val="4A83EA"/>
            </a:solidFill>
            <a:prstDash val="solid"/>
          </a:ln>
        </p:spPr>
      </p:sp>
      <p:sp>
        <p:nvSpPr>
          <p:cNvPr id="1338" name="Broadcast teacher sequence variable tensor layer 3"/>
          <p:cNvSpPr>
            <a:spLocks noGrp="1"/>
          </p:cNvSpPr>
          <p:nvPr/>
        </p:nvSpPr>
        <p:spPr>
          <a:xfrm>
            <a:off x="11287125" y="4349115"/>
            <a:ext cx="365760" cy="194310"/>
          </a:xfrm>
          <a:prstGeom prst="rect">
            <a:avLst/>
          </a:prstGeom>
          <a:solidFill>
            <a:srgbClr val="D5E5FF"/>
          </a:solidFill>
          <a:ln w="13335">
            <a:solidFill>
              <a:srgbClr val="4A83EA"/>
            </a:solidFill>
            <a:prstDash val="solid"/>
          </a:ln>
        </p:spPr>
        <p:txBody>
          <a:bodyPr wrap="none" lIns="9525" tIns="9525" rIns="9525" bIns="9525" anchor="ctr">
            <a:normAutofit fontScale="80702"/>
          </a:bodyPr>
          <a:lstStyle/>
          <a:p>
            <a:pPr algn="ctr">
              <a:defRPr sz="1425" b="1">
                <a:solidFill>
                  <a:srgbClr val="245EB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425" b="1">
                <a:solidFill>
                  <a:srgbClr val="245EB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Zᵀᵗ</a:t>
            </a:r>
            <a:endParaRPr sz="1425" b="1">
              <a:solidFill>
                <a:srgbClr val="245EBE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39" name="Teacher temporal variable 1 tensor layer 1"/>
          <p:cNvSpPr>
            <a:spLocks noGrp="1"/>
          </p:cNvSpPr>
          <p:nvPr/>
        </p:nvSpPr>
        <p:spPr>
          <a:xfrm>
            <a:off x="9656445" y="4638675"/>
            <a:ext cx="335280" cy="182880"/>
          </a:xfrm>
          <a:prstGeom prst="rect">
            <a:avLst/>
          </a:prstGeom>
          <a:solidFill>
            <a:srgbClr val="E9F1FF"/>
          </a:solidFill>
          <a:ln w="9525">
            <a:solidFill>
              <a:srgbClr val="4A83EA"/>
            </a:solidFill>
            <a:prstDash val="solid"/>
          </a:ln>
        </p:spPr>
      </p:sp>
      <p:sp>
        <p:nvSpPr>
          <p:cNvPr id="1340" name="Teacher temporal variable 1 tensor layer 2"/>
          <p:cNvSpPr>
            <a:spLocks noGrp="1"/>
          </p:cNvSpPr>
          <p:nvPr/>
        </p:nvSpPr>
        <p:spPr>
          <a:xfrm>
            <a:off x="9614535" y="4680585"/>
            <a:ext cx="335280" cy="182880"/>
          </a:xfrm>
          <a:prstGeom prst="rect">
            <a:avLst/>
          </a:prstGeom>
          <a:solidFill>
            <a:srgbClr val="E9F1FF"/>
          </a:solidFill>
          <a:ln w="9525">
            <a:solidFill>
              <a:srgbClr val="4A83EA"/>
            </a:solidFill>
            <a:prstDash val="solid"/>
          </a:ln>
        </p:spPr>
      </p:sp>
      <p:sp>
        <p:nvSpPr>
          <p:cNvPr id="1341" name="Teacher temporal variable 1 tensor layer 3"/>
          <p:cNvSpPr>
            <a:spLocks noGrp="1"/>
          </p:cNvSpPr>
          <p:nvPr/>
        </p:nvSpPr>
        <p:spPr>
          <a:xfrm>
            <a:off x="9572625" y="4722495"/>
            <a:ext cx="335280" cy="182880"/>
          </a:xfrm>
          <a:prstGeom prst="rect">
            <a:avLst/>
          </a:prstGeom>
          <a:solidFill>
            <a:srgbClr val="D5E5FF"/>
          </a:solidFill>
          <a:ln w="13335">
            <a:solidFill>
              <a:srgbClr val="4A83EA"/>
            </a:solidFill>
            <a:prstDash val="solid"/>
          </a:ln>
        </p:spPr>
        <p:txBody>
          <a:bodyPr wrap="none" lIns="9525" tIns="9525" rIns="9525" bIns="9525" anchor="ctr">
            <a:normAutofit fontScale="79630"/>
          </a:bodyPr>
          <a:lstStyle/>
          <a:p>
            <a:pPr algn="ctr">
              <a:defRPr sz="1350" b="1">
                <a:solidFill>
                  <a:srgbClr val="245EB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350" b="1">
                <a:solidFill>
                  <a:srgbClr val="245EB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Zᵀ₁</a:t>
            </a:r>
            <a:endParaRPr sz="1350" b="1">
              <a:solidFill>
                <a:srgbClr val="245EBE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42" name="Student temporal variable 1 tensor layer 1"/>
          <p:cNvSpPr>
            <a:spLocks noGrp="1"/>
          </p:cNvSpPr>
          <p:nvPr/>
        </p:nvSpPr>
        <p:spPr>
          <a:xfrm>
            <a:off x="9656445" y="5153025"/>
            <a:ext cx="335280" cy="182880"/>
          </a:xfrm>
          <a:prstGeom prst="rect">
            <a:avLst/>
          </a:prstGeom>
          <a:solidFill>
            <a:srgbClr val="EAF8EC"/>
          </a:solidFill>
          <a:ln w="9525">
            <a:solidFill>
              <a:srgbClr val="35A446"/>
            </a:solidFill>
            <a:prstDash val="solid"/>
          </a:ln>
        </p:spPr>
      </p:sp>
      <p:sp>
        <p:nvSpPr>
          <p:cNvPr id="1343" name="Student temporal variable 1 tensor layer 2"/>
          <p:cNvSpPr>
            <a:spLocks noGrp="1"/>
          </p:cNvSpPr>
          <p:nvPr/>
        </p:nvSpPr>
        <p:spPr>
          <a:xfrm>
            <a:off x="9614535" y="5194935"/>
            <a:ext cx="335280" cy="182880"/>
          </a:xfrm>
          <a:prstGeom prst="rect">
            <a:avLst/>
          </a:prstGeom>
          <a:solidFill>
            <a:srgbClr val="EAF8EC"/>
          </a:solidFill>
          <a:ln w="9525">
            <a:solidFill>
              <a:srgbClr val="35A446"/>
            </a:solidFill>
            <a:prstDash val="solid"/>
          </a:ln>
        </p:spPr>
      </p:sp>
      <p:sp>
        <p:nvSpPr>
          <p:cNvPr id="1344" name="Student temporal variable 1 tensor layer 3"/>
          <p:cNvSpPr>
            <a:spLocks noGrp="1"/>
          </p:cNvSpPr>
          <p:nvPr/>
        </p:nvSpPr>
        <p:spPr>
          <a:xfrm>
            <a:off x="9572625" y="5236845"/>
            <a:ext cx="335280" cy="182880"/>
          </a:xfrm>
          <a:prstGeom prst="rect">
            <a:avLst/>
          </a:prstGeom>
          <a:solidFill>
            <a:srgbClr val="D6F1DA"/>
          </a:solidFill>
          <a:ln w="13335">
            <a:solidFill>
              <a:srgbClr val="35A446"/>
            </a:solidFill>
            <a:prstDash val="solid"/>
          </a:ln>
        </p:spPr>
        <p:txBody>
          <a:bodyPr wrap="none" lIns="9525" tIns="9525" rIns="9525" bIns="9525" anchor="ctr">
            <a:normAutofit fontScale="79630"/>
          </a:bodyPr>
          <a:lstStyle/>
          <a:p>
            <a:pPr algn="ctr">
              <a:defRPr sz="1350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350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Zˢ₁</a:t>
            </a:r>
            <a:endParaRPr sz="1350" b="1">
              <a:solidFill>
                <a:srgbClr val="217C30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45" name="Teacher temporal variable 2 tensor layer 1"/>
          <p:cNvSpPr>
            <a:spLocks noGrp="1"/>
          </p:cNvSpPr>
          <p:nvPr/>
        </p:nvSpPr>
        <p:spPr>
          <a:xfrm>
            <a:off x="10189845" y="4638675"/>
            <a:ext cx="335280" cy="182880"/>
          </a:xfrm>
          <a:prstGeom prst="rect">
            <a:avLst/>
          </a:prstGeom>
          <a:solidFill>
            <a:srgbClr val="E9F1FF"/>
          </a:solidFill>
          <a:ln w="9525">
            <a:solidFill>
              <a:srgbClr val="4A83EA"/>
            </a:solidFill>
            <a:prstDash val="solid"/>
          </a:ln>
        </p:spPr>
      </p:sp>
      <p:sp>
        <p:nvSpPr>
          <p:cNvPr id="1346" name="Teacher temporal variable 2 tensor layer 2"/>
          <p:cNvSpPr>
            <a:spLocks noGrp="1"/>
          </p:cNvSpPr>
          <p:nvPr/>
        </p:nvSpPr>
        <p:spPr>
          <a:xfrm>
            <a:off x="10147935" y="4680585"/>
            <a:ext cx="335280" cy="182880"/>
          </a:xfrm>
          <a:prstGeom prst="rect">
            <a:avLst/>
          </a:prstGeom>
          <a:solidFill>
            <a:srgbClr val="E9F1FF"/>
          </a:solidFill>
          <a:ln w="9525">
            <a:solidFill>
              <a:srgbClr val="4A83EA"/>
            </a:solidFill>
            <a:prstDash val="solid"/>
          </a:ln>
        </p:spPr>
      </p:sp>
      <p:sp>
        <p:nvSpPr>
          <p:cNvPr id="1347" name="Teacher temporal variable 2 tensor layer 3"/>
          <p:cNvSpPr>
            <a:spLocks noGrp="1"/>
          </p:cNvSpPr>
          <p:nvPr/>
        </p:nvSpPr>
        <p:spPr>
          <a:xfrm>
            <a:off x="10106025" y="4722495"/>
            <a:ext cx="335280" cy="182880"/>
          </a:xfrm>
          <a:prstGeom prst="rect">
            <a:avLst/>
          </a:prstGeom>
          <a:solidFill>
            <a:srgbClr val="D5E5FF"/>
          </a:solidFill>
          <a:ln w="13335">
            <a:solidFill>
              <a:srgbClr val="4A83EA"/>
            </a:solidFill>
            <a:prstDash val="solid"/>
          </a:ln>
        </p:spPr>
        <p:txBody>
          <a:bodyPr wrap="none" lIns="9525" tIns="9525" rIns="9525" bIns="9525" anchor="ctr">
            <a:normAutofit fontScale="79630"/>
          </a:bodyPr>
          <a:lstStyle/>
          <a:p>
            <a:pPr algn="ctr">
              <a:defRPr sz="1350" b="1">
                <a:solidFill>
                  <a:srgbClr val="245EB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350" b="1">
                <a:solidFill>
                  <a:srgbClr val="245EB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Zᵀ₂</a:t>
            </a:r>
            <a:endParaRPr sz="1350" b="1">
              <a:solidFill>
                <a:srgbClr val="245EBE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48" name="Student temporal variable 2 tensor layer 1"/>
          <p:cNvSpPr>
            <a:spLocks noGrp="1"/>
          </p:cNvSpPr>
          <p:nvPr/>
        </p:nvSpPr>
        <p:spPr>
          <a:xfrm>
            <a:off x="10189845" y="5153025"/>
            <a:ext cx="335280" cy="182880"/>
          </a:xfrm>
          <a:prstGeom prst="rect">
            <a:avLst/>
          </a:prstGeom>
          <a:solidFill>
            <a:srgbClr val="EAF8EC"/>
          </a:solidFill>
          <a:ln w="9525">
            <a:solidFill>
              <a:srgbClr val="35A446"/>
            </a:solidFill>
            <a:prstDash val="solid"/>
          </a:ln>
        </p:spPr>
      </p:sp>
      <p:sp>
        <p:nvSpPr>
          <p:cNvPr id="1349" name="Student temporal variable 2 tensor layer 2"/>
          <p:cNvSpPr>
            <a:spLocks noGrp="1"/>
          </p:cNvSpPr>
          <p:nvPr/>
        </p:nvSpPr>
        <p:spPr>
          <a:xfrm>
            <a:off x="10147935" y="5194935"/>
            <a:ext cx="335280" cy="182880"/>
          </a:xfrm>
          <a:prstGeom prst="rect">
            <a:avLst/>
          </a:prstGeom>
          <a:solidFill>
            <a:srgbClr val="EAF8EC"/>
          </a:solidFill>
          <a:ln w="9525">
            <a:solidFill>
              <a:srgbClr val="35A446"/>
            </a:solidFill>
            <a:prstDash val="solid"/>
          </a:ln>
        </p:spPr>
      </p:sp>
      <p:sp>
        <p:nvSpPr>
          <p:cNvPr id="1350" name="Student temporal variable 2 tensor layer 3"/>
          <p:cNvSpPr>
            <a:spLocks noGrp="1"/>
          </p:cNvSpPr>
          <p:nvPr/>
        </p:nvSpPr>
        <p:spPr>
          <a:xfrm>
            <a:off x="10106025" y="5236845"/>
            <a:ext cx="335280" cy="182880"/>
          </a:xfrm>
          <a:prstGeom prst="rect">
            <a:avLst/>
          </a:prstGeom>
          <a:solidFill>
            <a:srgbClr val="D6F1DA"/>
          </a:solidFill>
          <a:ln w="13335">
            <a:solidFill>
              <a:srgbClr val="35A446"/>
            </a:solidFill>
            <a:prstDash val="solid"/>
          </a:ln>
        </p:spPr>
        <p:txBody>
          <a:bodyPr wrap="none" lIns="9525" tIns="9525" rIns="9525" bIns="9525" anchor="ctr">
            <a:normAutofit fontScale="79630"/>
          </a:bodyPr>
          <a:lstStyle/>
          <a:p>
            <a:pPr algn="ctr">
              <a:defRPr sz="1350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350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Zˢ₂</a:t>
            </a:r>
            <a:endParaRPr sz="1350" b="1">
              <a:solidFill>
                <a:srgbClr val="217C30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51" name="Teacher temporal variable 3 ellipsis"/>
          <p:cNvSpPr>
            <a:spLocks noGrp="1"/>
          </p:cNvSpPr>
          <p:nvPr/>
        </p:nvSpPr>
        <p:spPr>
          <a:xfrm>
            <a:off x="10639425" y="463867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9525" rIns="9525" bIns="9525" anchor="ctr">
            <a:normAutofit/>
          </a:bodyPr>
          <a:lstStyle/>
          <a:p>
            <a:pPr algn="ctr">
              <a:defRPr sz="1500" b="1">
                <a:solidFill>
                  <a:srgbClr val="245EB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500" b="1">
                <a:solidFill>
                  <a:srgbClr val="245EB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…</a:t>
            </a:r>
            <a:endParaRPr sz="1500" b="1">
              <a:solidFill>
                <a:srgbClr val="245EBE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52" name="Student temporal variable 3 ellipsis"/>
          <p:cNvSpPr>
            <a:spLocks noGrp="1"/>
          </p:cNvSpPr>
          <p:nvPr/>
        </p:nvSpPr>
        <p:spPr>
          <a:xfrm>
            <a:off x="10639425" y="5153025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9525" rIns="9525" bIns="9525" anchor="ctr">
            <a:normAutofit/>
          </a:bodyPr>
          <a:lstStyle/>
          <a:p>
            <a:pPr algn="ctr">
              <a:defRPr sz="1500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500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…</a:t>
            </a:r>
            <a:endParaRPr sz="1500" b="1">
              <a:solidFill>
                <a:srgbClr val="217C30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53" name="Teacher temporal variable 4 tensor layer 1"/>
          <p:cNvSpPr>
            <a:spLocks noGrp="1"/>
          </p:cNvSpPr>
          <p:nvPr/>
        </p:nvSpPr>
        <p:spPr>
          <a:xfrm>
            <a:off x="11256645" y="4638675"/>
            <a:ext cx="335280" cy="182880"/>
          </a:xfrm>
          <a:prstGeom prst="rect">
            <a:avLst/>
          </a:prstGeom>
          <a:solidFill>
            <a:srgbClr val="E9F1FF"/>
          </a:solidFill>
          <a:ln w="9525">
            <a:solidFill>
              <a:srgbClr val="4A83EA"/>
            </a:solidFill>
            <a:prstDash val="solid"/>
          </a:ln>
        </p:spPr>
      </p:sp>
      <p:sp>
        <p:nvSpPr>
          <p:cNvPr id="1354" name="Teacher temporal variable 4 tensor layer 2"/>
          <p:cNvSpPr>
            <a:spLocks noGrp="1"/>
          </p:cNvSpPr>
          <p:nvPr/>
        </p:nvSpPr>
        <p:spPr>
          <a:xfrm>
            <a:off x="11214735" y="4680585"/>
            <a:ext cx="335280" cy="182880"/>
          </a:xfrm>
          <a:prstGeom prst="rect">
            <a:avLst/>
          </a:prstGeom>
          <a:solidFill>
            <a:srgbClr val="E9F1FF"/>
          </a:solidFill>
          <a:ln w="9525">
            <a:solidFill>
              <a:srgbClr val="4A83EA"/>
            </a:solidFill>
            <a:prstDash val="solid"/>
          </a:ln>
        </p:spPr>
      </p:sp>
      <p:sp>
        <p:nvSpPr>
          <p:cNvPr id="1355" name="Teacher temporal variable 4 tensor layer 3"/>
          <p:cNvSpPr>
            <a:spLocks noGrp="1"/>
          </p:cNvSpPr>
          <p:nvPr/>
        </p:nvSpPr>
        <p:spPr>
          <a:xfrm>
            <a:off x="11172825" y="4722495"/>
            <a:ext cx="335280" cy="182880"/>
          </a:xfrm>
          <a:prstGeom prst="rect">
            <a:avLst/>
          </a:prstGeom>
          <a:solidFill>
            <a:srgbClr val="D5E5FF"/>
          </a:solidFill>
          <a:ln w="13335">
            <a:solidFill>
              <a:srgbClr val="4A83EA"/>
            </a:solidFill>
            <a:prstDash val="solid"/>
          </a:ln>
        </p:spPr>
        <p:txBody>
          <a:bodyPr wrap="none" lIns="9525" tIns="9525" rIns="9525" bIns="9525" anchor="ctr">
            <a:normAutofit fontScale="79630"/>
          </a:bodyPr>
          <a:lstStyle/>
          <a:p>
            <a:pPr algn="ctr">
              <a:defRPr sz="1350" b="1">
                <a:solidFill>
                  <a:srgbClr val="245EB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350" b="1">
                <a:solidFill>
                  <a:srgbClr val="245EB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Zᵀₜ</a:t>
            </a:r>
            <a:endParaRPr sz="1350" b="1">
              <a:solidFill>
                <a:srgbClr val="245EBE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56" name="Student temporal variable 4 tensor layer 1"/>
          <p:cNvSpPr>
            <a:spLocks noGrp="1"/>
          </p:cNvSpPr>
          <p:nvPr/>
        </p:nvSpPr>
        <p:spPr>
          <a:xfrm>
            <a:off x="11256645" y="5153025"/>
            <a:ext cx="335280" cy="182880"/>
          </a:xfrm>
          <a:prstGeom prst="rect">
            <a:avLst/>
          </a:prstGeom>
          <a:solidFill>
            <a:srgbClr val="EAF8EC"/>
          </a:solidFill>
          <a:ln w="9525">
            <a:solidFill>
              <a:srgbClr val="35A446"/>
            </a:solidFill>
            <a:prstDash val="solid"/>
          </a:ln>
        </p:spPr>
      </p:sp>
      <p:sp>
        <p:nvSpPr>
          <p:cNvPr id="1357" name="Student temporal variable 4 tensor layer 2"/>
          <p:cNvSpPr>
            <a:spLocks noGrp="1"/>
          </p:cNvSpPr>
          <p:nvPr/>
        </p:nvSpPr>
        <p:spPr>
          <a:xfrm>
            <a:off x="11214735" y="5194935"/>
            <a:ext cx="335280" cy="182880"/>
          </a:xfrm>
          <a:prstGeom prst="rect">
            <a:avLst/>
          </a:prstGeom>
          <a:solidFill>
            <a:srgbClr val="EAF8EC"/>
          </a:solidFill>
          <a:ln w="9525">
            <a:solidFill>
              <a:srgbClr val="35A446"/>
            </a:solidFill>
            <a:prstDash val="solid"/>
          </a:ln>
        </p:spPr>
      </p:sp>
      <p:sp>
        <p:nvSpPr>
          <p:cNvPr id="1358" name="Student temporal variable 4 tensor layer 3"/>
          <p:cNvSpPr>
            <a:spLocks noGrp="1"/>
          </p:cNvSpPr>
          <p:nvPr/>
        </p:nvSpPr>
        <p:spPr>
          <a:xfrm>
            <a:off x="11172825" y="5236845"/>
            <a:ext cx="335280" cy="182880"/>
          </a:xfrm>
          <a:prstGeom prst="rect">
            <a:avLst/>
          </a:prstGeom>
          <a:solidFill>
            <a:srgbClr val="D6F1DA"/>
          </a:solidFill>
          <a:ln w="13335">
            <a:solidFill>
              <a:srgbClr val="35A446"/>
            </a:solidFill>
            <a:prstDash val="solid"/>
          </a:ln>
        </p:spPr>
        <p:txBody>
          <a:bodyPr wrap="none" lIns="9525" tIns="9525" rIns="9525" bIns="9525" anchor="ctr">
            <a:normAutofit fontScale="79630"/>
          </a:bodyPr>
          <a:lstStyle/>
          <a:p>
            <a:pPr algn="ctr">
              <a:defRPr sz="1350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350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Zˢₜ</a:t>
            </a:r>
            <a:endParaRPr sz="1350" b="1">
              <a:solidFill>
                <a:srgbClr val="217C30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59" name="Per-step KL operation"/>
          <p:cNvSpPr>
            <a:spLocks noGrp="1"/>
          </p:cNvSpPr>
          <p:nvPr/>
        </p:nvSpPr>
        <p:spPr>
          <a:xfrm>
            <a:off x="10096500" y="4914900"/>
            <a:ext cx="1085850" cy="219075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11430">
            <a:solidFill>
              <a:srgbClr val="8C2A85"/>
            </a:solidFill>
            <a:prstDash val="solid"/>
          </a:ln>
        </p:spPr>
        <p:txBody>
          <a:bodyPr wrap="square" lIns="28575" tIns="19050" rIns="28575" bIns="19050" anchor="ctr">
            <a:normAutofit fontScale="77602"/>
          </a:bodyPr>
          <a:lstStyle/>
          <a:p>
            <a:pPr algn="ctr">
              <a:defRPr sz="1200" b="1">
                <a:solidFill>
                  <a:srgbClr val="76206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200" b="1">
                <a:solidFill>
                  <a:srgbClr val="76206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KL per time step</a:t>
            </a:r>
            <a:endParaRPr sz="1200" b="1">
              <a:solidFill>
                <a:srgbClr val="76206F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60" name="Per-step KL left arrow"/>
          <p:cNvSpPr>
            <a:spLocks noGrp="1"/>
          </p:cNvSpPr>
          <p:nvPr/>
        </p:nvSpPr>
        <p:spPr>
          <a:xfrm>
            <a:off x="9658350" y="4905375"/>
            <a:ext cx="247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9525" rIns="9525" bIns="9525" anchor="ctr">
            <a:normAutofit/>
          </a:bodyPr>
          <a:lstStyle/>
          <a:p>
            <a:pPr algn="ctr">
              <a:defRPr sz="1425" b="1">
                <a:solidFill>
                  <a:srgbClr val="8C2A85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defRPr>
            </a:pPr>
            <a:r>
              <a:rPr sz="1425" b="1">
                <a:solidFill>
                  <a:srgbClr val="8C2A85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↕</a:t>
            </a:r>
            <a:endParaRPr sz="1425" b="1">
              <a:solidFill>
                <a:srgbClr val="8C2A85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361" name="Per-step KL right arrow"/>
          <p:cNvSpPr>
            <a:spLocks noGrp="1"/>
          </p:cNvSpPr>
          <p:nvPr/>
        </p:nvSpPr>
        <p:spPr>
          <a:xfrm>
            <a:off x="11258550" y="4905375"/>
            <a:ext cx="247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9525" rIns="9525" bIns="9525" anchor="ctr">
            <a:normAutofit/>
          </a:bodyPr>
          <a:lstStyle/>
          <a:p>
            <a:pPr algn="ctr">
              <a:defRPr sz="1425" b="1">
                <a:solidFill>
                  <a:srgbClr val="8C2A85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defRPr>
            </a:pPr>
            <a:r>
              <a:rPr sz="1425" b="1">
                <a:solidFill>
                  <a:srgbClr val="8C2A85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↕</a:t>
            </a:r>
            <a:endParaRPr sz="1425" b="1">
              <a:solidFill>
                <a:srgbClr val="8C2A85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362" name="Sequential reduction operation"/>
          <p:cNvSpPr>
            <a:spLocks noGrp="1"/>
          </p:cNvSpPr>
          <p:nvPr/>
        </p:nvSpPr>
        <p:spPr>
          <a:xfrm>
            <a:off x="9572625" y="5514975"/>
            <a:ext cx="1323975" cy="36195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1430">
            <a:solidFill>
              <a:srgbClr val="8C2A85"/>
            </a:solidFill>
            <a:prstDash val="solid"/>
          </a:ln>
        </p:spPr>
        <p:txBody>
          <a:bodyPr wrap="square" lIns="28575" tIns="19050" rIns="28575" bIns="19050" anchor="ctr">
            <a:normAutofit fontScale="77863"/>
          </a:bodyPr>
          <a:lstStyle/>
          <a:p>
            <a:pPr algn="ctr">
              <a:defRPr sz="1200" b="1">
                <a:solidFill>
                  <a:srgbClr val="76206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200" b="1">
                <a:solidFill>
                  <a:srgbClr val="76206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Σₜ wₜ KL</a:t>
            </a:r>
            <a:endParaRPr sz="1200" b="1">
              <a:solidFill>
                <a:srgbClr val="76206F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  <a:p>
            <a:pPr algn="ctr">
              <a:defRPr sz="1200" b="1">
                <a:solidFill>
                  <a:srgbClr val="76206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200" b="1">
                <a:solidFill>
                  <a:srgbClr val="76206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wₜ uniform</a:t>
            </a:r>
            <a:endParaRPr sz="1200" b="1">
              <a:solidFill>
                <a:srgbClr val="76206F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63" name="Sequential output arrow"/>
          <p:cNvSpPr>
            <a:spLocks noGrp="1"/>
          </p:cNvSpPr>
          <p:nvPr/>
        </p:nvSpPr>
        <p:spPr>
          <a:xfrm>
            <a:off x="10915650" y="5514975"/>
            <a:ext cx="133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9525" rIns="9525" bIns="9525" anchor="ctr">
            <a:normAutofit fontScale="74164"/>
          </a:bodyPr>
          <a:lstStyle/>
          <a:p>
            <a:pPr algn="ctr">
              <a:defRPr sz="1350" b="1">
                <a:solidFill>
                  <a:srgbClr val="8C2A85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defRPr>
            </a:pPr>
            <a:r>
              <a:rPr sz="1350" b="1">
                <a:solidFill>
                  <a:srgbClr val="8C2A85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→</a:t>
            </a:r>
            <a:endParaRPr sz="1350" b="1">
              <a:solidFill>
                <a:srgbClr val="8C2A85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364" name="Sequential loss output variable"/>
          <p:cNvSpPr>
            <a:spLocks noGrp="1"/>
          </p:cNvSpPr>
          <p:nvPr/>
        </p:nvSpPr>
        <p:spPr>
          <a:xfrm>
            <a:off x="11068050" y="5514975"/>
            <a:ext cx="666750" cy="361950"/>
          </a:xfrm>
          <a:prstGeom prst="roundRect">
            <a:avLst>
              <a:gd name="adj" fmla="val 18421"/>
            </a:avLst>
          </a:prstGeom>
          <a:solidFill>
            <a:srgbClr val="76206F"/>
          </a:solidFill>
          <a:ln w="11430">
            <a:solidFill>
              <a:srgbClr val="76206F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350" b="1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L_seq</a:t>
            </a:r>
            <a:endParaRPr sz="1350" b="1">
              <a:solidFill>
                <a:srgbClr val="FFFFFF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65" name="Final branch teacher variable tensor layer 1"/>
          <p:cNvSpPr>
            <a:spLocks noGrp="1"/>
          </p:cNvSpPr>
          <p:nvPr/>
        </p:nvSpPr>
        <p:spPr>
          <a:xfrm>
            <a:off x="12070080" y="4324350"/>
            <a:ext cx="350520" cy="217170"/>
          </a:xfrm>
          <a:prstGeom prst="rect">
            <a:avLst/>
          </a:prstGeom>
          <a:solidFill>
            <a:srgbClr val="E9F1FF"/>
          </a:solidFill>
          <a:ln w="9525">
            <a:solidFill>
              <a:srgbClr val="4A83EA"/>
            </a:solidFill>
            <a:prstDash val="solid"/>
          </a:ln>
        </p:spPr>
      </p:sp>
      <p:sp>
        <p:nvSpPr>
          <p:cNvPr id="1366" name="Final branch teacher variable tensor layer 2"/>
          <p:cNvSpPr>
            <a:spLocks noGrp="1"/>
          </p:cNvSpPr>
          <p:nvPr/>
        </p:nvSpPr>
        <p:spPr>
          <a:xfrm>
            <a:off x="12026265" y="4368165"/>
            <a:ext cx="350520" cy="217170"/>
          </a:xfrm>
          <a:prstGeom prst="rect">
            <a:avLst/>
          </a:prstGeom>
          <a:solidFill>
            <a:srgbClr val="E9F1FF"/>
          </a:solidFill>
          <a:ln w="9525">
            <a:solidFill>
              <a:srgbClr val="4A83EA"/>
            </a:solidFill>
            <a:prstDash val="solid"/>
          </a:ln>
        </p:spPr>
      </p:sp>
      <p:sp>
        <p:nvSpPr>
          <p:cNvPr id="1367" name="Final branch teacher variable tensor layer 3"/>
          <p:cNvSpPr>
            <a:spLocks noGrp="1"/>
          </p:cNvSpPr>
          <p:nvPr/>
        </p:nvSpPr>
        <p:spPr>
          <a:xfrm>
            <a:off x="11982450" y="4411980"/>
            <a:ext cx="350520" cy="217170"/>
          </a:xfrm>
          <a:prstGeom prst="rect">
            <a:avLst/>
          </a:prstGeom>
          <a:solidFill>
            <a:srgbClr val="D5E5FF"/>
          </a:solidFill>
          <a:ln w="13335">
            <a:solidFill>
              <a:srgbClr val="4A83EA"/>
            </a:solidFill>
            <a:prstDash val="solid"/>
          </a:ln>
        </p:spPr>
        <p:txBody>
          <a:bodyPr wrap="none" lIns="9525" tIns="9525" rIns="9525" bIns="9525" anchor="ctr">
            <a:normAutofit fontScale="86667"/>
          </a:bodyPr>
          <a:lstStyle/>
          <a:p>
            <a:pPr algn="ctr">
              <a:defRPr sz="1500" b="1">
                <a:solidFill>
                  <a:srgbClr val="245EB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500" b="1">
                <a:solidFill>
                  <a:srgbClr val="245EBE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Zᵀ</a:t>
            </a:r>
            <a:endParaRPr sz="1500" b="1">
              <a:solidFill>
                <a:srgbClr val="245EBE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68" name="Final branch student variable tensor layer 1"/>
          <p:cNvSpPr>
            <a:spLocks noGrp="1"/>
          </p:cNvSpPr>
          <p:nvPr/>
        </p:nvSpPr>
        <p:spPr>
          <a:xfrm>
            <a:off x="12565380" y="4324350"/>
            <a:ext cx="350520" cy="217170"/>
          </a:xfrm>
          <a:prstGeom prst="rect">
            <a:avLst/>
          </a:prstGeom>
          <a:solidFill>
            <a:srgbClr val="EAF8EC"/>
          </a:solidFill>
          <a:ln w="9525">
            <a:solidFill>
              <a:srgbClr val="35A446"/>
            </a:solidFill>
            <a:prstDash val="solid"/>
          </a:ln>
        </p:spPr>
      </p:sp>
      <p:sp>
        <p:nvSpPr>
          <p:cNvPr id="1369" name="Final branch student variable tensor layer 2"/>
          <p:cNvSpPr>
            <a:spLocks noGrp="1"/>
          </p:cNvSpPr>
          <p:nvPr/>
        </p:nvSpPr>
        <p:spPr>
          <a:xfrm>
            <a:off x="12521565" y="4368165"/>
            <a:ext cx="350520" cy="217170"/>
          </a:xfrm>
          <a:prstGeom prst="rect">
            <a:avLst/>
          </a:prstGeom>
          <a:solidFill>
            <a:srgbClr val="EAF8EC"/>
          </a:solidFill>
          <a:ln w="9525">
            <a:solidFill>
              <a:srgbClr val="35A446"/>
            </a:solidFill>
            <a:prstDash val="solid"/>
          </a:ln>
        </p:spPr>
      </p:sp>
      <p:sp>
        <p:nvSpPr>
          <p:cNvPr id="1370" name="Final branch student variable tensor layer 3"/>
          <p:cNvSpPr>
            <a:spLocks noGrp="1"/>
          </p:cNvSpPr>
          <p:nvPr/>
        </p:nvSpPr>
        <p:spPr>
          <a:xfrm>
            <a:off x="12477750" y="4411980"/>
            <a:ext cx="350520" cy="217170"/>
          </a:xfrm>
          <a:prstGeom prst="rect">
            <a:avLst/>
          </a:prstGeom>
          <a:solidFill>
            <a:srgbClr val="D6F1DA"/>
          </a:solidFill>
          <a:ln w="13335">
            <a:solidFill>
              <a:srgbClr val="35A446"/>
            </a:solidFill>
            <a:prstDash val="solid"/>
          </a:ln>
        </p:spPr>
        <p:txBody>
          <a:bodyPr wrap="none" lIns="9525" tIns="9525" rIns="9525" bIns="9525" anchor="ctr">
            <a:normAutofit fontScale="86667"/>
          </a:bodyPr>
          <a:lstStyle/>
          <a:p>
            <a:pPr algn="ctr">
              <a:defRPr sz="1500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500" b="1">
                <a:solidFill>
                  <a:srgbClr val="217C3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Zˢ</a:t>
            </a:r>
            <a:endParaRPr sz="1500" b="1">
              <a:solidFill>
                <a:srgbClr val="217C30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71" name="Final KL operation"/>
          <p:cNvSpPr>
            <a:spLocks noGrp="1"/>
          </p:cNvSpPr>
          <p:nvPr/>
        </p:nvSpPr>
        <p:spPr>
          <a:xfrm>
            <a:off x="12096750" y="4857750"/>
            <a:ext cx="704850" cy="32385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1430">
            <a:solidFill>
              <a:srgbClr val="8C2A85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275" b="1">
                <a:solidFill>
                  <a:srgbClr val="76206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275" b="1">
                <a:solidFill>
                  <a:srgbClr val="76206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Final KL</a:t>
            </a:r>
            <a:endParaRPr sz="1275" b="1">
              <a:solidFill>
                <a:srgbClr val="76206F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72" name="Final loss output variable"/>
          <p:cNvSpPr>
            <a:spLocks noGrp="1"/>
          </p:cNvSpPr>
          <p:nvPr/>
        </p:nvSpPr>
        <p:spPr>
          <a:xfrm>
            <a:off x="12001500" y="5457825"/>
            <a:ext cx="914400" cy="381000"/>
          </a:xfrm>
          <a:prstGeom prst="roundRect">
            <a:avLst>
              <a:gd name="adj" fmla="val 17500"/>
            </a:avLst>
          </a:prstGeom>
          <a:solidFill>
            <a:srgbClr val="76206F"/>
          </a:solidFill>
          <a:ln w="11430">
            <a:solidFill>
              <a:srgbClr val="76206F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defRPr>
            </a:pPr>
            <a:r>
              <a:rPr sz="1425" b="1">
                <a:solidFill>
                  <a:srgbClr val="FFFFFF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L_final</a:t>
            </a:r>
            <a:endParaRPr sz="1425" b="1">
              <a:solidFill>
                <a:srgbClr val="FFFFFF"/>
              </a:solidFill>
              <a:latin typeface="Cambria Math" panose="02040503050406030204"/>
              <a:ea typeface="Cambria Math" panose="02040503050406030204"/>
              <a:cs typeface="Cambria Math" panose="02040503050406030204"/>
            </a:endParaRPr>
          </a:p>
        </p:txBody>
      </p:sp>
      <p:sp>
        <p:nvSpPr>
          <p:cNvPr id="1373" name="Teacher to final KL arrow"/>
          <p:cNvSpPr>
            <a:spLocks noGrp="1"/>
          </p:cNvSpPr>
          <p:nvPr/>
        </p:nvSpPr>
        <p:spPr>
          <a:xfrm>
            <a:off x="12134850" y="4610100"/>
            <a:ext cx="2667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9525" rIns="9525" bIns="9525" anchor="ctr">
            <a:normAutofit fontScale="95833"/>
          </a:bodyPr>
          <a:lstStyle/>
          <a:p>
            <a:pPr algn="ctr">
              <a:defRPr sz="1500" b="1">
                <a:solidFill>
                  <a:srgbClr val="8C2A85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defRPr>
            </a:pPr>
            <a:r>
              <a:rPr sz="1500" b="1">
                <a:solidFill>
                  <a:srgbClr val="8C2A85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↘</a:t>
            </a:r>
            <a:endParaRPr sz="1500" b="1">
              <a:solidFill>
                <a:srgbClr val="8C2A85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374" name="Student to final KL arrow"/>
          <p:cNvSpPr>
            <a:spLocks noGrp="1"/>
          </p:cNvSpPr>
          <p:nvPr/>
        </p:nvSpPr>
        <p:spPr>
          <a:xfrm>
            <a:off x="12496800" y="4610100"/>
            <a:ext cx="2667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9525" rIns="9525" bIns="9525" anchor="ctr">
            <a:normAutofit fontScale="95833"/>
          </a:bodyPr>
          <a:lstStyle/>
          <a:p>
            <a:pPr algn="ctr">
              <a:defRPr sz="1500" b="1">
                <a:solidFill>
                  <a:srgbClr val="8C2A85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defRPr>
            </a:pPr>
            <a:r>
              <a:rPr sz="1500" b="1">
                <a:solidFill>
                  <a:srgbClr val="8C2A85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↙</a:t>
            </a:r>
            <a:endParaRPr sz="1500" b="1">
              <a:solidFill>
                <a:srgbClr val="8C2A85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375" name="Final KL to loss arrow"/>
          <p:cNvSpPr>
            <a:spLocks noGrp="1"/>
          </p:cNvSpPr>
          <p:nvPr/>
        </p:nvSpPr>
        <p:spPr>
          <a:xfrm>
            <a:off x="12306300" y="5191125"/>
            <a:ext cx="285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9525" rIns="9525" bIns="9525" anchor="ctr">
            <a:normAutofit fontScale="99206"/>
          </a:bodyPr>
          <a:lstStyle/>
          <a:p>
            <a:pPr algn="ctr">
              <a:defRPr sz="1575" b="1">
                <a:solidFill>
                  <a:srgbClr val="8C2A85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defRPr>
            </a:pPr>
            <a:r>
              <a:rPr sz="1575" b="1">
                <a:solidFill>
                  <a:srgbClr val="8C2A85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↓</a:t>
            </a:r>
            <a:endParaRPr sz="1575" b="1">
              <a:solidFill>
                <a:srgbClr val="8C2A85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  <p:sp>
        <p:nvSpPr>
          <p:cNvPr id="1376" name="TS-T node title"/>
          <p:cNvSpPr>
            <a:spLocks noGrp="1"/>
          </p:cNvSpPr>
          <p:nvPr/>
        </p:nvSpPr>
        <p:spPr>
          <a:xfrm>
            <a:off x="10706100" y="6115050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525" tIns="9525" rIns="9525" bIns="9525" anchor="ctr">
            <a:normAutofit/>
          </a:bodyPr>
          <a:lstStyle/>
          <a:p>
            <a:pPr algn="ctr">
              <a:defRPr sz="1800" b="1">
                <a:solidFill>
                  <a:srgbClr val="8C2A85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defRPr>
            </a:pPr>
            <a:r>
              <a:rPr sz="1800" b="1">
                <a:solidFill>
                  <a:srgbClr val="8C2A85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</a:rPr>
              <a:t>TS-T</a:t>
            </a:r>
            <a:endParaRPr sz="1800" b="1">
              <a:solidFill>
                <a:srgbClr val="8C2A85"/>
              </a:solidFill>
              <a:latin typeface="Comic Sans MS" panose="030F0702030302020204"/>
              <a:ea typeface="Comic Sans MS" panose="030F0702030302020204"/>
              <a:cs typeface="Comic Sans MS" panose="030F07020303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802</Words>
  <Application>WPS 演示</Application>
  <PresentationFormat>Converted Presentation</PresentationFormat>
  <Paragraphs>218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Comic Sans MS</vt:lpstr>
      <vt:lpstr>Calibri</vt:lpstr>
      <vt:lpstr>Cambria Math</vt:lpstr>
      <vt:lpstr>DejaVu Math TeX Gyre</vt:lpstr>
      <vt:lpstr>微软雅黑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岳洋</cp:lastModifiedBy>
  <cp:revision>1</cp:revision>
  <dcterms:created xsi:type="dcterms:W3CDTF">2026-07-18T08:30:18Z</dcterms:created>
  <dcterms:modified xsi:type="dcterms:W3CDTF">2026-07-18T08:30:19Z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FD1ACFF36BCC4BA3A57008678633D391_12</vt:lpwstr>
  </property>
  <property fmtid="{D5CDD505-2E9C-101B-9397-08002B2CF9AE}" pid="3" name="KSOProductBuildVer">
    <vt:lpwstr>2052-12.1.0.23542</vt:lpwstr>
  </property>
</Properties>
</file>