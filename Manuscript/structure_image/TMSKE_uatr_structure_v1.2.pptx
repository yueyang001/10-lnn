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4201775" cy="10048875"/>
  <p:notesSz cx="6858000" cy="9144000"/>
  <p:custDataLst>
    <p:tags r:id="rId4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35CC"/>
    <a:srgbClr val="FBFFF8"/>
    <a:srgbClr val="FF6A00"/>
    <a:srgbClr val="A4D197"/>
    <a:srgbClr val="55A83C"/>
    <a:srgbClr val="7834C8"/>
    <a:srgbClr val="4985EB"/>
    <a:srgbClr val="90B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677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2" name="Teacher panel"/>
          <p:cNvSpPr>
            <a:spLocks noGrp="1"/>
          </p:cNvSpPr>
          <p:nvPr/>
        </p:nvSpPr>
        <p:spPr>
          <a:xfrm>
            <a:off x="2028825" y="114300"/>
            <a:ext cx="5215255" cy="1651000"/>
          </a:xfrm>
          <a:custGeom>
            <a:avLst/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215255" h="1651000" fill="none" extrusionOk="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 stroke="0" extrusionOk="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>
            <a:srgbClr val="F8FBFF"/>
          </a:solidFill>
          <a:ln w="12383">
            <a:solidFill>
              <a:srgbClr val="2F73E8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5283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2301394" y="209550"/>
            <a:ext cx="466980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0646AD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Teacher: pretrained wav2vec 2.0</a:t>
            </a: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247900" y="523875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305050" y="619124"/>
            <a:ext cx="1019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CNN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encoder</a:t>
            </a: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2714625" y="1352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2857500" y="1238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2914650" y="1381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076575" y="1266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629025" y="523875"/>
            <a:ext cx="17716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3681413" y="559185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Transformer</a:t>
            </a: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 layer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3895725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8" name="tr-bot"/>
          <p:cNvSpPr>
            <a:spLocks noGrp="1"/>
          </p:cNvSpPr>
          <p:nvPr/>
        </p:nvSpPr>
        <p:spPr>
          <a:xfrm>
            <a:off x="3895725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9" name="tr-top"/>
          <p:cNvSpPr>
            <a:spLocks noGrp="1"/>
          </p:cNvSpPr>
          <p:nvPr/>
        </p:nvSpPr>
        <p:spPr>
          <a:xfrm>
            <a:off x="4257675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0" name="tr-bot"/>
          <p:cNvSpPr>
            <a:spLocks noGrp="1"/>
          </p:cNvSpPr>
          <p:nvPr/>
        </p:nvSpPr>
        <p:spPr>
          <a:xfrm>
            <a:off x="4257675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1" name="tr-top"/>
          <p:cNvSpPr>
            <a:spLocks noGrp="1"/>
          </p:cNvSpPr>
          <p:nvPr/>
        </p:nvSpPr>
        <p:spPr>
          <a:xfrm>
            <a:off x="4610100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2" name="tr-bot"/>
          <p:cNvSpPr>
            <a:spLocks noGrp="1"/>
          </p:cNvSpPr>
          <p:nvPr/>
        </p:nvSpPr>
        <p:spPr>
          <a:xfrm>
            <a:off x="4610100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3" name="tr-top"/>
          <p:cNvSpPr>
            <a:spLocks noGrp="1"/>
          </p:cNvSpPr>
          <p:nvPr/>
        </p:nvSpPr>
        <p:spPr>
          <a:xfrm>
            <a:off x="5124450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4" name="tr-bot"/>
          <p:cNvSpPr>
            <a:spLocks noGrp="1"/>
          </p:cNvSpPr>
          <p:nvPr/>
        </p:nvSpPr>
        <p:spPr>
          <a:xfrm>
            <a:off x="5124450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5" name="anchor"/>
          <p:cNvSpPr>
            <a:spLocks noGrp="1"/>
          </p:cNvSpPr>
          <p:nvPr/>
        </p:nvSpPr>
        <p:spPr>
          <a:xfrm>
            <a:off x="395287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8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395287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1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4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5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7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18160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18160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3" name="ellipsis"/>
          <p:cNvSpPr>
            <a:spLocks noGrp="1"/>
          </p:cNvSpPr>
          <p:nvPr/>
        </p:nvSpPr>
        <p:spPr>
          <a:xfrm>
            <a:off x="4757038" y="1134490"/>
            <a:ext cx="348362" cy="295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lang="en-US" altLang="zh-CN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5657850" y="523875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5715000" y="6191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Classifier</a:t>
            </a:r>
          </a:p>
        </p:txBody>
      </p:sp>
      <p:sp>
        <p:nvSpPr>
          <p:cNvPr id="196" name="bar-0"/>
          <p:cNvSpPr>
            <a:spLocks noGrp="1"/>
          </p:cNvSpPr>
          <p:nvPr/>
        </p:nvSpPr>
        <p:spPr>
          <a:xfrm>
            <a:off x="5916930" y="1351598"/>
            <a:ext cx="85725" cy="193357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7" name="bar-1"/>
          <p:cNvSpPr>
            <a:spLocks noGrp="1"/>
          </p:cNvSpPr>
          <p:nvPr/>
        </p:nvSpPr>
        <p:spPr>
          <a:xfrm>
            <a:off x="611695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8" name="bar-2"/>
          <p:cNvSpPr>
            <a:spLocks noGrp="1"/>
          </p:cNvSpPr>
          <p:nvPr/>
        </p:nvSpPr>
        <p:spPr>
          <a:xfrm>
            <a:off x="6316980" y="1020128"/>
            <a:ext cx="85725" cy="524828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9" name="bar-3"/>
          <p:cNvSpPr>
            <a:spLocks noGrp="1"/>
          </p:cNvSpPr>
          <p:nvPr/>
        </p:nvSpPr>
        <p:spPr>
          <a:xfrm>
            <a:off x="651700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0" name="anchor"/>
          <p:cNvSpPr>
            <a:spLocks noGrp="1"/>
          </p:cNvSpPr>
          <p:nvPr/>
        </p:nvSpPr>
        <p:spPr>
          <a:xfrm>
            <a:off x="33813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6290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3" name="直接箭头连接符 852"/>
          <p:cNvCxnSpPr>
            <a:stCxn id="200" idx="6"/>
            <a:endCxn id="201" idx="2"/>
          </p:cNvCxnSpPr>
          <p:nvPr/>
        </p:nvCxnSpPr>
        <p:spPr>
          <a:xfrm>
            <a:off x="34004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4006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6483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6" name="直接箭头连接符 855"/>
          <p:cNvCxnSpPr>
            <a:stCxn id="203" idx="6"/>
            <a:endCxn id="204" idx="2"/>
          </p:cNvCxnSpPr>
          <p:nvPr/>
        </p:nvCxnSpPr>
        <p:spPr>
          <a:xfrm>
            <a:off x="54197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6896100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458075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9" name="直接箭头连接符 858"/>
          <p:cNvCxnSpPr>
            <a:stCxn id="206" idx="6"/>
            <a:endCxn id="207" idx="2"/>
          </p:cNvCxnSpPr>
          <p:nvPr/>
        </p:nvCxnSpPr>
        <p:spPr>
          <a:xfrm>
            <a:off x="6915150" y="1219200"/>
            <a:ext cx="5429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/>
          <p:cNvSpPr>
            <a:spLocks noGrp="1"/>
          </p:cNvSpPr>
          <p:nvPr/>
        </p:nvSpPr>
        <p:spPr>
          <a:xfrm>
            <a:off x="7574471" y="1128712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zt"/>
              <p:cNvSpPr>
                <a:spLocks noGrp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15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 xmlns="">
          <p:sp>
            <p:nvSpPr>
              <p:cNvPr id="215" name="z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/>
          <p:cNvGrpSpPr/>
          <p:nvPr/>
        </p:nvGrpSpPr>
        <p:grpSpPr>
          <a:xfrm>
            <a:off x="2143125" y="1933575"/>
            <a:ext cx="4429125" cy="408940"/>
            <a:chOff x="3375" y="3045"/>
            <a:chExt cx="6975" cy="6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HT"/>
                <p:cNvSpPr>
                  <a:spLocks noGrp="1"/>
                </p:cNvSpPr>
                <p:nvPr/>
              </p:nvSpPr>
              <p:spPr>
                <a:xfrm>
                  <a:off x="3375" y="3180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157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217" name="H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" y="3180"/>
                  <a:ext cx="675" cy="390"/>
                </a:xfrm>
                <a:prstGeom prst="rect">
                  <a:avLst/>
                </a:prstGeom>
                <a:blipFill rotWithShape="1">
                  <a:blip r:embed="rId4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teacher hidden"/>
            <p:cNvSpPr>
              <a:spLocks noGrp="1"/>
            </p:cNvSpPr>
            <p:nvPr/>
          </p:nvSpPr>
          <p:spPr>
            <a:xfrm>
              <a:off x="4140" y="3045"/>
              <a:ext cx="6210" cy="645"/>
            </a:xfrm>
            <a:prstGeom prst="roundRect">
              <a:avLst>
                <a:gd name="adj" fmla="val 13953"/>
              </a:avLst>
            </a:prstGeom>
            <a:solidFill>
              <a:srgbClr val="E9F2FF"/>
            </a:solidFill>
            <a:ln w="9525">
              <a:solidFill>
                <a:srgbClr val="2F73E8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19" name="token-0"/>
          <p:cNvSpPr>
            <a:spLocks noGrp="1"/>
          </p:cNvSpPr>
          <p:nvPr/>
        </p:nvSpPr>
        <p:spPr>
          <a:xfrm>
            <a:off x="27717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0" name="token-label-0"/>
          <p:cNvSpPr>
            <a:spLocks noGrp="1"/>
          </p:cNvSpPr>
          <p:nvPr/>
        </p:nvSpPr>
        <p:spPr>
          <a:xfrm>
            <a:off x="27717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</a:p>
        </p:txBody>
      </p:sp>
      <p:sp>
        <p:nvSpPr>
          <p:cNvPr id="221" name="token-1"/>
          <p:cNvSpPr>
            <a:spLocks noGrp="1"/>
          </p:cNvSpPr>
          <p:nvPr/>
        </p:nvSpPr>
        <p:spPr>
          <a:xfrm>
            <a:off x="34194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2" name="token-label-1"/>
          <p:cNvSpPr>
            <a:spLocks noGrp="1"/>
          </p:cNvSpPr>
          <p:nvPr/>
        </p:nvSpPr>
        <p:spPr>
          <a:xfrm>
            <a:off x="34194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</a:p>
        </p:txBody>
      </p:sp>
      <p:sp>
        <p:nvSpPr>
          <p:cNvPr id="223" name="token-2"/>
          <p:cNvSpPr>
            <a:spLocks noGrp="1"/>
          </p:cNvSpPr>
          <p:nvPr/>
        </p:nvSpPr>
        <p:spPr>
          <a:xfrm>
            <a:off x="40671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4" name="token-label-2"/>
          <p:cNvSpPr>
            <a:spLocks noGrp="1"/>
          </p:cNvSpPr>
          <p:nvPr/>
        </p:nvSpPr>
        <p:spPr>
          <a:xfrm>
            <a:off x="40671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</a:p>
        </p:txBody>
      </p:sp>
      <p:sp>
        <p:nvSpPr>
          <p:cNvPr id="225" name="token-3"/>
          <p:cNvSpPr>
            <a:spLocks noGrp="1"/>
          </p:cNvSpPr>
          <p:nvPr/>
        </p:nvSpPr>
        <p:spPr>
          <a:xfrm>
            <a:off x="47148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6" name="token-label-3"/>
          <p:cNvSpPr>
            <a:spLocks noGrp="1"/>
          </p:cNvSpPr>
          <p:nvPr/>
        </p:nvSpPr>
        <p:spPr>
          <a:xfrm>
            <a:off x="47148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</a:p>
        </p:txBody>
      </p:sp>
      <p:sp>
        <p:nvSpPr>
          <p:cNvPr id="227" name="teacher dots"/>
          <p:cNvSpPr>
            <a:spLocks noGrp="1"/>
          </p:cNvSpPr>
          <p:nvPr/>
        </p:nvSpPr>
        <p:spPr>
          <a:xfrm>
            <a:off x="5467350" y="20097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</a:p>
        </p:txBody>
      </p:sp>
      <p:sp>
        <p:nvSpPr>
          <p:cNvPr id="228" name="token-0"/>
          <p:cNvSpPr>
            <a:spLocks noGrp="1"/>
          </p:cNvSpPr>
          <p:nvPr/>
        </p:nvSpPr>
        <p:spPr>
          <a:xfrm>
            <a:off x="6210300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oken-label-0"/>
              <p:cNvSpPr>
                <a:spLocks noGrp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 xmlns="">
          <p:sp>
            <p:nvSpPr>
              <p:cNvPr id="229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Student panel"/>
          <p:cNvSpPr>
            <a:spLocks noGrp="1"/>
          </p:cNvSpPr>
          <p:nvPr/>
        </p:nvSpPr>
        <p:spPr>
          <a:xfrm>
            <a:off x="1447800" y="7419975"/>
            <a:ext cx="6650355" cy="1583055"/>
          </a:xfrm>
          <a:custGeom>
            <a:avLst/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650355" h="1583055" fill="none" extrusionOk="0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 stroke="0" extrusionOk="0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>
            <a:srgbClr val="FBFFF8"/>
          </a:solidFill>
          <a:ln w="12383">
            <a:solidFill>
              <a:srgbClr val="55A83C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4054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6" name="Student title"/>
          <p:cNvSpPr>
            <a:spLocks noGrp="1"/>
          </p:cNvSpPr>
          <p:nvPr/>
        </p:nvSpPr>
        <p:spPr>
          <a:xfrm>
            <a:off x="3087370" y="859218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kumimoji="0" sz="1725" b="1" i="0" u="none" strike="noStrike" kern="1200" cap="none" spc="0" normalizeH="0" baseline="0" noProof="0" dirty="0">
                <a:ln>
                  <a:noFill/>
                </a:ln>
                <a:solidFill>
                  <a:srgbClr val="188326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Student: lightweight LNN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2143125" y="6830060"/>
            <a:ext cx="4581525" cy="408940"/>
            <a:chOff x="3330" y="13740"/>
            <a:chExt cx="7215" cy="6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" name="HS"/>
                <p:cNvSpPr>
                  <a:spLocks noGrp="1"/>
                </p:cNvSpPr>
                <p:nvPr/>
              </p:nvSpPr>
              <p:spPr>
                <a:xfrm>
                  <a:off x="3330" y="13905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oMath>
                    </m:oMathPara>
                  </a14:m>
                  <a:endParaRPr kumimoji="0" sz="1575" b="1" i="1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460" name="HS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" y="13905"/>
                  <a:ext cx="675" cy="390"/>
                </a:xfrm>
                <a:prstGeom prst="rect">
                  <a:avLst/>
                </a:prstGeom>
                <a:blipFill rotWithShape="1">
                  <a:blip r:embed="rId6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1" name="student hidden"/>
            <p:cNvSpPr>
              <a:spLocks noGrp="1"/>
            </p:cNvSpPr>
            <p:nvPr/>
          </p:nvSpPr>
          <p:spPr>
            <a:xfrm>
              <a:off x="4035" y="13740"/>
              <a:ext cx="6510" cy="645"/>
            </a:xfrm>
            <a:prstGeom prst="roundRect">
              <a:avLst>
                <a:gd name="adj" fmla="val 13953"/>
              </a:avLst>
            </a:prstGeom>
            <a:solidFill>
              <a:srgbClr val="EFF9EB"/>
            </a:solidFill>
            <a:ln w="9525">
              <a:solidFill>
                <a:srgbClr val="55A83C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2" name="token-0"/>
            <p:cNvSpPr>
              <a:spLocks noGrp="1"/>
            </p:cNvSpPr>
            <p:nvPr/>
          </p:nvSpPr>
          <p:spPr>
            <a:xfrm>
              <a:off x="435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3" name="token-label-0"/>
            <p:cNvSpPr>
              <a:spLocks noGrp="1"/>
            </p:cNvSpPr>
            <p:nvPr/>
          </p:nvSpPr>
          <p:spPr>
            <a:xfrm>
              <a:off x="435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1</a:t>
              </a:r>
            </a:p>
          </p:txBody>
        </p:sp>
        <p:sp>
          <p:nvSpPr>
            <p:cNvPr id="464" name="token-1"/>
            <p:cNvSpPr>
              <a:spLocks noGrp="1"/>
            </p:cNvSpPr>
            <p:nvPr/>
          </p:nvSpPr>
          <p:spPr>
            <a:xfrm>
              <a:off x="540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5" name="token-label-1"/>
            <p:cNvSpPr>
              <a:spLocks noGrp="1"/>
            </p:cNvSpPr>
            <p:nvPr/>
          </p:nvSpPr>
          <p:spPr>
            <a:xfrm>
              <a:off x="540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</a:p>
          </p:txBody>
        </p:sp>
        <p:sp>
          <p:nvSpPr>
            <p:cNvPr id="466" name="token-2"/>
            <p:cNvSpPr>
              <a:spLocks noGrp="1"/>
            </p:cNvSpPr>
            <p:nvPr/>
          </p:nvSpPr>
          <p:spPr>
            <a:xfrm>
              <a:off x="645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7" name="token-label-2"/>
            <p:cNvSpPr>
              <a:spLocks noGrp="1"/>
            </p:cNvSpPr>
            <p:nvPr/>
          </p:nvSpPr>
          <p:spPr>
            <a:xfrm>
              <a:off x="645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3</a:t>
              </a:r>
            </a:p>
          </p:txBody>
        </p:sp>
        <p:sp>
          <p:nvSpPr>
            <p:cNvPr id="468" name="token-3"/>
            <p:cNvSpPr>
              <a:spLocks noGrp="1"/>
            </p:cNvSpPr>
            <p:nvPr/>
          </p:nvSpPr>
          <p:spPr>
            <a:xfrm>
              <a:off x="750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9" name="token-label-3"/>
            <p:cNvSpPr>
              <a:spLocks noGrp="1"/>
            </p:cNvSpPr>
            <p:nvPr/>
          </p:nvSpPr>
          <p:spPr>
            <a:xfrm>
              <a:off x="750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·</a:t>
              </a:r>
            </a:p>
          </p:txBody>
        </p:sp>
        <p:sp>
          <p:nvSpPr>
            <p:cNvPr id="470" name="student dots"/>
            <p:cNvSpPr>
              <a:spLocks noGrp="1"/>
            </p:cNvSpPr>
            <p:nvPr/>
          </p:nvSpPr>
          <p:spPr>
            <a:xfrm>
              <a:off x="8805" y="13860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</a:p>
          </p:txBody>
        </p:sp>
        <p:sp>
          <p:nvSpPr>
            <p:cNvPr id="471" name="token-0"/>
            <p:cNvSpPr>
              <a:spLocks noGrp="1"/>
            </p:cNvSpPr>
            <p:nvPr/>
          </p:nvSpPr>
          <p:spPr>
            <a:xfrm>
              <a:off x="978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token-label-0"/>
                <p:cNvSpPr>
                  <a:spLocks noGrp="1"/>
                </p:cNvSpPr>
                <p:nvPr/>
              </p:nvSpPr>
              <p:spPr>
                <a:xfrm>
                  <a:off x="9780" y="13905"/>
                  <a:ext cx="48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9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oMath>
                    </m:oMathPara>
                  </a14:m>
                  <a:endParaRPr kumimoji="0" sz="97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472" name="token-label-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0" y="13905"/>
                  <a:ext cx="480" cy="330"/>
                </a:xfrm>
                <a:prstGeom prst="rect">
                  <a:avLst/>
                </a:prstGeom>
                <a:blipFill rotWithShape="1">
                  <a:blip r:embed="rId7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4" name="TS-T panel"/>
          <p:cNvSpPr>
            <a:spLocks noGrp="1"/>
          </p:cNvSpPr>
          <p:nvPr/>
        </p:nvSpPr>
        <p:spPr>
          <a:xfrm>
            <a:off x="6543675" y="2948305"/>
            <a:ext cx="3427730" cy="3601085"/>
          </a:xfrm>
          <a:custGeom>
            <a:avLst/>
            <a:gdLst>
              <a:gd name="csX0" fmla="*/ 0 w 3427730"/>
              <a:gd name="csY0" fmla="*/ 176425 h 3601085"/>
              <a:gd name="csX1" fmla="*/ 176425 w 3427730"/>
              <a:gd name="csY1" fmla="*/ 0 h 3601085"/>
              <a:gd name="csX2" fmla="*/ 822150 w 3427730"/>
              <a:gd name="csY2" fmla="*/ 0 h 3601085"/>
              <a:gd name="csX3" fmla="*/ 1375628 w 3427730"/>
              <a:gd name="csY3" fmla="*/ 0 h 3601085"/>
              <a:gd name="csX4" fmla="*/ 2021353 w 3427730"/>
              <a:gd name="csY4" fmla="*/ 0 h 3601085"/>
              <a:gd name="csX5" fmla="*/ 2544083 w 3427730"/>
              <a:gd name="csY5" fmla="*/ 0 h 3601085"/>
              <a:gd name="csX6" fmla="*/ 3251305 w 3427730"/>
              <a:gd name="csY6" fmla="*/ 0 h 3601085"/>
              <a:gd name="csX7" fmla="*/ 3427730 w 3427730"/>
              <a:gd name="csY7" fmla="*/ 176425 h 3601085"/>
              <a:gd name="csX8" fmla="*/ 3427730 w 3427730"/>
              <a:gd name="csY8" fmla="*/ 826072 h 3601085"/>
              <a:gd name="csX9" fmla="*/ 3427730 w 3427730"/>
              <a:gd name="csY9" fmla="*/ 1508201 h 3601085"/>
              <a:gd name="csX10" fmla="*/ 3427730 w 3427730"/>
              <a:gd name="csY10" fmla="*/ 2092884 h 3601085"/>
              <a:gd name="csX11" fmla="*/ 3427730 w 3427730"/>
              <a:gd name="csY11" fmla="*/ 2645084 h 3601085"/>
              <a:gd name="csX12" fmla="*/ 3427730 w 3427730"/>
              <a:gd name="csY12" fmla="*/ 3424660 h 3601085"/>
              <a:gd name="csX13" fmla="*/ 3251305 w 3427730"/>
              <a:gd name="csY13" fmla="*/ 3601085 h 3601085"/>
              <a:gd name="csX14" fmla="*/ 2728575 w 3427730"/>
              <a:gd name="csY14" fmla="*/ 3601085 h 3601085"/>
              <a:gd name="csX15" fmla="*/ 2052102 w 3427730"/>
              <a:gd name="csY15" fmla="*/ 3601085 h 3601085"/>
              <a:gd name="csX16" fmla="*/ 1437126 w 3427730"/>
              <a:gd name="csY16" fmla="*/ 3601085 h 3601085"/>
              <a:gd name="csX17" fmla="*/ 760652 w 3427730"/>
              <a:gd name="csY17" fmla="*/ 3601085 h 3601085"/>
              <a:gd name="csX18" fmla="*/ 176425 w 3427730"/>
              <a:gd name="csY18" fmla="*/ 3601085 h 3601085"/>
              <a:gd name="csX19" fmla="*/ 0 w 3427730"/>
              <a:gd name="csY19" fmla="*/ 3424660 h 3601085"/>
              <a:gd name="csX20" fmla="*/ 0 w 3427730"/>
              <a:gd name="csY20" fmla="*/ 2807495 h 3601085"/>
              <a:gd name="csX21" fmla="*/ 0 w 3427730"/>
              <a:gd name="csY21" fmla="*/ 2157848 h 3601085"/>
              <a:gd name="csX22" fmla="*/ 0 w 3427730"/>
              <a:gd name="csY22" fmla="*/ 1605648 h 3601085"/>
              <a:gd name="csX23" fmla="*/ 0 w 3427730"/>
              <a:gd name="csY23" fmla="*/ 891037 h 3601085"/>
              <a:gd name="csX24" fmla="*/ 0 w 3427730"/>
              <a:gd name="csY24" fmla="*/ 176425 h 360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7730" h="3601085" fill="none" extrusionOk="0">
                <a:moveTo>
                  <a:pt x="0" y="176425"/>
                </a:moveTo>
                <a:cubicBezTo>
                  <a:pt x="-9705" y="98472"/>
                  <a:pt x="77217" y="-2350"/>
                  <a:pt x="176425" y="0"/>
                </a:cubicBezTo>
                <a:cubicBezTo>
                  <a:pt x="445777" y="-9315"/>
                  <a:pt x="504345" y="-12736"/>
                  <a:pt x="822150" y="0"/>
                </a:cubicBezTo>
                <a:cubicBezTo>
                  <a:pt x="1139956" y="12736"/>
                  <a:pt x="1108921" y="-16036"/>
                  <a:pt x="1375628" y="0"/>
                </a:cubicBezTo>
                <a:cubicBezTo>
                  <a:pt x="1642335" y="16036"/>
                  <a:pt x="1792498" y="5865"/>
                  <a:pt x="2021353" y="0"/>
                </a:cubicBezTo>
                <a:cubicBezTo>
                  <a:pt x="2250208" y="-5865"/>
                  <a:pt x="2417219" y="26082"/>
                  <a:pt x="2544083" y="0"/>
                </a:cubicBezTo>
                <a:cubicBezTo>
                  <a:pt x="2670947" y="-26082"/>
                  <a:pt x="2939126" y="-12905"/>
                  <a:pt x="3251305" y="0"/>
                </a:cubicBezTo>
                <a:cubicBezTo>
                  <a:pt x="3365678" y="15704"/>
                  <a:pt x="3437680" y="73039"/>
                  <a:pt x="3427730" y="176425"/>
                </a:cubicBezTo>
                <a:cubicBezTo>
                  <a:pt x="3408798" y="364082"/>
                  <a:pt x="3413810" y="573481"/>
                  <a:pt x="3427730" y="826072"/>
                </a:cubicBezTo>
                <a:cubicBezTo>
                  <a:pt x="3441650" y="1078663"/>
                  <a:pt x="3396432" y="1229695"/>
                  <a:pt x="3427730" y="1508201"/>
                </a:cubicBezTo>
                <a:cubicBezTo>
                  <a:pt x="3459028" y="1786707"/>
                  <a:pt x="3404635" y="1942727"/>
                  <a:pt x="3427730" y="2092884"/>
                </a:cubicBezTo>
                <a:cubicBezTo>
                  <a:pt x="3450825" y="2243041"/>
                  <a:pt x="3423134" y="2494381"/>
                  <a:pt x="3427730" y="2645084"/>
                </a:cubicBezTo>
                <a:cubicBezTo>
                  <a:pt x="3432326" y="2795787"/>
                  <a:pt x="3389972" y="3163406"/>
                  <a:pt x="3427730" y="3424660"/>
                </a:cubicBezTo>
                <a:cubicBezTo>
                  <a:pt x="3432314" y="3533302"/>
                  <a:pt x="3362473" y="3614669"/>
                  <a:pt x="3251305" y="3601085"/>
                </a:cubicBezTo>
                <a:cubicBezTo>
                  <a:pt x="3080043" y="3621787"/>
                  <a:pt x="2893152" y="3604818"/>
                  <a:pt x="2728575" y="3601085"/>
                </a:cubicBezTo>
                <a:cubicBezTo>
                  <a:pt x="2563998" y="3597353"/>
                  <a:pt x="2318932" y="3613902"/>
                  <a:pt x="2052102" y="3601085"/>
                </a:cubicBezTo>
                <a:cubicBezTo>
                  <a:pt x="1785272" y="3588268"/>
                  <a:pt x="1584736" y="3579754"/>
                  <a:pt x="1437126" y="3601085"/>
                </a:cubicBezTo>
                <a:cubicBezTo>
                  <a:pt x="1289516" y="3622416"/>
                  <a:pt x="971315" y="3601024"/>
                  <a:pt x="760652" y="3601085"/>
                </a:cubicBezTo>
                <a:cubicBezTo>
                  <a:pt x="549989" y="3601146"/>
                  <a:pt x="414558" y="3573473"/>
                  <a:pt x="176425" y="3601085"/>
                </a:cubicBezTo>
                <a:cubicBezTo>
                  <a:pt x="74355" y="3618052"/>
                  <a:pt x="12310" y="3501365"/>
                  <a:pt x="0" y="3424660"/>
                </a:cubicBezTo>
                <a:cubicBezTo>
                  <a:pt x="30396" y="3176411"/>
                  <a:pt x="-8807" y="3053757"/>
                  <a:pt x="0" y="2807495"/>
                </a:cubicBezTo>
                <a:cubicBezTo>
                  <a:pt x="8807" y="2561233"/>
                  <a:pt x="-29016" y="2382664"/>
                  <a:pt x="0" y="2157848"/>
                </a:cubicBezTo>
                <a:cubicBezTo>
                  <a:pt x="29016" y="1933032"/>
                  <a:pt x="-19109" y="1850922"/>
                  <a:pt x="0" y="1605648"/>
                </a:cubicBezTo>
                <a:cubicBezTo>
                  <a:pt x="19109" y="1360374"/>
                  <a:pt x="12041" y="1136891"/>
                  <a:pt x="0" y="891037"/>
                </a:cubicBezTo>
                <a:cubicBezTo>
                  <a:pt x="-12041" y="645183"/>
                  <a:pt x="-1765" y="346848"/>
                  <a:pt x="0" y="176425"/>
                </a:cubicBezTo>
                <a:close/>
              </a:path>
              <a:path w="3427730" h="3601085" stroke="0" extrusionOk="0">
                <a:moveTo>
                  <a:pt x="0" y="176425"/>
                </a:moveTo>
                <a:cubicBezTo>
                  <a:pt x="-4114" y="76450"/>
                  <a:pt x="68436" y="3961"/>
                  <a:pt x="176425" y="0"/>
                </a:cubicBezTo>
                <a:cubicBezTo>
                  <a:pt x="325325" y="25341"/>
                  <a:pt x="636030" y="-20573"/>
                  <a:pt x="852899" y="0"/>
                </a:cubicBezTo>
                <a:cubicBezTo>
                  <a:pt x="1069768" y="20573"/>
                  <a:pt x="1318236" y="-24698"/>
                  <a:pt x="1437126" y="0"/>
                </a:cubicBezTo>
                <a:cubicBezTo>
                  <a:pt x="1556016" y="24698"/>
                  <a:pt x="1776836" y="-6282"/>
                  <a:pt x="1990604" y="0"/>
                </a:cubicBezTo>
                <a:cubicBezTo>
                  <a:pt x="2204372" y="6282"/>
                  <a:pt x="2461380" y="17986"/>
                  <a:pt x="2636329" y="0"/>
                </a:cubicBezTo>
                <a:cubicBezTo>
                  <a:pt x="2811279" y="-17986"/>
                  <a:pt x="2951390" y="-26307"/>
                  <a:pt x="3251305" y="0"/>
                </a:cubicBezTo>
                <a:cubicBezTo>
                  <a:pt x="3354413" y="-9229"/>
                  <a:pt x="3423078" y="83076"/>
                  <a:pt x="3427730" y="176425"/>
                </a:cubicBezTo>
                <a:cubicBezTo>
                  <a:pt x="3449842" y="427176"/>
                  <a:pt x="3445937" y="582559"/>
                  <a:pt x="3427730" y="826072"/>
                </a:cubicBezTo>
                <a:cubicBezTo>
                  <a:pt x="3409523" y="1069585"/>
                  <a:pt x="3446013" y="1196335"/>
                  <a:pt x="3427730" y="1378272"/>
                </a:cubicBezTo>
                <a:cubicBezTo>
                  <a:pt x="3409447" y="1560209"/>
                  <a:pt x="3419495" y="1810190"/>
                  <a:pt x="3427730" y="2027919"/>
                </a:cubicBezTo>
                <a:cubicBezTo>
                  <a:pt x="3435965" y="2245648"/>
                  <a:pt x="3451679" y="2397067"/>
                  <a:pt x="3427730" y="2677566"/>
                </a:cubicBezTo>
                <a:cubicBezTo>
                  <a:pt x="3403781" y="2958065"/>
                  <a:pt x="3428004" y="3242853"/>
                  <a:pt x="3427730" y="3424660"/>
                </a:cubicBezTo>
                <a:cubicBezTo>
                  <a:pt x="3433895" y="3529648"/>
                  <a:pt x="3361898" y="3589566"/>
                  <a:pt x="3251305" y="3601085"/>
                </a:cubicBezTo>
                <a:cubicBezTo>
                  <a:pt x="3023708" y="3602837"/>
                  <a:pt x="2940796" y="3604160"/>
                  <a:pt x="2636329" y="3601085"/>
                </a:cubicBezTo>
                <a:cubicBezTo>
                  <a:pt x="2331862" y="3598010"/>
                  <a:pt x="2148679" y="3589024"/>
                  <a:pt x="2021353" y="3601085"/>
                </a:cubicBezTo>
                <a:cubicBezTo>
                  <a:pt x="1894027" y="3613146"/>
                  <a:pt x="1595526" y="3586220"/>
                  <a:pt x="1344879" y="3601085"/>
                </a:cubicBezTo>
                <a:cubicBezTo>
                  <a:pt x="1094232" y="3615950"/>
                  <a:pt x="1001191" y="3621659"/>
                  <a:pt x="729903" y="3601085"/>
                </a:cubicBezTo>
                <a:cubicBezTo>
                  <a:pt x="458615" y="3580511"/>
                  <a:pt x="362113" y="3604070"/>
                  <a:pt x="176425" y="3601085"/>
                </a:cubicBezTo>
                <a:cubicBezTo>
                  <a:pt x="71061" y="3601411"/>
                  <a:pt x="11408" y="3501532"/>
                  <a:pt x="0" y="3424660"/>
                </a:cubicBezTo>
                <a:cubicBezTo>
                  <a:pt x="-32790" y="3100514"/>
                  <a:pt x="14367" y="3045018"/>
                  <a:pt x="0" y="2742531"/>
                </a:cubicBezTo>
                <a:cubicBezTo>
                  <a:pt x="-14367" y="2440044"/>
                  <a:pt x="-14749" y="2413088"/>
                  <a:pt x="0" y="2157848"/>
                </a:cubicBezTo>
                <a:cubicBezTo>
                  <a:pt x="14749" y="1902608"/>
                  <a:pt x="-8660" y="1652177"/>
                  <a:pt x="0" y="1508201"/>
                </a:cubicBezTo>
                <a:cubicBezTo>
                  <a:pt x="8660" y="1364225"/>
                  <a:pt x="-16466" y="1163021"/>
                  <a:pt x="0" y="956001"/>
                </a:cubicBezTo>
                <a:cubicBezTo>
                  <a:pt x="16466" y="748981"/>
                  <a:pt x="-26206" y="342959"/>
                  <a:pt x="0" y="176425"/>
                </a:cubicBezTo>
                <a:close/>
              </a:path>
            </a:pathLst>
          </a:custGeom>
          <a:solidFill>
            <a:srgbClr val="FFFFFF"/>
          </a:solidFill>
          <a:ln w="13335">
            <a:solidFill>
              <a:srgbClr val="7A35CC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514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720648" y="6170295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7A35CC"/>
                </a:solidFill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7A35CC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TS-T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8618220" y="6953250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kumimoji="0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 xmlns=""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220" y="6953250"/>
                <a:ext cx="428625" cy="28575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bar-0"/>
          <p:cNvSpPr>
            <a:spLocks noGrp="1"/>
          </p:cNvSpPr>
          <p:nvPr/>
        </p:nvSpPr>
        <p:spPr>
          <a:xfrm>
            <a:off x="8524875" y="7326630"/>
            <a:ext cx="95250" cy="23622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3" name="bar-1"/>
          <p:cNvSpPr>
            <a:spLocks noGrp="1"/>
          </p:cNvSpPr>
          <p:nvPr/>
        </p:nvSpPr>
        <p:spPr>
          <a:xfrm>
            <a:off x="8734425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4" name="bar-2"/>
          <p:cNvSpPr>
            <a:spLocks noGrp="1"/>
          </p:cNvSpPr>
          <p:nvPr/>
        </p:nvSpPr>
        <p:spPr>
          <a:xfrm>
            <a:off x="8943975" y="7338441"/>
            <a:ext cx="95250" cy="22440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5" name="per-step"/>
          <p:cNvSpPr>
            <a:spLocks noGrp="1"/>
          </p:cNvSpPr>
          <p:nvPr/>
        </p:nvSpPr>
        <p:spPr>
          <a:xfrm>
            <a:off x="9124950" y="72961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</a:p>
        </p:txBody>
      </p:sp>
      <p:sp>
        <p:nvSpPr>
          <p:cNvPr id="516" name="bar-0"/>
          <p:cNvSpPr>
            <a:spLocks noGrp="1"/>
          </p:cNvSpPr>
          <p:nvPr/>
        </p:nvSpPr>
        <p:spPr>
          <a:xfrm>
            <a:off x="9525000" y="7341394"/>
            <a:ext cx="95250" cy="221456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7" name="bar-1"/>
          <p:cNvSpPr>
            <a:spLocks noGrp="1"/>
          </p:cNvSpPr>
          <p:nvPr/>
        </p:nvSpPr>
        <p:spPr>
          <a:xfrm>
            <a:off x="9791700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8" name="per-label"/>
          <p:cNvSpPr>
            <a:spLocks noGrp="1"/>
          </p:cNvSpPr>
          <p:nvPr/>
        </p:nvSpPr>
        <p:spPr>
          <a:xfrm>
            <a:off x="8639175" y="77343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(per time step)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kumimoji="0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 xmlns=""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blipFill rotWithShape="1">
                <a:blip r:embed="rId9"/>
                <a:stretch>
                  <a:fillRect l="-74" r="74" b="-285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bar-0"/>
          <p:cNvSpPr>
            <a:spLocks noGrp="1"/>
          </p:cNvSpPr>
          <p:nvPr/>
        </p:nvSpPr>
        <p:spPr>
          <a:xfrm>
            <a:off x="8858250" y="8449151"/>
            <a:ext cx="95250" cy="37099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1" name="final-label"/>
          <p:cNvSpPr>
            <a:spLocks noGrp="1"/>
          </p:cNvSpPr>
          <p:nvPr/>
        </p:nvSpPr>
        <p:spPr>
          <a:xfrm>
            <a:off x="8562975" y="88392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kumimoji="0" sz="1125" b="1" i="1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C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classes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10376535" y="4026535"/>
            <a:ext cx="1657350" cy="1155700"/>
            <a:chOff x="16440" y="7135"/>
            <a:chExt cx="2610" cy="1820"/>
          </a:xfrm>
        </p:grpSpPr>
        <p:sp>
          <p:nvSpPr>
            <p:cNvPr id="522" name="loss"/>
            <p:cNvSpPr>
              <a:spLocks noGrp="1"/>
            </p:cNvSpPr>
            <p:nvPr/>
          </p:nvSpPr>
          <p:spPr>
            <a:xfrm>
              <a:off x="16440" y="7135"/>
              <a:ext cx="2610" cy="1820"/>
            </a:xfrm>
            <a:custGeom>
              <a:avLst/>
              <a:gdLst>
                <a:gd name="csX0" fmla="*/ 0 w 1657350"/>
                <a:gd name="csY0" fmla="*/ 102279 h 1155700"/>
                <a:gd name="csX1" fmla="*/ 102279 w 1657350"/>
                <a:gd name="csY1" fmla="*/ 0 h 1155700"/>
                <a:gd name="csX2" fmla="*/ 601071 w 1657350"/>
                <a:gd name="csY2" fmla="*/ 0 h 1155700"/>
                <a:gd name="csX3" fmla="*/ 1056279 w 1657350"/>
                <a:gd name="csY3" fmla="*/ 0 h 1155700"/>
                <a:gd name="csX4" fmla="*/ 1555071 w 1657350"/>
                <a:gd name="csY4" fmla="*/ 0 h 1155700"/>
                <a:gd name="csX5" fmla="*/ 1657350 w 1657350"/>
                <a:gd name="csY5" fmla="*/ 102279 h 1155700"/>
                <a:gd name="csX6" fmla="*/ 1657350 w 1657350"/>
                <a:gd name="csY6" fmla="*/ 558827 h 1155700"/>
                <a:gd name="csX7" fmla="*/ 1657350 w 1657350"/>
                <a:gd name="csY7" fmla="*/ 1053421 h 1155700"/>
                <a:gd name="csX8" fmla="*/ 1555071 w 1657350"/>
                <a:gd name="csY8" fmla="*/ 1155700 h 1155700"/>
                <a:gd name="csX9" fmla="*/ 1041751 w 1657350"/>
                <a:gd name="csY9" fmla="*/ 1155700 h 1155700"/>
                <a:gd name="csX10" fmla="*/ 542959 w 1657350"/>
                <a:gd name="csY10" fmla="*/ 1155700 h 1155700"/>
                <a:gd name="csX11" fmla="*/ 102279 w 1657350"/>
                <a:gd name="csY11" fmla="*/ 1155700 h 1155700"/>
                <a:gd name="csX12" fmla="*/ 0 w 1657350"/>
                <a:gd name="csY12" fmla="*/ 1053421 h 1155700"/>
                <a:gd name="csX13" fmla="*/ 0 w 1657350"/>
                <a:gd name="csY13" fmla="*/ 577850 h 1155700"/>
                <a:gd name="csX14" fmla="*/ 0 w 1657350"/>
                <a:gd name="csY14" fmla="*/ 102279 h 1155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57350" h="1155700" fill="none" extrusionOk="0">
                  <a:moveTo>
                    <a:pt x="0" y="102279"/>
                  </a:moveTo>
                  <a:cubicBezTo>
                    <a:pt x="-5204" y="35185"/>
                    <a:pt x="45959" y="-2257"/>
                    <a:pt x="102279" y="0"/>
                  </a:cubicBezTo>
                  <a:cubicBezTo>
                    <a:pt x="304020" y="13055"/>
                    <a:pt x="386704" y="-12001"/>
                    <a:pt x="601071" y="0"/>
                  </a:cubicBezTo>
                  <a:cubicBezTo>
                    <a:pt x="815438" y="12001"/>
                    <a:pt x="844931" y="-6527"/>
                    <a:pt x="1056279" y="0"/>
                  </a:cubicBezTo>
                  <a:cubicBezTo>
                    <a:pt x="1267627" y="6527"/>
                    <a:pt x="1425664" y="16735"/>
                    <a:pt x="1555071" y="0"/>
                  </a:cubicBezTo>
                  <a:cubicBezTo>
                    <a:pt x="1615094" y="-748"/>
                    <a:pt x="1658326" y="55060"/>
                    <a:pt x="1657350" y="102279"/>
                  </a:cubicBezTo>
                  <a:cubicBezTo>
                    <a:pt x="1667711" y="276571"/>
                    <a:pt x="1651553" y="416038"/>
                    <a:pt x="1657350" y="558827"/>
                  </a:cubicBezTo>
                  <a:cubicBezTo>
                    <a:pt x="1663147" y="701616"/>
                    <a:pt x="1654890" y="831885"/>
                    <a:pt x="1657350" y="1053421"/>
                  </a:cubicBezTo>
                  <a:cubicBezTo>
                    <a:pt x="1659994" y="1101776"/>
                    <a:pt x="1613122" y="1157391"/>
                    <a:pt x="1555071" y="1155700"/>
                  </a:cubicBezTo>
                  <a:cubicBezTo>
                    <a:pt x="1303222" y="1151101"/>
                    <a:pt x="1209543" y="1160429"/>
                    <a:pt x="1041751" y="1155700"/>
                  </a:cubicBezTo>
                  <a:cubicBezTo>
                    <a:pt x="873959" y="1150971"/>
                    <a:pt x="665865" y="1154475"/>
                    <a:pt x="542959" y="1155700"/>
                  </a:cubicBezTo>
                  <a:cubicBezTo>
                    <a:pt x="420053" y="1156925"/>
                    <a:pt x="278583" y="1143518"/>
                    <a:pt x="102279" y="1155700"/>
                  </a:cubicBezTo>
                  <a:cubicBezTo>
                    <a:pt x="41612" y="1168731"/>
                    <a:pt x="-3504" y="1098874"/>
                    <a:pt x="0" y="1053421"/>
                  </a:cubicBezTo>
                  <a:cubicBezTo>
                    <a:pt x="18729" y="867212"/>
                    <a:pt x="-4507" y="686474"/>
                    <a:pt x="0" y="577850"/>
                  </a:cubicBezTo>
                  <a:cubicBezTo>
                    <a:pt x="4507" y="469226"/>
                    <a:pt x="16964" y="241845"/>
                    <a:pt x="0" y="102279"/>
                  </a:cubicBezTo>
                  <a:close/>
                </a:path>
                <a:path w="1657350" h="1155700" stroke="0" extrusionOk="0">
                  <a:moveTo>
                    <a:pt x="0" y="102279"/>
                  </a:moveTo>
                  <a:cubicBezTo>
                    <a:pt x="-10777" y="39145"/>
                    <a:pt x="34370" y="4287"/>
                    <a:pt x="102279" y="0"/>
                  </a:cubicBezTo>
                  <a:cubicBezTo>
                    <a:pt x="246129" y="-20315"/>
                    <a:pt x="500598" y="-16605"/>
                    <a:pt x="615599" y="0"/>
                  </a:cubicBezTo>
                  <a:cubicBezTo>
                    <a:pt x="730600" y="16605"/>
                    <a:pt x="863804" y="14696"/>
                    <a:pt x="1085335" y="0"/>
                  </a:cubicBezTo>
                  <a:cubicBezTo>
                    <a:pt x="1306866" y="-14696"/>
                    <a:pt x="1440881" y="-4024"/>
                    <a:pt x="1555071" y="0"/>
                  </a:cubicBezTo>
                  <a:cubicBezTo>
                    <a:pt x="1610791" y="-2470"/>
                    <a:pt x="1660394" y="34529"/>
                    <a:pt x="1657350" y="102279"/>
                  </a:cubicBezTo>
                  <a:cubicBezTo>
                    <a:pt x="1635750" y="226616"/>
                    <a:pt x="1677404" y="445846"/>
                    <a:pt x="1657350" y="558827"/>
                  </a:cubicBezTo>
                  <a:cubicBezTo>
                    <a:pt x="1637296" y="671808"/>
                    <a:pt x="1645855" y="841176"/>
                    <a:pt x="1657350" y="1053421"/>
                  </a:cubicBezTo>
                  <a:cubicBezTo>
                    <a:pt x="1653215" y="1116748"/>
                    <a:pt x="1603325" y="1146151"/>
                    <a:pt x="1555071" y="1155700"/>
                  </a:cubicBezTo>
                  <a:cubicBezTo>
                    <a:pt x="1452605" y="1139714"/>
                    <a:pt x="1260909" y="1140226"/>
                    <a:pt x="1099863" y="1155700"/>
                  </a:cubicBezTo>
                  <a:cubicBezTo>
                    <a:pt x="938817" y="1171174"/>
                    <a:pt x="718673" y="1170466"/>
                    <a:pt x="615599" y="1155700"/>
                  </a:cubicBezTo>
                  <a:cubicBezTo>
                    <a:pt x="512525" y="1140934"/>
                    <a:pt x="207863" y="1170176"/>
                    <a:pt x="102279" y="1155700"/>
                  </a:cubicBezTo>
                  <a:cubicBezTo>
                    <a:pt x="54191" y="1165989"/>
                    <a:pt x="3630" y="1106730"/>
                    <a:pt x="0" y="1053421"/>
                  </a:cubicBezTo>
                  <a:cubicBezTo>
                    <a:pt x="1347" y="851741"/>
                    <a:pt x="-12747" y="706086"/>
                    <a:pt x="0" y="577850"/>
                  </a:cubicBezTo>
                  <a:cubicBezTo>
                    <a:pt x="12747" y="449614"/>
                    <a:pt x="9420" y="254191"/>
                    <a:pt x="0" y="102279"/>
                  </a:cubicBezTo>
                  <a:close/>
                </a:path>
              </a:pathLst>
            </a:custGeom>
            <a:solidFill>
              <a:srgbClr val="FFF6F6"/>
            </a:solidFill>
            <a:ln w="14288">
              <a:solidFill>
                <a:srgbClr val="E6000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885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Total loss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loss equation"/>
                <p:cNvSpPr>
                  <a:spLocks noGrp="1"/>
                </p:cNvSpPr>
                <p:nvPr/>
              </p:nvSpPr>
              <p:spPr>
                <a:xfrm>
                  <a:off x="16634" y="7670"/>
                  <a:ext cx="2340" cy="1164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350" b="0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𝒕𝒐𝒕𝒂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CN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kumimoji="0" lang="en-US" altLang="zh-CN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523" name="loss equation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34" y="7670"/>
                  <a:ext cx="2340" cy="1164"/>
                </a:xfrm>
                <a:prstGeom prst="rect">
                  <a:avLst/>
                </a:prstGeom>
                <a:blipFill rotWithShape="1">
                  <a:blip r:embed="rId10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4" name="anchor"/>
          <p:cNvSpPr>
            <a:spLocks noGrp="1"/>
          </p:cNvSpPr>
          <p:nvPr/>
        </p:nvSpPr>
        <p:spPr>
          <a:xfrm>
            <a:off x="9658350" y="4000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5" name="anchor"/>
          <p:cNvSpPr>
            <a:spLocks noGrp="1"/>
          </p:cNvSpPr>
          <p:nvPr/>
        </p:nvSpPr>
        <p:spPr>
          <a:xfrm>
            <a:off x="11277600" y="4600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7" name="anchor"/>
          <p:cNvSpPr>
            <a:spLocks noGrp="1"/>
          </p:cNvSpPr>
          <p:nvPr/>
        </p:nvSpPr>
        <p:spPr>
          <a:xfrm>
            <a:off x="9363075" y="8277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8" name="anchor"/>
          <p:cNvSpPr>
            <a:spLocks noGrp="1"/>
          </p:cNvSpPr>
          <p:nvPr/>
        </p:nvSpPr>
        <p:spPr>
          <a:xfrm>
            <a:off x="11268075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0" name="anchor"/>
          <p:cNvSpPr>
            <a:spLocks noGrp="1"/>
          </p:cNvSpPr>
          <p:nvPr/>
        </p:nvSpPr>
        <p:spPr>
          <a:xfrm>
            <a:off x="8886825" y="879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1" name="anchor"/>
          <p:cNvSpPr>
            <a:spLocks noGrp="1"/>
          </p:cNvSpPr>
          <p:nvPr/>
        </p:nvSpPr>
        <p:spPr>
          <a:xfrm>
            <a:off x="11830050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83" name="连接符: 肘形 1182"/>
          <p:cNvCxnSpPr/>
          <p:nvPr/>
        </p:nvCxnSpPr>
        <p:spPr>
          <a:xfrm rot="16200000">
            <a:off x="8495665" y="5898515"/>
            <a:ext cx="3425825" cy="1992630"/>
          </a:xfrm>
          <a:prstGeom prst="bentConnector3">
            <a:avLst>
              <a:gd name="adj1" fmla="val 417"/>
            </a:avLst>
          </a:prstGeom>
          <a:ln w="2540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33" name="anchor"/>
          <p:cNvSpPr>
            <a:spLocks noGrp="1"/>
          </p:cNvSpPr>
          <p:nvPr/>
        </p:nvSpPr>
        <p:spPr>
          <a:xfrm>
            <a:off x="12087225" y="5172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86" name="直接箭头连接符 1185"/>
          <p:cNvCxnSpPr/>
          <p:nvPr/>
        </p:nvCxnSpPr>
        <p:spPr>
          <a:xfrm flipV="1">
            <a:off x="10896600" y="2788920"/>
            <a:ext cx="0" cy="1148080"/>
          </a:xfrm>
          <a:prstGeom prst="straightConnector1">
            <a:avLst/>
          </a:prstGeom>
          <a:ln w="3810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89" name="Legend"/>
          <p:cNvSpPr>
            <a:spLocks noGrp="1"/>
          </p:cNvSpPr>
          <p:nvPr/>
        </p:nvSpPr>
        <p:spPr>
          <a:xfrm>
            <a:off x="266700" y="9185275"/>
            <a:ext cx="11719560" cy="6292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1" name="anchor"/>
          <p:cNvSpPr>
            <a:spLocks noGrp="1"/>
          </p:cNvSpPr>
          <p:nvPr/>
        </p:nvSpPr>
        <p:spPr>
          <a:xfrm>
            <a:off x="223837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3" name="anchor"/>
          <p:cNvSpPr>
            <a:spLocks noGrp="1"/>
          </p:cNvSpPr>
          <p:nvPr/>
        </p:nvSpPr>
        <p:spPr>
          <a:xfrm>
            <a:off x="1485900" y="47148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6" name="anchor"/>
          <p:cNvSpPr>
            <a:spLocks noGrp="1"/>
          </p:cNvSpPr>
          <p:nvPr/>
        </p:nvSpPr>
        <p:spPr>
          <a:xfrm>
            <a:off x="1485900" y="50863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2" name="直接箭头连接符 1271"/>
          <p:cNvCxnSpPr>
            <a:endCxn id="620" idx="0"/>
          </p:cNvCxnSpPr>
          <p:nvPr/>
        </p:nvCxnSpPr>
        <p:spPr>
          <a:xfrm>
            <a:off x="3800475" y="2343150"/>
            <a:ext cx="0" cy="58102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/>
          <p:cNvSpPr>
            <a:spLocks noGrp="1"/>
          </p:cNvSpPr>
          <p:nvPr/>
        </p:nvSpPr>
        <p:spPr>
          <a:xfrm>
            <a:off x="4371975" y="673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5" name="直接箭头连接符 1274"/>
          <p:cNvCxnSpPr/>
          <p:nvPr/>
        </p:nvCxnSpPr>
        <p:spPr>
          <a:xfrm flipV="1">
            <a:off x="4357370" y="6530975"/>
            <a:ext cx="0" cy="2800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grpSp>
        <p:nvGrpSpPr>
          <p:cNvPr id="53" name="组合 52"/>
          <p:cNvGrpSpPr/>
          <p:nvPr/>
        </p:nvGrpSpPr>
        <p:grpSpPr>
          <a:xfrm>
            <a:off x="9410700" y="4366260"/>
            <a:ext cx="381000" cy="1388745"/>
            <a:chOff x="14490" y="6926"/>
            <a:chExt cx="600" cy="2187"/>
          </a:xfrm>
        </p:grpSpPr>
        <p:sp>
          <p:nvSpPr>
            <p:cNvPr id="484" name="bar-1"/>
            <p:cNvSpPr>
              <a:spLocks noGrp="1"/>
            </p:cNvSpPr>
            <p:nvPr/>
          </p:nvSpPr>
          <p:spPr>
            <a:xfrm>
              <a:off x="14655" y="6926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3" name="anchor"/>
            <p:cNvSpPr>
              <a:spLocks noGrp="1"/>
            </p:cNvSpPr>
            <p:nvPr/>
          </p:nvSpPr>
          <p:spPr>
            <a:xfrm>
              <a:off x="14490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4" name="anchor"/>
            <p:cNvSpPr>
              <a:spLocks noGrp="1"/>
            </p:cNvSpPr>
            <p:nvPr/>
          </p:nvSpPr>
          <p:spPr>
            <a:xfrm>
              <a:off x="14490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6" name="直接箭头连接符 1145"/>
            <p:cNvCxnSpPr/>
            <p:nvPr/>
          </p:nvCxnSpPr>
          <p:spPr>
            <a:xfrm>
              <a:off x="14745" y="7367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6" name="anchor"/>
            <p:cNvSpPr>
              <a:spLocks noGrp="1"/>
            </p:cNvSpPr>
            <p:nvPr/>
          </p:nvSpPr>
          <p:spPr>
            <a:xfrm>
              <a:off x="15060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7" name="anchor"/>
            <p:cNvSpPr>
              <a:spLocks noGrp="1"/>
            </p:cNvSpPr>
            <p:nvPr/>
          </p:nvSpPr>
          <p:spPr>
            <a:xfrm>
              <a:off x="15060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6" name="bar-0"/>
            <p:cNvSpPr>
              <a:spLocks noGrp="1"/>
            </p:cNvSpPr>
            <p:nvPr/>
          </p:nvSpPr>
          <p:spPr>
            <a:xfrm>
              <a:off x="14717" y="8727"/>
              <a:ext cx="135" cy="38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07" name="anchor"/>
          <p:cNvSpPr>
            <a:spLocks noGrp="1"/>
          </p:cNvSpPr>
          <p:nvPr/>
        </p:nvSpPr>
        <p:spPr>
          <a:xfrm>
            <a:off x="7477125" y="59067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8" name="anchor"/>
          <p:cNvSpPr>
            <a:spLocks noGrp="1"/>
          </p:cNvSpPr>
          <p:nvPr/>
        </p:nvSpPr>
        <p:spPr>
          <a:xfrm>
            <a:off x="9610725" y="59067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60" name="直接箭头连接符 1159"/>
          <p:cNvCxnSpPr/>
          <p:nvPr/>
        </p:nvCxnSpPr>
        <p:spPr>
          <a:xfrm flipV="1">
            <a:off x="8734425" y="4060190"/>
            <a:ext cx="0" cy="1868400"/>
          </a:xfrm>
          <a:prstGeom prst="straightConnector1">
            <a:avLst/>
          </a:prstGeom>
          <a:ln w="25400">
            <a:solidFill>
              <a:srgbClr val="7A35CC"/>
            </a:solidFill>
            <a:prstDash val="dash"/>
          </a:ln>
        </p:spPr>
      </p:cxnSp>
      <p:sp>
        <p:nvSpPr>
          <p:cNvPr id="628" name="anchor"/>
          <p:cNvSpPr>
            <a:spLocks noGrp="1"/>
          </p:cNvSpPr>
          <p:nvPr/>
        </p:nvSpPr>
        <p:spPr>
          <a:xfrm>
            <a:off x="83629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9" name="anchor"/>
          <p:cNvSpPr>
            <a:spLocks noGrp="1"/>
          </p:cNvSpPr>
          <p:nvPr/>
        </p:nvSpPr>
        <p:spPr>
          <a:xfrm>
            <a:off x="8362950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1" name="anchor"/>
          <p:cNvSpPr>
            <a:spLocks noGrp="1"/>
          </p:cNvSpPr>
          <p:nvPr/>
        </p:nvSpPr>
        <p:spPr>
          <a:xfrm>
            <a:off x="8639175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2" name="anchor"/>
          <p:cNvSpPr>
            <a:spLocks noGrp="1"/>
          </p:cNvSpPr>
          <p:nvPr/>
        </p:nvSpPr>
        <p:spPr>
          <a:xfrm>
            <a:off x="8639175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4" name="anchor"/>
          <p:cNvSpPr>
            <a:spLocks noGrp="1"/>
          </p:cNvSpPr>
          <p:nvPr/>
        </p:nvSpPr>
        <p:spPr>
          <a:xfrm>
            <a:off x="8905875" y="1200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87" name="连接符: 肘形 1286"/>
          <p:cNvCxnSpPr/>
          <p:nvPr/>
        </p:nvCxnSpPr>
        <p:spPr>
          <a:xfrm rot="5400000" flipV="1">
            <a:off x="7565560" y="2473790"/>
            <a:ext cx="180000" cy="0"/>
          </a:xfrm>
          <a:prstGeom prst="bentConnector3">
            <a:avLst>
              <a:gd name="adj1" fmla="val 5014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38" name="anchor"/>
          <p:cNvSpPr>
            <a:spLocks noGrp="1"/>
          </p:cNvSpPr>
          <p:nvPr/>
        </p:nvSpPr>
        <p:spPr>
          <a:xfrm>
            <a:off x="9648825" y="6096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0" name="anchor"/>
          <p:cNvSpPr>
            <a:spLocks noGrp="1"/>
          </p:cNvSpPr>
          <p:nvPr/>
        </p:nvSpPr>
        <p:spPr>
          <a:xfrm>
            <a:off x="9896475" y="74199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1" name="anchor"/>
          <p:cNvSpPr>
            <a:spLocks noGrp="1"/>
          </p:cNvSpPr>
          <p:nvPr/>
        </p:nvSpPr>
        <p:spPr>
          <a:xfrm>
            <a:off x="92487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3" name="anchor"/>
          <p:cNvSpPr>
            <a:spLocks noGrp="1"/>
          </p:cNvSpPr>
          <p:nvPr/>
        </p:nvSpPr>
        <p:spPr>
          <a:xfrm>
            <a:off x="9163050" y="86963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4" name="anchor"/>
          <p:cNvSpPr>
            <a:spLocks noGrp="1"/>
          </p:cNvSpPr>
          <p:nvPr/>
        </p:nvSpPr>
        <p:spPr>
          <a:xfrm>
            <a:off x="92106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0" name="anchor"/>
          <p:cNvSpPr>
            <a:spLocks noGrp="1"/>
          </p:cNvSpPr>
          <p:nvPr/>
        </p:nvSpPr>
        <p:spPr>
          <a:xfrm>
            <a:off x="85153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立方体 11"/>
          <p:cNvSpPr/>
          <p:nvPr/>
        </p:nvSpPr>
        <p:spPr>
          <a:xfrm>
            <a:off x="2423160" y="1112520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立方体 32"/>
          <p:cNvSpPr/>
          <p:nvPr/>
        </p:nvSpPr>
        <p:spPr>
          <a:xfrm>
            <a:off x="2880360" y="1196340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50" y="171594"/>
            <a:ext cx="425132" cy="425132"/>
          </a:xfrm>
          <a:prstGeom prst="rect">
            <a:avLst/>
          </a:prstGeom>
        </p:spPr>
      </p:pic>
      <p:sp>
        <p:nvSpPr>
          <p:cNvPr id="590" name="anchor"/>
          <p:cNvSpPr>
            <a:spLocks noGrp="1"/>
          </p:cNvSpPr>
          <p:nvPr/>
        </p:nvSpPr>
        <p:spPr>
          <a:xfrm>
            <a:off x="118586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1" name="anchor"/>
          <p:cNvSpPr>
            <a:spLocks noGrp="1"/>
          </p:cNvSpPr>
          <p:nvPr/>
        </p:nvSpPr>
        <p:spPr>
          <a:xfrm>
            <a:off x="123158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3064510" y="9439910"/>
            <a:ext cx="1708785" cy="209550"/>
            <a:chOff x="18705" y="11581"/>
            <a:chExt cx="2691" cy="330"/>
          </a:xfrm>
        </p:grpSpPr>
        <p:cxnSp>
          <p:nvCxnSpPr>
            <p:cNvPr id="1243" name="直接箭头连接符 1242"/>
            <p:cNvCxnSpPr>
              <a:stCxn id="590" idx="6"/>
              <a:endCxn id="591" idx="2"/>
            </p:cNvCxnSpPr>
            <p:nvPr/>
          </p:nvCxnSpPr>
          <p:spPr>
            <a:xfrm>
              <a:off x="18705" y="11746"/>
              <a:ext cx="690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593" name="leg1"/>
            <p:cNvSpPr>
              <a:spLocks noGrp="1"/>
            </p:cNvSpPr>
            <p:nvPr/>
          </p:nvSpPr>
          <p:spPr>
            <a:xfrm>
              <a:off x="19596" y="11581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Data flow</a:t>
              </a:r>
            </a:p>
          </p:txBody>
        </p:sp>
      </p:grpSp>
      <p:sp>
        <p:nvSpPr>
          <p:cNvPr id="594" name="anchor"/>
          <p:cNvSpPr>
            <a:spLocks noGrp="1"/>
          </p:cNvSpPr>
          <p:nvPr/>
        </p:nvSpPr>
        <p:spPr>
          <a:xfrm>
            <a:off x="118586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5" name="anchor"/>
          <p:cNvSpPr>
            <a:spLocks noGrp="1"/>
          </p:cNvSpPr>
          <p:nvPr/>
        </p:nvSpPr>
        <p:spPr>
          <a:xfrm>
            <a:off x="123158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8" name="anchor"/>
          <p:cNvSpPr>
            <a:spLocks noGrp="1"/>
          </p:cNvSpPr>
          <p:nvPr/>
        </p:nvSpPr>
        <p:spPr>
          <a:xfrm>
            <a:off x="118586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9" name="anchor"/>
          <p:cNvSpPr>
            <a:spLocks noGrp="1"/>
          </p:cNvSpPr>
          <p:nvPr/>
        </p:nvSpPr>
        <p:spPr>
          <a:xfrm>
            <a:off x="123158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6661785" y="9439910"/>
            <a:ext cx="2006600" cy="209550"/>
            <a:chOff x="18705" y="12391"/>
            <a:chExt cx="3160" cy="330"/>
          </a:xfrm>
        </p:grpSpPr>
        <p:sp>
          <p:nvSpPr>
            <p:cNvPr id="601" name="leg3"/>
            <p:cNvSpPr>
              <a:spLocks noGrp="1"/>
            </p:cNvSpPr>
            <p:nvPr/>
          </p:nvSpPr>
          <p:spPr>
            <a:xfrm>
              <a:off x="19620" y="12391"/>
              <a:ext cx="224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TS-T </a:t>
              </a: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KL </a:t>
              </a:r>
              <a:r>
                <a:rPr kumimoji="0" lang="en-US" altLang="zh-CN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divergence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251" name="直接箭头连接符 1250"/>
            <p:cNvCxnSpPr>
              <a:stCxn id="598" idx="6"/>
              <a:endCxn id="599" idx="2"/>
            </p:cNvCxnSpPr>
            <p:nvPr/>
          </p:nvCxnSpPr>
          <p:spPr>
            <a:xfrm>
              <a:off x="18705" y="12556"/>
              <a:ext cx="690" cy="0"/>
            </a:xfrm>
            <a:prstGeom prst="straightConnector1">
              <a:avLst/>
            </a:prstGeom>
            <a:ln w="18098">
              <a:solidFill>
                <a:srgbClr val="7A35CC"/>
              </a:solidFill>
              <a:prstDash val="dash"/>
              <a:tailEnd type="triangle" w="med" len="med"/>
            </a:ln>
          </p:spPr>
        </p:cxnSp>
      </p:grpSp>
      <p:sp>
        <p:nvSpPr>
          <p:cNvPr id="602" name="anchor"/>
          <p:cNvSpPr>
            <a:spLocks noGrp="1"/>
          </p:cNvSpPr>
          <p:nvPr/>
        </p:nvSpPr>
        <p:spPr>
          <a:xfrm>
            <a:off x="118586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3" name="anchor"/>
          <p:cNvSpPr>
            <a:spLocks noGrp="1"/>
          </p:cNvSpPr>
          <p:nvPr/>
        </p:nvSpPr>
        <p:spPr>
          <a:xfrm>
            <a:off x="123158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8668385" y="9439910"/>
            <a:ext cx="1724025" cy="209550"/>
            <a:chOff x="18705" y="12796"/>
            <a:chExt cx="2715" cy="330"/>
          </a:xfrm>
        </p:grpSpPr>
        <p:cxnSp>
          <p:nvCxnSpPr>
            <p:cNvPr id="1255" name="直接箭头连接符 1254"/>
            <p:cNvCxnSpPr>
              <a:stCxn id="602" idx="6"/>
              <a:endCxn id="603" idx="2"/>
            </p:cNvCxnSpPr>
            <p:nvPr/>
          </p:nvCxnSpPr>
          <p:spPr>
            <a:xfrm>
              <a:off x="18705" y="12961"/>
              <a:ext cx="690" cy="0"/>
            </a:xfrm>
            <a:prstGeom prst="straightConnector1">
              <a:avLst/>
            </a:prstGeom>
            <a:ln w="18098">
              <a:solidFill>
                <a:srgbClr val="C00000"/>
              </a:solidFill>
              <a:prstDash val="solid"/>
              <a:tailEnd type="triangle" w="med" len="med"/>
            </a:ln>
          </p:spPr>
        </p:cxnSp>
        <p:sp>
          <p:nvSpPr>
            <p:cNvPr id="605" name="leg4"/>
            <p:cNvSpPr>
              <a:spLocks noGrp="1"/>
            </p:cNvSpPr>
            <p:nvPr/>
          </p:nvSpPr>
          <p:spPr>
            <a:xfrm>
              <a:off x="19620" y="12796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Loss supervision</a:t>
              </a:r>
            </a:p>
          </p:txBody>
        </p:sp>
      </p:grpSp>
      <p:sp>
        <p:nvSpPr>
          <p:cNvPr id="606" name="anchor"/>
          <p:cNvSpPr>
            <a:spLocks noGrp="1"/>
          </p:cNvSpPr>
          <p:nvPr/>
        </p:nvSpPr>
        <p:spPr>
          <a:xfrm>
            <a:off x="118586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7" name="anchor"/>
          <p:cNvSpPr>
            <a:spLocks noGrp="1"/>
          </p:cNvSpPr>
          <p:nvPr/>
        </p:nvSpPr>
        <p:spPr>
          <a:xfrm>
            <a:off x="123158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0373360" y="9456420"/>
            <a:ext cx="1754505" cy="209550"/>
            <a:chOff x="18807" y="13186"/>
            <a:chExt cx="2763" cy="330"/>
          </a:xfrm>
        </p:grpSpPr>
        <p:cxnSp>
          <p:nvCxnSpPr>
            <p:cNvPr id="1259" name="直接箭头连接符 1258"/>
            <p:cNvCxnSpPr/>
            <p:nvPr/>
          </p:nvCxnSpPr>
          <p:spPr>
            <a:xfrm>
              <a:off x="18807" y="13366"/>
              <a:ext cx="567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09" name="leg5"/>
            <p:cNvSpPr>
              <a:spLocks noGrp="1"/>
            </p:cNvSpPr>
            <p:nvPr/>
          </p:nvSpPr>
          <p:spPr>
            <a:xfrm>
              <a:off x="19395" y="13186"/>
              <a:ext cx="217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Final prediction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1913255" y="9368155"/>
            <a:ext cx="1090930" cy="297815"/>
            <a:chOff x="18820" y="11030"/>
            <a:chExt cx="1718" cy="469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0" y="11030"/>
              <a:ext cx="469" cy="469"/>
            </a:xfrm>
            <a:prstGeom prst="rect">
              <a:avLst/>
            </a:prstGeom>
          </p:spPr>
        </p:pic>
        <p:sp>
          <p:nvSpPr>
            <p:cNvPr id="114" name="leg1"/>
            <p:cNvSpPr>
              <a:spLocks noGrp="1"/>
            </p:cNvSpPr>
            <p:nvPr/>
          </p:nvSpPr>
          <p:spPr>
            <a:xfrm>
              <a:off x="19560" y="11099"/>
              <a:ext cx="978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F</a:t>
              </a:r>
              <a:r>
                <a:rPr kumimoji="0" lang="en-US" altLang="zh-CN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rozen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120" name="直接连接符 119"/>
          <p:cNvCxnSpPr>
            <a:endCxn id="168" idx="0"/>
          </p:cNvCxnSpPr>
          <p:nvPr/>
        </p:nvCxnSpPr>
        <p:spPr>
          <a:xfrm>
            <a:off x="3967163" y="119634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4320223" y="118110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4675823" y="118364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5188903" y="118872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200025" y="64135"/>
            <a:ext cx="1314450" cy="2401570"/>
            <a:chOff x="229" y="5388"/>
            <a:chExt cx="2070" cy="3782"/>
          </a:xfrm>
        </p:grpSpPr>
        <p:sp>
          <p:nvSpPr>
            <p:cNvPr id="2" name="Input title"/>
            <p:cNvSpPr>
              <a:spLocks noGrp="1"/>
            </p:cNvSpPr>
            <p:nvPr/>
          </p:nvSpPr>
          <p:spPr>
            <a:xfrm>
              <a:off x="334" y="5388"/>
              <a:ext cx="1890" cy="123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 b="1">
                  <a:solidFill>
                    <a:srgbClr val="111111"/>
                  </a:solidFill>
                </a:defRPr>
              </a:pPr>
              <a:r>
                <a:rPr kumimoji="0" lang="zh-CN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Raw Waveform Input</a:t>
              </a:r>
            </a:p>
          </p:txBody>
        </p:sp>
        <p:sp>
          <p:nvSpPr>
            <p:cNvPr id="6" name="waveform image frame"/>
            <p:cNvSpPr>
              <a:spLocks noGrp="1"/>
            </p:cNvSpPr>
            <p:nvPr/>
          </p:nvSpPr>
          <p:spPr>
            <a:xfrm>
              <a:off x="229" y="6845"/>
              <a:ext cx="2070" cy="2325"/>
            </a:xfrm>
            <a:custGeom>
              <a:avLst/>
              <a:gdLst>
                <a:gd name="csX0" fmla="*/ 0 w 1314450"/>
                <a:gd name="csY0" fmla="*/ 95245 h 1476375"/>
                <a:gd name="csX1" fmla="*/ 95245 w 1314450"/>
                <a:gd name="csY1" fmla="*/ 0 h 1476375"/>
                <a:gd name="csX2" fmla="*/ 668465 w 1314450"/>
                <a:gd name="csY2" fmla="*/ 0 h 1476375"/>
                <a:gd name="csX3" fmla="*/ 1219205 w 1314450"/>
                <a:gd name="csY3" fmla="*/ 0 h 1476375"/>
                <a:gd name="csX4" fmla="*/ 1314450 w 1314450"/>
                <a:gd name="csY4" fmla="*/ 95245 h 1476375"/>
                <a:gd name="csX5" fmla="*/ 1314450 w 1314450"/>
                <a:gd name="csY5" fmla="*/ 712470 h 1476375"/>
                <a:gd name="csX6" fmla="*/ 1314450 w 1314450"/>
                <a:gd name="csY6" fmla="*/ 1381130 h 1476375"/>
                <a:gd name="csX7" fmla="*/ 1219205 w 1314450"/>
                <a:gd name="csY7" fmla="*/ 1476375 h 1476375"/>
                <a:gd name="csX8" fmla="*/ 645985 w 1314450"/>
                <a:gd name="csY8" fmla="*/ 1476375 h 1476375"/>
                <a:gd name="csX9" fmla="*/ 95245 w 1314450"/>
                <a:gd name="csY9" fmla="*/ 1476375 h 1476375"/>
                <a:gd name="csX10" fmla="*/ 0 w 1314450"/>
                <a:gd name="csY10" fmla="*/ 1381130 h 1476375"/>
                <a:gd name="csX11" fmla="*/ 0 w 1314450"/>
                <a:gd name="csY11" fmla="*/ 725329 h 1476375"/>
                <a:gd name="csX12" fmla="*/ 0 w 1314450"/>
                <a:gd name="csY12" fmla="*/ 95245 h 1476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14450" h="1476375" fill="none" extrusionOk="0">
                  <a:moveTo>
                    <a:pt x="0" y="95245"/>
                  </a:moveTo>
                  <a:cubicBezTo>
                    <a:pt x="-3058" y="43145"/>
                    <a:pt x="40733" y="-1318"/>
                    <a:pt x="95245" y="0"/>
                  </a:cubicBezTo>
                  <a:cubicBezTo>
                    <a:pt x="212142" y="19900"/>
                    <a:pt x="518819" y="-3087"/>
                    <a:pt x="668465" y="0"/>
                  </a:cubicBezTo>
                  <a:cubicBezTo>
                    <a:pt x="818111" y="3087"/>
                    <a:pt x="1024008" y="11205"/>
                    <a:pt x="1219205" y="0"/>
                  </a:cubicBezTo>
                  <a:cubicBezTo>
                    <a:pt x="1267762" y="7233"/>
                    <a:pt x="1323596" y="49439"/>
                    <a:pt x="1314450" y="95245"/>
                  </a:cubicBezTo>
                  <a:cubicBezTo>
                    <a:pt x="1342476" y="403270"/>
                    <a:pt x="1284231" y="462336"/>
                    <a:pt x="1314450" y="712470"/>
                  </a:cubicBezTo>
                  <a:cubicBezTo>
                    <a:pt x="1344669" y="962605"/>
                    <a:pt x="1338816" y="1122446"/>
                    <a:pt x="1314450" y="1381130"/>
                  </a:cubicBezTo>
                  <a:cubicBezTo>
                    <a:pt x="1316199" y="1437194"/>
                    <a:pt x="1262667" y="1481195"/>
                    <a:pt x="1219205" y="1476375"/>
                  </a:cubicBezTo>
                  <a:cubicBezTo>
                    <a:pt x="968480" y="1453494"/>
                    <a:pt x="881870" y="1493178"/>
                    <a:pt x="645985" y="1476375"/>
                  </a:cubicBezTo>
                  <a:cubicBezTo>
                    <a:pt x="410100" y="1459572"/>
                    <a:pt x="239555" y="1452114"/>
                    <a:pt x="95245" y="1476375"/>
                  </a:cubicBezTo>
                  <a:cubicBezTo>
                    <a:pt x="38083" y="1485528"/>
                    <a:pt x="-5724" y="1426138"/>
                    <a:pt x="0" y="1381130"/>
                  </a:cubicBezTo>
                  <a:cubicBezTo>
                    <a:pt x="26020" y="1227904"/>
                    <a:pt x="-26361" y="862478"/>
                    <a:pt x="0" y="725329"/>
                  </a:cubicBezTo>
                  <a:cubicBezTo>
                    <a:pt x="26361" y="588180"/>
                    <a:pt x="5410" y="376424"/>
                    <a:pt x="0" y="95245"/>
                  </a:cubicBezTo>
                  <a:close/>
                </a:path>
                <a:path w="1314450" h="1476375" stroke="0" extrusionOk="0">
                  <a:moveTo>
                    <a:pt x="0" y="95245"/>
                  </a:moveTo>
                  <a:cubicBezTo>
                    <a:pt x="-1099" y="41965"/>
                    <a:pt x="41433" y="454"/>
                    <a:pt x="95245" y="0"/>
                  </a:cubicBezTo>
                  <a:cubicBezTo>
                    <a:pt x="261984" y="-13839"/>
                    <a:pt x="388910" y="-14742"/>
                    <a:pt x="679704" y="0"/>
                  </a:cubicBezTo>
                  <a:cubicBezTo>
                    <a:pt x="970498" y="14742"/>
                    <a:pt x="1078858" y="-3116"/>
                    <a:pt x="1219205" y="0"/>
                  </a:cubicBezTo>
                  <a:cubicBezTo>
                    <a:pt x="1265551" y="-3423"/>
                    <a:pt x="1319691" y="45147"/>
                    <a:pt x="1314450" y="95245"/>
                  </a:cubicBezTo>
                  <a:cubicBezTo>
                    <a:pt x="1300123" y="271300"/>
                    <a:pt x="1322561" y="445064"/>
                    <a:pt x="1314450" y="712470"/>
                  </a:cubicBezTo>
                  <a:cubicBezTo>
                    <a:pt x="1306339" y="979877"/>
                    <a:pt x="1330754" y="1218156"/>
                    <a:pt x="1314450" y="1381130"/>
                  </a:cubicBezTo>
                  <a:cubicBezTo>
                    <a:pt x="1314101" y="1430401"/>
                    <a:pt x="1269195" y="1480005"/>
                    <a:pt x="1219205" y="1476375"/>
                  </a:cubicBezTo>
                  <a:cubicBezTo>
                    <a:pt x="1025268" y="1464596"/>
                    <a:pt x="938239" y="1467613"/>
                    <a:pt x="679704" y="1476375"/>
                  </a:cubicBezTo>
                  <a:cubicBezTo>
                    <a:pt x="421169" y="1485137"/>
                    <a:pt x="316164" y="1503677"/>
                    <a:pt x="95245" y="1476375"/>
                  </a:cubicBezTo>
                  <a:cubicBezTo>
                    <a:pt x="46875" y="1482674"/>
                    <a:pt x="765" y="1441654"/>
                    <a:pt x="0" y="1381130"/>
                  </a:cubicBezTo>
                  <a:cubicBezTo>
                    <a:pt x="11638" y="1126982"/>
                    <a:pt x="15690" y="943851"/>
                    <a:pt x="0" y="776764"/>
                  </a:cubicBezTo>
                  <a:cubicBezTo>
                    <a:pt x="-15690" y="609677"/>
                    <a:pt x="-18168" y="306193"/>
                    <a:pt x="0" y="95245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999999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7246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3" y="7276"/>
              <a:ext cx="1463" cy="1463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1659255" y="7458710"/>
            <a:ext cx="6629400" cy="1295400"/>
            <a:chOff x="2970" y="11250"/>
            <a:chExt cx="10440" cy="2040"/>
          </a:xfrm>
        </p:grpSpPr>
        <p:sp>
          <p:nvSpPr>
            <p:cNvPr id="397" name="module-1D CNN&#10;encoder"/>
            <p:cNvSpPr>
              <a:spLocks noGrp="1"/>
            </p:cNvSpPr>
            <p:nvPr/>
          </p:nvSpPr>
          <p:spPr>
            <a:xfrm>
              <a:off x="3330" y="11250"/>
              <a:ext cx="1665" cy="2040"/>
            </a:xfrm>
            <a:prstGeom prst="roundRect">
              <a:avLst>
                <a:gd name="adj" fmla="val 9009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98" name="module-title-1D CNN&#10;encoder"/>
            <p:cNvSpPr>
              <a:spLocks noGrp="1"/>
            </p:cNvSpPr>
            <p:nvPr/>
          </p:nvSpPr>
          <p:spPr>
            <a:xfrm>
              <a:off x="3420" y="11400"/>
              <a:ext cx="148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1D CNN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encoder</a:t>
              </a:r>
            </a:p>
          </p:txBody>
        </p:sp>
        <p:sp>
          <p:nvSpPr>
            <p:cNvPr id="402" name="anchor"/>
            <p:cNvSpPr>
              <a:spLocks noGrp="1"/>
            </p:cNvSpPr>
            <p:nvPr/>
          </p:nvSpPr>
          <p:spPr>
            <a:xfrm>
              <a:off x="4065" y="125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3" name="anchor"/>
            <p:cNvSpPr>
              <a:spLocks noGrp="1"/>
            </p:cNvSpPr>
            <p:nvPr/>
          </p:nvSpPr>
          <p:spPr>
            <a:xfrm>
              <a:off x="4290" y="123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5" name="anchor"/>
            <p:cNvSpPr>
              <a:spLocks noGrp="1"/>
            </p:cNvSpPr>
            <p:nvPr/>
          </p:nvSpPr>
          <p:spPr>
            <a:xfrm>
              <a:off x="4380" y="1260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6" name="anchor"/>
            <p:cNvSpPr>
              <a:spLocks noGrp="1"/>
            </p:cNvSpPr>
            <p:nvPr/>
          </p:nvSpPr>
          <p:spPr>
            <a:xfrm>
              <a:off x="4635" y="124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5" name="module-Classifier"/>
            <p:cNvSpPr>
              <a:spLocks noGrp="1"/>
            </p:cNvSpPr>
            <p:nvPr/>
          </p:nvSpPr>
          <p:spPr>
            <a:xfrm>
              <a:off x="10980" y="11250"/>
              <a:ext cx="1605" cy="204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6" name="module-title-Classifier"/>
            <p:cNvSpPr>
              <a:spLocks noGrp="1"/>
            </p:cNvSpPr>
            <p:nvPr/>
          </p:nvSpPr>
          <p:spPr>
            <a:xfrm>
              <a:off x="11070" y="11400"/>
              <a:ext cx="142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Classifier</a:t>
              </a:r>
            </a:p>
          </p:txBody>
        </p:sp>
        <p:sp>
          <p:nvSpPr>
            <p:cNvPr id="447" name="bar-0"/>
            <p:cNvSpPr>
              <a:spLocks noGrp="1"/>
            </p:cNvSpPr>
            <p:nvPr/>
          </p:nvSpPr>
          <p:spPr>
            <a:xfrm>
              <a:off x="11182" y="12602"/>
              <a:ext cx="135" cy="304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8" name="bar-1"/>
            <p:cNvSpPr>
              <a:spLocks noGrp="1"/>
            </p:cNvSpPr>
            <p:nvPr/>
          </p:nvSpPr>
          <p:spPr>
            <a:xfrm>
              <a:off x="1149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9" name="bar-2"/>
            <p:cNvSpPr>
              <a:spLocks noGrp="1"/>
            </p:cNvSpPr>
            <p:nvPr/>
          </p:nvSpPr>
          <p:spPr>
            <a:xfrm>
              <a:off x="11812" y="12080"/>
              <a:ext cx="135" cy="82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0" name="bar-3"/>
            <p:cNvSpPr>
              <a:spLocks noGrp="1"/>
            </p:cNvSpPr>
            <p:nvPr/>
          </p:nvSpPr>
          <p:spPr>
            <a:xfrm>
              <a:off x="1212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1" name="anchor"/>
            <p:cNvSpPr>
              <a:spLocks noGrp="1"/>
            </p:cNvSpPr>
            <p:nvPr/>
          </p:nvSpPr>
          <p:spPr>
            <a:xfrm>
              <a:off x="499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04" name="直接箭头连接符 1103"/>
            <p:cNvCxnSpPr>
              <a:stCxn id="451" idx="6"/>
              <a:endCxn id="452" idx="2"/>
            </p:cNvCxnSpPr>
            <p:nvPr/>
          </p:nvCxnSpPr>
          <p:spPr>
            <a:xfrm>
              <a:off x="5025" y="12270"/>
              <a:ext cx="33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cxnSp>
          <p:nvCxnSpPr>
            <p:cNvPr id="1107" name="直接箭头连接符 1106"/>
            <p:cNvCxnSpPr>
              <a:stCxn id="454" idx="6"/>
              <a:endCxn id="455" idx="2"/>
            </p:cNvCxnSpPr>
            <p:nvPr/>
          </p:nvCxnSpPr>
          <p:spPr>
            <a:xfrm>
              <a:off x="8115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458" name="anchor"/>
            <p:cNvSpPr>
              <a:spLocks noGrp="1"/>
            </p:cNvSpPr>
            <p:nvPr/>
          </p:nvSpPr>
          <p:spPr>
            <a:xfrm>
              <a:off x="1096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10" name="直接箭头连接符 1109"/>
            <p:cNvCxnSpPr>
              <a:stCxn id="457" idx="6"/>
              <a:endCxn id="458" idx="2"/>
            </p:cNvCxnSpPr>
            <p:nvPr/>
          </p:nvCxnSpPr>
          <p:spPr>
            <a:xfrm>
              <a:off x="10650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17" name="anchor"/>
            <p:cNvSpPr>
              <a:spLocks noGrp="1"/>
            </p:cNvSpPr>
            <p:nvPr/>
          </p:nvSpPr>
          <p:spPr>
            <a:xfrm>
              <a:off x="2970" y="122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6" name="anchor"/>
            <p:cNvSpPr>
              <a:spLocks noGrp="1"/>
            </p:cNvSpPr>
            <p:nvPr/>
          </p:nvSpPr>
          <p:spPr>
            <a:xfrm>
              <a:off x="12570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7" name="anchor"/>
            <p:cNvSpPr>
              <a:spLocks noGrp="1"/>
            </p:cNvSpPr>
            <p:nvPr/>
          </p:nvSpPr>
          <p:spPr>
            <a:xfrm>
              <a:off x="13125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9" name="anchor"/>
            <p:cNvSpPr>
              <a:spLocks noGrp="1"/>
            </p:cNvSpPr>
            <p:nvPr/>
          </p:nvSpPr>
          <p:spPr>
            <a:xfrm>
              <a:off x="12570" y="1300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302" name="直接箭头连接符 1301"/>
            <p:cNvCxnSpPr>
              <a:stCxn id="649" idx="6"/>
              <a:endCxn id="650" idx="2"/>
            </p:cNvCxnSpPr>
            <p:nvPr/>
          </p:nvCxnSpPr>
          <p:spPr>
            <a:xfrm>
              <a:off x="12600" y="13020"/>
              <a:ext cx="81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241" name="立方体 240"/>
            <p:cNvSpPr/>
            <p:nvPr/>
          </p:nvSpPr>
          <p:spPr>
            <a:xfrm>
              <a:off x="3554" y="12384"/>
              <a:ext cx="600" cy="798"/>
            </a:xfrm>
            <a:prstGeom prst="cube">
              <a:avLst>
                <a:gd name="adj" fmla="val 60185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4274" y="12570"/>
              <a:ext cx="478" cy="564"/>
            </a:xfrm>
            <a:prstGeom prst="cube">
              <a:avLst>
                <a:gd name="adj" fmla="val 47419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5355" y="11910"/>
              <a:ext cx="2760" cy="855"/>
              <a:chOff x="5355" y="11910"/>
              <a:chExt cx="2760" cy="855"/>
            </a:xfrm>
          </p:grpSpPr>
          <p:sp>
            <p:nvSpPr>
              <p:cNvPr id="408" name="module-BPCSCfC"/>
              <p:cNvSpPr>
                <a:spLocks noGrp="1"/>
              </p:cNvSpPr>
              <p:nvPr/>
            </p:nvSpPr>
            <p:spPr>
              <a:xfrm>
                <a:off x="5370" y="11910"/>
                <a:ext cx="2715" cy="693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09" name="module-title-BPCSCfC"/>
              <p:cNvSpPr>
                <a:spLocks noGrp="1"/>
              </p:cNvSpPr>
              <p:nvPr/>
            </p:nvSpPr>
            <p:spPr>
              <a:xfrm>
                <a:off x="5971" y="12077"/>
                <a:ext cx="1514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42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BPCSCfC</a:t>
                </a:r>
              </a:p>
            </p:txBody>
          </p:sp>
          <p:sp>
            <p:nvSpPr>
              <p:cNvPr id="419" name="anchor"/>
              <p:cNvSpPr>
                <a:spLocks noGrp="1"/>
              </p:cNvSpPr>
              <p:nvPr/>
            </p:nvSpPr>
            <p:spPr>
              <a:xfrm>
                <a:off x="588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0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2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3" name="anchor"/>
              <p:cNvSpPr>
                <a:spLocks noGrp="1"/>
              </p:cNvSpPr>
              <p:nvPr/>
            </p:nvSpPr>
            <p:spPr>
              <a:xfrm>
                <a:off x="588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5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6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8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9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1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2" name="anchor"/>
              <p:cNvSpPr>
                <a:spLocks noGrp="1"/>
              </p:cNvSpPr>
              <p:nvPr/>
            </p:nvSpPr>
            <p:spPr>
              <a:xfrm>
                <a:off x="781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4" name="anchor"/>
              <p:cNvSpPr>
                <a:spLocks noGrp="1"/>
              </p:cNvSpPr>
              <p:nvPr/>
            </p:nvSpPr>
            <p:spPr>
              <a:xfrm>
                <a:off x="781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5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2" name="anchor"/>
              <p:cNvSpPr>
                <a:spLocks noGrp="1"/>
              </p:cNvSpPr>
              <p:nvPr/>
            </p:nvSpPr>
            <p:spPr>
              <a:xfrm>
                <a:off x="535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4" name="anchor"/>
              <p:cNvSpPr>
                <a:spLocks noGrp="1"/>
              </p:cNvSpPr>
              <p:nvPr/>
            </p:nvSpPr>
            <p:spPr>
              <a:xfrm>
                <a:off x="808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430" y="11894"/>
              <a:ext cx="2220" cy="736"/>
              <a:chOff x="8430" y="11894"/>
              <a:chExt cx="2220" cy="736"/>
            </a:xfrm>
          </p:grpSpPr>
          <p:sp>
            <p:nvSpPr>
              <p:cNvPr id="438" name="module-DRASP"/>
              <p:cNvSpPr>
                <a:spLocks noGrp="1"/>
              </p:cNvSpPr>
              <p:nvPr/>
            </p:nvSpPr>
            <p:spPr>
              <a:xfrm>
                <a:off x="8460" y="11894"/>
                <a:ext cx="2175" cy="736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9" name="module-title-DRASP"/>
              <p:cNvSpPr>
                <a:spLocks noGrp="1"/>
              </p:cNvSpPr>
              <p:nvPr/>
            </p:nvSpPr>
            <p:spPr>
              <a:xfrm>
                <a:off x="8535" y="12077"/>
                <a:ext cx="1995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42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DRASP</a:t>
                </a:r>
              </a:p>
            </p:txBody>
          </p:sp>
          <p:sp>
            <p:nvSpPr>
              <p:cNvPr id="455" name="anchor"/>
              <p:cNvSpPr>
                <a:spLocks noGrp="1"/>
              </p:cNvSpPr>
              <p:nvPr/>
            </p:nvSpPr>
            <p:spPr>
              <a:xfrm>
                <a:off x="843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7" name="anchor"/>
              <p:cNvSpPr>
                <a:spLocks noGrp="1"/>
              </p:cNvSpPr>
              <p:nvPr/>
            </p:nvSpPr>
            <p:spPr>
              <a:xfrm>
                <a:off x="1062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</p:grpSp>
      <p:cxnSp>
        <p:nvCxnSpPr>
          <p:cNvPr id="49" name="直接箭头连接符 48"/>
          <p:cNvCxnSpPr>
            <a:stCxn id="474" idx="3"/>
            <a:endCxn id="522" idx="1"/>
          </p:cNvCxnSpPr>
          <p:nvPr/>
        </p:nvCxnSpPr>
        <p:spPr>
          <a:xfrm flipV="1">
            <a:off x="9971405" y="4604385"/>
            <a:ext cx="4051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2" name="组合 71"/>
          <p:cNvGrpSpPr/>
          <p:nvPr/>
        </p:nvGrpSpPr>
        <p:grpSpPr>
          <a:xfrm>
            <a:off x="8462645" y="120015"/>
            <a:ext cx="3367405" cy="2823210"/>
            <a:chOff x="14632" y="180"/>
            <a:chExt cx="5303" cy="4446"/>
          </a:xfrm>
        </p:grpSpPr>
        <p:sp>
          <p:nvSpPr>
            <p:cNvPr id="635" name="anchor"/>
            <p:cNvSpPr>
              <a:spLocks noGrp="1"/>
            </p:cNvSpPr>
            <p:nvPr/>
          </p:nvSpPr>
          <p:spPr>
            <a:xfrm>
              <a:off x="14769" y="324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37" name="anchor"/>
            <p:cNvSpPr>
              <a:spLocks noGrp="1"/>
            </p:cNvSpPr>
            <p:nvPr/>
          </p:nvSpPr>
          <p:spPr>
            <a:xfrm>
              <a:off x="14769" y="324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4" name="anchor"/>
            <p:cNvSpPr>
              <a:spLocks noGrp="1"/>
            </p:cNvSpPr>
            <p:nvPr/>
          </p:nvSpPr>
          <p:spPr>
            <a:xfrm>
              <a:off x="14675" y="459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6" name="Predicted class panel"/>
            <p:cNvSpPr>
              <a:spLocks noGrp="1"/>
            </p:cNvSpPr>
            <p:nvPr/>
          </p:nvSpPr>
          <p:spPr>
            <a:xfrm>
              <a:off x="14632" y="180"/>
              <a:ext cx="5083" cy="4203"/>
            </a:xfrm>
            <a:custGeom>
              <a:avLst/>
              <a:gdLst>
                <a:gd name="csX0" fmla="*/ 0 w 3227705"/>
                <a:gd name="csY0" fmla="*/ 179938 h 2668905"/>
                <a:gd name="csX1" fmla="*/ 179938 w 3227705"/>
                <a:gd name="csY1" fmla="*/ 0 h 2668905"/>
                <a:gd name="csX2" fmla="*/ 753504 w 3227705"/>
                <a:gd name="csY2" fmla="*/ 0 h 2668905"/>
                <a:gd name="csX3" fmla="*/ 1269713 w 3227705"/>
                <a:gd name="csY3" fmla="*/ 0 h 2668905"/>
                <a:gd name="csX4" fmla="*/ 1871957 w 3227705"/>
                <a:gd name="csY4" fmla="*/ 0 h 2668905"/>
                <a:gd name="csX5" fmla="*/ 2388166 w 3227705"/>
                <a:gd name="csY5" fmla="*/ 0 h 2668905"/>
                <a:gd name="csX6" fmla="*/ 3047767 w 3227705"/>
                <a:gd name="csY6" fmla="*/ 0 h 2668905"/>
                <a:gd name="csX7" fmla="*/ 3227705 w 3227705"/>
                <a:gd name="csY7" fmla="*/ 179938 h 2668905"/>
                <a:gd name="csX8" fmla="*/ 3227705 w 3227705"/>
                <a:gd name="csY8" fmla="*/ 780286 h 2668905"/>
                <a:gd name="csX9" fmla="*/ 3227705 w 3227705"/>
                <a:gd name="csY9" fmla="*/ 1288272 h 2668905"/>
                <a:gd name="csX10" fmla="*/ 3227705 w 3227705"/>
                <a:gd name="csY10" fmla="*/ 1819349 h 2668905"/>
                <a:gd name="csX11" fmla="*/ 3227705 w 3227705"/>
                <a:gd name="csY11" fmla="*/ 2488967 h 2668905"/>
                <a:gd name="csX12" fmla="*/ 3047767 w 3227705"/>
                <a:gd name="csY12" fmla="*/ 2668905 h 2668905"/>
                <a:gd name="csX13" fmla="*/ 2531558 w 3227705"/>
                <a:gd name="csY13" fmla="*/ 2668905 h 2668905"/>
                <a:gd name="csX14" fmla="*/ 1986670 w 3227705"/>
                <a:gd name="csY14" fmla="*/ 2668905 h 2668905"/>
                <a:gd name="csX15" fmla="*/ 1413104 w 3227705"/>
                <a:gd name="csY15" fmla="*/ 2668905 h 2668905"/>
                <a:gd name="csX16" fmla="*/ 896895 w 3227705"/>
                <a:gd name="csY16" fmla="*/ 2668905 h 2668905"/>
                <a:gd name="csX17" fmla="*/ 179938 w 3227705"/>
                <a:gd name="csY17" fmla="*/ 2668905 h 2668905"/>
                <a:gd name="csX18" fmla="*/ 0 w 3227705"/>
                <a:gd name="csY18" fmla="*/ 2488967 h 2668905"/>
                <a:gd name="csX19" fmla="*/ 0 w 3227705"/>
                <a:gd name="csY19" fmla="*/ 1980981 h 2668905"/>
                <a:gd name="csX20" fmla="*/ 0 w 3227705"/>
                <a:gd name="csY20" fmla="*/ 1426814 h 2668905"/>
                <a:gd name="csX21" fmla="*/ 0 w 3227705"/>
                <a:gd name="csY21" fmla="*/ 826466 h 2668905"/>
                <a:gd name="csX22" fmla="*/ 0 w 3227705"/>
                <a:gd name="csY22" fmla="*/ 179938 h 2668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3227705" h="2668905" fill="none" extrusionOk="0">
                  <a:moveTo>
                    <a:pt x="0" y="179938"/>
                  </a:moveTo>
                  <a:cubicBezTo>
                    <a:pt x="-7730" y="80124"/>
                    <a:pt x="88447" y="6790"/>
                    <a:pt x="179938" y="0"/>
                  </a:cubicBezTo>
                  <a:cubicBezTo>
                    <a:pt x="457724" y="-24695"/>
                    <a:pt x="514294" y="-17904"/>
                    <a:pt x="753504" y="0"/>
                  </a:cubicBezTo>
                  <a:cubicBezTo>
                    <a:pt x="992714" y="17904"/>
                    <a:pt x="1055303" y="16991"/>
                    <a:pt x="1269713" y="0"/>
                  </a:cubicBezTo>
                  <a:cubicBezTo>
                    <a:pt x="1484123" y="-16991"/>
                    <a:pt x="1671124" y="-1697"/>
                    <a:pt x="1871957" y="0"/>
                  </a:cubicBezTo>
                  <a:cubicBezTo>
                    <a:pt x="2072790" y="1697"/>
                    <a:pt x="2248220" y="6238"/>
                    <a:pt x="2388166" y="0"/>
                  </a:cubicBezTo>
                  <a:cubicBezTo>
                    <a:pt x="2528112" y="-6238"/>
                    <a:pt x="2763196" y="-16800"/>
                    <a:pt x="3047767" y="0"/>
                  </a:cubicBezTo>
                  <a:cubicBezTo>
                    <a:pt x="3136809" y="10462"/>
                    <a:pt x="3218814" y="99587"/>
                    <a:pt x="3227705" y="179938"/>
                  </a:cubicBezTo>
                  <a:cubicBezTo>
                    <a:pt x="3205007" y="429298"/>
                    <a:pt x="3225150" y="635858"/>
                    <a:pt x="3227705" y="780286"/>
                  </a:cubicBezTo>
                  <a:cubicBezTo>
                    <a:pt x="3230260" y="924714"/>
                    <a:pt x="3227746" y="1159482"/>
                    <a:pt x="3227705" y="1288272"/>
                  </a:cubicBezTo>
                  <a:cubicBezTo>
                    <a:pt x="3227664" y="1417062"/>
                    <a:pt x="3251619" y="1653276"/>
                    <a:pt x="3227705" y="1819349"/>
                  </a:cubicBezTo>
                  <a:cubicBezTo>
                    <a:pt x="3203791" y="1985422"/>
                    <a:pt x="3206614" y="2190368"/>
                    <a:pt x="3227705" y="2488967"/>
                  </a:cubicBezTo>
                  <a:cubicBezTo>
                    <a:pt x="3232006" y="2587206"/>
                    <a:pt x="3145014" y="2683657"/>
                    <a:pt x="3047767" y="2668905"/>
                  </a:cubicBezTo>
                  <a:cubicBezTo>
                    <a:pt x="2856605" y="2691179"/>
                    <a:pt x="2659103" y="2682960"/>
                    <a:pt x="2531558" y="2668905"/>
                  </a:cubicBezTo>
                  <a:cubicBezTo>
                    <a:pt x="2404013" y="2654850"/>
                    <a:pt x="2114434" y="2677472"/>
                    <a:pt x="1986670" y="2668905"/>
                  </a:cubicBezTo>
                  <a:cubicBezTo>
                    <a:pt x="1858906" y="2660338"/>
                    <a:pt x="1626784" y="2656068"/>
                    <a:pt x="1413104" y="2668905"/>
                  </a:cubicBezTo>
                  <a:cubicBezTo>
                    <a:pt x="1199424" y="2681742"/>
                    <a:pt x="1147791" y="2676655"/>
                    <a:pt x="896895" y="2668905"/>
                  </a:cubicBezTo>
                  <a:cubicBezTo>
                    <a:pt x="645999" y="2661155"/>
                    <a:pt x="469528" y="2690678"/>
                    <a:pt x="179938" y="2668905"/>
                  </a:cubicBezTo>
                  <a:cubicBezTo>
                    <a:pt x="77836" y="2664038"/>
                    <a:pt x="-4347" y="2590364"/>
                    <a:pt x="0" y="2488967"/>
                  </a:cubicBezTo>
                  <a:cubicBezTo>
                    <a:pt x="929" y="2317938"/>
                    <a:pt x="14447" y="2082892"/>
                    <a:pt x="0" y="1980981"/>
                  </a:cubicBezTo>
                  <a:cubicBezTo>
                    <a:pt x="-14447" y="1879070"/>
                    <a:pt x="6223" y="1688797"/>
                    <a:pt x="0" y="1426814"/>
                  </a:cubicBezTo>
                  <a:cubicBezTo>
                    <a:pt x="-6223" y="1164831"/>
                    <a:pt x="-26330" y="1121031"/>
                    <a:pt x="0" y="826466"/>
                  </a:cubicBezTo>
                  <a:cubicBezTo>
                    <a:pt x="26330" y="531901"/>
                    <a:pt x="-8777" y="444865"/>
                    <a:pt x="0" y="179938"/>
                  </a:cubicBezTo>
                  <a:close/>
                </a:path>
                <a:path w="3227705" h="2668905" stroke="0" extrusionOk="0">
                  <a:moveTo>
                    <a:pt x="0" y="179938"/>
                  </a:moveTo>
                  <a:cubicBezTo>
                    <a:pt x="-15189" y="71192"/>
                    <a:pt x="75765" y="1800"/>
                    <a:pt x="179938" y="0"/>
                  </a:cubicBezTo>
                  <a:cubicBezTo>
                    <a:pt x="443985" y="-24586"/>
                    <a:pt x="581455" y="-15923"/>
                    <a:pt x="810860" y="0"/>
                  </a:cubicBezTo>
                  <a:cubicBezTo>
                    <a:pt x="1040265" y="15923"/>
                    <a:pt x="1152762" y="17657"/>
                    <a:pt x="1355748" y="0"/>
                  </a:cubicBezTo>
                  <a:cubicBezTo>
                    <a:pt x="1558734" y="-17657"/>
                    <a:pt x="1618070" y="-1494"/>
                    <a:pt x="1871957" y="0"/>
                  </a:cubicBezTo>
                  <a:cubicBezTo>
                    <a:pt x="2125844" y="1494"/>
                    <a:pt x="2260906" y="24480"/>
                    <a:pt x="2474201" y="0"/>
                  </a:cubicBezTo>
                  <a:cubicBezTo>
                    <a:pt x="2687496" y="-24480"/>
                    <a:pt x="2875655" y="4720"/>
                    <a:pt x="3047767" y="0"/>
                  </a:cubicBezTo>
                  <a:cubicBezTo>
                    <a:pt x="3159134" y="-19512"/>
                    <a:pt x="3224924" y="83005"/>
                    <a:pt x="3227705" y="179938"/>
                  </a:cubicBezTo>
                  <a:cubicBezTo>
                    <a:pt x="3222000" y="366780"/>
                    <a:pt x="3245987" y="498092"/>
                    <a:pt x="3227705" y="757195"/>
                  </a:cubicBezTo>
                  <a:cubicBezTo>
                    <a:pt x="3209423" y="1016298"/>
                    <a:pt x="3223074" y="1112347"/>
                    <a:pt x="3227705" y="1265182"/>
                  </a:cubicBezTo>
                  <a:cubicBezTo>
                    <a:pt x="3232336" y="1418017"/>
                    <a:pt x="3215838" y="1693239"/>
                    <a:pt x="3227705" y="1842439"/>
                  </a:cubicBezTo>
                  <a:cubicBezTo>
                    <a:pt x="3239572" y="1991639"/>
                    <a:pt x="3244148" y="2200641"/>
                    <a:pt x="3227705" y="2488967"/>
                  </a:cubicBezTo>
                  <a:cubicBezTo>
                    <a:pt x="3229806" y="2586268"/>
                    <a:pt x="3165488" y="2657076"/>
                    <a:pt x="3047767" y="2668905"/>
                  </a:cubicBezTo>
                  <a:cubicBezTo>
                    <a:pt x="2918625" y="2660219"/>
                    <a:pt x="2757441" y="2673975"/>
                    <a:pt x="2474201" y="2668905"/>
                  </a:cubicBezTo>
                  <a:cubicBezTo>
                    <a:pt x="2190961" y="2663835"/>
                    <a:pt x="2133926" y="2675015"/>
                    <a:pt x="1957992" y="2668905"/>
                  </a:cubicBezTo>
                  <a:cubicBezTo>
                    <a:pt x="1782058" y="2662795"/>
                    <a:pt x="1527444" y="2672130"/>
                    <a:pt x="1384426" y="2668905"/>
                  </a:cubicBezTo>
                  <a:cubicBezTo>
                    <a:pt x="1241408" y="2665680"/>
                    <a:pt x="987212" y="2676619"/>
                    <a:pt x="753504" y="2668905"/>
                  </a:cubicBezTo>
                  <a:cubicBezTo>
                    <a:pt x="519796" y="2661191"/>
                    <a:pt x="399658" y="2650181"/>
                    <a:pt x="179938" y="2668905"/>
                  </a:cubicBezTo>
                  <a:cubicBezTo>
                    <a:pt x="78074" y="2673352"/>
                    <a:pt x="10443" y="2596104"/>
                    <a:pt x="0" y="2488967"/>
                  </a:cubicBezTo>
                  <a:cubicBezTo>
                    <a:pt x="4566" y="2355312"/>
                    <a:pt x="-18275" y="2130990"/>
                    <a:pt x="0" y="1957890"/>
                  </a:cubicBezTo>
                  <a:cubicBezTo>
                    <a:pt x="18275" y="1784790"/>
                    <a:pt x="21152" y="1612605"/>
                    <a:pt x="0" y="1380633"/>
                  </a:cubicBezTo>
                  <a:cubicBezTo>
                    <a:pt x="-21152" y="1148661"/>
                    <a:pt x="19187" y="1088684"/>
                    <a:pt x="0" y="849556"/>
                  </a:cubicBezTo>
                  <a:cubicBezTo>
                    <a:pt x="-19187" y="610428"/>
                    <a:pt x="27215" y="471505"/>
                    <a:pt x="0" y="179938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11111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6742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7" name="Pred title"/>
            <p:cNvSpPr>
              <a:spLocks noGrp="1"/>
            </p:cNvSpPr>
            <p:nvPr/>
          </p:nvSpPr>
          <p:spPr>
            <a:xfrm>
              <a:off x="15409" y="291"/>
              <a:ext cx="3529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275" b="1">
                  <a:solidFill>
                    <a:srgbClr val="111111"/>
                  </a:solidFill>
                </a:defRPr>
              </a:pPr>
              <a:r>
                <a:rPr kumimoji="0" sz="12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Predicted class</a:t>
              </a:r>
            </a:p>
          </p:txBody>
        </p:sp>
        <p:sp>
          <p:nvSpPr>
            <p:cNvPr id="541" name="class-Passenger ship"/>
            <p:cNvSpPr>
              <a:spLocks noGrp="1"/>
            </p:cNvSpPr>
            <p:nvPr/>
          </p:nvSpPr>
          <p:spPr>
            <a:xfrm>
              <a:off x="15658" y="1011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Passenger ship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7179" y="2000"/>
              <a:ext cx="2610" cy="450"/>
              <a:chOff x="16091" y="4620"/>
              <a:chExt cx="2610" cy="450"/>
            </a:xfrm>
          </p:grpSpPr>
          <p:sp>
            <p:nvSpPr>
              <p:cNvPr id="556" name="ship-hull"/>
              <p:cNvSpPr>
                <a:spLocks noGrp="1"/>
              </p:cNvSpPr>
              <p:nvPr/>
            </p:nvSpPr>
            <p:spPr>
              <a:xfrm>
                <a:off x="16121" y="4860"/>
                <a:ext cx="630" cy="120"/>
              </a:xfrm>
              <a:prstGeom prst="parallelogram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7" name="ship-block"/>
              <p:cNvSpPr>
                <a:spLocks noGrp="1"/>
              </p:cNvSpPr>
              <p:nvPr/>
            </p:nvSpPr>
            <p:spPr>
              <a:xfrm>
                <a:off x="16211" y="4680"/>
                <a:ext cx="105" cy="18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8" name="ship-block"/>
              <p:cNvSpPr>
                <a:spLocks noGrp="1"/>
              </p:cNvSpPr>
              <p:nvPr/>
            </p:nvSpPr>
            <p:spPr>
              <a:xfrm>
                <a:off x="16331" y="4620"/>
                <a:ext cx="105" cy="24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9" name="ship-block"/>
              <p:cNvSpPr>
                <a:spLocks noGrp="1"/>
              </p:cNvSpPr>
              <p:nvPr/>
            </p:nvSpPr>
            <p:spPr>
              <a:xfrm>
                <a:off x="16451" y="4680"/>
                <a:ext cx="105" cy="18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60" name="anchor"/>
              <p:cNvSpPr>
                <a:spLocks noGrp="1"/>
              </p:cNvSpPr>
              <p:nvPr/>
            </p:nvSpPr>
            <p:spPr>
              <a:xfrm>
                <a:off x="16091" y="50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61" name="anchor"/>
              <p:cNvSpPr>
                <a:spLocks noGrp="1"/>
              </p:cNvSpPr>
              <p:nvPr/>
            </p:nvSpPr>
            <p:spPr>
              <a:xfrm>
                <a:off x="16736" y="50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213" name="直接箭头连接符 1212"/>
              <p:cNvCxnSpPr>
                <a:stCxn id="560" idx="6"/>
                <a:endCxn id="561" idx="2"/>
              </p:cNvCxnSpPr>
              <p:nvPr/>
            </p:nvCxnSpPr>
            <p:spPr>
              <a:xfrm>
                <a:off x="16121" y="5055"/>
                <a:ext cx="615" cy="0"/>
              </a:xfrm>
              <a:prstGeom prst="straightConnector1">
                <a:avLst/>
              </a:prstGeom>
              <a:ln w="11430">
                <a:solidFill>
                  <a:srgbClr val="111111"/>
                </a:solidFill>
                <a:prstDash val="solid"/>
              </a:ln>
            </p:spPr>
          </p:cxnSp>
          <p:sp>
            <p:nvSpPr>
              <p:cNvPr id="563" name="class-Tugboat"/>
              <p:cNvSpPr>
                <a:spLocks noGrp="1"/>
              </p:cNvSpPr>
              <p:nvPr/>
            </p:nvSpPr>
            <p:spPr>
              <a:xfrm>
                <a:off x="16901" y="462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Tugboat</a:t>
                </a: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7" y="955"/>
              <a:ext cx="474" cy="474"/>
            </a:xfrm>
            <a:prstGeom prst="rect">
              <a:avLst/>
            </a:prstGeom>
          </p:spPr>
        </p:pic>
        <p:grpSp>
          <p:nvGrpSpPr>
            <p:cNvPr id="59" name="组合 58"/>
            <p:cNvGrpSpPr/>
            <p:nvPr/>
          </p:nvGrpSpPr>
          <p:grpSpPr>
            <a:xfrm>
              <a:off x="17292" y="930"/>
              <a:ext cx="2611" cy="548"/>
              <a:chOff x="16090" y="1956"/>
              <a:chExt cx="2611" cy="548"/>
            </a:xfrm>
          </p:grpSpPr>
          <p:sp>
            <p:nvSpPr>
              <p:cNvPr id="545" name="class-Tanker"/>
              <p:cNvSpPr>
                <a:spLocks noGrp="1"/>
              </p:cNvSpPr>
              <p:nvPr/>
            </p:nvSpPr>
            <p:spPr>
              <a:xfrm>
                <a:off x="16901" y="201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Tanker</a:t>
                </a:r>
              </a:p>
            </p:txBody>
          </p:sp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90" y="1956"/>
                <a:ext cx="551" cy="548"/>
              </a:xfrm>
              <a:prstGeom prst="rect">
                <a:avLst/>
              </a:prstGeom>
            </p:spPr>
          </p:pic>
        </p:grpSp>
        <p:grpSp>
          <p:nvGrpSpPr>
            <p:cNvPr id="65" name="组合 64"/>
            <p:cNvGrpSpPr/>
            <p:nvPr/>
          </p:nvGrpSpPr>
          <p:grpSpPr>
            <a:xfrm>
              <a:off x="14956" y="1963"/>
              <a:ext cx="2568" cy="553"/>
              <a:chOff x="16133" y="2880"/>
              <a:chExt cx="2568" cy="553"/>
            </a:xfrm>
          </p:grpSpPr>
          <p:sp>
            <p:nvSpPr>
              <p:cNvPr id="551" name="class-Cargo ship"/>
              <p:cNvSpPr>
                <a:spLocks noGrp="1"/>
              </p:cNvSpPr>
              <p:nvPr/>
            </p:nvSpPr>
            <p:spPr>
              <a:xfrm>
                <a:off x="16901" y="288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Cargo ship</a:t>
                </a:r>
              </a:p>
            </p:txBody>
          </p:sp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33" y="2883"/>
                <a:ext cx="550" cy="550"/>
              </a:xfrm>
              <a:prstGeom prst="rect">
                <a:avLst/>
              </a:prstGeom>
            </p:spPr>
          </p:pic>
        </p:grpSp>
        <p:grpSp>
          <p:nvGrpSpPr>
            <p:cNvPr id="67" name="组合 66"/>
            <p:cNvGrpSpPr/>
            <p:nvPr/>
          </p:nvGrpSpPr>
          <p:grpSpPr>
            <a:xfrm>
              <a:off x="14893" y="2916"/>
              <a:ext cx="2778" cy="612"/>
              <a:chOff x="15923" y="3674"/>
              <a:chExt cx="2778" cy="612"/>
            </a:xfrm>
          </p:grpSpPr>
          <p:sp>
            <p:nvSpPr>
              <p:cNvPr id="555" name="class-Ro-Ro ship"/>
              <p:cNvSpPr>
                <a:spLocks noGrp="1"/>
              </p:cNvSpPr>
              <p:nvPr/>
            </p:nvSpPr>
            <p:spPr>
              <a:xfrm>
                <a:off x="16901" y="375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Ro-Ro ship</a:t>
                </a:r>
              </a:p>
            </p:txBody>
          </p:sp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923" y="3674"/>
                <a:ext cx="916" cy="613"/>
              </a:xfrm>
              <a:prstGeom prst="rect">
                <a:avLst/>
              </a:prstGeom>
            </p:spPr>
          </p:pic>
        </p:grpSp>
        <p:grpSp>
          <p:nvGrpSpPr>
            <p:cNvPr id="73" name="组合 72"/>
            <p:cNvGrpSpPr/>
            <p:nvPr/>
          </p:nvGrpSpPr>
          <p:grpSpPr>
            <a:xfrm>
              <a:off x="17145" y="2859"/>
              <a:ext cx="2790" cy="702"/>
              <a:chOff x="16057" y="6267"/>
              <a:chExt cx="2790" cy="702"/>
            </a:xfrm>
          </p:grpSpPr>
          <p:sp>
            <p:nvSpPr>
              <p:cNvPr id="588" name="class-Biological sound"/>
              <p:cNvSpPr>
                <a:spLocks noGrp="1"/>
              </p:cNvSpPr>
              <p:nvPr/>
            </p:nvSpPr>
            <p:spPr>
              <a:xfrm>
                <a:off x="16901" y="6360"/>
                <a:ext cx="1946" cy="36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Biological sound</a:t>
                </a:r>
              </a:p>
            </p:txBody>
          </p:sp>
          <p:pic>
            <p:nvPicPr>
              <p:cNvPr id="164" name="图片 163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57" y="6267"/>
                <a:ext cx="702" cy="702"/>
              </a:xfrm>
              <a:prstGeom prst="rect">
                <a:avLst/>
              </a:prstGeom>
            </p:spPr>
          </p:pic>
        </p:grpSp>
        <p:grpSp>
          <p:nvGrpSpPr>
            <p:cNvPr id="71" name="组合 70"/>
            <p:cNvGrpSpPr/>
            <p:nvPr/>
          </p:nvGrpSpPr>
          <p:grpSpPr>
            <a:xfrm>
              <a:off x="14884" y="3621"/>
              <a:ext cx="2787" cy="654"/>
              <a:chOff x="16248" y="5316"/>
              <a:chExt cx="2787" cy="654"/>
            </a:xfrm>
          </p:grpSpPr>
          <p:sp>
            <p:nvSpPr>
              <p:cNvPr id="585" name="class-Background noise"/>
              <p:cNvSpPr>
                <a:spLocks noGrp="1"/>
              </p:cNvSpPr>
              <p:nvPr/>
            </p:nvSpPr>
            <p:spPr>
              <a:xfrm>
                <a:off x="16901" y="5490"/>
                <a:ext cx="2134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Background noise</a:t>
                </a:r>
              </a:p>
            </p:txBody>
          </p:sp>
          <p:pic>
            <p:nvPicPr>
              <p:cNvPr id="70" name="图片 69" descr="噪声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48" y="5316"/>
                <a:ext cx="654" cy="654"/>
              </a:xfrm>
              <a:prstGeom prst="rect">
                <a:avLst/>
              </a:prstGeom>
            </p:spPr>
          </p:pic>
        </p:grpSp>
        <p:sp>
          <p:nvSpPr>
            <p:cNvPr id="51" name="椭圆 50"/>
            <p:cNvSpPr/>
            <p:nvPr/>
          </p:nvSpPr>
          <p:spPr>
            <a:xfrm>
              <a:off x="18208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18465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18696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pic>
        <p:nvPicPr>
          <p:cNvPr id="79" name="图片 78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490" y="8422640"/>
            <a:ext cx="474345" cy="474345"/>
          </a:xfrm>
          <a:prstGeom prst="rect">
            <a:avLst/>
          </a:prstGeom>
        </p:spPr>
      </p:pic>
      <p:grpSp>
        <p:nvGrpSpPr>
          <p:cNvPr id="75" name="组合 74"/>
          <p:cNvGrpSpPr/>
          <p:nvPr/>
        </p:nvGrpSpPr>
        <p:grpSpPr>
          <a:xfrm>
            <a:off x="411480" y="9350721"/>
            <a:ext cx="1304925" cy="298800"/>
            <a:chOff x="18811" y="10287"/>
            <a:chExt cx="2055" cy="471"/>
          </a:xfrm>
        </p:grpSpPr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11" y="10287"/>
              <a:ext cx="471" cy="471"/>
            </a:xfrm>
            <a:prstGeom prst="rect">
              <a:avLst/>
            </a:prstGeom>
          </p:spPr>
        </p:pic>
        <p:sp>
          <p:nvSpPr>
            <p:cNvPr id="85" name="leg1"/>
            <p:cNvSpPr>
              <a:spLocks noGrp="1"/>
            </p:cNvSpPr>
            <p:nvPr/>
          </p:nvSpPr>
          <p:spPr>
            <a:xfrm>
              <a:off x="19527" y="10314"/>
              <a:ext cx="1339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lang="en-US" sz="9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</a:t>
              </a:r>
              <a:r>
                <a:rPr kumimoji="0" lang="en-US" altLang="zh-CN" sz="9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rainable</a:t>
              </a:r>
              <a:endPara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94" name="连接符: 肘形 93"/>
          <p:cNvCxnSpPr>
            <a:stCxn id="6" idx="2"/>
            <a:endCxn id="395" idx="1"/>
          </p:cNvCxnSpPr>
          <p:nvPr/>
        </p:nvCxnSpPr>
        <p:spPr>
          <a:xfrm rot="5400000" flipV="1">
            <a:off x="-1720532" y="5043488"/>
            <a:ext cx="5746115" cy="590550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/>
          <p:cNvCxnSpPr/>
          <p:nvPr/>
        </p:nvCxnSpPr>
        <p:spPr>
          <a:xfrm rot="16200000" flipV="1">
            <a:off x="6735445" y="4954270"/>
            <a:ext cx="2283460" cy="2130425"/>
          </a:xfrm>
          <a:prstGeom prst="bentConnector3">
            <a:avLst>
              <a:gd name="adj1" fmla="val 50014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27" name="组合 26"/>
          <p:cNvGrpSpPr/>
          <p:nvPr/>
        </p:nvGrpSpPr>
        <p:grpSpPr>
          <a:xfrm>
            <a:off x="1304925" y="2924175"/>
            <a:ext cx="4790440" cy="3625215"/>
            <a:chOff x="2970" y="4635"/>
            <a:chExt cx="7544" cy="5709"/>
          </a:xfrm>
        </p:grpSpPr>
        <p:sp>
          <p:nvSpPr>
            <p:cNvPr id="231" name="MemKD panel"/>
            <p:cNvSpPr>
              <a:spLocks noGrp="1"/>
            </p:cNvSpPr>
            <p:nvPr/>
          </p:nvSpPr>
          <p:spPr>
            <a:xfrm>
              <a:off x="3195" y="4635"/>
              <a:ext cx="7319" cy="5709"/>
            </a:xfrm>
            <a:custGeom>
              <a:avLst/>
              <a:gdLst>
                <a:gd name="csX0" fmla="*/ 0 w 4647565"/>
                <a:gd name="csY0" fmla="*/ 142580 h 3625215"/>
                <a:gd name="csX1" fmla="*/ 142580 w 4647565"/>
                <a:gd name="csY1" fmla="*/ 0 h 3625215"/>
                <a:gd name="csX2" fmla="*/ 765781 w 4647565"/>
                <a:gd name="csY2" fmla="*/ 0 h 3625215"/>
                <a:gd name="csX3" fmla="*/ 1301733 w 4647565"/>
                <a:gd name="csY3" fmla="*/ 0 h 3625215"/>
                <a:gd name="csX4" fmla="*/ 1794062 w 4647565"/>
                <a:gd name="csY4" fmla="*/ 0 h 3625215"/>
                <a:gd name="csX5" fmla="*/ 2330015 w 4647565"/>
                <a:gd name="csY5" fmla="*/ 0 h 3625215"/>
                <a:gd name="csX6" fmla="*/ 2996839 w 4647565"/>
                <a:gd name="csY6" fmla="*/ 0 h 3625215"/>
                <a:gd name="csX7" fmla="*/ 3532792 w 4647565"/>
                <a:gd name="csY7" fmla="*/ 0 h 3625215"/>
                <a:gd name="csX8" fmla="*/ 4504985 w 4647565"/>
                <a:gd name="csY8" fmla="*/ 0 h 3625215"/>
                <a:gd name="csX9" fmla="*/ 4647565 w 4647565"/>
                <a:gd name="csY9" fmla="*/ 142580 h 3625215"/>
                <a:gd name="csX10" fmla="*/ 4647565 w 4647565"/>
                <a:gd name="csY10" fmla="*/ 843992 h 3625215"/>
                <a:gd name="csX11" fmla="*/ 4647565 w 4647565"/>
                <a:gd name="csY11" fmla="*/ 1445201 h 3625215"/>
                <a:gd name="csX12" fmla="*/ 4647565 w 4647565"/>
                <a:gd name="csY12" fmla="*/ 2180014 h 3625215"/>
                <a:gd name="csX13" fmla="*/ 4647565 w 4647565"/>
                <a:gd name="csY13" fmla="*/ 2848025 h 3625215"/>
                <a:gd name="csX14" fmla="*/ 4647565 w 4647565"/>
                <a:gd name="csY14" fmla="*/ 3482635 h 3625215"/>
                <a:gd name="csX15" fmla="*/ 4504985 w 4647565"/>
                <a:gd name="csY15" fmla="*/ 3625215 h 3625215"/>
                <a:gd name="csX16" fmla="*/ 3794536 w 4647565"/>
                <a:gd name="csY16" fmla="*/ 3625215 h 3625215"/>
                <a:gd name="csX17" fmla="*/ 3258584 w 4647565"/>
                <a:gd name="csY17" fmla="*/ 3625215 h 3625215"/>
                <a:gd name="csX18" fmla="*/ 2635383 w 4647565"/>
                <a:gd name="csY18" fmla="*/ 3625215 h 3625215"/>
                <a:gd name="csX19" fmla="*/ 2143054 w 4647565"/>
                <a:gd name="csY19" fmla="*/ 3625215 h 3625215"/>
                <a:gd name="csX20" fmla="*/ 1432605 w 4647565"/>
                <a:gd name="csY20" fmla="*/ 3625215 h 3625215"/>
                <a:gd name="csX21" fmla="*/ 809405 w 4647565"/>
                <a:gd name="csY21" fmla="*/ 3625215 h 3625215"/>
                <a:gd name="csX22" fmla="*/ 142580 w 4647565"/>
                <a:gd name="csY22" fmla="*/ 3625215 h 3625215"/>
                <a:gd name="csX23" fmla="*/ 0 w 4647565"/>
                <a:gd name="csY23" fmla="*/ 3482635 h 3625215"/>
                <a:gd name="csX24" fmla="*/ 0 w 4647565"/>
                <a:gd name="csY24" fmla="*/ 2781223 h 3625215"/>
                <a:gd name="csX25" fmla="*/ 0 w 4647565"/>
                <a:gd name="csY25" fmla="*/ 2079812 h 3625215"/>
                <a:gd name="csX26" fmla="*/ 0 w 4647565"/>
                <a:gd name="csY26" fmla="*/ 1345000 h 3625215"/>
                <a:gd name="csX27" fmla="*/ 0 w 4647565"/>
                <a:gd name="csY27" fmla="*/ 142580 h 3625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647565" h="3625215" fill="none" extrusionOk="0">
                  <a:moveTo>
                    <a:pt x="0" y="142580"/>
                  </a:moveTo>
                  <a:cubicBezTo>
                    <a:pt x="-5257" y="80223"/>
                    <a:pt x="61287" y="-8024"/>
                    <a:pt x="142580" y="0"/>
                  </a:cubicBezTo>
                  <a:cubicBezTo>
                    <a:pt x="317576" y="-24160"/>
                    <a:pt x="455241" y="9832"/>
                    <a:pt x="765781" y="0"/>
                  </a:cubicBezTo>
                  <a:cubicBezTo>
                    <a:pt x="1076321" y="-9832"/>
                    <a:pt x="1056203" y="23477"/>
                    <a:pt x="1301733" y="0"/>
                  </a:cubicBezTo>
                  <a:cubicBezTo>
                    <a:pt x="1547263" y="-23477"/>
                    <a:pt x="1681055" y="11749"/>
                    <a:pt x="1794062" y="0"/>
                  </a:cubicBezTo>
                  <a:cubicBezTo>
                    <a:pt x="1907069" y="-11749"/>
                    <a:pt x="2192405" y="-3709"/>
                    <a:pt x="2330015" y="0"/>
                  </a:cubicBezTo>
                  <a:cubicBezTo>
                    <a:pt x="2467625" y="3709"/>
                    <a:pt x="2744632" y="-10756"/>
                    <a:pt x="2996839" y="0"/>
                  </a:cubicBezTo>
                  <a:cubicBezTo>
                    <a:pt x="3249046" y="10756"/>
                    <a:pt x="3299716" y="21484"/>
                    <a:pt x="3532792" y="0"/>
                  </a:cubicBezTo>
                  <a:cubicBezTo>
                    <a:pt x="3765868" y="-21484"/>
                    <a:pt x="4122929" y="-48271"/>
                    <a:pt x="4504985" y="0"/>
                  </a:cubicBezTo>
                  <a:cubicBezTo>
                    <a:pt x="4592244" y="1688"/>
                    <a:pt x="4638160" y="69908"/>
                    <a:pt x="4647565" y="142580"/>
                  </a:cubicBezTo>
                  <a:cubicBezTo>
                    <a:pt x="4622689" y="437056"/>
                    <a:pt x="4635386" y="633268"/>
                    <a:pt x="4647565" y="843992"/>
                  </a:cubicBezTo>
                  <a:cubicBezTo>
                    <a:pt x="4659744" y="1054716"/>
                    <a:pt x="4662974" y="1297996"/>
                    <a:pt x="4647565" y="1445201"/>
                  </a:cubicBezTo>
                  <a:cubicBezTo>
                    <a:pt x="4632156" y="1592406"/>
                    <a:pt x="4658873" y="1905697"/>
                    <a:pt x="4647565" y="2180014"/>
                  </a:cubicBezTo>
                  <a:cubicBezTo>
                    <a:pt x="4636257" y="2454331"/>
                    <a:pt x="4616297" y="2693922"/>
                    <a:pt x="4647565" y="2848025"/>
                  </a:cubicBezTo>
                  <a:cubicBezTo>
                    <a:pt x="4678833" y="3002128"/>
                    <a:pt x="4617446" y="3205598"/>
                    <a:pt x="4647565" y="3482635"/>
                  </a:cubicBezTo>
                  <a:cubicBezTo>
                    <a:pt x="4645675" y="3559217"/>
                    <a:pt x="4586370" y="3622359"/>
                    <a:pt x="4504985" y="3625215"/>
                  </a:cubicBezTo>
                  <a:cubicBezTo>
                    <a:pt x="4262132" y="3637215"/>
                    <a:pt x="4012087" y="3639438"/>
                    <a:pt x="3794536" y="3625215"/>
                  </a:cubicBezTo>
                  <a:cubicBezTo>
                    <a:pt x="3576985" y="3610992"/>
                    <a:pt x="3487447" y="3647010"/>
                    <a:pt x="3258584" y="3625215"/>
                  </a:cubicBezTo>
                  <a:cubicBezTo>
                    <a:pt x="3029721" y="3603420"/>
                    <a:pt x="2851247" y="3650274"/>
                    <a:pt x="2635383" y="3625215"/>
                  </a:cubicBezTo>
                  <a:cubicBezTo>
                    <a:pt x="2419519" y="3600156"/>
                    <a:pt x="2357106" y="3609583"/>
                    <a:pt x="2143054" y="3625215"/>
                  </a:cubicBezTo>
                  <a:cubicBezTo>
                    <a:pt x="1929002" y="3640847"/>
                    <a:pt x="1663387" y="3590237"/>
                    <a:pt x="1432605" y="3625215"/>
                  </a:cubicBezTo>
                  <a:cubicBezTo>
                    <a:pt x="1201823" y="3660193"/>
                    <a:pt x="998673" y="3655125"/>
                    <a:pt x="809405" y="3625215"/>
                  </a:cubicBezTo>
                  <a:cubicBezTo>
                    <a:pt x="620137" y="3595305"/>
                    <a:pt x="452101" y="3593742"/>
                    <a:pt x="142580" y="3625215"/>
                  </a:cubicBezTo>
                  <a:cubicBezTo>
                    <a:pt x="65223" y="3628177"/>
                    <a:pt x="-4351" y="3579176"/>
                    <a:pt x="0" y="3482635"/>
                  </a:cubicBezTo>
                  <a:cubicBezTo>
                    <a:pt x="-16064" y="3241780"/>
                    <a:pt x="-2964" y="3099007"/>
                    <a:pt x="0" y="2781223"/>
                  </a:cubicBezTo>
                  <a:cubicBezTo>
                    <a:pt x="2964" y="2463439"/>
                    <a:pt x="20522" y="2302843"/>
                    <a:pt x="0" y="2079812"/>
                  </a:cubicBezTo>
                  <a:cubicBezTo>
                    <a:pt x="-20522" y="1856781"/>
                    <a:pt x="-26404" y="1508486"/>
                    <a:pt x="0" y="1345000"/>
                  </a:cubicBezTo>
                  <a:cubicBezTo>
                    <a:pt x="26404" y="1181514"/>
                    <a:pt x="8754" y="393849"/>
                    <a:pt x="0" y="142580"/>
                  </a:cubicBezTo>
                  <a:close/>
                </a:path>
                <a:path w="4647565" h="3625215" stroke="0" extrusionOk="0">
                  <a:moveTo>
                    <a:pt x="0" y="142580"/>
                  </a:moveTo>
                  <a:cubicBezTo>
                    <a:pt x="-13113" y="55747"/>
                    <a:pt x="55745" y="3036"/>
                    <a:pt x="142580" y="0"/>
                  </a:cubicBezTo>
                  <a:cubicBezTo>
                    <a:pt x="408546" y="-28904"/>
                    <a:pt x="670720" y="27566"/>
                    <a:pt x="853029" y="0"/>
                  </a:cubicBezTo>
                  <a:cubicBezTo>
                    <a:pt x="1035338" y="-27566"/>
                    <a:pt x="1217293" y="-16743"/>
                    <a:pt x="1432605" y="0"/>
                  </a:cubicBezTo>
                  <a:cubicBezTo>
                    <a:pt x="1647917" y="16743"/>
                    <a:pt x="1778459" y="-16940"/>
                    <a:pt x="1968558" y="0"/>
                  </a:cubicBezTo>
                  <a:cubicBezTo>
                    <a:pt x="2158657" y="16940"/>
                    <a:pt x="2476484" y="-6587"/>
                    <a:pt x="2635383" y="0"/>
                  </a:cubicBezTo>
                  <a:cubicBezTo>
                    <a:pt x="2794282" y="6587"/>
                    <a:pt x="2962141" y="30"/>
                    <a:pt x="3214960" y="0"/>
                  </a:cubicBezTo>
                  <a:cubicBezTo>
                    <a:pt x="3467779" y="-30"/>
                    <a:pt x="3584344" y="28552"/>
                    <a:pt x="3925408" y="0"/>
                  </a:cubicBezTo>
                  <a:cubicBezTo>
                    <a:pt x="4266472" y="-28552"/>
                    <a:pt x="4284370" y="-17307"/>
                    <a:pt x="4504985" y="0"/>
                  </a:cubicBezTo>
                  <a:cubicBezTo>
                    <a:pt x="4573550" y="16841"/>
                    <a:pt x="4645664" y="61630"/>
                    <a:pt x="4647565" y="142580"/>
                  </a:cubicBezTo>
                  <a:cubicBezTo>
                    <a:pt x="4618822" y="307277"/>
                    <a:pt x="4655287" y="453566"/>
                    <a:pt x="4647565" y="743790"/>
                  </a:cubicBezTo>
                  <a:cubicBezTo>
                    <a:pt x="4639844" y="1034014"/>
                    <a:pt x="4636366" y="1221858"/>
                    <a:pt x="4647565" y="1411801"/>
                  </a:cubicBezTo>
                  <a:cubicBezTo>
                    <a:pt x="4658764" y="1601744"/>
                    <a:pt x="4623292" y="1892812"/>
                    <a:pt x="4647565" y="2046411"/>
                  </a:cubicBezTo>
                  <a:cubicBezTo>
                    <a:pt x="4671839" y="2200010"/>
                    <a:pt x="4628319" y="2490449"/>
                    <a:pt x="4647565" y="2781223"/>
                  </a:cubicBezTo>
                  <a:cubicBezTo>
                    <a:pt x="4666811" y="3071997"/>
                    <a:pt x="4615533" y="3205424"/>
                    <a:pt x="4647565" y="3482635"/>
                  </a:cubicBezTo>
                  <a:cubicBezTo>
                    <a:pt x="4639210" y="3562752"/>
                    <a:pt x="4577625" y="3621003"/>
                    <a:pt x="4504985" y="3625215"/>
                  </a:cubicBezTo>
                  <a:cubicBezTo>
                    <a:pt x="4261112" y="3649805"/>
                    <a:pt x="4090112" y="3627809"/>
                    <a:pt x="3838160" y="3625215"/>
                  </a:cubicBezTo>
                  <a:cubicBezTo>
                    <a:pt x="3586208" y="3622621"/>
                    <a:pt x="3359208" y="3600245"/>
                    <a:pt x="3214960" y="3625215"/>
                  </a:cubicBezTo>
                  <a:cubicBezTo>
                    <a:pt x="3070712" y="3650185"/>
                    <a:pt x="2894418" y="3631674"/>
                    <a:pt x="2722631" y="3625215"/>
                  </a:cubicBezTo>
                  <a:cubicBezTo>
                    <a:pt x="2550844" y="3618756"/>
                    <a:pt x="2413683" y="3621630"/>
                    <a:pt x="2186678" y="3625215"/>
                  </a:cubicBezTo>
                  <a:cubicBezTo>
                    <a:pt x="1959673" y="3628800"/>
                    <a:pt x="1829772" y="3659232"/>
                    <a:pt x="1476230" y="3625215"/>
                  </a:cubicBezTo>
                  <a:cubicBezTo>
                    <a:pt x="1122688" y="3591198"/>
                    <a:pt x="1156995" y="3631413"/>
                    <a:pt x="853029" y="3625215"/>
                  </a:cubicBezTo>
                  <a:cubicBezTo>
                    <a:pt x="549063" y="3619017"/>
                    <a:pt x="453221" y="3590757"/>
                    <a:pt x="142580" y="3625215"/>
                  </a:cubicBezTo>
                  <a:cubicBezTo>
                    <a:pt x="63448" y="3614790"/>
                    <a:pt x="15644" y="3564642"/>
                    <a:pt x="0" y="3482635"/>
                  </a:cubicBezTo>
                  <a:cubicBezTo>
                    <a:pt x="-27644" y="3280499"/>
                    <a:pt x="20976" y="3105757"/>
                    <a:pt x="0" y="2814624"/>
                  </a:cubicBezTo>
                  <a:cubicBezTo>
                    <a:pt x="-20976" y="2523491"/>
                    <a:pt x="-24689" y="2292220"/>
                    <a:pt x="0" y="2146613"/>
                  </a:cubicBezTo>
                  <a:cubicBezTo>
                    <a:pt x="24689" y="2001006"/>
                    <a:pt x="5991" y="1790952"/>
                    <a:pt x="0" y="1545403"/>
                  </a:cubicBezTo>
                  <a:cubicBezTo>
                    <a:pt x="-5991" y="1299854"/>
                    <a:pt x="-35067" y="1150075"/>
                    <a:pt x="0" y="843992"/>
                  </a:cubicBezTo>
                  <a:cubicBezTo>
                    <a:pt x="35067" y="537909"/>
                    <a:pt x="7690" y="426275"/>
                    <a:pt x="0" y="142580"/>
                  </a:cubicBezTo>
                  <a:close/>
                </a:path>
              </a:pathLst>
            </a:custGeom>
            <a:solidFill>
              <a:srgbClr val="FFFDF9"/>
            </a:solidFill>
            <a:ln w="13335">
              <a:solidFill>
                <a:srgbClr val="FF6A00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3933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2" name="MemKD title"/>
            <p:cNvSpPr>
              <a:spLocks noGrp="1"/>
            </p:cNvSpPr>
            <p:nvPr/>
          </p:nvSpPr>
          <p:spPr>
            <a:xfrm>
              <a:off x="6180" y="4815"/>
              <a:ext cx="165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1">
                  <a:solidFill>
                    <a:srgbClr val="FF6A00"/>
                  </a:solidFill>
                </a:defRPr>
              </a:pPr>
              <a:r>
                <a:rPr kumimoji="0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35" name="anchor"/>
            <p:cNvSpPr>
              <a:spLocks noGrp="1"/>
            </p:cNvSpPr>
            <p:nvPr/>
          </p:nvSpPr>
          <p:spPr>
            <a:xfrm>
              <a:off x="6900" y="91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07" name="legend-teacher"/>
            <p:cNvSpPr>
              <a:spLocks noGrp="1"/>
            </p:cNvSpPr>
            <p:nvPr/>
          </p:nvSpPr>
          <p:spPr>
            <a:xfrm>
              <a:off x="9329" y="4912"/>
              <a:ext cx="120" cy="120"/>
            </a:xfrm>
            <a:prstGeom prst="ellipse">
              <a:avLst/>
            </a:prstGeom>
            <a:solidFill>
              <a:srgbClr val="2F73E8"/>
            </a:solidFill>
            <a:ln w="1333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08" name="legend-t"/>
            <p:cNvSpPr>
              <a:spLocks noGrp="1"/>
            </p:cNvSpPr>
            <p:nvPr/>
          </p:nvSpPr>
          <p:spPr>
            <a:xfrm>
              <a:off x="9483" y="4820"/>
              <a:ext cx="929" cy="1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675" b="0">
                  <a:solidFill>
                    <a:srgbClr val="111111"/>
                  </a:solidFill>
                </a:defRPr>
              </a:pPr>
              <a:r>
                <a:rPr kumimoji="0" sz="6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Teacher</a:t>
              </a:r>
            </a:p>
          </p:txBody>
        </p:sp>
        <p:sp>
          <p:nvSpPr>
            <p:cNvPr id="309" name="legend-student"/>
            <p:cNvSpPr>
              <a:spLocks noGrp="1"/>
            </p:cNvSpPr>
            <p:nvPr/>
          </p:nvSpPr>
          <p:spPr>
            <a:xfrm>
              <a:off x="9333" y="5228"/>
              <a:ext cx="120" cy="120"/>
            </a:xfrm>
            <a:prstGeom prst="ellipse">
              <a:avLst/>
            </a:prstGeom>
            <a:solidFill>
              <a:srgbClr val="55A83C"/>
            </a:solidFill>
            <a:ln w="1333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10" name="legend-s"/>
            <p:cNvSpPr>
              <a:spLocks noGrp="1"/>
            </p:cNvSpPr>
            <p:nvPr/>
          </p:nvSpPr>
          <p:spPr>
            <a:xfrm>
              <a:off x="9507" y="5144"/>
              <a:ext cx="881" cy="2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675" b="0">
                  <a:solidFill>
                    <a:srgbClr val="111111"/>
                  </a:solidFill>
                </a:defRPr>
              </a:pPr>
              <a:r>
                <a:rPr kumimoji="0" sz="6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Student</a:t>
              </a:r>
            </a:p>
          </p:txBody>
        </p:sp>
        <p:sp>
          <p:nvSpPr>
            <p:cNvPr id="393" name="MemKD note"/>
            <p:cNvSpPr>
              <a:spLocks noGrp="1"/>
            </p:cNvSpPr>
            <p:nvPr/>
          </p:nvSpPr>
          <p:spPr>
            <a:xfrm>
              <a:off x="3795" y="8760"/>
              <a:ext cx="6345" cy="1437"/>
            </a:xfrm>
            <a:prstGeom prst="roundRect">
              <a:avLst>
                <a:gd name="adj" fmla="val 1379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3335">
              <a:solidFill>
                <a:srgbClr val="FFD8B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MemKD note text"/>
                <p:cNvSpPr>
                  <a:spLocks noGrp="1"/>
                </p:cNvSpPr>
                <p:nvPr/>
              </p:nvSpPr>
              <p:spPr>
                <a:xfrm>
                  <a:off x="6541" y="9660"/>
                  <a:ext cx="585" cy="27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12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kumimoji="0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 xmlns="">
            <p:sp>
              <p:nvSpPr>
                <p:cNvPr id="394" name="MemKD note tex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1" y="9660"/>
                  <a:ext cx="585" cy="270"/>
                </a:xfrm>
                <a:prstGeom prst="rect">
                  <a:avLst/>
                </a:prstGeom>
                <a:blipFill rotWithShape="1">
                  <a:blip r:embed="rId22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4" name="anchor"/>
            <p:cNvSpPr>
              <a:spLocks noGrp="1"/>
            </p:cNvSpPr>
            <p:nvPr/>
          </p:nvSpPr>
          <p:spPr>
            <a:xfrm>
              <a:off x="2970" y="74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0" name="anchor"/>
            <p:cNvSpPr>
              <a:spLocks noGrp="1"/>
            </p:cNvSpPr>
            <p:nvPr/>
          </p:nvSpPr>
          <p:spPr>
            <a:xfrm>
              <a:off x="6885" y="46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2" name="anchor"/>
            <p:cNvSpPr>
              <a:spLocks noGrp="1"/>
            </p:cNvSpPr>
            <p:nvPr/>
          </p:nvSpPr>
          <p:spPr>
            <a:xfrm>
              <a:off x="6885" y="99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3272" y="5271"/>
              <a:ext cx="7126" cy="3435"/>
              <a:chOff x="3630" y="5449"/>
              <a:chExt cx="7126" cy="3435"/>
            </a:xfrm>
          </p:grpSpPr>
          <p:sp>
            <p:nvSpPr>
              <p:cNvPr id="234" name="anchor"/>
              <p:cNvSpPr>
                <a:spLocks noGrp="1"/>
              </p:cNvSpPr>
              <p:nvPr/>
            </p:nvSpPr>
            <p:spPr>
              <a:xfrm>
                <a:off x="6900" y="571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887" name="直接箭头连接符 886"/>
              <p:cNvCxnSpPr/>
              <p:nvPr/>
            </p:nvCxnSpPr>
            <p:spPr>
              <a:xfrm>
                <a:off x="7153" y="5644"/>
                <a:ext cx="0" cy="3118"/>
              </a:xfrm>
              <a:prstGeom prst="straightConnector1">
                <a:avLst/>
              </a:prstGeom>
              <a:ln w="25400">
                <a:solidFill>
                  <a:srgbClr val="FF6A00"/>
                </a:solidFill>
                <a:prstDash val="dash"/>
              </a:ln>
            </p:spPr>
          </p:cxnSp>
          <p:sp>
            <p:nvSpPr>
              <p:cNvPr id="238" name="mini-title-(a)"/>
              <p:cNvSpPr>
                <a:spLocks noGrp="1"/>
              </p:cNvSpPr>
              <p:nvPr/>
            </p:nvSpPr>
            <p:spPr>
              <a:xfrm>
                <a:off x="3825" y="5700"/>
                <a:ext cx="2910" cy="8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(a) Short-term memory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discrepancy (z = 1)</a:t>
                </a:r>
              </a:p>
            </p:txBody>
          </p:sp>
          <p:sp>
            <p:nvSpPr>
              <p:cNvPr id="317" name="mini-title-(b)"/>
              <p:cNvSpPr>
                <a:spLocks noGrp="1"/>
              </p:cNvSpPr>
              <p:nvPr/>
            </p:nvSpPr>
            <p:spPr>
              <a:xfrm>
                <a:off x="7274" y="5449"/>
                <a:ext cx="3121" cy="8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(b) Long-term memory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discrepancy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(z ~ U(2, floor(T/2)))</a:t>
                </a:r>
              </a:p>
            </p:txBody>
          </p:sp>
          <p:sp>
            <p:nvSpPr>
              <p:cNvPr id="318" name="anchor"/>
              <p:cNvSpPr>
                <a:spLocks noGrp="1"/>
              </p:cNvSpPr>
              <p:nvPr/>
            </p:nvSpPr>
            <p:spPr>
              <a:xfrm>
                <a:off x="7575" y="676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19" name="anchor"/>
              <p:cNvSpPr>
                <a:spLocks noGrp="1"/>
              </p:cNvSpPr>
              <p:nvPr/>
            </p:nvSpPr>
            <p:spPr>
              <a:xfrm>
                <a:off x="757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21" name="anchor"/>
              <p:cNvSpPr>
                <a:spLocks noGrp="1"/>
              </p:cNvSpPr>
              <p:nvPr/>
            </p:nvSpPr>
            <p:spPr>
              <a:xfrm>
                <a:off x="757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22" name="anchor"/>
              <p:cNvSpPr>
                <a:spLocks noGrp="1"/>
              </p:cNvSpPr>
              <p:nvPr/>
            </p:nvSpPr>
            <p:spPr>
              <a:xfrm>
                <a:off x="979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7623" y="7065"/>
                <a:ext cx="2640" cy="1095"/>
                <a:chOff x="7830" y="7050"/>
                <a:chExt cx="2640" cy="1095"/>
              </a:xfrm>
            </p:grpSpPr>
            <p:sp>
              <p:nvSpPr>
                <p:cNvPr id="326" name="anchor"/>
                <p:cNvSpPr>
                  <a:spLocks noGrp="1"/>
                </p:cNvSpPr>
                <p:nvPr/>
              </p:nvSpPr>
              <p:spPr>
                <a:xfrm>
                  <a:off x="7875" y="73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27" name="anchor"/>
                <p:cNvSpPr>
                  <a:spLocks noGrp="1"/>
                </p:cNvSpPr>
                <p:nvPr/>
              </p:nvSpPr>
              <p:spPr>
                <a:xfrm>
                  <a:off x="8355" y="72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79" name="直接箭头连接符 978"/>
                <p:cNvCxnSpPr>
                  <a:stCxn id="326" idx="6"/>
                  <a:endCxn id="327" idx="2"/>
                </p:cNvCxnSpPr>
                <p:nvPr/>
              </p:nvCxnSpPr>
              <p:spPr>
                <a:xfrm flipV="1">
                  <a:off x="7905" y="7290"/>
                  <a:ext cx="450" cy="6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29" name="anchor"/>
                <p:cNvSpPr>
                  <a:spLocks noGrp="1"/>
                </p:cNvSpPr>
                <p:nvPr/>
              </p:nvSpPr>
              <p:spPr>
                <a:xfrm>
                  <a:off x="7875" y="79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30" name="anchor"/>
                <p:cNvSpPr>
                  <a:spLocks noGrp="1"/>
                </p:cNvSpPr>
                <p:nvPr/>
              </p:nvSpPr>
              <p:spPr>
                <a:xfrm>
                  <a:off x="8355" y="807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82" name="直接箭头连接符 981"/>
                <p:cNvCxnSpPr>
                  <a:stCxn id="329" idx="6"/>
                  <a:endCxn id="330" idx="2"/>
                </p:cNvCxnSpPr>
                <p:nvPr/>
              </p:nvCxnSpPr>
              <p:spPr>
                <a:xfrm>
                  <a:off x="7905" y="8010"/>
                  <a:ext cx="450" cy="75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32" name="anchor"/>
                <p:cNvSpPr>
                  <a:spLocks noGrp="1"/>
                </p:cNvSpPr>
                <p:nvPr/>
              </p:nvSpPr>
              <p:spPr>
                <a:xfrm>
                  <a:off x="8355" y="72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33" name="anchor"/>
                <p:cNvSpPr>
                  <a:spLocks noGrp="1"/>
                </p:cNvSpPr>
                <p:nvPr/>
              </p:nvSpPr>
              <p:spPr>
                <a:xfrm>
                  <a:off x="883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85" name="直接箭头连接符 984"/>
                <p:cNvCxnSpPr>
                  <a:stCxn id="332" idx="6"/>
                  <a:endCxn id="333" idx="2"/>
                </p:cNvCxnSpPr>
                <p:nvPr/>
              </p:nvCxnSpPr>
              <p:spPr>
                <a:xfrm flipV="1">
                  <a:off x="8385" y="720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35" name="anchor"/>
                <p:cNvSpPr>
                  <a:spLocks noGrp="1"/>
                </p:cNvSpPr>
                <p:nvPr/>
              </p:nvSpPr>
              <p:spPr>
                <a:xfrm>
                  <a:off x="8355" y="807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36" name="anchor"/>
                <p:cNvSpPr>
                  <a:spLocks noGrp="1"/>
                </p:cNvSpPr>
                <p:nvPr/>
              </p:nvSpPr>
              <p:spPr>
                <a:xfrm>
                  <a:off x="8835" y="80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88" name="直接箭头连接符 987"/>
                <p:cNvCxnSpPr>
                  <a:stCxn id="335" idx="6"/>
                  <a:endCxn id="336" idx="2"/>
                </p:cNvCxnSpPr>
                <p:nvPr/>
              </p:nvCxnSpPr>
              <p:spPr>
                <a:xfrm flipV="1">
                  <a:off x="8385" y="8040"/>
                  <a:ext cx="450" cy="45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38" name="anchor"/>
                <p:cNvSpPr>
                  <a:spLocks noGrp="1"/>
                </p:cNvSpPr>
                <p:nvPr/>
              </p:nvSpPr>
              <p:spPr>
                <a:xfrm>
                  <a:off x="883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39" name="anchor"/>
                <p:cNvSpPr>
                  <a:spLocks noGrp="1"/>
                </p:cNvSpPr>
                <p:nvPr/>
              </p:nvSpPr>
              <p:spPr>
                <a:xfrm>
                  <a:off x="931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91" name="直接箭头连接符 990"/>
                <p:cNvCxnSpPr>
                  <a:stCxn id="338" idx="6"/>
                  <a:endCxn id="339" idx="2"/>
                </p:cNvCxnSpPr>
                <p:nvPr/>
              </p:nvCxnSpPr>
              <p:spPr>
                <a:xfrm>
                  <a:off x="8865" y="7200"/>
                  <a:ext cx="450" cy="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41" name="anchor"/>
                <p:cNvSpPr>
                  <a:spLocks noGrp="1"/>
                </p:cNvSpPr>
                <p:nvPr/>
              </p:nvSpPr>
              <p:spPr>
                <a:xfrm>
                  <a:off x="8835" y="80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42" name="anchor"/>
                <p:cNvSpPr>
                  <a:spLocks noGrp="1"/>
                </p:cNvSpPr>
                <p:nvPr/>
              </p:nvSpPr>
              <p:spPr>
                <a:xfrm>
                  <a:off x="931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94" name="直接箭头连接符 993"/>
                <p:cNvCxnSpPr>
                  <a:stCxn id="341" idx="6"/>
                  <a:endCxn id="342" idx="2"/>
                </p:cNvCxnSpPr>
                <p:nvPr/>
              </p:nvCxnSpPr>
              <p:spPr>
                <a:xfrm flipV="1">
                  <a:off x="8865" y="795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44" name="anchor"/>
                <p:cNvSpPr>
                  <a:spLocks noGrp="1"/>
                </p:cNvSpPr>
                <p:nvPr/>
              </p:nvSpPr>
              <p:spPr>
                <a:xfrm>
                  <a:off x="931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45" name="anchor"/>
                <p:cNvSpPr>
                  <a:spLocks noGrp="1"/>
                </p:cNvSpPr>
                <p:nvPr/>
              </p:nvSpPr>
              <p:spPr>
                <a:xfrm>
                  <a:off x="9825" y="70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97" name="直接箭头连接符 996"/>
                <p:cNvCxnSpPr>
                  <a:stCxn id="344" idx="6"/>
                  <a:endCxn id="345" idx="2"/>
                </p:cNvCxnSpPr>
                <p:nvPr/>
              </p:nvCxnSpPr>
              <p:spPr>
                <a:xfrm flipV="1">
                  <a:off x="9345" y="7110"/>
                  <a:ext cx="48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47" name="anchor"/>
                <p:cNvSpPr>
                  <a:spLocks noGrp="1"/>
                </p:cNvSpPr>
                <p:nvPr/>
              </p:nvSpPr>
              <p:spPr>
                <a:xfrm>
                  <a:off x="931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48" name="anchor"/>
                <p:cNvSpPr>
                  <a:spLocks noGrp="1"/>
                </p:cNvSpPr>
                <p:nvPr/>
              </p:nvSpPr>
              <p:spPr>
                <a:xfrm>
                  <a:off x="9825" y="77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1000" name="直接箭头连接符 999"/>
                <p:cNvCxnSpPr>
                  <a:stCxn id="347" idx="6"/>
                  <a:endCxn id="348" idx="2"/>
                </p:cNvCxnSpPr>
                <p:nvPr/>
              </p:nvCxnSpPr>
              <p:spPr>
                <a:xfrm flipV="1">
                  <a:off x="9345" y="7800"/>
                  <a:ext cx="480" cy="15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50" name="anchor"/>
                <p:cNvSpPr>
                  <a:spLocks noGrp="1"/>
                </p:cNvSpPr>
                <p:nvPr/>
              </p:nvSpPr>
              <p:spPr>
                <a:xfrm>
                  <a:off x="9825" y="70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1" name="anchor"/>
                <p:cNvSpPr>
                  <a:spLocks noGrp="1"/>
                </p:cNvSpPr>
                <p:nvPr/>
              </p:nvSpPr>
              <p:spPr>
                <a:xfrm>
                  <a:off x="1030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1003" name="直接箭头连接符 1002"/>
                <p:cNvCxnSpPr>
                  <a:stCxn id="350" idx="6"/>
                  <a:endCxn id="351" idx="2"/>
                </p:cNvCxnSpPr>
                <p:nvPr/>
              </p:nvCxnSpPr>
              <p:spPr>
                <a:xfrm>
                  <a:off x="9855" y="711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53" name="anchor"/>
                <p:cNvSpPr>
                  <a:spLocks noGrp="1"/>
                </p:cNvSpPr>
                <p:nvPr/>
              </p:nvSpPr>
              <p:spPr>
                <a:xfrm>
                  <a:off x="9825" y="77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4" name="anchor"/>
                <p:cNvSpPr>
                  <a:spLocks noGrp="1"/>
                </p:cNvSpPr>
                <p:nvPr/>
              </p:nvSpPr>
              <p:spPr>
                <a:xfrm>
                  <a:off x="10305" y="76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1006" name="直接箭头连接符 1005"/>
                <p:cNvCxnSpPr>
                  <a:stCxn id="353" idx="6"/>
                  <a:endCxn id="354" idx="2"/>
                </p:cNvCxnSpPr>
                <p:nvPr/>
              </p:nvCxnSpPr>
              <p:spPr>
                <a:xfrm flipV="1">
                  <a:off x="9855" y="771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56" name="teacher-point"/>
                <p:cNvSpPr>
                  <a:spLocks noGrp="1"/>
                </p:cNvSpPr>
                <p:nvPr/>
              </p:nvSpPr>
              <p:spPr>
                <a:xfrm>
                  <a:off x="7830" y="729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7" name="student-point"/>
                <p:cNvSpPr>
                  <a:spLocks noGrp="1"/>
                </p:cNvSpPr>
                <p:nvPr/>
              </p:nvSpPr>
              <p:spPr>
                <a:xfrm>
                  <a:off x="7830" y="795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8" name="anchor"/>
                <p:cNvSpPr>
                  <a:spLocks noGrp="1"/>
                </p:cNvSpPr>
                <p:nvPr/>
              </p:nvSpPr>
              <p:spPr>
                <a:xfrm>
                  <a:off x="7875" y="73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9" name="anchor"/>
                <p:cNvSpPr>
                  <a:spLocks noGrp="1"/>
                </p:cNvSpPr>
                <p:nvPr/>
              </p:nvSpPr>
              <p:spPr>
                <a:xfrm>
                  <a:off x="787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1" name="teacher-point"/>
                <p:cNvSpPr>
                  <a:spLocks noGrp="1"/>
                </p:cNvSpPr>
                <p:nvPr/>
              </p:nvSpPr>
              <p:spPr>
                <a:xfrm>
                  <a:off x="8310" y="723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2" name="student-point"/>
                <p:cNvSpPr>
                  <a:spLocks noGrp="1"/>
                </p:cNvSpPr>
                <p:nvPr/>
              </p:nvSpPr>
              <p:spPr>
                <a:xfrm>
                  <a:off x="8310" y="8025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3" name="anchor"/>
                <p:cNvSpPr>
                  <a:spLocks noGrp="1"/>
                </p:cNvSpPr>
                <p:nvPr/>
              </p:nvSpPr>
              <p:spPr>
                <a:xfrm>
                  <a:off x="8355" y="73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4" name="anchor"/>
                <p:cNvSpPr>
                  <a:spLocks noGrp="1"/>
                </p:cNvSpPr>
                <p:nvPr/>
              </p:nvSpPr>
              <p:spPr>
                <a:xfrm>
                  <a:off x="8355" y="801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6" name="teacher-point"/>
                <p:cNvSpPr>
                  <a:spLocks noGrp="1"/>
                </p:cNvSpPr>
                <p:nvPr/>
              </p:nvSpPr>
              <p:spPr>
                <a:xfrm>
                  <a:off x="879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7" name="student-point"/>
                <p:cNvSpPr>
                  <a:spLocks noGrp="1"/>
                </p:cNvSpPr>
                <p:nvPr/>
              </p:nvSpPr>
              <p:spPr>
                <a:xfrm>
                  <a:off x="8790" y="798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8" name="anchor"/>
                <p:cNvSpPr>
                  <a:spLocks noGrp="1"/>
                </p:cNvSpPr>
                <p:nvPr/>
              </p:nvSpPr>
              <p:spPr>
                <a:xfrm>
                  <a:off x="883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9" name="anchor"/>
                <p:cNvSpPr>
                  <a:spLocks noGrp="1"/>
                </p:cNvSpPr>
                <p:nvPr/>
              </p:nvSpPr>
              <p:spPr>
                <a:xfrm>
                  <a:off x="8835" y="796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1" name="teacher-point"/>
                <p:cNvSpPr>
                  <a:spLocks noGrp="1"/>
                </p:cNvSpPr>
                <p:nvPr/>
              </p:nvSpPr>
              <p:spPr>
                <a:xfrm>
                  <a:off x="927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2" name="student-point"/>
                <p:cNvSpPr>
                  <a:spLocks noGrp="1"/>
                </p:cNvSpPr>
                <p:nvPr/>
              </p:nvSpPr>
              <p:spPr>
                <a:xfrm>
                  <a:off x="9270" y="789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3" name="anchor"/>
                <p:cNvSpPr>
                  <a:spLocks noGrp="1"/>
                </p:cNvSpPr>
                <p:nvPr/>
              </p:nvSpPr>
              <p:spPr>
                <a:xfrm>
                  <a:off x="931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4" name="anchor"/>
                <p:cNvSpPr>
                  <a:spLocks noGrp="1"/>
                </p:cNvSpPr>
                <p:nvPr/>
              </p:nvSpPr>
              <p:spPr>
                <a:xfrm>
                  <a:off x="9315" y="78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6" name="teacher-point"/>
                <p:cNvSpPr>
                  <a:spLocks noGrp="1"/>
                </p:cNvSpPr>
                <p:nvPr/>
              </p:nvSpPr>
              <p:spPr>
                <a:xfrm>
                  <a:off x="9780" y="705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7" name="student-point"/>
                <p:cNvSpPr>
                  <a:spLocks noGrp="1"/>
                </p:cNvSpPr>
                <p:nvPr/>
              </p:nvSpPr>
              <p:spPr>
                <a:xfrm>
                  <a:off x="9780" y="774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8" name="anchor"/>
                <p:cNvSpPr>
                  <a:spLocks noGrp="1"/>
                </p:cNvSpPr>
                <p:nvPr/>
              </p:nvSpPr>
              <p:spPr>
                <a:xfrm>
                  <a:off x="9825" y="715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9" name="anchor"/>
                <p:cNvSpPr>
                  <a:spLocks noGrp="1"/>
                </p:cNvSpPr>
                <p:nvPr/>
              </p:nvSpPr>
              <p:spPr>
                <a:xfrm>
                  <a:off x="9825" y="77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81" name="teacher-point"/>
                <p:cNvSpPr>
                  <a:spLocks noGrp="1"/>
                </p:cNvSpPr>
                <p:nvPr/>
              </p:nvSpPr>
              <p:spPr>
                <a:xfrm>
                  <a:off x="1026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82" name="student-point"/>
                <p:cNvSpPr>
                  <a:spLocks noGrp="1"/>
                </p:cNvSpPr>
                <p:nvPr/>
              </p:nvSpPr>
              <p:spPr>
                <a:xfrm>
                  <a:off x="10260" y="765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83" name="anchor"/>
                <p:cNvSpPr>
                  <a:spLocks noGrp="1"/>
                </p:cNvSpPr>
                <p:nvPr/>
              </p:nvSpPr>
              <p:spPr>
                <a:xfrm>
                  <a:off x="1030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84" name="anchor"/>
                <p:cNvSpPr>
                  <a:spLocks noGrp="1"/>
                </p:cNvSpPr>
                <p:nvPr/>
              </p:nvSpPr>
              <p:spPr>
                <a:xfrm>
                  <a:off x="10305" y="76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625" name="anchor"/>
                <p:cNvSpPr>
                  <a:spLocks noGrp="1"/>
                </p:cNvSpPr>
                <p:nvPr/>
              </p:nvSpPr>
              <p:spPr>
                <a:xfrm>
                  <a:off x="10440" y="738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3630" y="6384"/>
                <a:ext cx="7126" cy="2500"/>
                <a:chOff x="3630" y="6384"/>
                <a:chExt cx="7126" cy="2500"/>
              </a:xfrm>
            </p:grpSpPr>
            <p:sp>
              <p:nvSpPr>
                <p:cNvPr id="246" name="time-axis"/>
                <p:cNvSpPr>
                  <a:spLocks noGrp="1"/>
                </p:cNvSpPr>
                <p:nvPr/>
              </p:nvSpPr>
              <p:spPr>
                <a:xfrm>
                  <a:off x="10173" y="8404"/>
                  <a:ext cx="583" cy="351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675" b="0">
                      <a:solidFill>
                        <a:srgbClr val="111111"/>
                      </a:solidFill>
                    </a:defRPr>
                  </a:pPr>
                  <a:r>
                    <a:rPr kumimoji="0" sz="675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11111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/>
                      <a:cs typeface="Calibri" panose="020F0502020204030204"/>
                    </a:rPr>
                    <a:t>time</a:t>
                  </a:r>
                </a:p>
              </p:txBody>
            </p:sp>
            <p:grpSp>
              <p:nvGrpSpPr>
                <p:cNvPr id="17" name="组合 16"/>
                <p:cNvGrpSpPr/>
                <p:nvPr/>
              </p:nvGrpSpPr>
              <p:grpSpPr>
                <a:xfrm>
                  <a:off x="3630" y="6384"/>
                  <a:ext cx="3276" cy="2500"/>
                  <a:chOff x="3630" y="6384"/>
                  <a:chExt cx="3276" cy="2500"/>
                </a:xfrm>
              </p:grpSpPr>
              <p:grpSp>
                <p:nvGrpSpPr>
                  <p:cNvPr id="5" name="组合 4"/>
                  <p:cNvGrpSpPr/>
                  <p:nvPr/>
                </p:nvGrpSpPr>
                <p:grpSpPr>
                  <a:xfrm>
                    <a:off x="3630" y="6384"/>
                    <a:ext cx="3276" cy="2500"/>
                    <a:chOff x="3630" y="6384"/>
                    <a:chExt cx="3276" cy="2500"/>
                  </a:xfrm>
                </p:grpSpPr>
                <p:sp>
                  <p:nvSpPr>
                    <p:cNvPr id="315" name="xlab"/>
                    <p:cNvSpPr>
                      <a:spLocks noGrp="1"/>
                    </p:cNvSpPr>
                    <p:nvPr/>
                  </p:nvSpPr>
                  <p:spPr>
                    <a:xfrm>
                      <a:off x="6405" y="8647"/>
                      <a:ext cx="375" cy="225"/>
                    </a:xfrm>
                    <a:prstGeom prst="rect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1">
                          <a:solidFill>
                            <a:srgbClr val="111111"/>
                          </a:solidFill>
                        </a:defRPr>
                      </a:pPr>
                      <a:r>
                        <a:rPr kumimoji="0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</a:t>
                      </a:r>
                    </a:p>
                  </p:txBody>
                </p:sp>
                <p:grpSp>
                  <p:nvGrpSpPr>
                    <p:cNvPr id="3" name="组合 2"/>
                    <p:cNvGrpSpPr/>
                    <p:nvPr/>
                  </p:nvGrpSpPr>
                  <p:grpSpPr>
                    <a:xfrm>
                      <a:off x="3630" y="6384"/>
                      <a:ext cx="3276" cy="2500"/>
                      <a:chOff x="3945" y="6339"/>
                      <a:chExt cx="3276" cy="2500"/>
                    </a:xfrm>
                  </p:grpSpPr>
                  <p:sp>
                    <p:nvSpPr>
                      <p:cNvPr id="23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67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8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5" name="feature-space"/>
                      <p:cNvSpPr>
                        <a:spLocks noGrp="1"/>
                      </p:cNvSpPr>
                      <p:nvPr/>
                    </p:nvSpPr>
                    <p:spPr>
                      <a:xfrm>
                        <a:off x="3945" y="6339"/>
                        <a:ext cx="870" cy="57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675" b="0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675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omic Sans MS" panose="030F0702030302020204" pitchFamily="66" charset="0"/>
                            <a:ea typeface="Calibri" panose="020F0502020204030204"/>
                            <a:cs typeface="Calibri" panose="020F0502020204030204"/>
                          </a:rPr>
                          <a:t>feature</a:t>
                        </a:r>
                      </a:p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675" b="0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675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omic Sans MS" panose="030F0702030302020204" pitchFamily="66" charset="0"/>
                            <a:ea typeface="Calibri" panose="020F0502020204030204"/>
                            <a:cs typeface="Calibri" panose="020F0502020204030204"/>
                          </a:rPr>
                          <a:t>space</a:t>
                        </a:r>
                      </a:p>
                    </p:txBody>
                  </p:sp>
                  <p:sp>
                    <p:nvSpPr>
                      <p:cNvPr id="247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75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8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00" name="直接箭头连接符 899"/>
                      <p:cNvCxnSpPr>
                        <a:stCxn id="247" idx="7"/>
                        <a:endCxn id="248" idx="3"/>
                      </p:cNvCxnSpPr>
                      <p:nvPr/>
                    </p:nvCxnSpPr>
                    <p:spPr>
                      <a:xfrm flipV="1">
                        <a:off x="4496" y="7031"/>
                        <a:ext cx="459" cy="48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5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83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51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03" name="直接箭头连接符 902"/>
                      <p:cNvCxnSpPr>
                        <a:stCxn id="250" idx="7"/>
                        <a:endCxn id="251" idx="3"/>
                      </p:cNvCxnSpPr>
                      <p:nvPr/>
                    </p:nvCxnSpPr>
                    <p:spPr>
                      <a:xfrm flipV="1">
                        <a:off x="4496" y="7991"/>
                        <a:ext cx="459" cy="36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5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5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2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06" name="直接箭头连接符 905"/>
                      <p:cNvCxnSpPr>
                        <a:stCxn id="253" idx="5"/>
                        <a:endCxn id="254" idx="1"/>
                      </p:cNvCxnSpPr>
                      <p:nvPr/>
                    </p:nvCxnSpPr>
                    <p:spPr>
                      <a:xfrm>
                        <a:off x="4976" y="7031"/>
                        <a:ext cx="459" cy="24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56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57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9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09" name="直接箭头连接符 908"/>
                      <p:cNvCxnSpPr>
                        <a:stCxn id="256" idx="6"/>
                        <a:endCxn id="257" idx="2"/>
                      </p:cNvCxnSpPr>
                      <p:nvPr/>
                    </p:nvCxnSpPr>
                    <p:spPr>
                      <a:xfrm flipV="1">
                        <a:off x="4980" y="7950"/>
                        <a:ext cx="450" cy="3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5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2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6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54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12" name="直接箭头连接符 911"/>
                      <p:cNvCxnSpPr>
                        <a:stCxn id="259" idx="5"/>
                        <a:endCxn id="260" idx="1"/>
                      </p:cNvCxnSpPr>
                      <p:nvPr/>
                    </p:nvCxnSpPr>
                    <p:spPr>
                      <a:xfrm>
                        <a:off x="5456" y="7301"/>
                        <a:ext cx="459" cy="24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6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9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6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15" name="直接箭头连接符 914"/>
                      <p:cNvCxnSpPr>
                        <a:stCxn id="262" idx="5"/>
                        <a:endCxn id="263" idx="1"/>
                      </p:cNvCxnSpPr>
                      <p:nvPr/>
                    </p:nvCxnSpPr>
                    <p:spPr>
                      <a:xfrm>
                        <a:off x="5456" y="7961"/>
                        <a:ext cx="459" cy="21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6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54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66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6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18" name="直接箭头连接符 917"/>
                      <p:cNvCxnSpPr>
                        <a:stCxn id="265" idx="6"/>
                        <a:endCxn id="266" idx="2"/>
                      </p:cNvCxnSpPr>
                      <p:nvPr/>
                    </p:nvCxnSpPr>
                    <p:spPr>
                      <a:xfrm>
                        <a:off x="5940" y="7560"/>
                        <a:ext cx="480" cy="15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68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6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2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21" name="直接箭头连接符 920"/>
                      <p:cNvCxnSpPr>
                        <a:stCxn id="268" idx="6"/>
                        <a:endCxn id="269" idx="2"/>
                      </p:cNvCxnSpPr>
                      <p:nvPr/>
                    </p:nvCxnSpPr>
                    <p:spPr>
                      <a:xfrm>
                        <a:off x="5940" y="8190"/>
                        <a:ext cx="480" cy="6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71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6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7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77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24" name="直接箭头连接符 923"/>
                      <p:cNvCxnSpPr>
                        <a:stCxn id="271" idx="6"/>
                        <a:endCxn id="272" idx="2"/>
                      </p:cNvCxnSpPr>
                      <p:nvPr/>
                    </p:nvCxnSpPr>
                    <p:spPr>
                      <a:xfrm>
                        <a:off x="6450" y="7710"/>
                        <a:ext cx="450" cy="6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7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2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7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825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27" name="直接箭头连接符 926"/>
                      <p:cNvCxnSpPr>
                        <a:stCxn id="274" idx="6"/>
                        <a:endCxn id="275" idx="2"/>
                      </p:cNvCxnSpPr>
                      <p:nvPr/>
                    </p:nvCxnSpPr>
                    <p:spPr>
                      <a:xfrm>
                        <a:off x="6450" y="8250"/>
                        <a:ext cx="450" cy="15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7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25" y="747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7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25" y="831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7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75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82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32" name="直接箭头连接符 931"/>
                      <p:cNvCxnSpPr>
                        <a:stCxn id="279" idx="4"/>
                        <a:endCxn id="280" idx="0"/>
                      </p:cNvCxnSpPr>
                      <p:nvPr/>
                    </p:nvCxnSpPr>
                    <p:spPr>
                      <a:xfrm>
                        <a:off x="4485" y="7605"/>
                        <a:ext cx="0" cy="69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8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05" y="696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05" y="792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37" name="直接箭头连接符 936"/>
                      <p:cNvCxnSpPr>
                        <a:stCxn id="284" idx="4"/>
                        <a:endCxn id="285" idx="0"/>
                      </p:cNvCxnSpPr>
                      <p:nvPr/>
                    </p:nvCxnSpPr>
                    <p:spPr>
                      <a:xfrm>
                        <a:off x="4965" y="7095"/>
                        <a:ext cx="0" cy="81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8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385" y="723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385" y="789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3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8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42" name="直接箭头连接符 941"/>
                      <p:cNvCxnSpPr>
                        <a:stCxn id="289" idx="4"/>
                        <a:endCxn id="290" idx="0"/>
                      </p:cNvCxnSpPr>
                      <p:nvPr/>
                    </p:nvCxnSpPr>
                    <p:spPr>
                      <a:xfrm>
                        <a:off x="5445" y="7365"/>
                        <a:ext cx="0" cy="51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9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865" y="750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865" y="813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6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47" name="直接箭头连接符 946"/>
                      <p:cNvCxnSpPr>
                        <a:stCxn id="294" idx="4"/>
                        <a:endCxn id="295" idx="0"/>
                      </p:cNvCxnSpPr>
                      <p:nvPr/>
                    </p:nvCxnSpPr>
                    <p:spPr>
                      <a:xfrm>
                        <a:off x="5925" y="7635"/>
                        <a:ext cx="0" cy="48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9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375" y="765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375" y="819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7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0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52" name="直接箭头连接符 951"/>
                      <p:cNvCxnSpPr>
                        <a:stCxn id="299" idx="4"/>
                        <a:endCxn id="300" idx="0"/>
                      </p:cNvCxnSpPr>
                      <p:nvPr/>
                    </p:nvCxnSpPr>
                    <p:spPr>
                      <a:xfrm>
                        <a:off x="6435" y="7785"/>
                        <a:ext cx="0" cy="39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30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855" y="771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0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855" y="8205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0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78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0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819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57" name="直接箭头连接符 956"/>
                      <p:cNvCxnSpPr>
                        <a:stCxn id="304" idx="4"/>
                        <a:endCxn id="305" idx="0"/>
                      </p:cNvCxnSpPr>
                      <p:nvPr/>
                    </p:nvCxnSpPr>
                    <p:spPr>
                      <a:xfrm>
                        <a:off x="6915" y="7845"/>
                        <a:ext cx="0" cy="345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311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4290" y="8599"/>
                        <a:ext cx="375" cy="23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9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libri" panose="020F0502020204030204"/>
                            <a:cs typeface="Calibri" panose="020F0502020204030204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312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4752" y="8589"/>
                        <a:ext cx="375" cy="25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9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libri" panose="020F0502020204030204"/>
                            <a:cs typeface="Calibri" panose="020F0502020204030204"/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313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5205" y="8602"/>
                        <a:ext cx="375" cy="225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9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libri" panose="020F0502020204030204"/>
                            <a:cs typeface="Calibri" panose="020F0502020204030204"/>
                          </a:rPr>
                          <a:t>3</a:t>
                        </a:r>
                      </a:p>
                    </p:txBody>
                  </p:sp>
                  <p:cxnSp>
                    <p:nvCxnSpPr>
                      <p:cNvPr id="117" name="直接箭头连接符 116"/>
                      <p:cNvCxnSpPr/>
                      <p:nvPr/>
                    </p:nvCxnSpPr>
                    <p:spPr>
                      <a:xfrm flipV="1">
                        <a:off x="4274" y="8517"/>
                        <a:ext cx="2947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直接箭头连接符 131"/>
                      <p:cNvCxnSpPr/>
                      <p:nvPr/>
                    </p:nvCxnSpPr>
                    <p:spPr>
                      <a:xfrm flipV="1">
                        <a:off x="4275" y="6816"/>
                        <a:ext cx="0" cy="1701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3" name="椭圆 12"/>
                  <p:cNvSpPr/>
                  <p:nvPr/>
                </p:nvSpPr>
                <p:spPr>
                  <a:xfrm>
                    <a:off x="5488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  <p:sp>
                <p:nvSpPr>
                  <p:cNvPr id="14" name="椭圆 13"/>
                  <p:cNvSpPr/>
                  <p:nvPr/>
                </p:nvSpPr>
                <p:spPr>
                  <a:xfrm>
                    <a:off x="5745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  <p:sp>
                <p:nvSpPr>
                  <p:cNvPr id="16" name="椭圆 15"/>
                  <p:cNvSpPr/>
                  <p:nvPr/>
                </p:nvSpPr>
                <p:spPr>
                  <a:xfrm>
                    <a:off x="5976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</p:grpSp>
          </p:grpSp>
          <p:sp>
            <p:nvSpPr>
              <p:cNvPr id="23" name="xlab"/>
              <p:cNvSpPr>
                <a:spLocks noGrp="1"/>
              </p:cNvSpPr>
              <p:nvPr/>
            </p:nvSpPr>
            <p:spPr>
              <a:xfrm>
                <a:off x="9930" y="8638"/>
                <a:ext cx="375" cy="2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rPr>
                  <a:t>T</a:t>
                </a:r>
              </a:p>
            </p:txBody>
          </p:sp>
          <p:sp>
            <p:nvSpPr>
              <p:cNvPr id="24" name="feature-space"/>
              <p:cNvSpPr>
                <a:spLocks noGrp="1"/>
              </p:cNvSpPr>
              <p:nvPr/>
            </p:nvSpPr>
            <p:spPr>
              <a:xfrm>
                <a:off x="7110" y="6384"/>
                <a:ext cx="870" cy="5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675" b="0">
                    <a:solidFill>
                      <a:srgbClr val="111111"/>
                    </a:solidFill>
                  </a:defRPr>
                </a:pPr>
                <a:r>
                  <a:rPr kumimoji="0" sz="675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feature</a:t>
                </a: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675" b="0">
                    <a:solidFill>
                      <a:srgbClr val="111111"/>
                    </a:solidFill>
                  </a:defRPr>
                </a:pPr>
                <a:r>
                  <a:rPr kumimoji="0" sz="675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space</a:t>
                </a:r>
              </a:p>
            </p:txBody>
          </p:sp>
          <p:sp>
            <p:nvSpPr>
              <p:cNvPr id="25" name="xlab"/>
              <p:cNvSpPr>
                <a:spLocks noGrp="1"/>
              </p:cNvSpPr>
              <p:nvPr/>
            </p:nvSpPr>
            <p:spPr>
              <a:xfrm>
                <a:off x="7500" y="8635"/>
                <a:ext cx="375" cy="2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rPr>
                  <a:t>1</a:t>
                </a:r>
              </a:p>
            </p:txBody>
          </p:sp>
          <p:sp>
            <p:nvSpPr>
              <p:cNvPr id="26" name="xlab"/>
              <p:cNvSpPr>
                <a:spLocks noGrp="1"/>
              </p:cNvSpPr>
              <p:nvPr/>
            </p:nvSpPr>
            <p:spPr>
              <a:xfrm>
                <a:off x="7962" y="8625"/>
                <a:ext cx="375" cy="2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rPr>
                  <a:t>2</a:t>
                </a:r>
              </a:p>
            </p:txBody>
          </p:sp>
          <p:sp>
            <p:nvSpPr>
              <p:cNvPr id="28" name="xlab"/>
              <p:cNvSpPr>
                <a:spLocks noGrp="1"/>
              </p:cNvSpPr>
              <p:nvPr/>
            </p:nvSpPr>
            <p:spPr>
              <a:xfrm>
                <a:off x="8415" y="8638"/>
                <a:ext cx="375" cy="2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rPr>
                  <a:t>3</a:t>
                </a:r>
              </a:p>
            </p:txBody>
          </p:sp>
          <p:cxnSp>
            <p:nvCxnSpPr>
              <p:cNvPr id="29" name="直接箭头连接符 28"/>
              <p:cNvCxnSpPr/>
              <p:nvPr/>
            </p:nvCxnSpPr>
            <p:spPr>
              <a:xfrm>
                <a:off x="7484" y="8553"/>
                <a:ext cx="2787" cy="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flipV="1">
                <a:off x="7485" y="6852"/>
                <a:ext cx="0" cy="17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9013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270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501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cxnSp>
          <p:nvCxnSpPr>
            <p:cNvPr id="41" name="曲线连接符 40"/>
            <p:cNvCxnSpPr>
              <a:endCxn id="359" idx="7"/>
            </p:cNvCxnSpPr>
            <p:nvPr/>
          </p:nvCxnSpPr>
          <p:spPr>
            <a:xfrm rot="5400000">
              <a:off x="7276" y="7246"/>
              <a:ext cx="589" cy="469"/>
            </a:xfrm>
            <a:prstGeom prst="curvedConnector3">
              <a:avLst>
                <a:gd name="adj1" fmla="val 49745"/>
              </a:avLst>
            </a:prstGeom>
            <a:ln w="10541" cmpd="sng">
              <a:solidFill>
                <a:srgbClr val="FF6A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曲线连接符 42"/>
            <p:cNvCxnSpPr>
              <a:stCxn id="376" idx="4"/>
              <a:endCxn id="362" idx="7"/>
            </p:cNvCxnSpPr>
            <p:nvPr/>
          </p:nvCxnSpPr>
          <p:spPr>
            <a:xfrm rot="5400000">
              <a:off x="8125" y="6729"/>
              <a:ext cx="873" cy="1428"/>
            </a:xfrm>
            <a:prstGeom prst="curvedConnector3">
              <a:avLst>
                <a:gd name="adj1" fmla="val 34872"/>
              </a:avLst>
            </a:prstGeom>
            <a:ln w="10541">
              <a:solidFill>
                <a:srgbClr val="FF6A00"/>
              </a:solidFill>
              <a:prstDash val="dash"/>
              <a:bevel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曲线连接符 43"/>
            <p:cNvCxnSpPr>
              <a:stCxn id="376" idx="4"/>
              <a:endCxn id="367" idx="0"/>
            </p:cNvCxnSpPr>
            <p:nvPr/>
          </p:nvCxnSpPr>
          <p:spPr>
            <a:xfrm rot="5400000">
              <a:off x="8375" y="6917"/>
              <a:ext cx="810" cy="990"/>
            </a:xfrm>
            <a:prstGeom prst="curvedConnector3">
              <a:avLst>
                <a:gd name="adj1" fmla="val 50000"/>
              </a:avLst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曲线连接符 45"/>
            <p:cNvCxnSpPr>
              <a:stCxn id="381" idx="4"/>
              <a:endCxn id="377" idx="0"/>
            </p:cNvCxnSpPr>
            <p:nvPr/>
          </p:nvCxnSpPr>
          <p:spPr>
            <a:xfrm rot="5400000">
              <a:off x="9275" y="7097"/>
              <a:ext cx="480" cy="480"/>
            </a:xfrm>
            <a:prstGeom prst="curvedConnector3">
              <a:avLst>
                <a:gd name="adj1" fmla="val 50000"/>
              </a:avLst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/>
            <p:nvPr/>
          </p:nvCxnSpPr>
          <p:spPr>
            <a:xfrm>
              <a:off x="4880" y="8654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/>
          </p:nvCxnSpPr>
          <p:spPr>
            <a:xfrm>
              <a:off x="8546" y="8654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组合 133"/>
            <p:cNvGrpSpPr/>
            <p:nvPr/>
          </p:nvGrpSpPr>
          <p:grpSpPr>
            <a:xfrm>
              <a:off x="4554" y="8917"/>
              <a:ext cx="4341" cy="580"/>
              <a:chOff x="2869565" y="5776525"/>
              <a:chExt cx="2756662" cy="36848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/>
                  <p:cNvSpPr txBox="1"/>
                  <p:nvPr/>
                </p:nvSpPr>
                <p:spPr>
                  <a:xfrm>
                    <a:off x="2869565" y="5776525"/>
                    <a:ext cx="424053" cy="36848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118" name="文本框 1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9565" y="5776525"/>
                    <a:ext cx="424053" cy="368485"/>
                  </a:xfrm>
                  <a:prstGeom prst="rect">
                    <a:avLst/>
                  </a:prstGeom>
                  <a:blipFill rotWithShape="1">
                    <a:blip r:embed="rId2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/>
                  <p:cNvSpPr txBox="1"/>
                  <p:nvPr/>
                </p:nvSpPr>
                <p:spPr>
                  <a:xfrm>
                    <a:off x="5202174" y="5776525"/>
                    <a:ext cx="424053" cy="36848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121" name="文本框 1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2174" y="5776525"/>
                    <a:ext cx="424053" cy="368485"/>
                  </a:xfrm>
                  <a:prstGeom prst="rect">
                    <a:avLst/>
                  </a:prstGeom>
                  <a:blipFill rotWithShape="1">
                    <a:blip r:embed="rId2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2" name="矩形: 圆角 121"/>
              <p:cNvSpPr/>
              <p:nvPr/>
            </p:nvSpPr>
            <p:spPr>
              <a:xfrm>
                <a:off x="3815842" y="5779770"/>
                <a:ext cx="980063" cy="27051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Eq.(14)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endParaRPr>
              </a:p>
            </p:txBody>
          </p:sp>
          <p:cxnSp>
            <p:nvCxnSpPr>
              <p:cNvPr id="127" name="直接箭头连接符 126"/>
              <p:cNvCxnSpPr>
                <a:stCxn id="118" idx="3"/>
                <a:endCxn id="122" idx="1"/>
              </p:cNvCxnSpPr>
              <p:nvPr/>
            </p:nvCxnSpPr>
            <p:spPr>
              <a:xfrm flipV="1">
                <a:off x="3293618" y="5915025"/>
                <a:ext cx="521994" cy="0"/>
              </a:xfrm>
              <a:prstGeom prst="straightConnector1">
                <a:avLst/>
              </a:prstGeom>
              <a:ln w="10541">
                <a:solidFill>
                  <a:srgbClr val="FF6A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>
                <a:stCxn id="121" idx="1"/>
                <a:endCxn id="122" idx="3"/>
              </p:cNvCxnSpPr>
              <p:nvPr/>
            </p:nvCxnSpPr>
            <p:spPr>
              <a:xfrm flipH="1" flipV="1">
                <a:off x="4795755" y="5915025"/>
                <a:ext cx="406419" cy="0"/>
              </a:xfrm>
              <a:prstGeom prst="straightConnector1">
                <a:avLst/>
              </a:prstGeom>
              <a:ln w="10795">
                <a:solidFill>
                  <a:srgbClr val="FF6A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5" name="直接箭头连接符 134"/>
            <p:cNvCxnSpPr/>
            <p:nvPr/>
          </p:nvCxnSpPr>
          <p:spPr>
            <a:xfrm>
              <a:off x="6821" y="9356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箭头连接符 20"/>
          <p:cNvCxnSpPr/>
          <p:nvPr/>
        </p:nvCxnSpPr>
        <p:spPr>
          <a:xfrm>
            <a:off x="1514475" y="136080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6654165" y="4203065"/>
            <a:ext cx="680085" cy="69405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Eq.(15)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cs typeface="Calibri" panose="020F0502020204030204"/>
            </a:endParaRPr>
          </a:p>
        </p:txBody>
      </p:sp>
      <p:cxnSp>
        <p:nvCxnSpPr>
          <p:cNvPr id="47" name="连接符: 肘形 46"/>
          <p:cNvCxnSpPr/>
          <p:nvPr/>
        </p:nvCxnSpPr>
        <p:spPr>
          <a:xfrm rot="5400000" flipV="1">
            <a:off x="7512368" y="1937703"/>
            <a:ext cx="259080" cy="0"/>
          </a:xfrm>
          <a:prstGeom prst="bentConnector3">
            <a:avLst>
              <a:gd name="adj1" fmla="val 50245"/>
            </a:avLst>
          </a:prstGeom>
          <a:ln w="25400">
            <a:solidFill>
              <a:srgbClr val="7A35CC"/>
            </a:solidFill>
            <a:prstDash val="solid"/>
            <a:tailEnd type="none" w="med" len="med"/>
          </a:ln>
        </p:spPr>
      </p:cxnSp>
      <p:cxnSp>
        <p:nvCxnSpPr>
          <p:cNvPr id="60" name="直接连接符 59"/>
          <p:cNvCxnSpPr/>
          <p:nvPr/>
        </p:nvCxnSpPr>
        <p:spPr>
          <a:xfrm>
            <a:off x="3499372" y="118110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7273925" y="2619375"/>
            <a:ext cx="923290" cy="229235"/>
            <a:chOff x="12258" y="1732"/>
            <a:chExt cx="1454" cy="361"/>
          </a:xfrm>
        </p:grpSpPr>
        <p:sp>
          <p:nvSpPr>
            <p:cNvPr id="210" name="bar-1"/>
            <p:cNvSpPr>
              <a:spLocks noGrp="1"/>
            </p:cNvSpPr>
            <p:nvPr/>
          </p:nvSpPr>
          <p:spPr>
            <a:xfrm>
              <a:off x="12258" y="1755"/>
              <a:ext cx="135" cy="338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1" name="bar-2"/>
            <p:cNvSpPr>
              <a:spLocks noGrp="1"/>
            </p:cNvSpPr>
            <p:nvPr/>
          </p:nvSpPr>
          <p:spPr>
            <a:xfrm>
              <a:off x="12588" y="1777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2" name="bar-3"/>
            <p:cNvSpPr>
              <a:spLocks noGrp="1"/>
            </p:cNvSpPr>
            <p:nvPr/>
          </p:nvSpPr>
          <p:spPr>
            <a:xfrm>
              <a:off x="12918" y="1732"/>
              <a:ext cx="135" cy="360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3" name="bar-4"/>
            <p:cNvSpPr>
              <a:spLocks noGrp="1"/>
            </p:cNvSpPr>
            <p:nvPr/>
          </p:nvSpPr>
          <p:spPr>
            <a:xfrm>
              <a:off x="13248" y="1768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4" name="bar-5"/>
            <p:cNvSpPr>
              <a:spLocks noGrp="1"/>
            </p:cNvSpPr>
            <p:nvPr/>
          </p:nvSpPr>
          <p:spPr>
            <a:xfrm>
              <a:off x="13578" y="1786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9" name="矩形: 圆角 14"/>
          <p:cNvSpPr/>
          <p:nvPr/>
        </p:nvSpPr>
        <p:spPr>
          <a:xfrm>
            <a:off x="7338060" y="2061346"/>
            <a:ext cx="980018" cy="27037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broad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4427855" y="9439910"/>
            <a:ext cx="2175510" cy="209550"/>
            <a:chOff x="18705" y="10200"/>
            <a:chExt cx="3426" cy="330"/>
          </a:xfrm>
        </p:grpSpPr>
        <p:sp>
          <p:nvSpPr>
            <p:cNvPr id="81" name="leg2"/>
            <p:cNvSpPr>
              <a:spLocks noGrp="1"/>
            </p:cNvSpPr>
            <p:nvPr/>
          </p:nvSpPr>
          <p:spPr>
            <a:xfrm>
              <a:off x="19490" y="10200"/>
              <a:ext cx="2641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 </a:t>
              </a: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Smooth L1 Loss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82" name="直接箭头连接符 81"/>
            <p:cNvCxnSpPr/>
            <p:nvPr/>
          </p:nvCxnSpPr>
          <p:spPr>
            <a:xfrm>
              <a:off x="18705" y="10365"/>
              <a:ext cx="690" cy="0"/>
            </a:xfrm>
            <a:prstGeom prst="straightConnector1">
              <a:avLst/>
            </a:prstGeom>
            <a:ln w="18098">
              <a:solidFill>
                <a:srgbClr val="FF6A00"/>
              </a:solidFill>
              <a:prstDash val="dash"/>
              <a:tailEnd type="triangle" w="med" len="med"/>
            </a:ln>
          </p:spPr>
        </p:cxnSp>
      </p:grpSp>
      <p:cxnSp>
        <p:nvCxnSpPr>
          <p:cNvPr id="89" name="直接连接符 88"/>
          <p:cNvCxnSpPr/>
          <p:nvPr/>
        </p:nvCxnSpPr>
        <p:spPr>
          <a:xfrm flipV="1">
            <a:off x="3064397" y="725551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/>
              <p:cNvSpPr txBox="1"/>
              <p:nvPr/>
            </p:nvSpPr>
            <p:spPr>
              <a:xfrm>
                <a:off x="8126984" y="2559621"/>
                <a:ext cx="427990" cy="3638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984" y="2559621"/>
                <a:ext cx="427990" cy="363855"/>
              </a:xfrm>
              <a:prstGeom prst="rect">
                <a:avLst/>
              </a:prstGeom>
              <a:blipFill rotWithShape="1">
                <a:blip r:embed="rId25"/>
                <a:stretch>
                  <a:fillRect l="-59" t="-157" r="59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肘形连接符 92"/>
          <p:cNvCxnSpPr>
            <a:stCxn id="210" idx="1"/>
          </p:cNvCxnSpPr>
          <p:nvPr/>
        </p:nvCxnSpPr>
        <p:spPr>
          <a:xfrm rot="10800000" flipV="1">
            <a:off x="6802755" y="2740660"/>
            <a:ext cx="470535" cy="1452245"/>
          </a:xfrm>
          <a:prstGeom prst="bentConnector2">
            <a:avLst/>
          </a:prstGeom>
          <a:ln>
            <a:solidFill>
              <a:srgbClr val="7A35CC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/>
              <p:cNvSpPr txBox="1"/>
              <p:nvPr/>
            </p:nvSpPr>
            <p:spPr>
              <a:xfrm>
                <a:off x="9433560" y="5812282"/>
                <a:ext cx="358140" cy="2419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kumimoji="0" lang="en-US" altLang="zh-CN" sz="975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560" y="5812282"/>
                <a:ext cx="358140" cy="241935"/>
              </a:xfrm>
              <a:prstGeom prst="rect">
                <a:avLst/>
              </a:prstGeom>
              <a:blipFill rotWithShape="1">
                <a:blip r:embed="rId26"/>
                <a:stretch>
                  <a:fillRect t="-52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MemKD note"/>
          <p:cNvSpPr>
            <a:spLocks noGrp="1"/>
          </p:cNvSpPr>
          <p:nvPr/>
        </p:nvSpPr>
        <p:spPr>
          <a:xfrm>
            <a:off x="6959600" y="3038474"/>
            <a:ext cx="2880000" cy="1021461"/>
          </a:xfrm>
          <a:prstGeom prst="roundRect">
            <a:avLst>
              <a:gd name="adj" fmla="val 13793"/>
            </a:avLst>
          </a:prstGeom>
          <a:solidFill>
            <a:schemeClr val="accent5">
              <a:lumMod val="20000"/>
              <a:lumOff val="80000"/>
            </a:schemeClr>
          </a:solidFill>
          <a:ln w="13335">
            <a:solidFill>
              <a:schemeClr val="accent5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99" name="连接符: 肘形 1286"/>
          <p:cNvCxnSpPr/>
          <p:nvPr/>
        </p:nvCxnSpPr>
        <p:spPr>
          <a:xfrm rot="16200000" flipV="1">
            <a:off x="9421350" y="414034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80" name="组合 79"/>
          <p:cNvGrpSpPr/>
          <p:nvPr/>
        </p:nvGrpSpPr>
        <p:grpSpPr>
          <a:xfrm>
            <a:off x="7067550" y="3644538"/>
            <a:ext cx="757451" cy="678633"/>
            <a:chOff x="7416269" y="3603807"/>
            <a:chExt cx="757451" cy="678633"/>
          </a:xfrm>
        </p:grpSpPr>
        <p:cxnSp>
          <p:nvCxnSpPr>
            <p:cNvPr id="98" name="连接符: 肘形 1286"/>
            <p:cNvCxnSpPr>
              <a:endCxn id="100" idx="2"/>
            </p:cNvCxnSpPr>
            <p:nvPr/>
          </p:nvCxnSpPr>
          <p:spPr>
            <a:xfrm rot="16200000" flipV="1">
              <a:off x="7658812" y="4146255"/>
              <a:ext cx="272368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/>
                <p:cNvSpPr txBox="1"/>
                <p:nvPr/>
              </p:nvSpPr>
              <p:spPr>
                <a:xfrm>
                  <a:off x="7416269" y="3603807"/>
                  <a:ext cx="757451" cy="40626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𝒔𝒆𝒒</m:t>
                            </m:r>
                          </m:sup>
                        </m:sSubSup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00" name="文本框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269" y="3603807"/>
                  <a:ext cx="757451" cy="406265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/>
              <p:cNvSpPr txBox="1"/>
              <p:nvPr/>
            </p:nvSpPr>
            <p:spPr>
              <a:xfrm>
                <a:off x="9077325" y="3584757"/>
                <a:ext cx="827406" cy="44204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𝑻𝑺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𝒇𝒊𝒏𝒂𝒍</m:t>
                          </m:r>
                        </m:sup>
                      </m:sSubSup>
                    </m:oMath>
                  </m:oMathPara>
                </a14:m>
                <a:endParaRPr lang="zh-CN" altLang="en-US" b="1" i="1" dirty="0"/>
              </a:p>
            </p:txBody>
          </p:sp>
        </mc:Choice>
        <mc:Fallback xmlns=""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325" y="3584757"/>
                <a:ext cx="827406" cy="442044"/>
              </a:xfrm>
              <a:prstGeom prst="rect">
                <a:avLst/>
              </a:prstGeom>
              <a:blipFill rotWithShape="1">
                <a:blip r:embed="rId28"/>
                <a:stretch>
                  <a:fillRect t="-41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矩形: 圆角 89"/>
          <p:cNvSpPr/>
          <p:nvPr/>
        </p:nvSpPr>
        <p:spPr>
          <a:xfrm>
            <a:off x="7898005" y="3608205"/>
            <a:ext cx="980018" cy="27037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Eq.(18)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cs typeface="Calibri" panose="020F0502020204030204"/>
            </a:endParaRPr>
          </a:p>
        </p:txBody>
      </p:sp>
      <p:cxnSp>
        <p:nvCxnSpPr>
          <p:cNvPr id="92" name="连接符: 肘形 1286"/>
          <p:cNvCxnSpPr/>
          <p:nvPr/>
        </p:nvCxnSpPr>
        <p:spPr>
          <a:xfrm rot="16200000" flipV="1">
            <a:off x="8225010" y="345454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/>
              <p:cNvSpPr txBox="1"/>
              <p:nvPr/>
            </p:nvSpPr>
            <p:spPr>
              <a:xfrm>
                <a:off x="7990268" y="3004558"/>
                <a:ext cx="6845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𝑻𝑺</m:t>
                          </m:r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268" y="3004558"/>
                <a:ext cx="684530" cy="369332"/>
              </a:xfrm>
              <a:prstGeom prst="rect">
                <a:avLst/>
              </a:prstGeom>
              <a:blipFill rotWithShape="1">
                <a:blip r:embed="rId29"/>
                <a:stretch>
                  <a:fillRect l="-9" t="-101" r="9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连接符: 肘形 1286"/>
          <p:cNvCxnSpPr/>
          <p:nvPr/>
        </p:nvCxnSpPr>
        <p:spPr>
          <a:xfrm rot="10800000" flipV="1">
            <a:off x="8878592" y="373648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cxnSp>
        <p:nvCxnSpPr>
          <p:cNvPr id="107" name="连接符: 肘形 1286"/>
          <p:cNvCxnSpPr/>
          <p:nvPr/>
        </p:nvCxnSpPr>
        <p:spPr>
          <a:xfrm rot="10800000" flipH="1" flipV="1">
            <a:off x="7658100" y="375172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52" name="组合 51"/>
          <p:cNvGrpSpPr/>
          <p:nvPr/>
        </p:nvGrpSpPr>
        <p:grpSpPr>
          <a:xfrm>
            <a:off x="7397750" y="4398010"/>
            <a:ext cx="714375" cy="1414145"/>
            <a:chOff x="11880" y="6908"/>
            <a:chExt cx="1125" cy="2227"/>
          </a:xfrm>
        </p:grpSpPr>
        <p:sp>
          <p:nvSpPr>
            <p:cNvPr id="478" name="bar-0"/>
            <p:cNvSpPr>
              <a:spLocks noGrp="1"/>
            </p:cNvSpPr>
            <p:nvPr/>
          </p:nvSpPr>
          <p:spPr>
            <a:xfrm>
              <a:off x="11880" y="6908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79" name="bar-1"/>
            <p:cNvSpPr>
              <a:spLocks noGrp="1"/>
            </p:cNvSpPr>
            <p:nvPr/>
          </p:nvSpPr>
          <p:spPr>
            <a:xfrm>
              <a:off x="12195" y="6926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0" name="bar-2"/>
            <p:cNvSpPr>
              <a:spLocks noGrp="1"/>
            </p:cNvSpPr>
            <p:nvPr/>
          </p:nvSpPr>
          <p:spPr>
            <a:xfrm>
              <a:off x="12510" y="6917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1" name="bar-3"/>
            <p:cNvSpPr>
              <a:spLocks noGrp="1"/>
            </p:cNvSpPr>
            <p:nvPr/>
          </p:nvSpPr>
          <p:spPr>
            <a:xfrm>
              <a:off x="12825" y="6935"/>
              <a:ext cx="135" cy="297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7" name="anchor"/>
            <p:cNvSpPr>
              <a:spLocks noGrp="1"/>
            </p:cNvSpPr>
            <p:nvPr/>
          </p:nvSpPr>
          <p:spPr>
            <a:xfrm>
              <a:off x="12285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8" name="anchor"/>
            <p:cNvSpPr>
              <a:spLocks noGrp="1"/>
            </p:cNvSpPr>
            <p:nvPr/>
          </p:nvSpPr>
          <p:spPr>
            <a:xfrm>
              <a:off x="12285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0" name="直接箭头连接符 1139"/>
            <p:cNvCxnSpPr/>
            <p:nvPr/>
          </p:nvCxnSpPr>
          <p:spPr>
            <a:xfrm>
              <a:off x="12243" y="7382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0" name="anchor"/>
            <p:cNvSpPr>
              <a:spLocks noGrp="1"/>
            </p:cNvSpPr>
            <p:nvPr/>
          </p:nvSpPr>
          <p:spPr>
            <a:xfrm>
              <a:off x="12975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1" name="anchor"/>
            <p:cNvSpPr>
              <a:spLocks noGrp="1"/>
            </p:cNvSpPr>
            <p:nvPr/>
          </p:nvSpPr>
          <p:spPr>
            <a:xfrm>
              <a:off x="12975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3" name="直接箭头连接符 1142"/>
            <p:cNvCxnSpPr/>
            <p:nvPr/>
          </p:nvCxnSpPr>
          <p:spPr>
            <a:xfrm>
              <a:off x="12588" y="7382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501" name="bar-0"/>
            <p:cNvSpPr>
              <a:spLocks noGrp="1"/>
            </p:cNvSpPr>
            <p:nvPr/>
          </p:nvSpPr>
          <p:spPr>
            <a:xfrm>
              <a:off x="11880" y="8770"/>
              <a:ext cx="135" cy="338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2" name="bar-1"/>
            <p:cNvSpPr>
              <a:spLocks noGrp="1"/>
            </p:cNvSpPr>
            <p:nvPr/>
          </p:nvSpPr>
          <p:spPr>
            <a:xfrm>
              <a:off x="12188" y="8725"/>
              <a:ext cx="135" cy="383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3" name="bar-2"/>
            <p:cNvSpPr>
              <a:spLocks noGrp="1"/>
            </p:cNvSpPr>
            <p:nvPr/>
          </p:nvSpPr>
          <p:spPr>
            <a:xfrm>
              <a:off x="12510" y="8747"/>
              <a:ext cx="135" cy="360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1919" y="7337"/>
              <a:ext cx="1055" cy="1798"/>
              <a:chOff x="11919" y="7337"/>
              <a:chExt cx="1055" cy="1798"/>
            </a:xfrm>
          </p:grpSpPr>
          <p:sp>
            <p:nvSpPr>
              <p:cNvPr id="626" name="anchor"/>
              <p:cNvSpPr>
                <a:spLocks noGrp="1"/>
              </p:cNvSpPr>
              <p:nvPr/>
            </p:nvSpPr>
            <p:spPr>
              <a:xfrm>
                <a:off x="11919" y="7518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95" name="bar-2"/>
              <p:cNvSpPr>
                <a:spLocks noGrp="1"/>
              </p:cNvSpPr>
              <p:nvPr/>
            </p:nvSpPr>
            <p:spPr>
              <a:xfrm>
                <a:off x="12840" y="8775"/>
                <a:ext cx="135" cy="360"/>
              </a:xfrm>
              <a:prstGeom prst="rect">
                <a:avLst/>
              </a:prstGeom>
              <a:solidFill>
                <a:srgbClr val="55A83C"/>
              </a:solidFill>
              <a:ln w="9525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>
                <a:off x="12948" y="7373"/>
                <a:ext cx="0" cy="1134"/>
              </a:xfrm>
              <a:prstGeom prst="straightConnector1">
                <a:avLst/>
              </a:prstGeom>
              <a:ln w="15240">
                <a:solidFill>
                  <a:srgbClr val="7A35CC"/>
                </a:solidFill>
                <a:prstDash val="dash"/>
                <a:tailEnd type="triangle" w="med" len="med"/>
              </a:ln>
            </p:spPr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11949" y="7337"/>
                <a:ext cx="0" cy="1134"/>
              </a:xfrm>
              <a:prstGeom prst="straightConnector1">
                <a:avLst/>
              </a:prstGeom>
              <a:ln w="15240">
                <a:solidFill>
                  <a:srgbClr val="7A35CC"/>
                </a:solidFill>
                <a:prstDash val="dash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M1Nzc1YzNmZmM0NTVmNmUyZTAzYWNkYjJlMTA1MjAifQ=="/>
  <p:tag name="OPCH-69E96082845118F4234D3ED8D5A1F7A8CBF17ACDA7186666DDD4DC2D1FFB5A9B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159</Words>
  <Application>Microsoft Office PowerPoint</Application>
  <PresentationFormat>自定义</PresentationFormat>
  <Paragraphs>84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Cambria Math</vt:lpstr>
      <vt:lpstr>Comic Sans MS</vt:lpstr>
      <vt:lpstr>DejaVu Math TeX Gyre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洋 岳</cp:lastModifiedBy>
  <cp:revision>82</cp:revision>
  <dcterms:created xsi:type="dcterms:W3CDTF">2026-06-23T16:13:00Z</dcterms:created>
  <dcterms:modified xsi:type="dcterms:W3CDTF">2026-07-10T07:50:26Z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34FF00348255425B94503480173789DE_12</vt:lpwstr>
  </property>
  <property fmtid="{D5CDD505-2E9C-101B-9397-08002B2CF9AE}" pid="3" name="KSOProductBuildVer">
    <vt:lpwstr>2052-12.1.0.23542</vt:lpwstr>
  </property>
</Properties>
</file>