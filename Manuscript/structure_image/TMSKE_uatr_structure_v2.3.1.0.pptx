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</p:sldIdLst>
  <p:sldSz cx="14201775" cy="10048875"/>
  <p:notesSz cx="6858000" cy="9144000"/>
  <p:custDataLst>
    <p:tags r:id="rId8"/>
  </p:custDataLst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A35CC"/>
    <a:srgbClr val="35A446"/>
    <a:srgbClr val="4A83EA"/>
    <a:srgbClr val="EFF9EB"/>
    <a:srgbClr val="55A83C"/>
    <a:srgbClr val="FBFFF8"/>
    <a:srgbClr val="268B34"/>
    <a:srgbClr val="4985EB"/>
    <a:srgbClr val="2F73E8"/>
    <a:srgbClr val="FF6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-3686" y="-16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/>
              <a:t>原则是在</a:t>
            </a:r>
            <a:r>
              <a:rPr lang="en-US" altLang="zh-CN"/>
              <a:t>MemKD</a:t>
            </a:r>
            <a:r>
              <a:rPr lang="zh-CN" altLang="en-US"/>
              <a:t>和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3" Type="http://schemas.openxmlformats.org/officeDocument/2006/relationships/notesSlide" Target="../notesSlides/notesSlide1.xml"/><Relationship Id="rId42" Type="http://schemas.openxmlformats.org/officeDocument/2006/relationships/slideLayout" Target="../slideLayouts/slideLayout1.xml"/><Relationship Id="rId41" Type="http://schemas.openxmlformats.org/officeDocument/2006/relationships/image" Target="../media/image41.png"/><Relationship Id="rId40" Type="http://schemas.openxmlformats.org/officeDocument/2006/relationships/image" Target="../media/image40.png"/><Relationship Id="rId4" Type="http://schemas.openxmlformats.org/officeDocument/2006/relationships/image" Target="../media/image4.png"/><Relationship Id="rId39" Type="http://schemas.openxmlformats.org/officeDocument/2006/relationships/image" Target="../media/image39.png"/><Relationship Id="rId38" Type="http://schemas.openxmlformats.org/officeDocument/2006/relationships/image" Target="../media/image38.png"/><Relationship Id="rId37" Type="http://schemas.openxmlformats.org/officeDocument/2006/relationships/image" Target="../media/image37.png"/><Relationship Id="rId36" Type="http://schemas.openxmlformats.org/officeDocument/2006/relationships/image" Target="../media/image36.png"/><Relationship Id="rId35" Type="http://schemas.openxmlformats.org/officeDocument/2006/relationships/image" Target="../media/image35.png"/><Relationship Id="rId34" Type="http://schemas.openxmlformats.org/officeDocument/2006/relationships/image" Target="../media/image34.png"/><Relationship Id="rId33" Type="http://schemas.openxmlformats.org/officeDocument/2006/relationships/image" Target="../media/image33.png"/><Relationship Id="rId32" Type="http://schemas.openxmlformats.org/officeDocument/2006/relationships/image" Target="../media/image32.png"/><Relationship Id="rId31" Type="http://schemas.openxmlformats.org/officeDocument/2006/relationships/image" Target="../media/image31.png"/><Relationship Id="rId30" Type="http://schemas.openxmlformats.org/officeDocument/2006/relationships/image" Target="../media/image30.png"/><Relationship Id="rId3" Type="http://schemas.openxmlformats.org/officeDocument/2006/relationships/image" Target="../media/image3.png"/><Relationship Id="rId29" Type="http://schemas.openxmlformats.org/officeDocument/2006/relationships/image" Target="../media/image29.png"/><Relationship Id="rId28" Type="http://schemas.openxmlformats.org/officeDocument/2006/relationships/image" Target="../media/image28.png"/><Relationship Id="rId27" Type="http://schemas.openxmlformats.org/officeDocument/2006/relationships/image" Target="../media/image27.png"/><Relationship Id="rId26" Type="http://schemas.openxmlformats.org/officeDocument/2006/relationships/image" Target="../media/image26.png"/><Relationship Id="rId25" Type="http://schemas.openxmlformats.org/officeDocument/2006/relationships/image" Target="../media/image25.png"/><Relationship Id="rId24" Type="http://schemas.openxmlformats.org/officeDocument/2006/relationships/image" Target="../media/image24.png"/><Relationship Id="rId23" Type="http://schemas.openxmlformats.org/officeDocument/2006/relationships/image" Target="../media/image23.png"/><Relationship Id="rId22" Type="http://schemas.openxmlformats.org/officeDocument/2006/relationships/image" Target="../media/image22.png"/><Relationship Id="rId21" Type="http://schemas.openxmlformats.org/officeDocument/2006/relationships/image" Target="../media/image21.png"/><Relationship Id="rId20" Type="http://schemas.openxmlformats.org/officeDocument/2006/relationships/image" Target="../media/image20.png"/><Relationship Id="rId2" Type="http://schemas.openxmlformats.org/officeDocument/2006/relationships/image" Target="../media/image2.png"/><Relationship Id="rId19" Type="http://schemas.openxmlformats.org/officeDocument/2006/relationships/image" Target="../media/image19.png"/><Relationship Id="rId18" Type="http://schemas.openxmlformats.org/officeDocument/2006/relationships/image" Target="../media/image18.png"/><Relationship Id="rId17" Type="http://schemas.openxmlformats.org/officeDocument/2006/relationships/image" Target="../media/image17.png"/><Relationship Id="rId16" Type="http://schemas.openxmlformats.org/officeDocument/2006/relationships/image" Target="../media/image16.png"/><Relationship Id="rId15" Type="http://schemas.openxmlformats.org/officeDocument/2006/relationships/image" Target="../media/image15.png"/><Relationship Id="rId14" Type="http://schemas.openxmlformats.org/officeDocument/2006/relationships/image" Target="../media/image14.pn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nchor"/>
          <p:cNvSpPr>
            <a:spLocks noGrp="1"/>
          </p:cNvSpPr>
          <p:nvPr/>
        </p:nvSpPr>
        <p:spPr>
          <a:xfrm>
            <a:off x="266700" y="47815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anchor"/>
          <p:cNvSpPr>
            <a:spLocks noGrp="1"/>
          </p:cNvSpPr>
          <p:nvPr/>
        </p:nvSpPr>
        <p:spPr>
          <a:xfrm>
            <a:off x="266700" y="510540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" name="anchor"/>
          <p:cNvSpPr>
            <a:spLocks noGrp="1"/>
          </p:cNvSpPr>
          <p:nvPr/>
        </p:nvSpPr>
        <p:spPr>
          <a:xfrm>
            <a:off x="289084" y="4732491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1" name="anchor"/>
          <p:cNvSpPr>
            <a:spLocks noGrp="1"/>
          </p:cNvSpPr>
          <p:nvPr/>
        </p:nvSpPr>
        <p:spPr>
          <a:xfrm>
            <a:off x="289084" y="5154459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52" name="Teacher panel"/>
          <p:cNvSpPr>
            <a:spLocks noGrp="1"/>
          </p:cNvSpPr>
          <p:nvPr/>
        </p:nvSpPr>
        <p:spPr>
          <a:xfrm>
            <a:off x="2028825" y="114300"/>
            <a:ext cx="5215255" cy="1651000"/>
          </a:xfrm>
          <a:custGeom>
            <a:avLst/>
            <a:gdLst>
              <a:gd name="csX0" fmla="*/ 0 w 5215255"/>
              <a:gd name="csY0" fmla="*/ 87222 h 1651000"/>
              <a:gd name="csX1" fmla="*/ 87222 w 5215255"/>
              <a:gd name="csY1" fmla="*/ 0 h 1651000"/>
              <a:gd name="csX2" fmla="*/ 666915 w 5215255"/>
              <a:gd name="csY2" fmla="*/ 0 h 1651000"/>
              <a:gd name="csX3" fmla="*/ 1145792 w 5215255"/>
              <a:gd name="csY3" fmla="*/ 0 h 1651000"/>
              <a:gd name="csX4" fmla="*/ 1826302 w 5215255"/>
              <a:gd name="csY4" fmla="*/ 0 h 1651000"/>
              <a:gd name="csX5" fmla="*/ 2355587 w 5215255"/>
              <a:gd name="csY5" fmla="*/ 0 h 1651000"/>
              <a:gd name="csX6" fmla="*/ 2834464 w 5215255"/>
              <a:gd name="csY6" fmla="*/ 0 h 1651000"/>
              <a:gd name="csX7" fmla="*/ 3363749 w 5215255"/>
              <a:gd name="csY7" fmla="*/ 0 h 1651000"/>
              <a:gd name="csX8" fmla="*/ 4044259 w 5215255"/>
              <a:gd name="csY8" fmla="*/ 0 h 1651000"/>
              <a:gd name="csX9" fmla="*/ 4573544 w 5215255"/>
              <a:gd name="csY9" fmla="*/ 0 h 1651000"/>
              <a:gd name="csX10" fmla="*/ 5128033 w 5215255"/>
              <a:gd name="csY10" fmla="*/ 0 h 1651000"/>
              <a:gd name="csX11" fmla="*/ 5215255 w 5215255"/>
              <a:gd name="csY11" fmla="*/ 87222 h 1651000"/>
              <a:gd name="csX12" fmla="*/ 5215255 w 5215255"/>
              <a:gd name="csY12" fmla="*/ 594173 h 1651000"/>
              <a:gd name="csX13" fmla="*/ 5215255 w 5215255"/>
              <a:gd name="csY13" fmla="*/ 1056827 h 1651000"/>
              <a:gd name="csX14" fmla="*/ 5215255 w 5215255"/>
              <a:gd name="csY14" fmla="*/ 1563778 h 1651000"/>
              <a:gd name="csX15" fmla="*/ 5128033 w 5215255"/>
              <a:gd name="csY15" fmla="*/ 1651000 h 1651000"/>
              <a:gd name="csX16" fmla="*/ 4649156 w 5215255"/>
              <a:gd name="csY16" fmla="*/ 1651000 h 1651000"/>
              <a:gd name="csX17" fmla="*/ 4069463 w 5215255"/>
              <a:gd name="csY17" fmla="*/ 1651000 h 1651000"/>
              <a:gd name="csX18" fmla="*/ 3388953 w 5215255"/>
              <a:gd name="csY18" fmla="*/ 1651000 h 1651000"/>
              <a:gd name="csX19" fmla="*/ 2859668 w 5215255"/>
              <a:gd name="csY19" fmla="*/ 1651000 h 1651000"/>
              <a:gd name="csX20" fmla="*/ 2229567 w 5215255"/>
              <a:gd name="csY20" fmla="*/ 1651000 h 1651000"/>
              <a:gd name="csX21" fmla="*/ 1750690 w 5215255"/>
              <a:gd name="csY21" fmla="*/ 1651000 h 1651000"/>
              <a:gd name="csX22" fmla="*/ 1019772 w 5215255"/>
              <a:gd name="csY22" fmla="*/ 1651000 h 1651000"/>
              <a:gd name="csX23" fmla="*/ 87222 w 5215255"/>
              <a:gd name="csY23" fmla="*/ 1651000 h 1651000"/>
              <a:gd name="csX24" fmla="*/ 0 w 5215255"/>
              <a:gd name="csY24" fmla="*/ 1563778 h 1651000"/>
              <a:gd name="csX25" fmla="*/ 0 w 5215255"/>
              <a:gd name="csY25" fmla="*/ 1071593 h 1651000"/>
              <a:gd name="csX26" fmla="*/ 0 w 5215255"/>
              <a:gd name="csY26" fmla="*/ 579407 h 1651000"/>
              <a:gd name="csX27" fmla="*/ 0 w 5215255"/>
              <a:gd name="csY27" fmla="*/ 87222 h 1651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5215255" h="1651000" fill="none" extrusionOk="0">
                <a:moveTo>
                  <a:pt x="0" y="87222"/>
                </a:moveTo>
                <a:cubicBezTo>
                  <a:pt x="-348" y="31835"/>
                  <a:pt x="48766" y="6120"/>
                  <a:pt x="87222" y="0"/>
                </a:cubicBezTo>
                <a:cubicBezTo>
                  <a:pt x="219344" y="-19475"/>
                  <a:pt x="516872" y="3078"/>
                  <a:pt x="666915" y="0"/>
                </a:cubicBezTo>
                <a:cubicBezTo>
                  <a:pt x="816958" y="-3078"/>
                  <a:pt x="949497" y="11849"/>
                  <a:pt x="1145792" y="0"/>
                </a:cubicBezTo>
                <a:cubicBezTo>
                  <a:pt x="1342087" y="-11849"/>
                  <a:pt x="1533473" y="17626"/>
                  <a:pt x="1826302" y="0"/>
                </a:cubicBezTo>
                <a:cubicBezTo>
                  <a:pt x="2119131" y="-17626"/>
                  <a:pt x="2226742" y="-4384"/>
                  <a:pt x="2355587" y="0"/>
                </a:cubicBezTo>
                <a:cubicBezTo>
                  <a:pt x="2484432" y="4384"/>
                  <a:pt x="2620557" y="-6446"/>
                  <a:pt x="2834464" y="0"/>
                </a:cubicBezTo>
                <a:cubicBezTo>
                  <a:pt x="3048371" y="6446"/>
                  <a:pt x="3163223" y="5595"/>
                  <a:pt x="3363749" y="0"/>
                </a:cubicBezTo>
                <a:cubicBezTo>
                  <a:pt x="3564275" y="-5595"/>
                  <a:pt x="3748597" y="29995"/>
                  <a:pt x="4044259" y="0"/>
                </a:cubicBezTo>
                <a:cubicBezTo>
                  <a:pt x="4339921" y="-29995"/>
                  <a:pt x="4348515" y="-3114"/>
                  <a:pt x="4573544" y="0"/>
                </a:cubicBezTo>
                <a:cubicBezTo>
                  <a:pt x="4798573" y="3114"/>
                  <a:pt x="4997988" y="19105"/>
                  <a:pt x="5128033" y="0"/>
                </a:cubicBezTo>
                <a:cubicBezTo>
                  <a:pt x="5186862" y="2113"/>
                  <a:pt x="5211734" y="41325"/>
                  <a:pt x="5215255" y="87222"/>
                </a:cubicBezTo>
                <a:cubicBezTo>
                  <a:pt x="5215952" y="197890"/>
                  <a:pt x="5196838" y="481441"/>
                  <a:pt x="5215255" y="594173"/>
                </a:cubicBezTo>
                <a:cubicBezTo>
                  <a:pt x="5233672" y="706905"/>
                  <a:pt x="5221423" y="882662"/>
                  <a:pt x="5215255" y="1056827"/>
                </a:cubicBezTo>
                <a:cubicBezTo>
                  <a:pt x="5209087" y="1230992"/>
                  <a:pt x="5200999" y="1330290"/>
                  <a:pt x="5215255" y="1563778"/>
                </a:cubicBezTo>
                <a:cubicBezTo>
                  <a:pt x="5211387" y="1605039"/>
                  <a:pt x="5173194" y="1652399"/>
                  <a:pt x="5128033" y="1651000"/>
                </a:cubicBezTo>
                <a:cubicBezTo>
                  <a:pt x="4993040" y="1673204"/>
                  <a:pt x="4854154" y="1640656"/>
                  <a:pt x="4649156" y="1651000"/>
                </a:cubicBezTo>
                <a:cubicBezTo>
                  <a:pt x="4444158" y="1661344"/>
                  <a:pt x="4299961" y="1675904"/>
                  <a:pt x="4069463" y="1651000"/>
                </a:cubicBezTo>
                <a:cubicBezTo>
                  <a:pt x="3838965" y="1626096"/>
                  <a:pt x="3570126" y="1647770"/>
                  <a:pt x="3388953" y="1651000"/>
                </a:cubicBezTo>
                <a:cubicBezTo>
                  <a:pt x="3207780" y="1654231"/>
                  <a:pt x="2994305" y="1649606"/>
                  <a:pt x="2859668" y="1651000"/>
                </a:cubicBezTo>
                <a:cubicBezTo>
                  <a:pt x="2725032" y="1652394"/>
                  <a:pt x="2520404" y="1678532"/>
                  <a:pt x="2229567" y="1651000"/>
                </a:cubicBezTo>
                <a:cubicBezTo>
                  <a:pt x="1938730" y="1623468"/>
                  <a:pt x="1910377" y="1635317"/>
                  <a:pt x="1750690" y="1651000"/>
                </a:cubicBezTo>
                <a:cubicBezTo>
                  <a:pt x="1591003" y="1666683"/>
                  <a:pt x="1226053" y="1646688"/>
                  <a:pt x="1019772" y="1651000"/>
                </a:cubicBezTo>
                <a:cubicBezTo>
                  <a:pt x="813491" y="1655312"/>
                  <a:pt x="468755" y="1636778"/>
                  <a:pt x="87222" y="1651000"/>
                </a:cubicBezTo>
                <a:cubicBezTo>
                  <a:pt x="40689" y="1644660"/>
                  <a:pt x="2975" y="1600776"/>
                  <a:pt x="0" y="1563778"/>
                </a:cubicBezTo>
                <a:cubicBezTo>
                  <a:pt x="21172" y="1376235"/>
                  <a:pt x="-4497" y="1301134"/>
                  <a:pt x="0" y="1071593"/>
                </a:cubicBezTo>
                <a:cubicBezTo>
                  <a:pt x="4497" y="842053"/>
                  <a:pt x="-13182" y="785780"/>
                  <a:pt x="0" y="579407"/>
                </a:cubicBezTo>
                <a:cubicBezTo>
                  <a:pt x="13182" y="373034"/>
                  <a:pt x="-5582" y="270388"/>
                  <a:pt x="0" y="87222"/>
                </a:cubicBezTo>
                <a:close/>
              </a:path>
              <a:path w="5215255" h="1651000" stroke="0" extrusionOk="0">
                <a:moveTo>
                  <a:pt x="0" y="87222"/>
                </a:moveTo>
                <a:cubicBezTo>
                  <a:pt x="-5292" y="35787"/>
                  <a:pt x="31588" y="2801"/>
                  <a:pt x="87222" y="0"/>
                </a:cubicBezTo>
                <a:cubicBezTo>
                  <a:pt x="297401" y="-9109"/>
                  <a:pt x="666877" y="3859"/>
                  <a:pt x="818140" y="0"/>
                </a:cubicBezTo>
                <a:cubicBezTo>
                  <a:pt x="969403" y="-3859"/>
                  <a:pt x="1192771" y="15059"/>
                  <a:pt x="1397833" y="0"/>
                </a:cubicBezTo>
                <a:cubicBezTo>
                  <a:pt x="1602895" y="-15059"/>
                  <a:pt x="1713593" y="8112"/>
                  <a:pt x="1927118" y="0"/>
                </a:cubicBezTo>
                <a:cubicBezTo>
                  <a:pt x="2140643" y="-8112"/>
                  <a:pt x="2361292" y="12628"/>
                  <a:pt x="2607628" y="0"/>
                </a:cubicBezTo>
                <a:cubicBezTo>
                  <a:pt x="2853964" y="-12628"/>
                  <a:pt x="3044152" y="2543"/>
                  <a:pt x="3187321" y="0"/>
                </a:cubicBezTo>
                <a:cubicBezTo>
                  <a:pt x="3330490" y="-2543"/>
                  <a:pt x="3722040" y="4353"/>
                  <a:pt x="3918238" y="0"/>
                </a:cubicBezTo>
                <a:cubicBezTo>
                  <a:pt x="4114436" y="-4353"/>
                  <a:pt x="4305001" y="-7587"/>
                  <a:pt x="4447524" y="0"/>
                </a:cubicBezTo>
                <a:cubicBezTo>
                  <a:pt x="4590047" y="7587"/>
                  <a:pt x="4958273" y="-5095"/>
                  <a:pt x="5128033" y="0"/>
                </a:cubicBezTo>
                <a:cubicBezTo>
                  <a:pt x="5182843" y="1596"/>
                  <a:pt x="5206660" y="37661"/>
                  <a:pt x="5215255" y="87222"/>
                </a:cubicBezTo>
                <a:cubicBezTo>
                  <a:pt x="5239566" y="267237"/>
                  <a:pt x="5207796" y="409408"/>
                  <a:pt x="5215255" y="579407"/>
                </a:cubicBezTo>
                <a:cubicBezTo>
                  <a:pt x="5222714" y="749406"/>
                  <a:pt x="5224116" y="907381"/>
                  <a:pt x="5215255" y="1056827"/>
                </a:cubicBezTo>
                <a:cubicBezTo>
                  <a:pt x="5206394" y="1206273"/>
                  <a:pt x="5198872" y="1381030"/>
                  <a:pt x="5215255" y="1563778"/>
                </a:cubicBezTo>
                <a:cubicBezTo>
                  <a:pt x="5222730" y="1602669"/>
                  <a:pt x="5165829" y="1646989"/>
                  <a:pt x="5128033" y="1651000"/>
                </a:cubicBezTo>
                <a:cubicBezTo>
                  <a:pt x="4979641" y="1628568"/>
                  <a:pt x="4637271" y="1660044"/>
                  <a:pt x="4497932" y="1651000"/>
                </a:cubicBezTo>
                <a:cubicBezTo>
                  <a:pt x="4358593" y="1641956"/>
                  <a:pt x="4099037" y="1619522"/>
                  <a:pt x="3767014" y="1651000"/>
                </a:cubicBezTo>
                <a:cubicBezTo>
                  <a:pt x="3434991" y="1682478"/>
                  <a:pt x="3323615" y="1679928"/>
                  <a:pt x="3136913" y="1651000"/>
                </a:cubicBezTo>
                <a:cubicBezTo>
                  <a:pt x="2950211" y="1622072"/>
                  <a:pt x="2770734" y="1650149"/>
                  <a:pt x="2658036" y="1651000"/>
                </a:cubicBezTo>
                <a:cubicBezTo>
                  <a:pt x="2545338" y="1651851"/>
                  <a:pt x="2382607" y="1625923"/>
                  <a:pt x="2128750" y="1651000"/>
                </a:cubicBezTo>
                <a:cubicBezTo>
                  <a:pt x="1874893" y="1676077"/>
                  <a:pt x="1653138" y="1683895"/>
                  <a:pt x="1397833" y="1651000"/>
                </a:cubicBezTo>
                <a:cubicBezTo>
                  <a:pt x="1142528" y="1618105"/>
                  <a:pt x="1037284" y="1648344"/>
                  <a:pt x="767731" y="1651000"/>
                </a:cubicBezTo>
                <a:cubicBezTo>
                  <a:pt x="498178" y="1653656"/>
                  <a:pt x="286330" y="1677069"/>
                  <a:pt x="87222" y="1651000"/>
                </a:cubicBezTo>
                <a:cubicBezTo>
                  <a:pt x="38782" y="1643751"/>
                  <a:pt x="11706" y="1614390"/>
                  <a:pt x="0" y="1563778"/>
                </a:cubicBezTo>
                <a:cubicBezTo>
                  <a:pt x="18886" y="1458745"/>
                  <a:pt x="10895" y="1230740"/>
                  <a:pt x="0" y="1071593"/>
                </a:cubicBezTo>
                <a:cubicBezTo>
                  <a:pt x="-10895" y="912446"/>
                  <a:pt x="13298" y="738236"/>
                  <a:pt x="0" y="579407"/>
                </a:cubicBezTo>
                <a:cubicBezTo>
                  <a:pt x="-13298" y="420578"/>
                  <a:pt x="-1561" y="187395"/>
                  <a:pt x="0" y="87222"/>
                </a:cubicBezTo>
                <a:close/>
              </a:path>
            </a:pathLst>
          </a:custGeom>
          <a:solidFill>
            <a:srgbClr val="F8FBFF"/>
          </a:solidFill>
          <a:ln w="12383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53" name="Teacher title"/>
          <p:cNvSpPr>
            <a:spLocks noGrp="1"/>
          </p:cNvSpPr>
          <p:nvPr/>
        </p:nvSpPr>
        <p:spPr>
          <a:xfrm>
            <a:off x="1927225" y="68580"/>
            <a:ext cx="506920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650" b="1">
                <a:solidFill>
                  <a:srgbClr val="0646AD"/>
                </a:solidFill>
              </a:defRPr>
            </a:pPr>
            <a:r>
              <a:rPr kumimoji="0" sz="2300" b="1" i="0" u="none" strike="noStrike" kern="1200" cap="none" spc="0" normalizeH="0" baseline="0" noProof="0" dirty="0">
                <a:ln>
                  <a:noFill/>
                </a:ln>
                <a:solidFill>
                  <a:srgbClr val="0646AD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rPr>
              <a:t>Teacher: pretrained wav2vec 2.0</a:t>
            </a:r>
            <a:endParaRPr kumimoji="0" sz="2300" b="1" i="0" u="none" strike="noStrike" kern="1200" cap="none" spc="0" normalizeH="0" baseline="0" noProof="0" dirty="0">
              <a:ln>
                <a:noFill/>
              </a:ln>
              <a:solidFill>
                <a:srgbClr val="0646AD"/>
              </a:solidFill>
              <a:effectLst/>
              <a:uLnTx/>
              <a:uFillTx/>
              <a:latin typeface="Comic Sans MS" panose="030F0702030302020204" pitchFamily="66" charset="0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54" name="module-CNN&#10;encoder"/>
          <p:cNvSpPr>
            <a:spLocks noGrp="1"/>
          </p:cNvSpPr>
          <p:nvPr/>
        </p:nvSpPr>
        <p:spPr>
          <a:xfrm>
            <a:off x="2247900" y="523875"/>
            <a:ext cx="1133475" cy="1152525"/>
          </a:xfrm>
          <a:prstGeom prst="roundRect">
            <a:avLst>
              <a:gd name="adj" fmla="val 8403"/>
            </a:avLst>
          </a:prstGeom>
          <a:solidFill>
            <a:srgbClr val="FFFFFF"/>
          </a:solidFill>
          <a:ln w="14288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55" name="module-title-CNN&#10;encoder"/>
          <p:cNvSpPr>
            <a:spLocks noGrp="1"/>
          </p:cNvSpPr>
          <p:nvPr/>
        </p:nvSpPr>
        <p:spPr>
          <a:xfrm>
            <a:off x="2305050" y="619124"/>
            <a:ext cx="1019175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25" b="1">
                <a:solidFill>
                  <a:srgbClr val="111111"/>
                </a:solidFill>
              </a:defRPr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rPr>
              <a:t>CNN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omic Sans MS" panose="030F0702030302020204" pitchFamily="66" charset="0"/>
              <a:ea typeface="Calibri" panose="020F0502020204030204"/>
              <a:cs typeface="Calibri" panose="020F0502020204030204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25" b="1">
                <a:solidFill>
                  <a:srgbClr val="111111"/>
                </a:solidFill>
              </a:defRPr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rPr>
              <a:t>encoder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omic Sans MS" panose="030F0702030302020204" pitchFamily="66" charset="0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59" name="anchor"/>
          <p:cNvSpPr>
            <a:spLocks noGrp="1"/>
          </p:cNvSpPr>
          <p:nvPr/>
        </p:nvSpPr>
        <p:spPr>
          <a:xfrm>
            <a:off x="2714625" y="13525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60" name="anchor"/>
          <p:cNvSpPr>
            <a:spLocks noGrp="1"/>
          </p:cNvSpPr>
          <p:nvPr/>
        </p:nvSpPr>
        <p:spPr>
          <a:xfrm>
            <a:off x="2857500" y="12382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62" name="anchor"/>
          <p:cNvSpPr>
            <a:spLocks noGrp="1"/>
          </p:cNvSpPr>
          <p:nvPr/>
        </p:nvSpPr>
        <p:spPr>
          <a:xfrm>
            <a:off x="2914650" y="13811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63" name="anchor"/>
          <p:cNvSpPr>
            <a:spLocks noGrp="1"/>
          </p:cNvSpPr>
          <p:nvPr/>
        </p:nvSpPr>
        <p:spPr>
          <a:xfrm>
            <a:off x="3076575" y="12668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65" name="module-Transformer"/>
          <p:cNvSpPr>
            <a:spLocks noGrp="1"/>
          </p:cNvSpPr>
          <p:nvPr/>
        </p:nvSpPr>
        <p:spPr>
          <a:xfrm>
            <a:off x="3629025" y="523875"/>
            <a:ext cx="1771650" cy="1152525"/>
          </a:xfrm>
          <a:prstGeom prst="roundRect">
            <a:avLst>
              <a:gd name="adj" fmla="val 8264"/>
            </a:avLst>
          </a:prstGeom>
          <a:solidFill>
            <a:srgbClr val="FFFFFF"/>
          </a:solidFill>
          <a:ln w="14288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66" name="module-title-Transformer"/>
          <p:cNvSpPr>
            <a:spLocks noGrp="1"/>
          </p:cNvSpPr>
          <p:nvPr/>
        </p:nvSpPr>
        <p:spPr>
          <a:xfrm>
            <a:off x="3681413" y="559185"/>
            <a:ext cx="1657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25" b="1">
                <a:solidFill>
                  <a:srgbClr val="111111"/>
                </a:solidFill>
              </a:defRPr>
            </a:pPr>
            <a:r>
              <a:rPr kumimoji="0" sz="1425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rPr>
              <a:t>Transformer</a:t>
            </a:r>
            <a:r>
              <a:rPr kumimoji="0" lang="en-US" sz="1425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rPr>
              <a:t> layer</a:t>
            </a:r>
            <a:endParaRPr kumimoji="0" sz="1425" b="1" i="0" u="none" strike="noStrike" kern="1200" cap="none" spc="0" normalizeH="0" baseline="0" noProof="0" dirty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omic Sans MS" panose="030F0702030302020204" pitchFamily="66" charset="0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67" name="tr-top"/>
          <p:cNvSpPr>
            <a:spLocks noGrp="1"/>
          </p:cNvSpPr>
          <p:nvPr/>
        </p:nvSpPr>
        <p:spPr>
          <a:xfrm>
            <a:off x="3895725" y="1038225"/>
            <a:ext cx="142875" cy="466090"/>
          </a:xfrm>
          <a:prstGeom prst="rect">
            <a:avLst/>
          </a:prstGeom>
          <a:solidFill>
            <a:srgbClr val="2F73E8">
              <a:alpha val="53333"/>
            </a:srgbClr>
          </a:solidFill>
          <a:ln w="1333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76" name="anchor"/>
          <p:cNvSpPr>
            <a:spLocks noGrp="1"/>
          </p:cNvSpPr>
          <p:nvPr/>
        </p:nvSpPr>
        <p:spPr>
          <a:xfrm>
            <a:off x="4314825" y="14668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78" name="anchor"/>
          <p:cNvSpPr>
            <a:spLocks noGrp="1"/>
          </p:cNvSpPr>
          <p:nvPr/>
        </p:nvSpPr>
        <p:spPr>
          <a:xfrm>
            <a:off x="4314825" y="11715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79" name="anchor"/>
          <p:cNvSpPr>
            <a:spLocks noGrp="1"/>
          </p:cNvSpPr>
          <p:nvPr/>
        </p:nvSpPr>
        <p:spPr>
          <a:xfrm>
            <a:off x="3952875" y="14668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81" name="anchor"/>
          <p:cNvSpPr>
            <a:spLocks noGrp="1"/>
          </p:cNvSpPr>
          <p:nvPr/>
        </p:nvSpPr>
        <p:spPr>
          <a:xfrm>
            <a:off x="4314825" y="11715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82" name="anchor"/>
          <p:cNvSpPr>
            <a:spLocks noGrp="1"/>
          </p:cNvSpPr>
          <p:nvPr/>
        </p:nvSpPr>
        <p:spPr>
          <a:xfrm>
            <a:off x="4667250" y="14668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84" name="anchor"/>
          <p:cNvSpPr>
            <a:spLocks noGrp="1"/>
          </p:cNvSpPr>
          <p:nvPr/>
        </p:nvSpPr>
        <p:spPr>
          <a:xfrm>
            <a:off x="4667250" y="11715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87" name="anchor"/>
          <p:cNvSpPr>
            <a:spLocks noGrp="1"/>
          </p:cNvSpPr>
          <p:nvPr/>
        </p:nvSpPr>
        <p:spPr>
          <a:xfrm>
            <a:off x="4667250" y="11715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88" name="anchor"/>
          <p:cNvSpPr>
            <a:spLocks noGrp="1"/>
          </p:cNvSpPr>
          <p:nvPr/>
        </p:nvSpPr>
        <p:spPr>
          <a:xfrm>
            <a:off x="5181600" y="14668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90" name="anchor"/>
          <p:cNvSpPr>
            <a:spLocks noGrp="1"/>
          </p:cNvSpPr>
          <p:nvPr/>
        </p:nvSpPr>
        <p:spPr>
          <a:xfrm>
            <a:off x="5181600" y="11715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91" name="anchor"/>
          <p:cNvSpPr>
            <a:spLocks noGrp="1"/>
          </p:cNvSpPr>
          <p:nvPr/>
        </p:nvSpPr>
        <p:spPr>
          <a:xfrm>
            <a:off x="4667250" y="14668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93" name="ellipsis"/>
          <p:cNvSpPr>
            <a:spLocks noGrp="1"/>
          </p:cNvSpPr>
          <p:nvPr/>
        </p:nvSpPr>
        <p:spPr>
          <a:xfrm>
            <a:off x="4757038" y="1134490"/>
            <a:ext cx="348362" cy="2955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75" b="0">
                <a:solidFill>
                  <a:srgbClr val="111111"/>
                </a:solidFill>
              </a:defRPr>
            </a:pPr>
            <a:r>
              <a:rPr kumimoji="0" sz="1275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.</a:t>
            </a:r>
            <a:r>
              <a:rPr kumimoji="0" lang="en-US" altLang="zh-CN" sz="1275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.</a:t>
            </a:r>
            <a:r>
              <a:rPr kumimoji="0" sz="1275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.</a:t>
            </a:r>
            <a:endParaRPr kumimoji="0" sz="1275" b="0" i="0" u="none" strike="noStrike" kern="1200" cap="none" spc="0" normalizeH="0" baseline="0" noProof="0" dirty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94" name="module-Classifier"/>
          <p:cNvSpPr>
            <a:spLocks noGrp="1"/>
          </p:cNvSpPr>
          <p:nvPr/>
        </p:nvSpPr>
        <p:spPr>
          <a:xfrm>
            <a:off x="5657850" y="523875"/>
            <a:ext cx="1238250" cy="1152525"/>
          </a:xfrm>
          <a:prstGeom prst="roundRect">
            <a:avLst>
              <a:gd name="adj" fmla="val 8264"/>
            </a:avLst>
          </a:prstGeom>
          <a:solidFill>
            <a:srgbClr val="FFFFFF"/>
          </a:solidFill>
          <a:ln w="14288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95" name="module-title-Classifier"/>
          <p:cNvSpPr>
            <a:spLocks noGrp="1"/>
          </p:cNvSpPr>
          <p:nvPr/>
        </p:nvSpPr>
        <p:spPr>
          <a:xfrm>
            <a:off x="5715000" y="619125"/>
            <a:ext cx="1123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25" b="1">
                <a:solidFill>
                  <a:srgbClr val="111111"/>
                </a:solidFill>
              </a:defRPr>
            </a:pPr>
            <a:r>
              <a:rPr kumimoji="0" sz="1425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rPr>
              <a:t>Classifier</a:t>
            </a:r>
            <a:endParaRPr kumimoji="0" sz="1425" b="1" i="0" u="none" strike="noStrike" kern="1200" cap="none" spc="0" normalizeH="0" baseline="0" noProof="0" dirty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omic Sans MS" panose="030F0702030302020204" pitchFamily="66" charset="0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96" name="bar-0"/>
          <p:cNvSpPr>
            <a:spLocks noGrp="1"/>
          </p:cNvSpPr>
          <p:nvPr/>
        </p:nvSpPr>
        <p:spPr>
          <a:xfrm>
            <a:off x="5916930" y="1351598"/>
            <a:ext cx="85725" cy="193357"/>
          </a:xfrm>
          <a:prstGeom prst="rect">
            <a:avLst/>
          </a:prstGeom>
          <a:solidFill>
            <a:srgbClr val="2F73E8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97" name="bar-1"/>
          <p:cNvSpPr>
            <a:spLocks noGrp="1"/>
          </p:cNvSpPr>
          <p:nvPr/>
        </p:nvSpPr>
        <p:spPr>
          <a:xfrm>
            <a:off x="6116955" y="1202436"/>
            <a:ext cx="85725" cy="342519"/>
          </a:xfrm>
          <a:prstGeom prst="rect">
            <a:avLst/>
          </a:prstGeom>
          <a:solidFill>
            <a:srgbClr val="2F73E8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98" name="bar-2"/>
          <p:cNvSpPr>
            <a:spLocks noGrp="1"/>
          </p:cNvSpPr>
          <p:nvPr/>
        </p:nvSpPr>
        <p:spPr>
          <a:xfrm>
            <a:off x="6316980" y="1020128"/>
            <a:ext cx="85725" cy="524828"/>
          </a:xfrm>
          <a:prstGeom prst="rect">
            <a:avLst/>
          </a:prstGeom>
          <a:solidFill>
            <a:srgbClr val="2F73E8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99" name="bar-3"/>
          <p:cNvSpPr>
            <a:spLocks noGrp="1"/>
          </p:cNvSpPr>
          <p:nvPr/>
        </p:nvSpPr>
        <p:spPr>
          <a:xfrm>
            <a:off x="6517005" y="1202436"/>
            <a:ext cx="85725" cy="342519"/>
          </a:xfrm>
          <a:prstGeom prst="rect">
            <a:avLst/>
          </a:prstGeom>
          <a:solidFill>
            <a:srgbClr val="2F73E8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00" name="anchor"/>
          <p:cNvSpPr>
            <a:spLocks noGrp="1"/>
          </p:cNvSpPr>
          <p:nvPr/>
        </p:nvSpPr>
        <p:spPr>
          <a:xfrm>
            <a:off x="3381375" y="10953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01" name="anchor"/>
          <p:cNvSpPr>
            <a:spLocks noGrp="1"/>
          </p:cNvSpPr>
          <p:nvPr/>
        </p:nvSpPr>
        <p:spPr>
          <a:xfrm>
            <a:off x="3629025" y="10953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cxnSp>
        <p:nvCxnSpPr>
          <p:cNvPr id="853" name="直接箭头连接符 852"/>
          <p:cNvCxnSpPr>
            <a:stCxn id="200" idx="6"/>
            <a:endCxn id="201" idx="2"/>
          </p:cNvCxnSpPr>
          <p:nvPr/>
        </p:nvCxnSpPr>
        <p:spPr>
          <a:xfrm>
            <a:off x="3400425" y="1104900"/>
            <a:ext cx="228600" cy="0"/>
          </a:xfrm>
          <a:prstGeom prst="straightConnector1">
            <a:avLst/>
          </a:prstGeom>
          <a:ln w="20955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203" name="anchor"/>
          <p:cNvSpPr>
            <a:spLocks noGrp="1"/>
          </p:cNvSpPr>
          <p:nvPr/>
        </p:nvSpPr>
        <p:spPr>
          <a:xfrm>
            <a:off x="5400675" y="10953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04" name="anchor"/>
          <p:cNvSpPr>
            <a:spLocks noGrp="1"/>
          </p:cNvSpPr>
          <p:nvPr/>
        </p:nvSpPr>
        <p:spPr>
          <a:xfrm>
            <a:off x="5648325" y="10953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cxnSp>
        <p:nvCxnSpPr>
          <p:cNvPr id="856" name="直接箭头连接符 855"/>
          <p:cNvCxnSpPr>
            <a:stCxn id="203" idx="6"/>
            <a:endCxn id="204" idx="2"/>
          </p:cNvCxnSpPr>
          <p:nvPr/>
        </p:nvCxnSpPr>
        <p:spPr>
          <a:xfrm>
            <a:off x="5419725" y="1104900"/>
            <a:ext cx="228600" cy="0"/>
          </a:xfrm>
          <a:prstGeom prst="straightConnector1">
            <a:avLst/>
          </a:prstGeom>
          <a:ln w="20955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206" name="anchor"/>
          <p:cNvSpPr>
            <a:spLocks noGrp="1"/>
          </p:cNvSpPr>
          <p:nvPr/>
        </p:nvSpPr>
        <p:spPr>
          <a:xfrm>
            <a:off x="6896100" y="12096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07" name="anchor"/>
          <p:cNvSpPr>
            <a:spLocks noGrp="1"/>
          </p:cNvSpPr>
          <p:nvPr/>
        </p:nvSpPr>
        <p:spPr>
          <a:xfrm>
            <a:off x="7458075" y="12096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cxnSp>
        <p:nvCxnSpPr>
          <p:cNvPr id="859" name="直接箭头连接符 858"/>
          <p:cNvCxnSpPr>
            <a:stCxn id="206" idx="6"/>
            <a:endCxn id="207" idx="2"/>
          </p:cNvCxnSpPr>
          <p:nvPr/>
        </p:nvCxnSpPr>
        <p:spPr>
          <a:xfrm>
            <a:off x="6915150" y="1219200"/>
            <a:ext cx="542925" cy="0"/>
          </a:xfrm>
          <a:prstGeom prst="straightConnector1">
            <a:avLst/>
          </a:prstGeom>
          <a:ln w="20955">
            <a:solidFill>
              <a:srgbClr val="111111"/>
            </a:solidFill>
            <a:prstDash val="solid"/>
            <a:tailEnd type="triangle" w="med" len="med"/>
          </a:ln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15" name="zt"/>
              <p:cNvSpPr>
                <a:spLocks noGrp="1"/>
              </p:cNvSpPr>
              <p:nvPr/>
            </p:nvSpPr>
            <p:spPr>
              <a:xfrm>
                <a:off x="7450455" y="1461135"/>
                <a:ext cx="959485" cy="3048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500" b="1">
                    <a:solidFill>
                      <a:srgbClr val="111111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15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altLang="zh-CN" sz="15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  <m:sub>
                          <m:r>
                            <a:rPr kumimoji="0" lang="en-US" altLang="zh-CN" sz="15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𝑻</m:t>
                          </m:r>
                        </m:sub>
                      </m:sSub>
                      <m:r>
                        <a:rPr kumimoji="0" lang="en-US" altLang="zh-CN" sz="15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11111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0" lang="en-US" altLang="zh-CN" sz="15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0" lang="en-US" altLang="zh-CN" sz="15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𝑹</m:t>
                          </m:r>
                        </m:e>
                        <m:sup>
                          <m:r>
                            <a:rPr kumimoji="0" lang="en-US" altLang="zh-CN" sz="15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𝑲</m:t>
                          </m:r>
                        </m:sup>
                      </m:sSup>
                    </m:oMath>
                  </m:oMathPara>
                </a14:m>
                <a:endParaRPr kumimoji="0" sz="1500" b="1" i="0" u="none" strike="noStrike" kern="1200" cap="none" spc="0" normalizeH="0" baseline="0" noProof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/>
                  <a:cs typeface="Calibri" panose="020F0502020204030204"/>
                </a:endParaRPr>
              </a:p>
            </p:txBody>
          </p:sp>
        </mc:Choice>
        <mc:Fallback>
          <p:sp>
            <p:nvSpPr>
              <p:cNvPr id="215" name="zt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0455" y="1461135"/>
                <a:ext cx="959485" cy="30480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7" name="组合 56"/>
          <p:cNvGrpSpPr/>
          <p:nvPr/>
        </p:nvGrpSpPr>
        <p:grpSpPr>
          <a:xfrm>
            <a:off x="2093595" y="1914525"/>
            <a:ext cx="4478655" cy="428625"/>
            <a:chOff x="3297" y="3015"/>
            <a:chExt cx="7053" cy="67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7" name="HT"/>
                <p:cNvSpPr>
                  <a:spLocks noGrp="1"/>
                </p:cNvSpPr>
                <p:nvPr/>
              </p:nvSpPr>
              <p:spPr>
                <a:xfrm>
                  <a:off x="3297" y="3015"/>
                  <a:ext cx="675" cy="390"/>
                </a:xfrm>
                <a:prstGeom prst="rect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 sz="1575" b="1">
                      <a:solidFill>
                        <a:srgbClr val="111111"/>
                      </a:solidFill>
                    </a:defRPr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zh-CN" sz="20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20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𝑯</m:t>
                            </m:r>
                          </m:e>
                          <m:sub>
                            <m:r>
                              <a:rPr kumimoji="0" lang="en-US" altLang="zh-CN" sz="20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b>
                        </m:sSub>
                      </m:oMath>
                    </m:oMathPara>
                  </a14:m>
                  <a:endParaRPr kumimoji="0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Calibri" panose="020F0502020204030204"/>
                    <a:ea typeface="Calibri" panose="020F0502020204030204"/>
                    <a:cs typeface="Calibri" panose="020F0502020204030204"/>
                  </a:endParaRPr>
                </a:p>
              </p:txBody>
            </p:sp>
          </mc:Choice>
          <mc:Fallback>
            <p:sp>
              <p:nvSpPr>
                <p:cNvPr id="217" name="HT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97" y="3015"/>
                  <a:ext cx="675" cy="390"/>
                </a:xfrm>
                <a:prstGeom prst="rect">
                  <a:avLst/>
                </a:prstGeom>
                <a:blipFill rotWithShape="1">
                  <a:blip r:embed="rId2"/>
                </a:blipFill>
                <a:ln w="0">
                  <a:noFill/>
                  <a:prstDash val="solid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8" name="teacher hidden"/>
            <p:cNvSpPr>
              <a:spLocks noGrp="1"/>
            </p:cNvSpPr>
            <p:nvPr/>
          </p:nvSpPr>
          <p:spPr>
            <a:xfrm>
              <a:off x="4140" y="3045"/>
              <a:ext cx="6210" cy="645"/>
            </a:xfrm>
            <a:prstGeom prst="roundRect">
              <a:avLst>
                <a:gd name="adj" fmla="val 13953"/>
              </a:avLst>
            </a:prstGeom>
            <a:solidFill>
              <a:srgbClr val="E9F2FF"/>
            </a:solidFill>
            <a:ln w="9525">
              <a:solidFill>
                <a:srgbClr val="2F73E8"/>
              </a:solidFill>
              <a:prstDash val="dash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</p:grpSp>
      <p:sp>
        <p:nvSpPr>
          <p:cNvPr id="219" name="token-0"/>
          <p:cNvSpPr>
            <a:spLocks noGrp="1"/>
          </p:cNvSpPr>
          <p:nvPr/>
        </p:nvSpPr>
        <p:spPr>
          <a:xfrm>
            <a:off x="2771775" y="2028825"/>
            <a:ext cx="304800" cy="219075"/>
          </a:xfrm>
          <a:prstGeom prst="roundRect">
            <a:avLst>
              <a:gd name="adj" fmla="val 17391"/>
            </a:avLst>
          </a:prstGeom>
          <a:solidFill>
            <a:srgbClr val="72A7F7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20" name="token-label-0"/>
          <p:cNvSpPr>
            <a:spLocks noGrp="1"/>
          </p:cNvSpPr>
          <p:nvPr/>
        </p:nvSpPr>
        <p:spPr>
          <a:xfrm>
            <a:off x="2771775" y="2038350"/>
            <a:ext cx="304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1">
                <a:solidFill>
                  <a:srgbClr val="111111"/>
                </a:solidFill>
              </a:defRPr>
            </a:pPr>
            <a:r>
              <a:rPr kumimoji="0" sz="975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kumimoji="0" sz="975" b="1" i="0" u="none" strike="noStrike" kern="1200" cap="none" spc="0" normalizeH="0" baseline="0" noProof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21" name="token-1"/>
          <p:cNvSpPr>
            <a:spLocks noGrp="1"/>
          </p:cNvSpPr>
          <p:nvPr/>
        </p:nvSpPr>
        <p:spPr>
          <a:xfrm>
            <a:off x="3419475" y="2028825"/>
            <a:ext cx="304800" cy="219075"/>
          </a:xfrm>
          <a:prstGeom prst="roundRect">
            <a:avLst>
              <a:gd name="adj" fmla="val 17391"/>
            </a:avLst>
          </a:prstGeom>
          <a:solidFill>
            <a:srgbClr val="72A7F7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22" name="token-label-1"/>
          <p:cNvSpPr>
            <a:spLocks noGrp="1"/>
          </p:cNvSpPr>
          <p:nvPr/>
        </p:nvSpPr>
        <p:spPr>
          <a:xfrm>
            <a:off x="3419475" y="2038350"/>
            <a:ext cx="304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1">
                <a:solidFill>
                  <a:srgbClr val="111111"/>
                </a:solidFill>
              </a:defRPr>
            </a:pPr>
            <a:r>
              <a:rPr kumimoji="0" sz="975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kumimoji="0" sz="975" b="1" i="0" u="none" strike="noStrike" kern="1200" cap="none" spc="0" normalizeH="0" baseline="0" noProof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23" name="token-2"/>
          <p:cNvSpPr>
            <a:spLocks noGrp="1"/>
          </p:cNvSpPr>
          <p:nvPr/>
        </p:nvSpPr>
        <p:spPr>
          <a:xfrm>
            <a:off x="4067175" y="2028825"/>
            <a:ext cx="304800" cy="219075"/>
          </a:xfrm>
          <a:prstGeom prst="roundRect">
            <a:avLst>
              <a:gd name="adj" fmla="val 17391"/>
            </a:avLst>
          </a:prstGeom>
          <a:solidFill>
            <a:srgbClr val="72A7F7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24" name="token-label-2"/>
          <p:cNvSpPr>
            <a:spLocks noGrp="1"/>
          </p:cNvSpPr>
          <p:nvPr/>
        </p:nvSpPr>
        <p:spPr>
          <a:xfrm>
            <a:off x="4067175" y="2038350"/>
            <a:ext cx="304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1">
                <a:solidFill>
                  <a:srgbClr val="111111"/>
                </a:solidFill>
              </a:defRPr>
            </a:pPr>
            <a:r>
              <a:rPr kumimoji="0" sz="975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kumimoji="0" sz="975" b="1" i="0" u="none" strike="noStrike" kern="1200" cap="none" spc="0" normalizeH="0" baseline="0" noProof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25" name="token-3"/>
          <p:cNvSpPr>
            <a:spLocks noGrp="1"/>
          </p:cNvSpPr>
          <p:nvPr/>
        </p:nvSpPr>
        <p:spPr>
          <a:xfrm>
            <a:off x="4714875" y="2028825"/>
            <a:ext cx="304800" cy="219075"/>
          </a:xfrm>
          <a:prstGeom prst="roundRect">
            <a:avLst>
              <a:gd name="adj" fmla="val 17391"/>
            </a:avLst>
          </a:prstGeom>
          <a:solidFill>
            <a:srgbClr val="72A7F7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26" name="token-label-3"/>
          <p:cNvSpPr>
            <a:spLocks noGrp="1"/>
          </p:cNvSpPr>
          <p:nvPr/>
        </p:nvSpPr>
        <p:spPr>
          <a:xfrm>
            <a:off x="4714875" y="2038350"/>
            <a:ext cx="304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1">
                <a:solidFill>
                  <a:srgbClr val="111111"/>
                </a:solidFill>
              </a:defRPr>
            </a:pPr>
            <a:r>
              <a:rPr kumimoji="0" sz="975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·</a:t>
            </a:r>
            <a:endParaRPr kumimoji="0" sz="975" b="1" i="0" u="none" strike="noStrike" kern="1200" cap="none" spc="0" normalizeH="0" baseline="0" noProof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27" name="teacher dots"/>
          <p:cNvSpPr>
            <a:spLocks noGrp="1"/>
          </p:cNvSpPr>
          <p:nvPr/>
        </p:nvSpPr>
        <p:spPr>
          <a:xfrm>
            <a:off x="5467350" y="2009775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650" b="1">
                <a:solidFill>
                  <a:srgbClr val="111111"/>
                </a:solidFill>
              </a:defRPr>
            </a:pPr>
            <a:r>
              <a:rPr kumimoji="0" sz="165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⋯</a:t>
            </a:r>
            <a:endParaRPr kumimoji="0" sz="1650" b="1" i="0" u="none" strike="noStrike" kern="1200" cap="none" spc="0" normalizeH="0" baseline="0" noProof="0" dirty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28" name="token-0"/>
          <p:cNvSpPr>
            <a:spLocks noGrp="1"/>
          </p:cNvSpPr>
          <p:nvPr/>
        </p:nvSpPr>
        <p:spPr>
          <a:xfrm>
            <a:off x="6210300" y="2028825"/>
            <a:ext cx="304800" cy="219075"/>
          </a:xfrm>
          <a:prstGeom prst="roundRect">
            <a:avLst>
              <a:gd name="adj" fmla="val 17391"/>
            </a:avLst>
          </a:prstGeom>
          <a:solidFill>
            <a:srgbClr val="72A7F7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9" name="token-label-0"/>
              <p:cNvSpPr>
                <a:spLocks noGrp="1"/>
              </p:cNvSpPr>
              <p:nvPr/>
            </p:nvSpPr>
            <p:spPr>
              <a:xfrm>
                <a:off x="6210300" y="2038350"/>
                <a:ext cx="304800" cy="2095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975" b="1">
                    <a:solidFill>
                      <a:srgbClr val="111111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975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altLang="zh-CN" sz="975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kumimoji="0" lang="en-US" altLang="zh-CN" sz="975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𝑻</m:t>
                          </m:r>
                        </m:sub>
                      </m:sSub>
                    </m:oMath>
                  </m:oMathPara>
                </a14:m>
                <a:endParaRPr kumimoji="0" sz="975" b="1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/>
                  <a:cs typeface="Calibri" panose="020F0502020204030204"/>
                </a:endParaRPr>
              </a:p>
            </p:txBody>
          </p:sp>
        </mc:Choice>
        <mc:Fallback>
          <p:sp>
            <p:nvSpPr>
              <p:cNvPr id="229" name="token-label-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0300" y="2038350"/>
                <a:ext cx="304800" cy="2095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9" name="student-zs"/>
              <p:cNvSpPr>
                <a:spLocks noGrp="1"/>
              </p:cNvSpPr>
              <p:nvPr/>
            </p:nvSpPr>
            <p:spPr>
              <a:xfrm>
                <a:off x="8080375" y="7284085"/>
                <a:ext cx="995680" cy="2667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500" b="1">
                    <a:solidFill>
                      <a:srgbClr val="111111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kumimoji="0" lang="en-US" altLang="zh-CN" sz="18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11111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0" lang="en-US" altLang="zh-CN" sz="18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0" lang="en-US" altLang="zh-CN" sz="18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𝑹</m:t>
                          </m:r>
                        </m:e>
                        <m:sup>
                          <m:r>
                            <a:rPr kumimoji="0" lang="en-US" altLang="zh-CN" sz="18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𝑲</m:t>
                          </m:r>
                        </m:sup>
                      </m:sSup>
                    </m:oMath>
                  </m:oMathPara>
                </a14:m>
                <a:endParaRPr kumimoji="0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/>
                  <a:cs typeface="Calibri" panose="020F0502020204030204"/>
                </a:endParaRPr>
              </a:p>
            </p:txBody>
          </p:sp>
        </mc:Choice>
        <mc:Fallback>
          <p:sp>
            <p:nvSpPr>
              <p:cNvPr id="519" name="student-zs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0375" y="7284085"/>
                <a:ext cx="995680" cy="266700"/>
              </a:xfrm>
              <a:prstGeom prst="rect">
                <a:avLst/>
              </a:prstGeom>
              <a:blipFill rotWithShape="1">
                <a:blip r:embed="rId4"/>
                <a:stretch>
                  <a:fillRect b="-18333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0" name="anchor"/>
          <p:cNvSpPr>
            <a:spLocks noGrp="1"/>
          </p:cNvSpPr>
          <p:nvPr/>
        </p:nvSpPr>
        <p:spPr>
          <a:xfrm>
            <a:off x="1571625" y="10858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11" name="anchor"/>
          <p:cNvSpPr>
            <a:spLocks noGrp="1"/>
          </p:cNvSpPr>
          <p:nvPr/>
        </p:nvSpPr>
        <p:spPr>
          <a:xfrm>
            <a:off x="2238375" y="10858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19" name="anchor"/>
          <p:cNvSpPr>
            <a:spLocks noGrp="1"/>
          </p:cNvSpPr>
          <p:nvPr/>
        </p:nvSpPr>
        <p:spPr>
          <a:xfrm>
            <a:off x="4371975" y="26193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cxnSp>
        <p:nvCxnSpPr>
          <p:cNvPr id="1272" name="直接箭头连接符 1271"/>
          <p:cNvCxnSpPr>
            <a:endCxn id="620" idx="0"/>
          </p:cNvCxnSpPr>
          <p:nvPr/>
        </p:nvCxnSpPr>
        <p:spPr>
          <a:xfrm>
            <a:off x="3800475" y="2343150"/>
            <a:ext cx="0" cy="581025"/>
          </a:xfrm>
          <a:prstGeom prst="straightConnector1">
            <a:avLst/>
          </a:prstGeom>
          <a:ln w="38100">
            <a:solidFill>
              <a:srgbClr val="FF6A00"/>
            </a:solidFill>
            <a:prstDash val="solid"/>
            <a:tailEnd type="triangle" w="med" len="med"/>
          </a:ln>
        </p:spPr>
      </p:cxnSp>
      <p:sp>
        <p:nvSpPr>
          <p:cNvPr id="634" name="anchor"/>
          <p:cNvSpPr>
            <a:spLocks noGrp="1"/>
          </p:cNvSpPr>
          <p:nvPr/>
        </p:nvSpPr>
        <p:spPr>
          <a:xfrm>
            <a:off x="8905875" y="12001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2" name="立方体 11"/>
          <p:cNvSpPr/>
          <p:nvPr/>
        </p:nvSpPr>
        <p:spPr>
          <a:xfrm>
            <a:off x="2423160" y="1112520"/>
            <a:ext cx="381000" cy="472440"/>
          </a:xfrm>
          <a:prstGeom prst="cube">
            <a:avLst>
              <a:gd name="adj" fmla="val 60185"/>
            </a:avLst>
          </a:prstGeom>
          <a:solidFill>
            <a:srgbClr val="90B4F3"/>
          </a:solidFill>
          <a:ln>
            <a:solidFill>
              <a:srgbClr val="4985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3" name="立方体 32"/>
          <p:cNvSpPr/>
          <p:nvPr/>
        </p:nvSpPr>
        <p:spPr>
          <a:xfrm>
            <a:off x="2880360" y="1196340"/>
            <a:ext cx="381000" cy="358140"/>
          </a:xfrm>
          <a:prstGeom prst="cube">
            <a:avLst>
              <a:gd name="adj" fmla="val 47419"/>
            </a:avLst>
          </a:prstGeom>
          <a:solidFill>
            <a:srgbClr val="90B4F3"/>
          </a:solidFill>
          <a:ln>
            <a:solidFill>
              <a:srgbClr val="4985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108" name="图片 10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9425" y="171594"/>
            <a:ext cx="425132" cy="425132"/>
          </a:xfrm>
          <a:prstGeom prst="rect">
            <a:avLst/>
          </a:prstGeom>
        </p:spPr>
      </p:pic>
      <p:grpSp>
        <p:nvGrpSpPr>
          <p:cNvPr id="9" name="组合 8"/>
          <p:cNvGrpSpPr/>
          <p:nvPr/>
        </p:nvGrpSpPr>
        <p:grpSpPr>
          <a:xfrm>
            <a:off x="135255" y="108585"/>
            <a:ext cx="1638935" cy="2699385"/>
            <a:chOff x="127" y="5458"/>
            <a:chExt cx="2581" cy="4251"/>
          </a:xfrm>
        </p:grpSpPr>
        <p:sp>
          <p:nvSpPr>
            <p:cNvPr id="2" name="Input title"/>
            <p:cNvSpPr>
              <a:spLocks noGrp="1"/>
            </p:cNvSpPr>
            <p:nvPr/>
          </p:nvSpPr>
          <p:spPr>
            <a:xfrm>
              <a:off x="127" y="7828"/>
              <a:ext cx="2581" cy="1881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500" b="1">
                  <a:solidFill>
                    <a:srgbClr val="111111"/>
                  </a:solidFill>
                </a:defRPr>
              </a:pPr>
              <a:r>
                <a:rPr kumimoji="0" lang="zh-CN" altLang="zh-CN" sz="2300" b="1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cs typeface="Calibri" panose="020F0502020204030204"/>
                </a:rPr>
                <a:t>Raw Waveform Input</a:t>
              </a:r>
              <a:endParaRPr kumimoji="0" lang="zh-CN" altLang="zh-CN" sz="230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cs typeface="Calibri" panose="020F0502020204030204"/>
              </a:endParaRPr>
            </a:p>
          </p:txBody>
        </p:sp>
        <p:sp>
          <p:nvSpPr>
            <p:cNvPr id="6" name="waveform image frame"/>
            <p:cNvSpPr>
              <a:spLocks noGrp="1"/>
            </p:cNvSpPr>
            <p:nvPr/>
          </p:nvSpPr>
          <p:spPr>
            <a:xfrm>
              <a:off x="229" y="5458"/>
              <a:ext cx="2070" cy="2325"/>
            </a:xfrm>
            <a:custGeom>
              <a:avLst/>
              <a:gdLst>
                <a:gd name="csX0" fmla="*/ 0 w 1314450"/>
                <a:gd name="csY0" fmla="*/ 95245 h 1476375"/>
                <a:gd name="csX1" fmla="*/ 95245 w 1314450"/>
                <a:gd name="csY1" fmla="*/ 0 h 1476375"/>
                <a:gd name="csX2" fmla="*/ 668465 w 1314450"/>
                <a:gd name="csY2" fmla="*/ 0 h 1476375"/>
                <a:gd name="csX3" fmla="*/ 1219205 w 1314450"/>
                <a:gd name="csY3" fmla="*/ 0 h 1476375"/>
                <a:gd name="csX4" fmla="*/ 1314450 w 1314450"/>
                <a:gd name="csY4" fmla="*/ 95245 h 1476375"/>
                <a:gd name="csX5" fmla="*/ 1314450 w 1314450"/>
                <a:gd name="csY5" fmla="*/ 712470 h 1476375"/>
                <a:gd name="csX6" fmla="*/ 1314450 w 1314450"/>
                <a:gd name="csY6" fmla="*/ 1381130 h 1476375"/>
                <a:gd name="csX7" fmla="*/ 1219205 w 1314450"/>
                <a:gd name="csY7" fmla="*/ 1476375 h 1476375"/>
                <a:gd name="csX8" fmla="*/ 645985 w 1314450"/>
                <a:gd name="csY8" fmla="*/ 1476375 h 1476375"/>
                <a:gd name="csX9" fmla="*/ 95245 w 1314450"/>
                <a:gd name="csY9" fmla="*/ 1476375 h 1476375"/>
                <a:gd name="csX10" fmla="*/ 0 w 1314450"/>
                <a:gd name="csY10" fmla="*/ 1381130 h 1476375"/>
                <a:gd name="csX11" fmla="*/ 0 w 1314450"/>
                <a:gd name="csY11" fmla="*/ 725329 h 1476375"/>
                <a:gd name="csX12" fmla="*/ 0 w 1314450"/>
                <a:gd name="csY12" fmla="*/ 95245 h 14763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314450" h="1476375" fill="none" extrusionOk="0">
                  <a:moveTo>
                    <a:pt x="0" y="95245"/>
                  </a:moveTo>
                  <a:cubicBezTo>
                    <a:pt x="-3058" y="43145"/>
                    <a:pt x="40733" y="-1318"/>
                    <a:pt x="95245" y="0"/>
                  </a:cubicBezTo>
                  <a:cubicBezTo>
                    <a:pt x="212142" y="19900"/>
                    <a:pt x="518819" y="-3087"/>
                    <a:pt x="668465" y="0"/>
                  </a:cubicBezTo>
                  <a:cubicBezTo>
                    <a:pt x="818111" y="3087"/>
                    <a:pt x="1024008" y="11205"/>
                    <a:pt x="1219205" y="0"/>
                  </a:cubicBezTo>
                  <a:cubicBezTo>
                    <a:pt x="1267762" y="7233"/>
                    <a:pt x="1323596" y="49439"/>
                    <a:pt x="1314450" y="95245"/>
                  </a:cubicBezTo>
                  <a:cubicBezTo>
                    <a:pt x="1342476" y="403270"/>
                    <a:pt x="1284231" y="462336"/>
                    <a:pt x="1314450" y="712470"/>
                  </a:cubicBezTo>
                  <a:cubicBezTo>
                    <a:pt x="1344669" y="962605"/>
                    <a:pt x="1338816" y="1122446"/>
                    <a:pt x="1314450" y="1381130"/>
                  </a:cubicBezTo>
                  <a:cubicBezTo>
                    <a:pt x="1316199" y="1437194"/>
                    <a:pt x="1262667" y="1481195"/>
                    <a:pt x="1219205" y="1476375"/>
                  </a:cubicBezTo>
                  <a:cubicBezTo>
                    <a:pt x="968480" y="1453494"/>
                    <a:pt x="881870" y="1493178"/>
                    <a:pt x="645985" y="1476375"/>
                  </a:cubicBezTo>
                  <a:cubicBezTo>
                    <a:pt x="410100" y="1459572"/>
                    <a:pt x="239555" y="1452114"/>
                    <a:pt x="95245" y="1476375"/>
                  </a:cubicBezTo>
                  <a:cubicBezTo>
                    <a:pt x="38083" y="1485528"/>
                    <a:pt x="-5724" y="1426138"/>
                    <a:pt x="0" y="1381130"/>
                  </a:cubicBezTo>
                  <a:cubicBezTo>
                    <a:pt x="26020" y="1227904"/>
                    <a:pt x="-26361" y="862478"/>
                    <a:pt x="0" y="725329"/>
                  </a:cubicBezTo>
                  <a:cubicBezTo>
                    <a:pt x="26361" y="588180"/>
                    <a:pt x="5410" y="376424"/>
                    <a:pt x="0" y="95245"/>
                  </a:cubicBezTo>
                  <a:close/>
                </a:path>
                <a:path w="1314450" h="1476375" stroke="0" extrusionOk="0">
                  <a:moveTo>
                    <a:pt x="0" y="95245"/>
                  </a:moveTo>
                  <a:cubicBezTo>
                    <a:pt x="-1099" y="41965"/>
                    <a:pt x="41433" y="454"/>
                    <a:pt x="95245" y="0"/>
                  </a:cubicBezTo>
                  <a:cubicBezTo>
                    <a:pt x="261984" y="-13839"/>
                    <a:pt x="388910" y="-14742"/>
                    <a:pt x="679704" y="0"/>
                  </a:cubicBezTo>
                  <a:cubicBezTo>
                    <a:pt x="970498" y="14742"/>
                    <a:pt x="1078858" y="-3116"/>
                    <a:pt x="1219205" y="0"/>
                  </a:cubicBezTo>
                  <a:cubicBezTo>
                    <a:pt x="1265551" y="-3423"/>
                    <a:pt x="1319691" y="45147"/>
                    <a:pt x="1314450" y="95245"/>
                  </a:cubicBezTo>
                  <a:cubicBezTo>
                    <a:pt x="1300123" y="271300"/>
                    <a:pt x="1322561" y="445064"/>
                    <a:pt x="1314450" y="712470"/>
                  </a:cubicBezTo>
                  <a:cubicBezTo>
                    <a:pt x="1306339" y="979877"/>
                    <a:pt x="1330754" y="1218156"/>
                    <a:pt x="1314450" y="1381130"/>
                  </a:cubicBezTo>
                  <a:cubicBezTo>
                    <a:pt x="1314101" y="1430401"/>
                    <a:pt x="1269195" y="1480005"/>
                    <a:pt x="1219205" y="1476375"/>
                  </a:cubicBezTo>
                  <a:cubicBezTo>
                    <a:pt x="1025268" y="1464596"/>
                    <a:pt x="938239" y="1467613"/>
                    <a:pt x="679704" y="1476375"/>
                  </a:cubicBezTo>
                  <a:cubicBezTo>
                    <a:pt x="421169" y="1485137"/>
                    <a:pt x="316164" y="1503677"/>
                    <a:pt x="95245" y="1476375"/>
                  </a:cubicBezTo>
                  <a:cubicBezTo>
                    <a:pt x="46875" y="1482674"/>
                    <a:pt x="765" y="1441654"/>
                    <a:pt x="0" y="1381130"/>
                  </a:cubicBezTo>
                  <a:cubicBezTo>
                    <a:pt x="11638" y="1126982"/>
                    <a:pt x="15690" y="943851"/>
                    <a:pt x="0" y="776764"/>
                  </a:cubicBezTo>
                  <a:cubicBezTo>
                    <a:pt x="-15690" y="609677"/>
                    <a:pt x="-18168" y="306193"/>
                    <a:pt x="0" y="95245"/>
                  </a:cubicBezTo>
                  <a:close/>
                </a:path>
              </a:pathLst>
            </a:custGeom>
            <a:solidFill>
              <a:srgbClr val="FFFFFF"/>
            </a:solidFill>
            <a:ln w="13335">
              <a:solidFill>
                <a:srgbClr val="999999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pic>
          <p:nvPicPr>
            <p:cNvPr id="355" name="图片 35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33" y="5889"/>
              <a:ext cx="1463" cy="1463"/>
            </a:xfrm>
            <a:prstGeom prst="rect">
              <a:avLst/>
            </a:prstGeom>
          </p:spPr>
        </p:pic>
      </p:grpSp>
      <p:grpSp>
        <p:nvGrpSpPr>
          <p:cNvPr id="258" name="组合 257"/>
          <p:cNvGrpSpPr/>
          <p:nvPr/>
        </p:nvGrpSpPr>
        <p:grpSpPr>
          <a:xfrm>
            <a:off x="1390650" y="6558280"/>
            <a:ext cx="6660515" cy="1516380"/>
            <a:chOff x="2264" y="11790"/>
            <a:chExt cx="10489" cy="2388"/>
          </a:xfrm>
        </p:grpSpPr>
        <p:sp>
          <p:nvSpPr>
            <p:cNvPr id="395" name="Student panel"/>
            <p:cNvSpPr>
              <a:spLocks noGrp="1"/>
            </p:cNvSpPr>
            <p:nvPr/>
          </p:nvSpPr>
          <p:spPr>
            <a:xfrm>
              <a:off x="2280" y="11790"/>
              <a:ext cx="10473" cy="2388"/>
            </a:xfrm>
            <a:custGeom>
              <a:avLst/>
              <a:gdLst>
                <a:gd name="csX0" fmla="*/ 0 w 6650355"/>
                <a:gd name="csY0" fmla="*/ 64177 h 1583055"/>
                <a:gd name="csX1" fmla="*/ 64177 w 6650355"/>
                <a:gd name="csY1" fmla="*/ 0 h 1583055"/>
                <a:gd name="csX2" fmla="*/ 716377 w 6650355"/>
                <a:gd name="csY2" fmla="*/ 0 h 1583055"/>
                <a:gd name="csX3" fmla="*/ 1433797 w 6650355"/>
                <a:gd name="csY3" fmla="*/ 0 h 1583055"/>
                <a:gd name="csX4" fmla="*/ 1955557 w 6650355"/>
                <a:gd name="csY4" fmla="*/ 0 h 1583055"/>
                <a:gd name="csX5" fmla="*/ 2412097 w 6650355"/>
                <a:gd name="csY5" fmla="*/ 0 h 1583055"/>
                <a:gd name="csX6" fmla="*/ 2933857 w 6650355"/>
                <a:gd name="csY6" fmla="*/ 0 h 1583055"/>
                <a:gd name="csX7" fmla="*/ 3520838 w 6650355"/>
                <a:gd name="csY7" fmla="*/ 0 h 1583055"/>
                <a:gd name="csX8" fmla="*/ 4173038 w 6650355"/>
                <a:gd name="csY8" fmla="*/ 0 h 1583055"/>
                <a:gd name="csX9" fmla="*/ 4694798 w 6650355"/>
                <a:gd name="csY9" fmla="*/ 0 h 1583055"/>
                <a:gd name="csX10" fmla="*/ 5477438 w 6650355"/>
                <a:gd name="csY10" fmla="*/ 0 h 1583055"/>
                <a:gd name="csX11" fmla="*/ 6586178 w 6650355"/>
                <a:gd name="csY11" fmla="*/ 0 h 1583055"/>
                <a:gd name="csX12" fmla="*/ 6650355 w 6650355"/>
                <a:gd name="csY12" fmla="*/ 64177 h 1583055"/>
                <a:gd name="csX13" fmla="*/ 6650355 w 6650355"/>
                <a:gd name="csY13" fmla="*/ 549077 h 1583055"/>
                <a:gd name="csX14" fmla="*/ 6650355 w 6650355"/>
                <a:gd name="csY14" fmla="*/ 1048525 h 1583055"/>
                <a:gd name="csX15" fmla="*/ 6650355 w 6650355"/>
                <a:gd name="csY15" fmla="*/ 1518878 h 1583055"/>
                <a:gd name="csX16" fmla="*/ 6586178 w 6650355"/>
                <a:gd name="csY16" fmla="*/ 1583055 h 1583055"/>
                <a:gd name="csX17" fmla="*/ 5868758 w 6650355"/>
                <a:gd name="csY17" fmla="*/ 1583055 h 1583055"/>
                <a:gd name="csX18" fmla="*/ 5216558 w 6650355"/>
                <a:gd name="csY18" fmla="*/ 1583055 h 1583055"/>
                <a:gd name="csX19" fmla="*/ 4433918 w 6650355"/>
                <a:gd name="csY19" fmla="*/ 1583055 h 1583055"/>
                <a:gd name="csX20" fmla="*/ 3846938 w 6650355"/>
                <a:gd name="csY20" fmla="*/ 1583055 h 1583055"/>
                <a:gd name="csX21" fmla="*/ 3325178 w 6650355"/>
                <a:gd name="csY21" fmla="*/ 1583055 h 1583055"/>
                <a:gd name="csX22" fmla="*/ 2672977 w 6650355"/>
                <a:gd name="csY22" fmla="*/ 1583055 h 1583055"/>
                <a:gd name="csX23" fmla="*/ 1955557 w 6650355"/>
                <a:gd name="csY23" fmla="*/ 1583055 h 1583055"/>
                <a:gd name="csX24" fmla="*/ 1172917 w 6650355"/>
                <a:gd name="csY24" fmla="*/ 1583055 h 1583055"/>
                <a:gd name="csX25" fmla="*/ 64177 w 6650355"/>
                <a:gd name="csY25" fmla="*/ 1583055 h 1583055"/>
                <a:gd name="csX26" fmla="*/ 0 w 6650355"/>
                <a:gd name="csY26" fmla="*/ 1518878 h 1583055"/>
                <a:gd name="csX27" fmla="*/ 0 w 6650355"/>
                <a:gd name="csY27" fmla="*/ 1077619 h 1583055"/>
                <a:gd name="csX28" fmla="*/ 0 w 6650355"/>
                <a:gd name="csY28" fmla="*/ 578171 h 1583055"/>
                <a:gd name="csX29" fmla="*/ 0 w 6650355"/>
                <a:gd name="csY29" fmla="*/ 64177 h 15830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6650355" h="1583055" fill="none" extrusionOk="0">
                  <a:moveTo>
                    <a:pt x="0" y="64177"/>
                  </a:moveTo>
                  <a:cubicBezTo>
                    <a:pt x="1297" y="29936"/>
                    <a:pt x="32970" y="-2533"/>
                    <a:pt x="64177" y="0"/>
                  </a:cubicBezTo>
                  <a:cubicBezTo>
                    <a:pt x="222300" y="15709"/>
                    <a:pt x="437416" y="-2734"/>
                    <a:pt x="716377" y="0"/>
                  </a:cubicBezTo>
                  <a:cubicBezTo>
                    <a:pt x="995338" y="2734"/>
                    <a:pt x="1092410" y="6518"/>
                    <a:pt x="1433797" y="0"/>
                  </a:cubicBezTo>
                  <a:cubicBezTo>
                    <a:pt x="1775184" y="-6518"/>
                    <a:pt x="1807060" y="-24701"/>
                    <a:pt x="1955557" y="0"/>
                  </a:cubicBezTo>
                  <a:cubicBezTo>
                    <a:pt x="2104054" y="24701"/>
                    <a:pt x="2251650" y="-13803"/>
                    <a:pt x="2412097" y="0"/>
                  </a:cubicBezTo>
                  <a:cubicBezTo>
                    <a:pt x="2572544" y="13803"/>
                    <a:pt x="2789451" y="17994"/>
                    <a:pt x="2933857" y="0"/>
                  </a:cubicBezTo>
                  <a:cubicBezTo>
                    <a:pt x="3078263" y="-17994"/>
                    <a:pt x="3239421" y="7293"/>
                    <a:pt x="3520838" y="0"/>
                  </a:cubicBezTo>
                  <a:cubicBezTo>
                    <a:pt x="3802255" y="-7293"/>
                    <a:pt x="3999259" y="20166"/>
                    <a:pt x="4173038" y="0"/>
                  </a:cubicBezTo>
                  <a:cubicBezTo>
                    <a:pt x="4346817" y="-20166"/>
                    <a:pt x="4497820" y="-13197"/>
                    <a:pt x="4694798" y="0"/>
                  </a:cubicBezTo>
                  <a:cubicBezTo>
                    <a:pt x="4891776" y="13197"/>
                    <a:pt x="5253937" y="6499"/>
                    <a:pt x="5477438" y="0"/>
                  </a:cubicBezTo>
                  <a:cubicBezTo>
                    <a:pt x="5700939" y="-6499"/>
                    <a:pt x="6228934" y="11610"/>
                    <a:pt x="6586178" y="0"/>
                  </a:cubicBezTo>
                  <a:cubicBezTo>
                    <a:pt x="6623159" y="5397"/>
                    <a:pt x="6652882" y="29797"/>
                    <a:pt x="6650355" y="64177"/>
                  </a:cubicBezTo>
                  <a:cubicBezTo>
                    <a:pt x="6664442" y="164555"/>
                    <a:pt x="6637307" y="398075"/>
                    <a:pt x="6650355" y="549077"/>
                  </a:cubicBezTo>
                  <a:cubicBezTo>
                    <a:pt x="6663403" y="700079"/>
                    <a:pt x="6663619" y="862129"/>
                    <a:pt x="6650355" y="1048525"/>
                  </a:cubicBezTo>
                  <a:cubicBezTo>
                    <a:pt x="6637091" y="1234921"/>
                    <a:pt x="6627279" y="1298755"/>
                    <a:pt x="6650355" y="1518878"/>
                  </a:cubicBezTo>
                  <a:cubicBezTo>
                    <a:pt x="6650481" y="1553048"/>
                    <a:pt x="6622142" y="1581517"/>
                    <a:pt x="6586178" y="1583055"/>
                  </a:cubicBezTo>
                  <a:cubicBezTo>
                    <a:pt x="6261415" y="1603609"/>
                    <a:pt x="6131337" y="1599235"/>
                    <a:pt x="5868758" y="1583055"/>
                  </a:cubicBezTo>
                  <a:cubicBezTo>
                    <a:pt x="5606179" y="1566875"/>
                    <a:pt x="5440783" y="1603715"/>
                    <a:pt x="5216558" y="1583055"/>
                  </a:cubicBezTo>
                  <a:cubicBezTo>
                    <a:pt x="4992333" y="1562395"/>
                    <a:pt x="4654989" y="1589075"/>
                    <a:pt x="4433918" y="1583055"/>
                  </a:cubicBezTo>
                  <a:cubicBezTo>
                    <a:pt x="4212847" y="1577035"/>
                    <a:pt x="4104176" y="1598462"/>
                    <a:pt x="3846938" y="1583055"/>
                  </a:cubicBezTo>
                  <a:cubicBezTo>
                    <a:pt x="3589700" y="1567648"/>
                    <a:pt x="3503749" y="1568366"/>
                    <a:pt x="3325178" y="1583055"/>
                  </a:cubicBezTo>
                  <a:cubicBezTo>
                    <a:pt x="3146607" y="1597744"/>
                    <a:pt x="2826049" y="1561412"/>
                    <a:pt x="2672977" y="1583055"/>
                  </a:cubicBezTo>
                  <a:cubicBezTo>
                    <a:pt x="2519905" y="1604698"/>
                    <a:pt x="2177059" y="1576449"/>
                    <a:pt x="1955557" y="1583055"/>
                  </a:cubicBezTo>
                  <a:cubicBezTo>
                    <a:pt x="1734055" y="1589661"/>
                    <a:pt x="1413403" y="1576197"/>
                    <a:pt x="1172917" y="1583055"/>
                  </a:cubicBezTo>
                  <a:cubicBezTo>
                    <a:pt x="932431" y="1589913"/>
                    <a:pt x="529146" y="1634007"/>
                    <a:pt x="64177" y="1583055"/>
                  </a:cubicBezTo>
                  <a:cubicBezTo>
                    <a:pt x="31718" y="1588859"/>
                    <a:pt x="6963" y="1552362"/>
                    <a:pt x="0" y="1518878"/>
                  </a:cubicBezTo>
                  <a:cubicBezTo>
                    <a:pt x="-17466" y="1304430"/>
                    <a:pt x="6900" y="1259338"/>
                    <a:pt x="0" y="1077619"/>
                  </a:cubicBezTo>
                  <a:cubicBezTo>
                    <a:pt x="-6900" y="895900"/>
                    <a:pt x="9881" y="788217"/>
                    <a:pt x="0" y="578171"/>
                  </a:cubicBezTo>
                  <a:cubicBezTo>
                    <a:pt x="-9881" y="368125"/>
                    <a:pt x="6862" y="230313"/>
                    <a:pt x="0" y="64177"/>
                  </a:cubicBezTo>
                  <a:close/>
                </a:path>
                <a:path w="6650355" h="1583055" stroke="0" extrusionOk="0">
                  <a:moveTo>
                    <a:pt x="0" y="64177"/>
                  </a:moveTo>
                  <a:cubicBezTo>
                    <a:pt x="-4037" y="26243"/>
                    <a:pt x="20700" y="3015"/>
                    <a:pt x="64177" y="0"/>
                  </a:cubicBezTo>
                  <a:cubicBezTo>
                    <a:pt x="230173" y="-16661"/>
                    <a:pt x="487585" y="22001"/>
                    <a:pt x="846817" y="0"/>
                  </a:cubicBezTo>
                  <a:cubicBezTo>
                    <a:pt x="1206049" y="-22001"/>
                    <a:pt x="1165223" y="815"/>
                    <a:pt x="1433797" y="0"/>
                  </a:cubicBezTo>
                  <a:cubicBezTo>
                    <a:pt x="1702371" y="-815"/>
                    <a:pt x="1740518" y="-17128"/>
                    <a:pt x="1955557" y="0"/>
                  </a:cubicBezTo>
                  <a:cubicBezTo>
                    <a:pt x="2170596" y="17128"/>
                    <a:pt x="2441209" y="8126"/>
                    <a:pt x="2672977" y="0"/>
                  </a:cubicBezTo>
                  <a:cubicBezTo>
                    <a:pt x="2904745" y="-8126"/>
                    <a:pt x="3118378" y="28942"/>
                    <a:pt x="3259957" y="0"/>
                  </a:cubicBezTo>
                  <a:cubicBezTo>
                    <a:pt x="3401536" y="-28942"/>
                    <a:pt x="3711247" y="18149"/>
                    <a:pt x="4042598" y="0"/>
                  </a:cubicBezTo>
                  <a:cubicBezTo>
                    <a:pt x="4373949" y="-18149"/>
                    <a:pt x="4327807" y="25823"/>
                    <a:pt x="4564358" y="0"/>
                  </a:cubicBezTo>
                  <a:cubicBezTo>
                    <a:pt x="4800909" y="-25823"/>
                    <a:pt x="5089633" y="32895"/>
                    <a:pt x="5346998" y="0"/>
                  </a:cubicBezTo>
                  <a:cubicBezTo>
                    <a:pt x="5604363" y="-32895"/>
                    <a:pt x="5664950" y="-736"/>
                    <a:pt x="5803538" y="0"/>
                  </a:cubicBezTo>
                  <a:cubicBezTo>
                    <a:pt x="5942126" y="736"/>
                    <a:pt x="6417945" y="-4870"/>
                    <a:pt x="6586178" y="0"/>
                  </a:cubicBezTo>
                  <a:cubicBezTo>
                    <a:pt x="6623334" y="2548"/>
                    <a:pt x="6650699" y="32300"/>
                    <a:pt x="6650355" y="64177"/>
                  </a:cubicBezTo>
                  <a:cubicBezTo>
                    <a:pt x="6635697" y="247848"/>
                    <a:pt x="6629005" y="350341"/>
                    <a:pt x="6650355" y="505436"/>
                  </a:cubicBezTo>
                  <a:cubicBezTo>
                    <a:pt x="6671705" y="660531"/>
                    <a:pt x="6626894" y="888546"/>
                    <a:pt x="6650355" y="1019431"/>
                  </a:cubicBezTo>
                  <a:cubicBezTo>
                    <a:pt x="6673816" y="1150316"/>
                    <a:pt x="6659080" y="1303906"/>
                    <a:pt x="6650355" y="1518878"/>
                  </a:cubicBezTo>
                  <a:cubicBezTo>
                    <a:pt x="6648224" y="1552314"/>
                    <a:pt x="6618700" y="1578686"/>
                    <a:pt x="6586178" y="1583055"/>
                  </a:cubicBezTo>
                  <a:cubicBezTo>
                    <a:pt x="6233046" y="1581411"/>
                    <a:pt x="6090673" y="1601370"/>
                    <a:pt x="5868758" y="1583055"/>
                  </a:cubicBezTo>
                  <a:cubicBezTo>
                    <a:pt x="5646843" y="1564740"/>
                    <a:pt x="5622067" y="1597379"/>
                    <a:pt x="5412218" y="1583055"/>
                  </a:cubicBezTo>
                  <a:cubicBezTo>
                    <a:pt x="5202369" y="1568731"/>
                    <a:pt x="5066641" y="1604888"/>
                    <a:pt x="4890458" y="1583055"/>
                  </a:cubicBezTo>
                  <a:cubicBezTo>
                    <a:pt x="4714275" y="1561222"/>
                    <a:pt x="4418301" y="1616731"/>
                    <a:pt x="4107818" y="1583055"/>
                  </a:cubicBezTo>
                  <a:cubicBezTo>
                    <a:pt x="3797335" y="1549379"/>
                    <a:pt x="3778690" y="1575718"/>
                    <a:pt x="3455618" y="1583055"/>
                  </a:cubicBezTo>
                  <a:cubicBezTo>
                    <a:pt x="3132546" y="1590392"/>
                    <a:pt x="3093428" y="1581161"/>
                    <a:pt x="2933857" y="1583055"/>
                  </a:cubicBezTo>
                  <a:cubicBezTo>
                    <a:pt x="2774286" y="1584949"/>
                    <a:pt x="2565551" y="1607491"/>
                    <a:pt x="2281657" y="1583055"/>
                  </a:cubicBezTo>
                  <a:cubicBezTo>
                    <a:pt x="1997763" y="1558619"/>
                    <a:pt x="1924261" y="1602378"/>
                    <a:pt x="1825117" y="1583055"/>
                  </a:cubicBezTo>
                  <a:cubicBezTo>
                    <a:pt x="1725973" y="1563732"/>
                    <a:pt x="1532926" y="1605048"/>
                    <a:pt x="1368577" y="1583055"/>
                  </a:cubicBezTo>
                  <a:cubicBezTo>
                    <a:pt x="1204228" y="1561062"/>
                    <a:pt x="895567" y="1577477"/>
                    <a:pt x="716377" y="1583055"/>
                  </a:cubicBezTo>
                  <a:cubicBezTo>
                    <a:pt x="537187" y="1588633"/>
                    <a:pt x="287724" y="1608416"/>
                    <a:pt x="64177" y="1583055"/>
                  </a:cubicBezTo>
                  <a:cubicBezTo>
                    <a:pt x="28616" y="1580631"/>
                    <a:pt x="3343" y="1556428"/>
                    <a:pt x="0" y="1518878"/>
                  </a:cubicBezTo>
                  <a:cubicBezTo>
                    <a:pt x="16789" y="1328319"/>
                    <a:pt x="11578" y="1271644"/>
                    <a:pt x="0" y="1048525"/>
                  </a:cubicBezTo>
                  <a:cubicBezTo>
                    <a:pt x="-11578" y="825406"/>
                    <a:pt x="-11491" y="780847"/>
                    <a:pt x="0" y="607265"/>
                  </a:cubicBezTo>
                  <a:cubicBezTo>
                    <a:pt x="11491" y="433683"/>
                    <a:pt x="-9426" y="189570"/>
                    <a:pt x="0" y="64177"/>
                  </a:cubicBezTo>
                  <a:close/>
                </a:path>
              </a:pathLst>
            </a:custGeom>
            <a:solidFill>
              <a:srgbClr val="FBFFF8"/>
            </a:solidFill>
            <a:ln w="12383">
              <a:solidFill>
                <a:srgbClr val="55A83C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pic>
          <p:nvPicPr>
            <p:cNvPr id="79" name="图片 78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64" y="13376"/>
              <a:ext cx="680" cy="680"/>
            </a:xfrm>
            <a:prstGeom prst="rect">
              <a:avLst/>
            </a:prstGeom>
          </p:spPr>
        </p:pic>
      </p:grpSp>
      <p:cxnSp>
        <p:nvCxnSpPr>
          <p:cNvPr id="21" name="直接箭头连接符 20"/>
          <p:cNvCxnSpPr/>
          <p:nvPr/>
        </p:nvCxnSpPr>
        <p:spPr>
          <a:xfrm>
            <a:off x="1514475" y="1360805"/>
            <a:ext cx="52200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0" name="直接连接符 59"/>
          <p:cNvCxnSpPr/>
          <p:nvPr/>
        </p:nvCxnSpPr>
        <p:spPr>
          <a:xfrm>
            <a:off x="3499372" y="1181100"/>
            <a:ext cx="0" cy="752475"/>
          </a:xfrm>
          <a:prstGeom prst="line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r-top"/>
          <p:cNvSpPr>
            <a:spLocks noGrp="1"/>
          </p:cNvSpPr>
          <p:nvPr/>
        </p:nvSpPr>
        <p:spPr>
          <a:xfrm>
            <a:off x="4259580" y="1038225"/>
            <a:ext cx="142875" cy="466090"/>
          </a:xfrm>
          <a:prstGeom prst="rect">
            <a:avLst/>
          </a:prstGeom>
          <a:solidFill>
            <a:srgbClr val="2F73E8">
              <a:alpha val="53333"/>
            </a:srgbClr>
          </a:solidFill>
          <a:ln w="1333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5" name="tr-top"/>
          <p:cNvSpPr>
            <a:spLocks noGrp="1"/>
          </p:cNvSpPr>
          <p:nvPr/>
        </p:nvSpPr>
        <p:spPr>
          <a:xfrm>
            <a:off x="4610100" y="1038225"/>
            <a:ext cx="142875" cy="466090"/>
          </a:xfrm>
          <a:prstGeom prst="rect">
            <a:avLst/>
          </a:prstGeom>
          <a:solidFill>
            <a:srgbClr val="2F73E8">
              <a:alpha val="53333"/>
            </a:srgbClr>
          </a:solidFill>
          <a:ln w="1333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6" name="tr-top"/>
          <p:cNvSpPr>
            <a:spLocks noGrp="1"/>
          </p:cNvSpPr>
          <p:nvPr/>
        </p:nvSpPr>
        <p:spPr>
          <a:xfrm>
            <a:off x="5124450" y="1038225"/>
            <a:ext cx="142875" cy="466090"/>
          </a:xfrm>
          <a:prstGeom prst="rect">
            <a:avLst/>
          </a:prstGeom>
          <a:solidFill>
            <a:srgbClr val="2F73E8">
              <a:alpha val="53333"/>
            </a:srgbClr>
          </a:solidFill>
          <a:ln w="1333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74" name="TS-T panel"/>
          <p:cNvSpPr>
            <a:spLocks noGrp="1"/>
          </p:cNvSpPr>
          <p:nvPr/>
        </p:nvSpPr>
        <p:spPr>
          <a:xfrm>
            <a:off x="7186930" y="2931160"/>
            <a:ext cx="5209540" cy="2665730"/>
          </a:xfrm>
          <a:custGeom>
            <a:avLst/>
            <a:gdLst>
              <a:gd name="csX0" fmla="*/ 0 w 3427730"/>
              <a:gd name="csY0" fmla="*/ 176425 h 3601085"/>
              <a:gd name="csX1" fmla="*/ 176425 w 3427730"/>
              <a:gd name="csY1" fmla="*/ 0 h 3601085"/>
              <a:gd name="csX2" fmla="*/ 822150 w 3427730"/>
              <a:gd name="csY2" fmla="*/ 0 h 3601085"/>
              <a:gd name="csX3" fmla="*/ 1375628 w 3427730"/>
              <a:gd name="csY3" fmla="*/ 0 h 3601085"/>
              <a:gd name="csX4" fmla="*/ 2021353 w 3427730"/>
              <a:gd name="csY4" fmla="*/ 0 h 3601085"/>
              <a:gd name="csX5" fmla="*/ 2544083 w 3427730"/>
              <a:gd name="csY5" fmla="*/ 0 h 3601085"/>
              <a:gd name="csX6" fmla="*/ 3251305 w 3427730"/>
              <a:gd name="csY6" fmla="*/ 0 h 3601085"/>
              <a:gd name="csX7" fmla="*/ 3427730 w 3427730"/>
              <a:gd name="csY7" fmla="*/ 176425 h 3601085"/>
              <a:gd name="csX8" fmla="*/ 3427730 w 3427730"/>
              <a:gd name="csY8" fmla="*/ 826072 h 3601085"/>
              <a:gd name="csX9" fmla="*/ 3427730 w 3427730"/>
              <a:gd name="csY9" fmla="*/ 1508201 h 3601085"/>
              <a:gd name="csX10" fmla="*/ 3427730 w 3427730"/>
              <a:gd name="csY10" fmla="*/ 2092884 h 3601085"/>
              <a:gd name="csX11" fmla="*/ 3427730 w 3427730"/>
              <a:gd name="csY11" fmla="*/ 2645084 h 3601085"/>
              <a:gd name="csX12" fmla="*/ 3427730 w 3427730"/>
              <a:gd name="csY12" fmla="*/ 3424660 h 3601085"/>
              <a:gd name="csX13" fmla="*/ 3251305 w 3427730"/>
              <a:gd name="csY13" fmla="*/ 3601085 h 3601085"/>
              <a:gd name="csX14" fmla="*/ 2728575 w 3427730"/>
              <a:gd name="csY14" fmla="*/ 3601085 h 3601085"/>
              <a:gd name="csX15" fmla="*/ 2052102 w 3427730"/>
              <a:gd name="csY15" fmla="*/ 3601085 h 3601085"/>
              <a:gd name="csX16" fmla="*/ 1437126 w 3427730"/>
              <a:gd name="csY16" fmla="*/ 3601085 h 3601085"/>
              <a:gd name="csX17" fmla="*/ 760652 w 3427730"/>
              <a:gd name="csY17" fmla="*/ 3601085 h 3601085"/>
              <a:gd name="csX18" fmla="*/ 176425 w 3427730"/>
              <a:gd name="csY18" fmla="*/ 3601085 h 3601085"/>
              <a:gd name="csX19" fmla="*/ 0 w 3427730"/>
              <a:gd name="csY19" fmla="*/ 3424660 h 3601085"/>
              <a:gd name="csX20" fmla="*/ 0 w 3427730"/>
              <a:gd name="csY20" fmla="*/ 2807495 h 3601085"/>
              <a:gd name="csX21" fmla="*/ 0 w 3427730"/>
              <a:gd name="csY21" fmla="*/ 2157848 h 3601085"/>
              <a:gd name="csX22" fmla="*/ 0 w 3427730"/>
              <a:gd name="csY22" fmla="*/ 1605648 h 3601085"/>
              <a:gd name="csX23" fmla="*/ 0 w 3427730"/>
              <a:gd name="csY23" fmla="*/ 891037 h 3601085"/>
              <a:gd name="csX24" fmla="*/ 0 w 3427730"/>
              <a:gd name="csY24" fmla="*/ 176425 h 36010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</a:cxnLst>
            <a:rect l="l" t="t" r="r" b="b"/>
            <a:pathLst>
              <a:path w="3427730" h="3601085" fill="none" extrusionOk="0">
                <a:moveTo>
                  <a:pt x="0" y="176425"/>
                </a:moveTo>
                <a:cubicBezTo>
                  <a:pt x="-9705" y="98472"/>
                  <a:pt x="77217" y="-2350"/>
                  <a:pt x="176425" y="0"/>
                </a:cubicBezTo>
                <a:cubicBezTo>
                  <a:pt x="445777" y="-9315"/>
                  <a:pt x="504345" y="-12736"/>
                  <a:pt x="822150" y="0"/>
                </a:cubicBezTo>
                <a:cubicBezTo>
                  <a:pt x="1139956" y="12736"/>
                  <a:pt x="1108921" y="-16036"/>
                  <a:pt x="1375628" y="0"/>
                </a:cubicBezTo>
                <a:cubicBezTo>
                  <a:pt x="1642335" y="16036"/>
                  <a:pt x="1792498" y="5865"/>
                  <a:pt x="2021353" y="0"/>
                </a:cubicBezTo>
                <a:cubicBezTo>
                  <a:pt x="2250208" y="-5865"/>
                  <a:pt x="2417219" y="26082"/>
                  <a:pt x="2544083" y="0"/>
                </a:cubicBezTo>
                <a:cubicBezTo>
                  <a:pt x="2670947" y="-26082"/>
                  <a:pt x="2939126" y="-12905"/>
                  <a:pt x="3251305" y="0"/>
                </a:cubicBezTo>
                <a:cubicBezTo>
                  <a:pt x="3365678" y="15704"/>
                  <a:pt x="3437680" y="73039"/>
                  <a:pt x="3427730" y="176425"/>
                </a:cubicBezTo>
                <a:cubicBezTo>
                  <a:pt x="3408798" y="364082"/>
                  <a:pt x="3413810" y="573481"/>
                  <a:pt x="3427730" y="826072"/>
                </a:cubicBezTo>
                <a:cubicBezTo>
                  <a:pt x="3441650" y="1078663"/>
                  <a:pt x="3396432" y="1229695"/>
                  <a:pt x="3427730" y="1508201"/>
                </a:cubicBezTo>
                <a:cubicBezTo>
                  <a:pt x="3459028" y="1786707"/>
                  <a:pt x="3404635" y="1942727"/>
                  <a:pt x="3427730" y="2092884"/>
                </a:cubicBezTo>
                <a:cubicBezTo>
                  <a:pt x="3450825" y="2243041"/>
                  <a:pt x="3423134" y="2494381"/>
                  <a:pt x="3427730" y="2645084"/>
                </a:cubicBezTo>
                <a:cubicBezTo>
                  <a:pt x="3432326" y="2795787"/>
                  <a:pt x="3389972" y="3163406"/>
                  <a:pt x="3427730" y="3424660"/>
                </a:cubicBezTo>
                <a:cubicBezTo>
                  <a:pt x="3432314" y="3533302"/>
                  <a:pt x="3362473" y="3614669"/>
                  <a:pt x="3251305" y="3601085"/>
                </a:cubicBezTo>
                <a:cubicBezTo>
                  <a:pt x="3080043" y="3621787"/>
                  <a:pt x="2893152" y="3604818"/>
                  <a:pt x="2728575" y="3601085"/>
                </a:cubicBezTo>
                <a:cubicBezTo>
                  <a:pt x="2563998" y="3597353"/>
                  <a:pt x="2318932" y="3613902"/>
                  <a:pt x="2052102" y="3601085"/>
                </a:cubicBezTo>
                <a:cubicBezTo>
                  <a:pt x="1785272" y="3588268"/>
                  <a:pt x="1584736" y="3579754"/>
                  <a:pt x="1437126" y="3601085"/>
                </a:cubicBezTo>
                <a:cubicBezTo>
                  <a:pt x="1289516" y="3622416"/>
                  <a:pt x="971315" y="3601024"/>
                  <a:pt x="760652" y="3601085"/>
                </a:cubicBezTo>
                <a:cubicBezTo>
                  <a:pt x="549989" y="3601146"/>
                  <a:pt x="414558" y="3573473"/>
                  <a:pt x="176425" y="3601085"/>
                </a:cubicBezTo>
                <a:cubicBezTo>
                  <a:pt x="74355" y="3618052"/>
                  <a:pt x="12310" y="3501365"/>
                  <a:pt x="0" y="3424660"/>
                </a:cubicBezTo>
                <a:cubicBezTo>
                  <a:pt x="30396" y="3176411"/>
                  <a:pt x="-8807" y="3053757"/>
                  <a:pt x="0" y="2807495"/>
                </a:cubicBezTo>
                <a:cubicBezTo>
                  <a:pt x="8807" y="2561233"/>
                  <a:pt x="-29016" y="2382664"/>
                  <a:pt x="0" y="2157848"/>
                </a:cubicBezTo>
                <a:cubicBezTo>
                  <a:pt x="29016" y="1933032"/>
                  <a:pt x="-19109" y="1850922"/>
                  <a:pt x="0" y="1605648"/>
                </a:cubicBezTo>
                <a:cubicBezTo>
                  <a:pt x="19109" y="1360374"/>
                  <a:pt x="12041" y="1136891"/>
                  <a:pt x="0" y="891037"/>
                </a:cubicBezTo>
                <a:cubicBezTo>
                  <a:pt x="-12041" y="645183"/>
                  <a:pt x="-1765" y="346848"/>
                  <a:pt x="0" y="176425"/>
                </a:cubicBezTo>
                <a:close/>
              </a:path>
              <a:path w="3427730" h="3601085" stroke="0" extrusionOk="0">
                <a:moveTo>
                  <a:pt x="0" y="176425"/>
                </a:moveTo>
                <a:cubicBezTo>
                  <a:pt x="-4114" y="76450"/>
                  <a:pt x="68436" y="3961"/>
                  <a:pt x="176425" y="0"/>
                </a:cubicBezTo>
                <a:cubicBezTo>
                  <a:pt x="325325" y="25341"/>
                  <a:pt x="636030" y="-20573"/>
                  <a:pt x="852899" y="0"/>
                </a:cubicBezTo>
                <a:cubicBezTo>
                  <a:pt x="1069768" y="20573"/>
                  <a:pt x="1318236" y="-24698"/>
                  <a:pt x="1437126" y="0"/>
                </a:cubicBezTo>
                <a:cubicBezTo>
                  <a:pt x="1556016" y="24698"/>
                  <a:pt x="1776836" y="-6282"/>
                  <a:pt x="1990604" y="0"/>
                </a:cubicBezTo>
                <a:cubicBezTo>
                  <a:pt x="2204372" y="6282"/>
                  <a:pt x="2461380" y="17986"/>
                  <a:pt x="2636329" y="0"/>
                </a:cubicBezTo>
                <a:cubicBezTo>
                  <a:pt x="2811279" y="-17986"/>
                  <a:pt x="2951390" y="-26307"/>
                  <a:pt x="3251305" y="0"/>
                </a:cubicBezTo>
                <a:cubicBezTo>
                  <a:pt x="3354413" y="-9229"/>
                  <a:pt x="3423078" y="83076"/>
                  <a:pt x="3427730" y="176425"/>
                </a:cubicBezTo>
                <a:cubicBezTo>
                  <a:pt x="3449842" y="427176"/>
                  <a:pt x="3445937" y="582559"/>
                  <a:pt x="3427730" y="826072"/>
                </a:cubicBezTo>
                <a:cubicBezTo>
                  <a:pt x="3409523" y="1069585"/>
                  <a:pt x="3446013" y="1196335"/>
                  <a:pt x="3427730" y="1378272"/>
                </a:cubicBezTo>
                <a:cubicBezTo>
                  <a:pt x="3409447" y="1560209"/>
                  <a:pt x="3419495" y="1810190"/>
                  <a:pt x="3427730" y="2027919"/>
                </a:cubicBezTo>
                <a:cubicBezTo>
                  <a:pt x="3435965" y="2245648"/>
                  <a:pt x="3451679" y="2397067"/>
                  <a:pt x="3427730" y="2677566"/>
                </a:cubicBezTo>
                <a:cubicBezTo>
                  <a:pt x="3403781" y="2958065"/>
                  <a:pt x="3428004" y="3242853"/>
                  <a:pt x="3427730" y="3424660"/>
                </a:cubicBezTo>
                <a:cubicBezTo>
                  <a:pt x="3433895" y="3529648"/>
                  <a:pt x="3361898" y="3589566"/>
                  <a:pt x="3251305" y="3601085"/>
                </a:cubicBezTo>
                <a:cubicBezTo>
                  <a:pt x="3023708" y="3602837"/>
                  <a:pt x="2940796" y="3604160"/>
                  <a:pt x="2636329" y="3601085"/>
                </a:cubicBezTo>
                <a:cubicBezTo>
                  <a:pt x="2331862" y="3598010"/>
                  <a:pt x="2148679" y="3589024"/>
                  <a:pt x="2021353" y="3601085"/>
                </a:cubicBezTo>
                <a:cubicBezTo>
                  <a:pt x="1894027" y="3613146"/>
                  <a:pt x="1595526" y="3586220"/>
                  <a:pt x="1344879" y="3601085"/>
                </a:cubicBezTo>
                <a:cubicBezTo>
                  <a:pt x="1094232" y="3615950"/>
                  <a:pt x="1001191" y="3621659"/>
                  <a:pt x="729903" y="3601085"/>
                </a:cubicBezTo>
                <a:cubicBezTo>
                  <a:pt x="458615" y="3580511"/>
                  <a:pt x="362113" y="3604070"/>
                  <a:pt x="176425" y="3601085"/>
                </a:cubicBezTo>
                <a:cubicBezTo>
                  <a:pt x="71061" y="3601411"/>
                  <a:pt x="11408" y="3501532"/>
                  <a:pt x="0" y="3424660"/>
                </a:cubicBezTo>
                <a:cubicBezTo>
                  <a:pt x="-32790" y="3100514"/>
                  <a:pt x="14367" y="3045018"/>
                  <a:pt x="0" y="2742531"/>
                </a:cubicBezTo>
                <a:cubicBezTo>
                  <a:pt x="-14367" y="2440044"/>
                  <a:pt x="-14749" y="2413088"/>
                  <a:pt x="0" y="2157848"/>
                </a:cubicBezTo>
                <a:cubicBezTo>
                  <a:pt x="14749" y="1902608"/>
                  <a:pt x="-8660" y="1652177"/>
                  <a:pt x="0" y="1508201"/>
                </a:cubicBezTo>
                <a:cubicBezTo>
                  <a:pt x="8660" y="1364225"/>
                  <a:pt x="-16466" y="1163021"/>
                  <a:pt x="0" y="956001"/>
                </a:cubicBezTo>
                <a:cubicBezTo>
                  <a:pt x="16466" y="748981"/>
                  <a:pt x="-26206" y="342959"/>
                  <a:pt x="0" y="176425"/>
                </a:cubicBezTo>
                <a:close/>
              </a:path>
            </a:pathLst>
          </a:custGeom>
          <a:pattFill prst="pct10">
            <a:fgClr>
              <a:schemeClr val="accent5">
                <a:lumMod val="20000"/>
                <a:lumOff val="80000"/>
              </a:schemeClr>
            </a:fgClr>
            <a:bgClr>
              <a:schemeClr val="bg1"/>
            </a:bgClr>
          </a:pattFill>
          <a:ln w="25400">
            <a:solidFill>
              <a:srgbClr val="7A35CC"/>
            </a:solidFill>
            <a:prstDash val="dash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75" name="TS-T title"/>
          <p:cNvSpPr>
            <a:spLocks noGrp="1"/>
          </p:cNvSpPr>
          <p:nvPr/>
        </p:nvSpPr>
        <p:spPr>
          <a:xfrm>
            <a:off x="7588885" y="5193030"/>
            <a:ext cx="90614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b="1">
                <a:solidFill>
                  <a:srgbClr val="7A35CC"/>
                </a:solidFill>
              </a:defRPr>
            </a:pP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srgbClr val="7A35CC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rPr>
              <a:t>TS-T</a:t>
            </a:r>
            <a:endParaRPr kumimoji="0" sz="1800" b="1" i="0" u="none" strike="noStrike" kern="1200" cap="none" spc="0" normalizeH="0" baseline="0" noProof="0" dirty="0">
              <a:ln>
                <a:noFill/>
              </a:ln>
              <a:solidFill>
                <a:srgbClr val="7A35CC"/>
              </a:solidFill>
              <a:effectLst/>
              <a:uLnTx/>
              <a:uFillTx/>
              <a:latin typeface="Comic Sans MS" panose="030F0702030302020204" pitchFamily="66" charset="0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620" name="anchor"/>
          <p:cNvSpPr>
            <a:spLocks noGrp="1"/>
          </p:cNvSpPr>
          <p:nvPr/>
        </p:nvSpPr>
        <p:spPr>
          <a:xfrm>
            <a:off x="3790950" y="29241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34" name="anchor"/>
          <p:cNvSpPr>
            <a:spLocks noGrp="1"/>
          </p:cNvSpPr>
          <p:nvPr/>
        </p:nvSpPr>
        <p:spPr>
          <a:xfrm>
            <a:off x="3646805" y="314198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164" name="组合 163"/>
          <p:cNvGrpSpPr/>
          <p:nvPr/>
        </p:nvGrpSpPr>
        <p:grpSpPr>
          <a:xfrm>
            <a:off x="1237615" y="2895600"/>
            <a:ext cx="5768975" cy="2933700"/>
            <a:chOff x="2055" y="5355"/>
            <a:chExt cx="9085" cy="4620"/>
          </a:xfrm>
        </p:grpSpPr>
        <p:sp>
          <p:nvSpPr>
            <p:cNvPr id="231" name="MemKD panel"/>
            <p:cNvSpPr/>
            <p:nvPr/>
          </p:nvSpPr>
          <p:spPr>
            <a:xfrm>
              <a:off x="2384" y="5416"/>
              <a:ext cx="8756" cy="4193"/>
            </a:xfrm>
            <a:custGeom>
              <a:avLst/>
              <a:gdLst>
                <a:gd name="csX0" fmla="*/ 0 w 4647565"/>
                <a:gd name="csY0" fmla="*/ 142580 h 3625215"/>
                <a:gd name="csX1" fmla="*/ 142580 w 4647565"/>
                <a:gd name="csY1" fmla="*/ 0 h 3625215"/>
                <a:gd name="csX2" fmla="*/ 765781 w 4647565"/>
                <a:gd name="csY2" fmla="*/ 0 h 3625215"/>
                <a:gd name="csX3" fmla="*/ 1301733 w 4647565"/>
                <a:gd name="csY3" fmla="*/ 0 h 3625215"/>
                <a:gd name="csX4" fmla="*/ 1794062 w 4647565"/>
                <a:gd name="csY4" fmla="*/ 0 h 3625215"/>
                <a:gd name="csX5" fmla="*/ 2330015 w 4647565"/>
                <a:gd name="csY5" fmla="*/ 0 h 3625215"/>
                <a:gd name="csX6" fmla="*/ 2996839 w 4647565"/>
                <a:gd name="csY6" fmla="*/ 0 h 3625215"/>
                <a:gd name="csX7" fmla="*/ 3532792 w 4647565"/>
                <a:gd name="csY7" fmla="*/ 0 h 3625215"/>
                <a:gd name="csX8" fmla="*/ 4504985 w 4647565"/>
                <a:gd name="csY8" fmla="*/ 0 h 3625215"/>
                <a:gd name="csX9" fmla="*/ 4647565 w 4647565"/>
                <a:gd name="csY9" fmla="*/ 142580 h 3625215"/>
                <a:gd name="csX10" fmla="*/ 4647565 w 4647565"/>
                <a:gd name="csY10" fmla="*/ 843992 h 3625215"/>
                <a:gd name="csX11" fmla="*/ 4647565 w 4647565"/>
                <a:gd name="csY11" fmla="*/ 1445201 h 3625215"/>
                <a:gd name="csX12" fmla="*/ 4647565 w 4647565"/>
                <a:gd name="csY12" fmla="*/ 2180014 h 3625215"/>
                <a:gd name="csX13" fmla="*/ 4647565 w 4647565"/>
                <a:gd name="csY13" fmla="*/ 2848025 h 3625215"/>
                <a:gd name="csX14" fmla="*/ 4647565 w 4647565"/>
                <a:gd name="csY14" fmla="*/ 3482635 h 3625215"/>
                <a:gd name="csX15" fmla="*/ 4504985 w 4647565"/>
                <a:gd name="csY15" fmla="*/ 3625215 h 3625215"/>
                <a:gd name="csX16" fmla="*/ 3794536 w 4647565"/>
                <a:gd name="csY16" fmla="*/ 3625215 h 3625215"/>
                <a:gd name="csX17" fmla="*/ 3258584 w 4647565"/>
                <a:gd name="csY17" fmla="*/ 3625215 h 3625215"/>
                <a:gd name="csX18" fmla="*/ 2635383 w 4647565"/>
                <a:gd name="csY18" fmla="*/ 3625215 h 3625215"/>
                <a:gd name="csX19" fmla="*/ 2143054 w 4647565"/>
                <a:gd name="csY19" fmla="*/ 3625215 h 3625215"/>
                <a:gd name="csX20" fmla="*/ 1432605 w 4647565"/>
                <a:gd name="csY20" fmla="*/ 3625215 h 3625215"/>
                <a:gd name="csX21" fmla="*/ 809405 w 4647565"/>
                <a:gd name="csY21" fmla="*/ 3625215 h 3625215"/>
                <a:gd name="csX22" fmla="*/ 142580 w 4647565"/>
                <a:gd name="csY22" fmla="*/ 3625215 h 3625215"/>
                <a:gd name="csX23" fmla="*/ 0 w 4647565"/>
                <a:gd name="csY23" fmla="*/ 3482635 h 3625215"/>
                <a:gd name="csX24" fmla="*/ 0 w 4647565"/>
                <a:gd name="csY24" fmla="*/ 2781223 h 3625215"/>
                <a:gd name="csX25" fmla="*/ 0 w 4647565"/>
                <a:gd name="csY25" fmla="*/ 2079812 h 3625215"/>
                <a:gd name="csX26" fmla="*/ 0 w 4647565"/>
                <a:gd name="csY26" fmla="*/ 1345000 h 3625215"/>
                <a:gd name="csX27" fmla="*/ 0 w 4647565"/>
                <a:gd name="csY27" fmla="*/ 142580 h 36252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</a:cxnLst>
              <a:rect l="l" t="t" r="r" b="b"/>
              <a:pathLst>
                <a:path w="4647565" h="3625215" fill="none" extrusionOk="0">
                  <a:moveTo>
                    <a:pt x="0" y="142580"/>
                  </a:moveTo>
                  <a:cubicBezTo>
                    <a:pt x="-5257" y="80223"/>
                    <a:pt x="61287" y="-8024"/>
                    <a:pt x="142580" y="0"/>
                  </a:cubicBezTo>
                  <a:cubicBezTo>
                    <a:pt x="317576" y="-24160"/>
                    <a:pt x="455241" y="9832"/>
                    <a:pt x="765781" y="0"/>
                  </a:cubicBezTo>
                  <a:cubicBezTo>
                    <a:pt x="1076321" y="-9832"/>
                    <a:pt x="1056203" y="23477"/>
                    <a:pt x="1301733" y="0"/>
                  </a:cubicBezTo>
                  <a:cubicBezTo>
                    <a:pt x="1547263" y="-23477"/>
                    <a:pt x="1681055" y="11749"/>
                    <a:pt x="1794062" y="0"/>
                  </a:cubicBezTo>
                  <a:cubicBezTo>
                    <a:pt x="1907069" y="-11749"/>
                    <a:pt x="2192405" y="-3709"/>
                    <a:pt x="2330015" y="0"/>
                  </a:cubicBezTo>
                  <a:cubicBezTo>
                    <a:pt x="2467625" y="3709"/>
                    <a:pt x="2744632" y="-10756"/>
                    <a:pt x="2996839" y="0"/>
                  </a:cubicBezTo>
                  <a:cubicBezTo>
                    <a:pt x="3249046" y="10756"/>
                    <a:pt x="3299716" y="21484"/>
                    <a:pt x="3532792" y="0"/>
                  </a:cubicBezTo>
                  <a:cubicBezTo>
                    <a:pt x="3765868" y="-21484"/>
                    <a:pt x="4122929" y="-48271"/>
                    <a:pt x="4504985" y="0"/>
                  </a:cubicBezTo>
                  <a:cubicBezTo>
                    <a:pt x="4592244" y="1688"/>
                    <a:pt x="4638160" y="69908"/>
                    <a:pt x="4647565" y="142580"/>
                  </a:cubicBezTo>
                  <a:cubicBezTo>
                    <a:pt x="4622689" y="437056"/>
                    <a:pt x="4635386" y="633268"/>
                    <a:pt x="4647565" y="843992"/>
                  </a:cubicBezTo>
                  <a:cubicBezTo>
                    <a:pt x="4659744" y="1054716"/>
                    <a:pt x="4662974" y="1297996"/>
                    <a:pt x="4647565" y="1445201"/>
                  </a:cubicBezTo>
                  <a:cubicBezTo>
                    <a:pt x="4632156" y="1592406"/>
                    <a:pt x="4658873" y="1905697"/>
                    <a:pt x="4647565" y="2180014"/>
                  </a:cubicBezTo>
                  <a:cubicBezTo>
                    <a:pt x="4636257" y="2454331"/>
                    <a:pt x="4616297" y="2693922"/>
                    <a:pt x="4647565" y="2848025"/>
                  </a:cubicBezTo>
                  <a:cubicBezTo>
                    <a:pt x="4678833" y="3002128"/>
                    <a:pt x="4617446" y="3205598"/>
                    <a:pt x="4647565" y="3482635"/>
                  </a:cubicBezTo>
                  <a:cubicBezTo>
                    <a:pt x="4645675" y="3559217"/>
                    <a:pt x="4586370" y="3622359"/>
                    <a:pt x="4504985" y="3625215"/>
                  </a:cubicBezTo>
                  <a:cubicBezTo>
                    <a:pt x="4262132" y="3637215"/>
                    <a:pt x="4012087" y="3639438"/>
                    <a:pt x="3794536" y="3625215"/>
                  </a:cubicBezTo>
                  <a:cubicBezTo>
                    <a:pt x="3576985" y="3610992"/>
                    <a:pt x="3487447" y="3647010"/>
                    <a:pt x="3258584" y="3625215"/>
                  </a:cubicBezTo>
                  <a:cubicBezTo>
                    <a:pt x="3029721" y="3603420"/>
                    <a:pt x="2851247" y="3650274"/>
                    <a:pt x="2635383" y="3625215"/>
                  </a:cubicBezTo>
                  <a:cubicBezTo>
                    <a:pt x="2419519" y="3600156"/>
                    <a:pt x="2357106" y="3609583"/>
                    <a:pt x="2143054" y="3625215"/>
                  </a:cubicBezTo>
                  <a:cubicBezTo>
                    <a:pt x="1929002" y="3640847"/>
                    <a:pt x="1663387" y="3590237"/>
                    <a:pt x="1432605" y="3625215"/>
                  </a:cubicBezTo>
                  <a:cubicBezTo>
                    <a:pt x="1201823" y="3660193"/>
                    <a:pt x="998673" y="3655125"/>
                    <a:pt x="809405" y="3625215"/>
                  </a:cubicBezTo>
                  <a:cubicBezTo>
                    <a:pt x="620137" y="3595305"/>
                    <a:pt x="452101" y="3593742"/>
                    <a:pt x="142580" y="3625215"/>
                  </a:cubicBezTo>
                  <a:cubicBezTo>
                    <a:pt x="65223" y="3628177"/>
                    <a:pt x="-4351" y="3579176"/>
                    <a:pt x="0" y="3482635"/>
                  </a:cubicBezTo>
                  <a:cubicBezTo>
                    <a:pt x="-16064" y="3241780"/>
                    <a:pt x="-2964" y="3099007"/>
                    <a:pt x="0" y="2781223"/>
                  </a:cubicBezTo>
                  <a:cubicBezTo>
                    <a:pt x="2964" y="2463439"/>
                    <a:pt x="20522" y="2302843"/>
                    <a:pt x="0" y="2079812"/>
                  </a:cubicBezTo>
                  <a:cubicBezTo>
                    <a:pt x="-20522" y="1856781"/>
                    <a:pt x="-26404" y="1508486"/>
                    <a:pt x="0" y="1345000"/>
                  </a:cubicBezTo>
                  <a:cubicBezTo>
                    <a:pt x="26404" y="1181514"/>
                    <a:pt x="8754" y="393849"/>
                    <a:pt x="0" y="142580"/>
                  </a:cubicBezTo>
                  <a:close/>
                </a:path>
                <a:path w="4647565" h="3625215" stroke="0" extrusionOk="0">
                  <a:moveTo>
                    <a:pt x="0" y="142580"/>
                  </a:moveTo>
                  <a:cubicBezTo>
                    <a:pt x="-13113" y="55747"/>
                    <a:pt x="55745" y="3036"/>
                    <a:pt x="142580" y="0"/>
                  </a:cubicBezTo>
                  <a:cubicBezTo>
                    <a:pt x="408546" y="-28904"/>
                    <a:pt x="670720" y="27566"/>
                    <a:pt x="853029" y="0"/>
                  </a:cubicBezTo>
                  <a:cubicBezTo>
                    <a:pt x="1035338" y="-27566"/>
                    <a:pt x="1217293" y="-16743"/>
                    <a:pt x="1432605" y="0"/>
                  </a:cubicBezTo>
                  <a:cubicBezTo>
                    <a:pt x="1647917" y="16743"/>
                    <a:pt x="1778459" y="-16940"/>
                    <a:pt x="1968558" y="0"/>
                  </a:cubicBezTo>
                  <a:cubicBezTo>
                    <a:pt x="2158657" y="16940"/>
                    <a:pt x="2476484" y="-6587"/>
                    <a:pt x="2635383" y="0"/>
                  </a:cubicBezTo>
                  <a:cubicBezTo>
                    <a:pt x="2794282" y="6587"/>
                    <a:pt x="2962141" y="30"/>
                    <a:pt x="3214960" y="0"/>
                  </a:cubicBezTo>
                  <a:cubicBezTo>
                    <a:pt x="3467779" y="-30"/>
                    <a:pt x="3584344" y="28552"/>
                    <a:pt x="3925408" y="0"/>
                  </a:cubicBezTo>
                  <a:cubicBezTo>
                    <a:pt x="4266472" y="-28552"/>
                    <a:pt x="4284370" y="-17307"/>
                    <a:pt x="4504985" y="0"/>
                  </a:cubicBezTo>
                  <a:cubicBezTo>
                    <a:pt x="4573550" y="16841"/>
                    <a:pt x="4645664" y="61630"/>
                    <a:pt x="4647565" y="142580"/>
                  </a:cubicBezTo>
                  <a:cubicBezTo>
                    <a:pt x="4618822" y="307277"/>
                    <a:pt x="4655287" y="453566"/>
                    <a:pt x="4647565" y="743790"/>
                  </a:cubicBezTo>
                  <a:cubicBezTo>
                    <a:pt x="4639844" y="1034014"/>
                    <a:pt x="4636366" y="1221858"/>
                    <a:pt x="4647565" y="1411801"/>
                  </a:cubicBezTo>
                  <a:cubicBezTo>
                    <a:pt x="4658764" y="1601744"/>
                    <a:pt x="4623292" y="1892812"/>
                    <a:pt x="4647565" y="2046411"/>
                  </a:cubicBezTo>
                  <a:cubicBezTo>
                    <a:pt x="4671839" y="2200010"/>
                    <a:pt x="4628319" y="2490449"/>
                    <a:pt x="4647565" y="2781223"/>
                  </a:cubicBezTo>
                  <a:cubicBezTo>
                    <a:pt x="4666811" y="3071997"/>
                    <a:pt x="4615533" y="3205424"/>
                    <a:pt x="4647565" y="3482635"/>
                  </a:cubicBezTo>
                  <a:cubicBezTo>
                    <a:pt x="4639210" y="3562752"/>
                    <a:pt x="4577625" y="3621003"/>
                    <a:pt x="4504985" y="3625215"/>
                  </a:cubicBezTo>
                  <a:cubicBezTo>
                    <a:pt x="4261112" y="3649805"/>
                    <a:pt x="4090112" y="3627809"/>
                    <a:pt x="3838160" y="3625215"/>
                  </a:cubicBezTo>
                  <a:cubicBezTo>
                    <a:pt x="3586208" y="3622621"/>
                    <a:pt x="3359208" y="3600245"/>
                    <a:pt x="3214960" y="3625215"/>
                  </a:cubicBezTo>
                  <a:cubicBezTo>
                    <a:pt x="3070712" y="3650185"/>
                    <a:pt x="2894418" y="3631674"/>
                    <a:pt x="2722631" y="3625215"/>
                  </a:cubicBezTo>
                  <a:cubicBezTo>
                    <a:pt x="2550844" y="3618756"/>
                    <a:pt x="2413683" y="3621630"/>
                    <a:pt x="2186678" y="3625215"/>
                  </a:cubicBezTo>
                  <a:cubicBezTo>
                    <a:pt x="1959673" y="3628800"/>
                    <a:pt x="1829772" y="3659232"/>
                    <a:pt x="1476230" y="3625215"/>
                  </a:cubicBezTo>
                  <a:cubicBezTo>
                    <a:pt x="1122688" y="3591198"/>
                    <a:pt x="1156995" y="3631413"/>
                    <a:pt x="853029" y="3625215"/>
                  </a:cubicBezTo>
                  <a:cubicBezTo>
                    <a:pt x="549063" y="3619017"/>
                    <a:pt x="453221" y="3590757"/>
                    <a:pt x="142580" y="3625215"/>
                  </a:cubicBezTo>
                  <a:cubicBezTo>
                    <a:pt x="63448" y="3614790"/>
                    <a:pt x="15644" y="3564642"/>
                    <a:pt x="0" y="3482635"/>
                  </a:cubicBezTo>
                  <a:cubicBezTo>
                    <a:pt x="-27644" y="3280499"/>
                    <a:pt x="20976" y="3105757"/>
                    <a:pt x="0" y="2814624"/>
                  </a:cubicBezTo>
                  <a:cubicBezTo>
                    <a:pt x="-20976" y="2523491"/>
                    <a:pt x="-24689" y="2292220"/>
                    <a:pt x="0" y="2146613"/>
                  </a:cubicBezTo>
                  <a:cubicBezTo>
                    <a:pt x="24689" y="2001006"/>
                    <a:pt x="5991" y="1790952"/>
                    <a:pt x="0" y="1545403"/>
                  </a:cubicBezTo>
                  <a:cubicBezTo>
                    <a:pt x="-5991" y="1299854"/>
                    <a:pt x="-35067" y="1150075"/>
                    <a:pt x="0" y="843992"/>
                  </a:cubicBezTo>
                  <a:cubicBezTo>
                    <a:pt x="35067" y="537909"/>
                    <a:pt x="7690" y="426275"/>
                    <a:pt x="0" y="142580"/>
                  </a:cubicBezTo>
                  <a:close/>
                </a:path>
              </a:pathLst>
            </a:custGeom>
            <a:solidFill>
              <a:srgbClr val="FFFDF9"/>
            </a:solidFill>
            <a:ln w="13335">
              <a:solidFill>
                <a:srgbClr val="FF6A00"/>
              </a:solidFill>
              <a:prstDash val="dash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232" name="MemKD title"/>
            <p:cNvSpPr>
              <a:spLocks noGrp="1"/>
            </p:cNvSpPr>
            <p:nvPr/>
          </p:nvSpPr>
          <p:spPr>
            <a:xfrm>
              <a:off x="6000" y="9016"/>
              <a:ext cx="1650" cy="4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1">
                  <a:solidFill>
                    <a:srgbClr val="FF6A00"/>
                  </a:solidFill>
                </a:defRPr>
              </a:pPr>
              <a:r>
                <a:rPr kumimoji="0" sz="18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FF6A00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rPr>
                <a:t>MemKD</a:t>
              </a:r>
              <a:endParaRPr kumimoji="0" sz="1800" b="1" i="0" u="none" strike="noStrike" kern="1200" cap="none" spc="0" normalizeH="0" baseline="0" noProof="0" dirty="0">
                <a:ln>
                  <a:noFill/>
                </a:ln>
                <a:solidFill>
                  <a:srgbClr val="FF6A00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8" name="文本框 117"/>
                <p:cNvSpPr txBox="1"/>
                <p:nvPr/>
              </p:nvSpPr>
              <p:spPr>
                <a:xfrm>
                  <a:off x="7647" y="7183"/>
                  <a:ext cx="668" cy="662"/>
                </a:xfrm>
                <a:prstGeom prst="rect">
                  <a:avLst/>
                </a:prstGeom>
                <a:noFill/>
              </p:spPr>
              <p:txBody>
                <a:bodyPr wrap="square">
                  <a:noAutofit/>
                </a:bodyPr>
                <a:lstStyle/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zh-CN" sz="1800" b="1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儷宋 Pro" panose="02020300000000000000" charset="-120"/>
                                <a:cs typeface="DejaVu Math TeX Gyre" panose="02000503000000000000" charset="0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kumimoji="0" lang="en-US" altLang="zh-CN" sz="1800" b="1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DejaVu Math TeX Gyre" panose="02000503000000000000" charset="0"/>
                                <a:ea typeface="儷宋 Pro" panose="02020300000000000000" charset="-120"/>
                                <a:cs typeface="DejaVu Math TeX Gyre" panose="02000503000000000000" charset="0"/>
                                <a:sym typeface="+mn-ea"/>
                              </a:rPr>
                              <m:t>𝑳</m:t>
                            </m:r>
                          </m:e>
                          <m:sub>
                            <m:r>
                              <a:rPr kumimoji="0" lang="en-US" altLang="zh-CN" sz="1800" b="1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DejaVu Math TeX Gyre" panose="02000503000000000000" charset="0"/>
                                <a:ea typeface="儷宋 Pro" panose="02020300000000000000" charset="-120"/>
                                <a:cs typeface="DejaVu Math TeX Gyre" panose="02000503000000000000" charset="0"/>
                                <a:sym typeface="+mn-ea"/>
                              </a:rPr>
                              <m:t>𝒔</m:t>
                            </m:r>
                          </m:sub>
                        </m:sSub>
                      </m:oMath>
                    </m:oMathPara>
                  </a14:m>
                  <a:endPara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cs typeface="Calibri" panose="020F0502020204030204"/>
                  </a:endParaRPr>
                </a:p>
              </p:txBody>
            </p:sp>
          </mc:Choice>
          <mc:Fallback>
            <p:sp>
              <p:nvSpPr>
                <p:cNvPr id="118" name="文本框 1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7" y="7183"/>
                  <a:ext cx="668" cy="662"/>
                </a:xfrm>
                <a:prstGeom prst="rect">
                  <a:avLst/>
                </a:prstGeom>
                <a:blipFill rotWithShape="1">
                  <a:blip r:embed="rId8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2" name="矩形: 圆角 121"/>
                <p:cNvSpPr/>
                <p:nvPr/>
              </p:nvSpPr>
              <p:spPr>
                <a:xfrm>
                  <a:off x="4642" y="5887"/>
                  <a:ext cx="2907" cy="807"/>
                </a:xfrm>
                <a:prstGeom prst="roundRect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lvl="0" algn="ctr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1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1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ℒ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1600" b="1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M</m:t>
                            </m:r>
                          </m:sub>
                        </m:sSub>
                        <m:r>
                          <a:rPr lang="en-US" altLang="zh-CN" sz="1600" b="1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1600" b="1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1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altLang="zh-CN" sz="1600" b="1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US" altLang="zh-CN" sz="1600" b="1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sSub>
                          <m:sSubPr>
                            <m:ctrlPr>
                              <a:rPr lang="en-US" altLang="zh-CN" sz="1600" b="1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1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ℒ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1600" b="1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s</m:t>
                            </m:r>
                          </m:sub>
                        </m:sSub>
                        <m:r>
                          <a:rPr lang="en-US" altLang="zh-CN" sz="1600" b="1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1600" b="1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1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altLang="zh-CN" sz="1600" b="1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  <m:r>
                          <a:rPr lang="en-US" altLang="zh-CN" sz="1600" b="1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sSub>
                          <m:sSubPr>
                            <m:ctrlPr>
                              <a:rPr lang="en-US" altLang="zh-CN" sz="1600" b="1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1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ℒ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1600" b="1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l</m:t>
                            </m:r>
                          </m:sub>
                        </m:sSub>
                      </m:oMath>
                    </m:oMathPara>
                  </a14:m>
                  <a:endPara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omic Sans MS" panose="030F0702030302020204" pitchFamily="66" charset="0"/>
                    <a:cs typeface="Calibri" panose="020F0502020204030204"/>
                  </a:endParaRPr>
                </a:p>
              </p:txBody>
            </p:sp>
          </mc:Choice>
          <mc:Fallback>
            <p:sp>
              <p:nvSpPr>
                <p:cNvPr id="122" name="矩形: 圆角 1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42" y="5887"/>
                  <a:ext cx="2907" cy="807"/>
                </a:xfrm>
                <a:prstGeom prst="roundRect">
                  <a:avLst/>
                </a:prstGeom>
                <a:blipFill rotWithShape="1">
                  <a:blip r:embed="rId9"/>
                </a:blipFill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5" name="直接箭头连接符 134"/>
            <p:cNvCxnSpPr/>
            <p:nvPr/>
          </p:nvCxnSpPr>
          <p:spPr>
            <a:xfrm rot="16200000">
              <a:off x="4743" y="7303"/>
              <a:ext cx="0" cy="283"/>
            </a:xfrm>
            <a:prstGeom prst="straightConnector1">
              <a:avLst/>
            </a:prstGeom>
            <a:ln w="10541">
              <a:solidFill>
                <a:srgbClr val="FF6A00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9" name="文本框 138"/>
            <p:cNvSpPr txBox="1"/>
            <p:nvPr/>
          </p:nvSpPr>
          <p:spPr>
            <a:xfrm>
              <a:off x="8160" y="5355"/>
              <a:ext cx="1183" cy="434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lstStyle/>
            <a:p>
              <a:pPr algn="l"/>
              <a:r>
                <a:rPr lang="en-US" altLang="zh-CN" sz="1200" b="1">
                  <a:solidFill>
                    <a:srgbClr val="FF6A00"/>
                  </a:solidFill>
                  <a:latin typeface="Comic Sans MS" panose="030F0702030302020204" pitchFamily="66" charset="0"/>
                  <a:ea typeface="微软雅黑" panose="020B0503020204020204" charset="-122"/>
                  <a:cs typeface="Comic Sans MS" panose="030F0702030302020204" pitchFamily="66" charset="0"/>
                </a:rPr>
                <a:t>z steps</a:t>
              </a:r>
              <a:endParaRPr lang="en-US" altLang="zh-CN" sz="1200" b="1">
                <a:solidFill>
                  <a:srgbClr val="FF6A00"/>
                </a:solidFill>
                <a:latin typeface="Comic Sans MS" panose="030F0702030302020204" pitchFamily="66" charset="0"/>
                <a:ea typeface="微软雅黑" panose="020B0503020204020204" charset="-122"/>
                <a:cs typeface="Comic Sans MS" panose="030F0702030302020204" pitchFamily="66" charset="0"/>
              </a:endParaRPr>
            </a:p>
          </p:txBody>
        </p:sp>
        <p:grpSp>
          <p:nvGrpSpPr>
            <p:cNvPr id="67" name="组合 66"/>
            <p:cNvGrpSpPr/>
            <p:nvPr/>
          </p:nvGrpSpPr>
          <p:grpSpPr>
            <a:xfrm>
              <a:off x="2613" y="8929"/>
              <a:ext cx="3054" cy="1016"/>
              <a:chOff x="1323" y="8882"/>
              <a:chExt cx="3054" cy="1016"/>
            </a:xfrm>
          </p:grpSpPr>
          <p:pic>
            <p:nvPicPr>
              <p:cNvPr id="3" name="图片 2" descr="骰子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323" y="8933"/>
                <a:ext cx="340" cy="340"/>
              </a:xfrm>
              <a:prstGeom prst="rect">
                <a:avLst/>
              </a:prstGeom>
            </p:spPr>
          </p:pic>
          <p:sp>
            <p:nvSpPr>
              <p:cNvPr id="41" name="文本框 40"/>
              <p:cNvSpPr txBox="1"/>
              <p:nvPr/>
            </p:nvSpPr>
            <p:spPr>
              <a:xfrm>
                <a:off x="1608" y="8882"/>
                <a:ext cx="2769" cy="1016"/>
              </a:xfrm>
              <a:prstGeom prst="rect">
                <a:avLst/>
              </a:prstGeom>
            </p:spPr>
            <p:txBody>
              <a:bodyPr wrap="square">
                <a:spAutoFit/>
                <a:extLst>
                  <a:ext uri="{4A0BC546-FE56-4ADE-93B0-CB8AF2F6F144}">
                    <wpsdc:textFrameExt xmlns:wpsdc="http://www.wps.cn/officeDocument/2022/drawingmlCustomData" type="text"/>
                  </a:ext>
                </a:extLst>
              </a:bodyPr>
              <a:lstStyle/>
              <a:p>
                <a:pPr algn="l"/>
                <a:r>
                  <a:rPr lang="en-US" altLang="zh-CN" sz="1200" b="1">
                    <a:solidFill>
                      <a:srgbClr val="FF6A00"/>
                    </a:solidFill>
                    <a:latin typeface="Comic Sans MS" panose="030F0702030302020204" pitchFamily="66" charset="0"/>
                    <a:ea typeface="微软雅黑" panose="020B0503020204020204" charset="-122"/>
                    <a:cs typeface="Comic Sans MS" panose="030F0702030302020204" pitchFamily="66" charset="0"/>
                  </a:rPr>
                  <a:t>sample z</a:t>
                </a:r>
                <a:endParaRPr lang="en-US" altLang="zh-CN" sz="1200" b="1">
                  <a:solidFill>
                    <a:srgbClr val="FF6A00"/>
                  </a:solidFill>
                  <a:latin typeface="Comic Sans MS" panose="030F0702030302020204" pitchFamily="66" charset="0"/>
                  <a:ea typeface="微软雅黑" panose="020B0503020204020204" charset="-122"/>
                  <a:cs typeface="Comic Sans MS" panose="030F0702030302020204" pitchFamily="66" charset="0"/>
                </a:endParaRPr>
              </a:p>
              <a:p>
                <a:pPr algn="l"/>
                <a:r>
                  <a:rPr sz="1200" b="1" i="1" noProof="0" dirty="0">
                    <a:ln>
                      <a:noFill/>
                    </a:ln>
                    <a:solidFill>
                      <a:srgbClr val="FF6A00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Calibri" panose="020F0502020204030204"/>
                    <a:cs typeface="Calibri" panose="020F0502020204030204"/>
                    <a:sym typeface="+mn-ea"/>
                  </a:rPr>
                  <a:t>z ~ U(2, floor(T/2))</a:t>
                </a:r>
                <a:endParaRPr lang="en-US" altLang="zh-CN" sz="1200" b="1" i="1" noProof="0" dirty="0">
                  <a:ln>
                    <a:noFill/>
                  </a:ln>
                  <a:solidFill>
                    <a:srgbClr val="FF6A00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  <a:sym typeface="+mn-ea"/>
                </a:endParaRPr>
              </a:p>
            </p:txBody>
          </p:sp>
        </p:grpSp>
        <p:sp>
          <p:nvSpPr>
            <p:cNvPr id="318" name="anchor"/>
            <p:cNvSpPr>
              <a:spLocks noGrp="1"/>
            </p:cNvSpPr>
            <p:nvPr/>
          </p:nvSpPr>
          <p:spPr>
            <a:xfrm>
              <a:off x="7511" y="6137"/>
              <a:ext cx="38" cy="38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26" name="anchor"/>
            <p:cNvSpPr>
              <a:spLocks noGrp="1"/>
            </p:cNvSpPr>
            <p:nvPr/>
          </p:nvSpPr>
          <p:spPr>
            <a:xfrm>
              <a:off x="7629" y="6876"/>
              <a:ext cx="38" cy="38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27" name="anchor"/>
            <p:cNvSpPr>
              <a:spLocks noGrp="1"/>
            </p:cNvSpPr>
            <p:nvPr/>
          </p:nvSpPr>
          <p:spPr>
            <a:xfrm>
              <a:off x="8236" y="6800"/>
              <a:ext cx="38" cy="38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cxnSp>
          <p:nvCxnSpPr>
            <p:cNvPr id="979" name="直接箭头连接符 978"/>
            <p:cNvCxnSpPr>
              <a:stCxn id="326" idx="6"/>
              <a:endCxn id="327" idx="2"/>
            </p:cNvCxnSpPr>
            <p:nvPr/>
          </p:nvCxnSpPr>
          <p:spPr>
            <a:xfrm flipV="1">
              <a:off x="7667" y="6819"/>
              <a:ext cx="569" cy="76"/>
            </a:xfrm>
            <a:prstGeom prst="straightConnector1">
              <a:avLst/>
            </a:prstGeom>
            <a:ln w="12700">
              <a:solidFill>
                <a:srgbClr val="2F73E8"/>
              </a:solidFill>
              <a:prstDash val="solid"/>
            </a:ln>
          </p:spPr>
        </p:cxnSp>
        <p:sp>
          <p:nvSpPr>
            <p:cNvPr id="332" name="anchor"/>
            <p:cNvSpPr>
              <a:spLocks noGrp="1"/>
            </p:cNvSpPr>
            <p:nvPr/>
          </p:nvSpPr>
          <p:spPr>
            <a:xfrm>
              <a:off x="8236" y="6800"/>
              <a:ext cx="38" cy="38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33" name="anchor"/>
            <p:cNvSpPr>
              <a:spLocks noGrp="1"/>
            </p:cNvSpPr>
            <p:nvPr/>
          </p:nvSpPr>
          <p:spPr>
            <a:xfrm>
              <a:off x="8842" y="6687"/>
              <a:ext cx="38" cy="38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cxnSp>
          <p:nvCxnSpPr>
            <p:cNvPr id="985" name="直接箭头连接符 984"/>
            <p:cNvCxnSpPr>
              <a:stCxn id="332" idx="6"/>
              <a:endCxn id="333" idx="2"/>
            </p:cNvCxnSpPr>
            <p:nvPr/>
          </p:nvCxnSpPr>
          <p:spPr>
            <a:xfrm flipV="1">
              <a:off x="8274" y="6706"/>
              <a:ext cx="569" cy="114"/>
            </a:xfrm>
            <a:prstGeom prst="straightConnector1">
              <a:avLst/>
            </a:prstGeom>
            <a:ln w="12700">
              <a:solidFill>
                <a:srgbClr val="2F73E8"/>
              </a:solidFill>
              <a:prstDash val="solid"/>
            </a:ln>
          </p:spPr>
        </p:cxnSp>
        <p:sp>
          <p:nvSpPr>
            <p:cNvPr id="338" name="anchor"/>
            <p:cNvSpPr>
              <a:spLocks noGrp="1"/>
            </p:cNvSpPr>
            <p:nvPr/>
          </p:nvSpPr>
          <p:spPr>
            <a:xfrm>
              <a:off x="8842" y="6687"/>
              <a:ext cx="38" cy="38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39" name="anchor"/>
            <p:cNvSpPr>
              <a:spLocks noGrp="1"/>
            </p:cNvSpPr>
            <p:nvPr/>
          </p:nvSpPr>
          <p:spPr>
            <a:xfrm>
              <a:off x="9449" y="6687"/>
              <a:ext cx="38" cy="38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cxnSp>
          <p:nvCxnSpPr>
            <p:cNvPr id="991" name="直接箭头连接符 990"/>
            <p:cNvCxnSpPr>
              <a:stCxn id="338" idx="6"/>
              <a:endCxn id="339" idx="2"/>
            </p:cNvCxnSpPr>
            <p:nvPr/>
          </p:nvCxnSpPr>
          <p:spPr>
            <a:xfrm>
              <a:off x="8880" y="6706"/>
              <a:ext cx="569" cy="0"/>
            </a:xfrm>
            <a:prstGeom prst="straightConnector1">
              <a:avLst/>
            </a:prstGeom>
            <a:ln w="12700">
              <a:solidFill>
                <a:srgbClr val="2F73E8"/>
              </a:solidFill>
              <a:prstDash val="solid"/>
            </a:ln>
          </p:spPr>
        </p:cxnSp>
        <p:sp>
          <p:nvSpPr>
            <p:cNvPr id="344" name="anchor"/>
            <p:cNvSpPr>
              <a:spLocks noGrp="1"/>
            </p:cNvSpPr>
            <p:nvPr/>
          </p:nvSpPr>
          <p:spPr>
            <a:xfrm>
              <a:off x="9449" y="6687"/>
              <a:ext cx="38" cy="38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45" name="anchor"/>
            <p:cNvSpPr>
              <a:spLocks noGrp="1"/>
            </p:cNvSpPr>
            <p:nvPr/>
          </p:nvSpPr>
          <p:spPr>
            <a:xfrm>
              <a:off x="10094" y="6573"/>
              <a:ext cx="38" cy="38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50" name="anchor"/>
            <p:cNvSpPr>
              <a:spLocks noGrp="1"/>
            </p:cNvSpPr>
            <p:nvPr/>
          </p:nvSpPr>
          <p:spPr>
            <a:xfrm>
              <a:off x="10094" y="6573"/>
              <a:ext cx="38" cy="38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51" name="anchor"/>
            <p:cNvSpPr>
              <a:spLocks noGrp="1"/>
            </p:cNvSpPr>
            <p:nvPr/>
          </p:nvSpPr>
          <p:spPr>
            <a:xfrm>
              <a:off x="10700" y="6687"/>
              <a:ext cx="38" cy="38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cxnSp>
          <p:nvCxnSpPr>
            <p:cNvPr id="1003" name="直接箭头连接符 1002"/>
            <p:cNvCxnSpPr>
              <a:stCxn id="350" idx="6"/>
              <a:endCxn id="351" idx="2"/>
            </p:cNvCxnSpPr>
            <p:nvPr/>
          </p:nvCxnSpPr>
          <p:spPr>
            <a:xfrm>
              <a:off x="10132" y="6592"/>
              <a:ext cx="569" cy="114"/>
            </a:xfrm>
            <a:prstGeom prst="straightConnector1">
              <a:avLst/>
            </a:prstGeom>
            <a:ln w="12700">
              <a:solidFill>
                <a:srgbClr val="2F73E8"/>
              </a:solidFill>
              <a:prstDash val="solid"/>
            </a:ln>
          </p:spPr>
        </p:cxnSp>
        <p:sp>
          <p:nvSpPr>
            <p:cNvPr id="356" name="teacher-point"/>
            <p:cNvSpPr>
              <a:spLocks noGrp="1"/>
            </p:cNvSpPr>
            <p:nvPr/>
          </p:nvSpPr>
          <p:spPr>
            <a:xfrm>
              <a:off x="7572" y="6819"/>
              <a:ext cx="152" cy="152"/>
            </a:xfrm>
            <a:prstGeom prst="ellipse">
              <a:avLst/>
            </a:prstGeom>
            <a:solidFill>
              <a:srgbClr val="9DBCF7"/>
            </a:solidFill>
            <a:ln w="9525">
              <a:solidFill>
                <a:srgbClr val="2F73E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58" name="anchor"/>
            <p:cNvSpPr>
              <a:spLocks noGrp="1"/>
            </p:cNvSpPr>
            <p:nvPr/>
          </p:nvSpPr>
          <p:spPr>
            <a:xfrm>
              <a:off x="7629" y="6952"/>
              <a:ext cx="38" cy="38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61" name="teacher-point"/>
            <p:cNvSpPr>
              <a:spLocks noGrp="1"/>
            </p:cNvSpPr>
            <p:nvPr/>
          </p:nvSpPr>
          <p:spPr>
            <a:xfrm>
              <a:off x="8179" y="6744"/>
              <a:ext cx="152" cy="152"/>
            </a:xfrm>
            <a:prstGeom prst="ellipse">
              <a:avLst/>
            </a:prstGeom>
            <a:solidFill>
              <a:srgbClr val="9DBCF7"/>
            </a:solidFill>
            <a:ln w="9525">
              <a:solidFill>
                <a:srgbClr val="2F73E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63" name="anchor"/>
            <p:cNvSpPr>
              <a:spLocks noGrp="1"/>
            </p:cNvSpPr>
            <p:nvPr/>
          </p:nvSpPr>
          <p:spPr>
            <a:xfrm>
              <a:off x="8236" y="6876"/>
              <a:ext cx="38" cy="38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66" name="teacher-point"/>
            <p:cNvSpPr>
              <a:spLocks noGrp="1"/>
            </p:cNvSpPr>
            <p:nvPr/>
          </p:nvSpPr>
          <p:spPr>
            <a:xfrm>
              <a:off x="8785" y="6630"/>
              <a:ext cx="152" cy="152"/>
            </a:xfrm>
            <a:prstGeom prst="ellipse">
              <a:avLst/>
            </a:prstGeom>
            <a:solidFill>
              <a:srgbClr val="9DBCF7"/>
            </a:solidFill>
            <a:ln w="9525">
              <a:solidFill>
                <a:srgbClr val="2F73E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68" name="anchor"/>
            <p:cNvSpPr>
              <a:spLocks noGrp="1"/>
            </p:cNvSpPr>
            <p:nvPr/>
          </p:nvSpPr>
          <p:spPr>
            <a:xfrm>
              <a:off x="8842" y="6762"/>
              <a:ext cx="38" cy="38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71" name="teacher-point"/>
            <p:cNvSpPr>
              <a:spLocks noGrp="1"/>
            </p:cNvSpPr>
            <p:nvPr/>
          </p:nvSpPr>
          <p:spPr>
            <a:xfrm>
              <a:off x="9392" y="6630"/>
              <a:ext cx="152" cy="152"/>
            </a:xfrm>
            <a:prstGeom prst="ellipse">
              <a:avLst/>
            </a:prstGeom>
            <a:solidFill>
              <a:srgbClr val="9DBCF7"/>
            </a:solidFill>
            <a:ln w="9525">
              <a:solidFill>
                <a:srgbClr val="2F73E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73" name="anchor"/>
            <p:cNvSpPr>
              <a:spLocks noGrp="1"/>
            </p:cNvSpPr>
            <p:nvPr/>
          </p:nvSpPr>
          <p:spPr>
            <a:xfrm>
              <a:off x="9449" y="6762"/>
              <a:ext cx="38" cy="38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76" name="teacher-point"/>
            <p:cNvSpPr>
              <a:spLocks noGrp="1"/>
            </p:cNvSpPr>
            <p:nvPr/>
          </p:nvSpPr>
          <p:spPr>
            <a:xfrm>
              <a:off x="10037" y="6516"/>
              <a:ext cx="152" cy="152"/>
            </a:xfrm>
            <a:prstGeom prst="ellipse">
              <a:avLst/>
            </a:prstGeom>
            <a:solidFill>
              <a:srgbClr val="9DBCF7"/>
            </a:solidFill>
            <a:ln w="9525">
              <a:solidFill>
                <a:srgbClr val="2F73E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78" name="anchor"/>
            <p:cNvSpPr>
              <a:spLocks noGrp="1"/>
            </p:cNvSpPr>
            <p:nvPr/>
          </p:nvSpPr>
          <p:spPr>
            <a:xfrm>
              <a:off x="10094" y="6649"/>
              <a:ext cx="38" cy="38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81" name="teacher-point"/>
            <p:cNvSpPr>
              <a:spLocks noGrp="1"/>
            </p:cNvSpPr>
            <p:nvPr/>
          </p:nvSpPr>
          <p:spPr>
            <a:xfrm>
              <a:off x="10644" y="6630"/>
              <a:ext cx="152" cy="152"/>
            </a:xfrm>
            <a:prstGeom prst="ellipse">
              <a:avLst/>
            </a:prstGeom>
            <a:solidFill>
              <a:srgbClr val="9DBCF7"/>
            </a:solidFill>
            <a:ln w="9525">
              <a:solidFill>
                <a:srgbClr val="2F73E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83" name="anchor"/>
            <p:cNvSpPr>
              <a:spLocks noGrp="1"/>
            </p:cNvSpPr>
            <p:nvPr/>
          </p:nvSpPr>
          <p:spPr>
            <a:xfrm>
              <a:off x="10700" y="6762"/>
              <a:ext cx="38" cy="38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625" name="anchor"/>
            <p:cNvSpPr>
              <a:spLocks noGrp="1"/>
            </p:cNvSpPr>
            <p:nvPr/>
          </p:nvSpPr>
          <p:spPr>
            <a:xfrm>
              <a:off x="10871" y="6933"/>
              <a:ext cx="38" cy="38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cxnSp>
          <p:nvCxnSpPr>
            <p:cNvPr id="125" name="直接箭头连接符 124"/>
            <p:cNvCxnSpPr>
              <a:stCxn id="371" idx="6"/>
              <a:endCxn id="376" idx="2"/>
            </p:cNvCxnSpPr>
            <p:nvPr/>
          </p:nvCxnSpPr>
          <p:spPr>
            <a:xfrm flipV="1">
              <a:off x="9544" y="6592"/>
              <a:ext cx="493" cy="114"/>
            </a:xfrm>
            <a:prstGeom prst="straightConnector1">
              <a:avLst/>
            </a:prstGeom>
            <a:ln w="12700">
              <a:solidFill>
                <a:srgbClr val="4985EB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9" name="曲线连接符 128"/>
            <p:cNvCxnSpPr/>
            <p:nvPr/>
          </p:nvCxnSpPr>
          <p:spPr>
            <a:xfrm rot="16200000">
              <a:off x="8729" y="5435"/>
              <a:ext cx="303" cy="2465"/>
            </a:xfrm>
            <a:prstGeom prst="curvedConnector3">
              <a:avLst>
                <a:gd name="adj1" fmla="val 256250"/>
              </a:avLst>
            </a:prstGeom>
            <a:ln w="12700">
              <a:solidFill>
                <a:srgbClr val="4985EB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0" name="文本框 129"/>
                <p:cNvSpPr txBox="1"/>
                <p:nvPr/>
              </p:nvSpPr>
              <p:spPr>
                <a:xfrm>
                  <a:off x="8274" y="5967"/>
                  <a:ext cx="1093" cy="682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>
                            <a:solidFill>
                              <a:srgbClr val="2F73E8"/>
                            </a:solidFill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∆</m:t>
                        </m:r>
                        <m:sSubSup>
                          <m:sSubSupPr>
                            <m:ctrlPr>
                              <a:rPr lang="en-US" altLang="zh-CN" b="1" i="1">
                                <a:solidFill>
                                  <a:srgbClr val="2F73E8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1" i="1">
                                <a:solidFill>
                                  <a:srgbClr val="2F73E8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en-US" altLang="zh-CN" b="1" i="1">
                                <a:solidFill>
                                  <a:srgbClr val="2F73E8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𝑻</m:t>
                            </m:r>
                          </m:sub>
                          <m:sup>
                            <m:r>
                              <a:rPr lang="en-US" altLang="zh-CN" b="1" i="1">
                                <a:solidFill>
                                  <a:srgbClr val="2F73E8"/>
                                </a:solidFill>
                                <a:latin typeface="Cambria Math" panose="02040503050406030204" pitchFamily="18" charset="0"/>
                                <a:ea typeface="MS Mincho" charset="0"/>
                                <a:cs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b="1" i="1">
                                <a:solidFill>
                                  <a:srgbClr val="2F73E8"/>
                                </a:solidFill>
                                <a:latin typeface="Cambria Math" panose="02040503050406030204" pitchFamily="18" charset="0"/>
                                <a:ea typeface="MS Mincho" charset="0"/>
                                <a:cs typeface="Cambria Math" panose="02040503050406030204" pitchFamily="18" charset="0"/>
                              </a:rPr>
                              <m:t>𝒛</m:t>
                            </m:r>
                            <m:r>
                              <a:rPr lang="en-US" altLang="zh-CN" b="1" i="1">
                                <a:solidFill>
                                  <a:srgbClr val="2F73E8"/>
                                </a:solidFill>
                                <a:latin typeface="Cambria Math" panose="02040503050406030204" pitchFamily="18" charset="0"/>
                                <a:ea typeface="MS Mincho" charset="0"/>
                                <a:cs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</m:oMath>
                    </m:oMathPara>
                  </a14:m>
                  <a:endParaRPr lang="en-US" altLang="zh-CN" b="1" i="1">
                    <a:solidFill>
                      <a:srgbClr val="2F73E8"/>
                    </a:solidFill>
                    <a:latin typeface="Comic Sans MS" panose="030F0702030302020204" pitchFamily="66" charset="0"/>
                    <a:cs typeface="Comic Sans MS" panose="030F0702030302020204" pitchFamily="66" charset="0"/>
                  </a:endParaRPr>
                </a:p>
              </p:txBody>
            </p:sp>
          </mc:Choice>
          <mc:Fallback>
            <p:sp>
              <p:nvSpPr>
                <p:cNvPr id="130" name="文本框 12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74" y="5967"/>
                  <a:ext cx="1093" cy="682"/>
                </a:xfrm>
                <a:prstGeom prst="rect">
                  <a:avLst/>
                </a:prstGeom>
                <a:blipFill rotWithShape="1">
                  <a:blip r:embed="rId11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8" name="右大括号 137"/>
            <p:cNvSpPr/>
            <p:nvPr/>
          </p:nvSpPr>
          <p:spPr>
            <a:xfrm rot="16200000">
              <a:off x="8754" y="4664"/>
              <a:ext cx="233" cy="2483"/>
            </a:xfrm>
            <a:prstGeom prst="rightBrace">
              <a:avLst/>
            </a:prstGeom>
            <a:ln>
              <a:solidFill>
                <a:srgbClr val="FF6A0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40" name="直接箭头连接符 139"/>
            <p:cNvCxnSpPr/>
            <p:nvPr/>
          </p:nvCxnSpPr>
          <p:spPr>
            <a:xfrm>
              <a:off x="8864" y="6842"/>
              <a:ext cx="0" cy="1020"/>
            </a:xfrm>
            <a:prstGeom prst="straightConnector1">
              <a:avLst/>
            </a:prstGeom>
            <a:ln w="10478">
              <a:solidFill>
                <a:srgbClr val="FF6A00"/>
              </a:solidFill>
              <a:prstDash val="dash"/>
              <a:headEnd type="triangle"/>
              <a:tailEnd type="triangle"/>
            </a:ln>
          </p:spPr>
        </p:cxnSp>
        <p:grpSp>
          <p:nvGrpSpPr>
            <p:cNvPr id="71" name="组合 70"/>
            <p:cNvGrpSpPr>
              <a:grpSpLocks noChangeAspect="1"/>
            </p:cNvGrpSpPr>
            <p:nvPr/>
          </p:nvGrpSpPr>
          <p:grpSpPr>
            <a:xfrm>
              <a:off x="2055" y="5472"/>
              <a:ext cx="3960" cy="4503"/>
              <a:chOff x="2055" y="5472"/>
              <a:chExt cx="3960" cy="4503"/>
            </a:xfrm>
          </p:grpSpPr>
          <p:sp>
            <p:nvSpPr>
              <p:cNvPr id="235" name="anchor"/>
              <p:cNvSpPr>
                <a:spLocks noGrp="1"/>
              </p:cNvSpPr>
              <p:nvPr/>
            </p:nvSpPr>
            <p:spPr>
              <a:xfrm>
                <a:off x="5985" y="9105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614" name="anchor"/>
              <p:cNvSpPr>
                <a:spLocks noGrp="1"/>
              </p:cNvSpPr>
              <p:nvPr/>
            </p:nvSpPr>
            <p:spPr>
              <a:xfrm>
                <a:off x="2055" y="7395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622" name="anchor"/>
              <p:cNvSpPr>
                <a:spLocks noGrp="1"/>
              </p:cNvSpPr>
              <p:nvPr/>
            </p:nvSpPr>
            <p:spPr>
              <a:xfrm>
                <a:off x="5970" y="9945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239" name="anchor"/>
              <p:cNvSpPr>
                <a:spLocks noGrp="1"/>
              </p:cNvSpPr>
              <p:nvPr/>
            </p:nvSpPr>
            <p:spPr>
              <a:xfrm>
                <a:off x="2274" y="6154"/>
                <a:ext cx="38" cy="38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40" name="anchor"/>
              <p:cNvSpPr>
                <a:spLocks noGrp="1"/>
              </p:cNvSpPr>
              <p:nvPr/>
            </p:nvSpPr>
            <p:spPr>
              <a:xfrm>
                <a:off x="2274" y="8524"/>
                <a:ext cx="38" cy="38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42" name="anchor"/>
              <p:cNvSpPr>
                <a:spLocks noGrp="1"/>
              </p:cNvSpPr>
              <p:nvPr/>
            </p:nvSpPr>
            <p:spPr>
              <a:xfrm>
                <a:off x="2274" y="8524"/>
                <a:ext cx="38" cy="38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43" name="anchor"/>
              <p:cNvSpPr>
                <a:spLocks noGrp="1"/>
              </p:cNvSpPr>
              <p:nvPr/>
            </p:nvSpPr>
            <p:spPr>
              <a:xfrm>
                <a:off x="5194" y="8524"/>
                <a:ext cx="38" cy="38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50" name="anchor"/>
              <p:cNvSpPr>
                <a:spLocks noGrp="1"/>
              </p:cNvSpPr>
              <p:nvPr/>
            </p:nvSpPr>
            <p:spPr>
              <a:xfrm>
                <a:off x="2653" y="8164"/>
                <a:ext cx="38" cy="38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51" name="anchor"/>
              <p:cNvSpPr>
                <a:spLocks noGrp="1"/>
              </p:cNvSpPr>
              <p:nvPr/>
            </p:nvSpPr>
            <p:spPr>
              <a:xfrm>
                <a:off x="3260" y="7671"/>
                <a:ext cx="38" cy="38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56" name="anchor"/>
              <p:cNvSpPr>
                <a:spLocks noGrp="1"/>
              </p:cNvSpPr>
              <p:nvPr/>
            </p:nvSpPr>
            <p:spPr>
              <a:xfrm>
                <a:off x="3260" y="7671"/>
                <a:ext cx="38" cy="38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57" name="anchor"/>
              <p:cNvSpPr>
                <a:spLocks noGrp="1"/>
              </p:cNvSpPr>
              <p:nvPr/>
            </p:nvSpPr>
            <p:spPr>
              <a:xfrm>
                <a:off x="3866" y="7633"/>
                <a:ext cx="38" cy="38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62" name="anchor"/>
              <p:cNvSpPr>
                <a:spLocks noGrp="1"/>
              </p:cNvSpPr>
              <p:nvPr/>
            </p:nvSpPr>
            <p:spPr>
              <a:xfrm>
                <a:off x="3866" y="7633"/>
                <a:ext cx="38" cy="38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63" name="anchor"/>
              <p:cNvSpPr>
                <a:spLocks noGrp="1"/>
              </p:cNvSpPr>
              <p:nvPr/>
            </p:nvSpPr>
            <p:spPr>
              <a:xfrm>
                <a:off x="4473" y="7937"/>
                <a:ext cx="38" cy="38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68" name="anchor"/>
              <p:cNvSpPr>
                <a:spLocks noGrp="1"/>
              </p:cNvSpPr>
              <p:nvPr/>
            </p:nvSpPr>
            <p:spPr>
              <a:xfrm>
                <a:off x="4473" y="7937"/>
                <a:ext cx="38" cy="38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69" name="anchor"/>
              <p:cNvSpPr>
                <a:spLocks noGrp="1"/>
              </p:cNvSpPr>
              <p:nvPr/>
            </p:nvSpPr>
            <p:spPr>
              <a:xfrm>
                <a:off x="5118" y="8012"/>
                <a:ext cx="38" cy="38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74" name="anchor"/>
              <p:cNvSpPr>
                <a:spLocks noGrp="1"/>
              </p:cNvSpPr>
              <p:nvPr/>
            </p:nvSpPr>
            <p:spPr>
              <a:xfrm>
                <a:off x="5118" y="8012"/>
                <a:ext cx="38" cy="38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75" name="anchor"/>
              <p:cNvSpPr>
                <a:spLocks noGrp="1"/>
              </p:cNvSpPr>
              <p:nvPr/>
            </p:nvSpPr>
            <p:spPr>
              <a:xfrm>
                <a:off x="5724" y="8031"/>
                <a:ext cx="38" cy="38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78" name="student-point"/>
              <p:cNvSpPr>
                <a:spLocks noGrp="1"/>
              </p:cNvSpPr>
              <p:nvPr/>
            </p:nvSpPr>
            <p:spPr>
              <a:xfrm>
                <a:off x="2596" y="8107"/>
                <a:ext cx="152" cy="152"/>
              </a:xfrm>
              <a:prstGeom prst="ellipse">
                <a:avLst/>
              </a:prstGeom>
              <a:solidFill>
                <a:srgbClr val="61C15D"/>
              </a:solidFill>
              <a:ln w="9525">
                <a:solidFill>
                  <a:srgbClr val="188326"/>
                </a:solidFill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80" name="anchor"/>
              <p:cNvSpPr>
                <a:spLocks noGrp="1"/>
              </p:cNvSpPr>
              <p:nvPr/>
            </p:nvSpPr>
            <p:spPr>
              <a:xfrm>
                <a:off x="2710" y="8088"/>
                <a:ext cx="38" cy="38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83" name="student-point"/>
              <p:cNvSpPr>
                <a:spLocks noGrp="1"/>
              </p:cNvSpPr>
              <p:nvPr/>
            </p:nvSpPr>
            <p:spPr>
              <a:xfrm>
                <a:off x="3203" y="7614"/>
                <a:ext cx="152" cy="152"/>
              </a:xfrm>
              <a:prstGeom prst="ellipse">
                <a:avLst/>
              </a:prstGeom>
              <a:solidFill>
                <a:srgbClr val="61C15D"/>
              </a:solidFill>
              <a:ln w="9525">
                <a:solidFill>
                  <a:srgbClr val="188326"/>
                </a:solidFill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85" name="anchor"/>
              <p:cNvSpPr>
                <a:spLocks noGrp="1"/>
              </p:cNvSpPr>
              <p:nvPr/>
            </p:nvSpPr>
            <p:spPr>
              <a:xfrm>
                <a:off x="3260" y="7595"/>
                <a:ext cx="38" cy="38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88" name="student-point"/>
              <p:cNvSpPr>
                <a:spLocks noGrp="1"/>
              </p:cNvSpPr>
              <p:nvPr/>
            </p:nvSpPr>
            <p:spPr>
              <a:xfrm>
                <a:off x="3810" y="7576"/>
                <a:ext cx="152" cy="152"/>
              </a:xfrm>
              <a:prstGeom prst="ellipse">
                <a:avLst/>
              </a:prstGeom>
              <a:solidFill>
                <a:srgbClr val="61C15D"/>
              </a:solidFill>
              <a:ln w="9525">
                <a:solidFill>
                  <a:srgbClr val="188326"/>
                </a:solidFill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90" name="anchor"/>
              <p:cNvSpPr>
                <a:spLocks noGrp="1"/>
              </p:cNvSpPr>
              <p:nvPr/>
            </p:nvSpPr>
            <p:spPr>
              <a:xfrm>
                <a:off x="3866" y="7557"/>
                <a:ext cx="38" cy="38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93" name="student-point"/>
              <p:cNvSpPr>
                <a:spLocks noGrp="1"/>
              </p:cNvSpPr>
              <p:nvPr/>
            </p:nvSpPr>
            <p:spPr>
              <a:xfrm>
                <a:off x="4416" y="7880"/>
                <a:ext cx="152" cy="152"/>
              </a:xfrm>
              <a:prstGeom prst="ellipse">
                <a:avLst/>
              </a:prstGeom>
              <a:solidFill>
                <a:srgbClr val="61C15D"/>
              </a:solidFill>
              <a:ln w="9525">
                <a:solidFill>
                  <a:srgbClr val="188326"/>
                </a:solidFill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95" name="anchor"/>
              <p:cNvSpPr>
                <a:spLocks noGrp="1"/>
              </p:cNvSpPr>
              <p:nvPr/>
            </p:nvSpPr>
            <p:spPr>
              <a:xfrm>
                <a:off x="4473" y="7861"/>
                <a:ext cx="38" cy="38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98" name="student-point"/>
              <p:cNvSpPr>
                <a:spLocks noGrp="1"/>
              </p:cNvSpPr>
              <p:nvPr/>
            </p:nvSpPr>
            <p:spPr>
              <a:xfrm>
                <a:off x="5061" y="7955"/>
                <a:ext cx="152" cy="152"/>
              </a:xfrm>
              <a:prstGeom prst="ellipse">
                <a:avLst/>
              </a:prstGeom>
              <a:solidFill>
                <a:srgbClr val="61C15D"/>
              </a:solidFill>
              <a:ln w="9525">
                <a:solidFill>
                  <a:srgbClr val="188326"/>
                </a:solidFill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300" name="anchor"/>
              <p:cNvSpPr>
                <a:spLocks noGrp="1"/>
              </p:cNvSpPr>
              <p:nvPr/>
            </p:nvSpPr>
            <p:spPr>
              <a:xfrm>
                <a:off x="5118" y="7937"/>
                <a:ext cx="38" cy="38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303" name="student-point"/>
              <p:cNvSpPr>
                <a:spLocks noGrp="1"/>
              </p:cNvSpPr>
              <p:nvPr/>
            </p:nvSpPr>
            <p:spPr>
              <a:xfrm>
                <a:off x="5667" y="7974"/>
                <a:ext cx="152" cy="152"/>
              </a:xfrm>
              <a:prstGeom prst="ellipse">
                <a:avLst/>
              </a:prstGeom>
              <a:solidFill>
                <a:srgbClr val="61C15D"/>
              </a:solidFill>
              <a:ln w="9525">
                <a:solidFill>
                  <a:srgbClr val="188326"/>
                </a:solidFill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305" name="anchor"/>
              <p:cNvSpPr>
                <a:spLocks noGrp="1"/>
              </p:cNvSpPr>
              <p:nvPr/>
            </p:nvSpPr>
            <p:spPr>
              <a:xfrm>
                <a:off x="5724" y="7955"/>
                <a:ext cx="38" cy="38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315" name="xlab"/>
              <p:cNvSpPr>
                <a:spLocks noGrp="1"/>
              </p:cNvSpPr>
              <p:nvPr/>
            </p:nvSpPr>
            <p:spPr>
              <a:xfrm>
                <a:off x="5526" y="8883"/>
                <a:ext cx="474" cy="284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900" b="1">
                    <a:solidFill>
                      <a:srgbClr val="111111"/>
                    </a:solidFill>
                  </a:defRPr>
                </a:pPr>
                <a:r>
                  <a:rPr kumimoji="0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Calibri" panose="020F0502020204030204"/>
                    <a:cs typeface="Comic Sans MS" panose="030F0702030302020204" pitchFamily="66" charset="0"/>
                  </a:rPr>
                  <a:t>T</a:t>
                </a:r>
                <a:endParaRPr kumimoji="0" sz="1200" b="1" i="0" u="none" strike="noStrike" kern="1200" cap="none" spc="0" normalizeH="0" baseline="0" noProof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omic Sans MS" panose="030F0702030302020204" pitchFamily="66" charset="0"/>
                </a:endParaRPr>
              </a:p>
            </p:txBody>
          </p:sp>
          <p:sp>
            <p:nvSpPr>
              <p:cNvPr id="312" name="xlab"/>
              <p:cNvSpPr>
                <a:spLocks noGrp="1"/>
              </p:cNvSpPr>
              <p:nvPr/>
            </p:nvSpPr>
            <p:spPr>
              <a:xfrm>
                <a:off x="3113" y="8642"/>
                <a:ext cx="474" cy="316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900" b="1">
                    <a:solidFill>
                      <a:srgbClr val="111111"/>
                    </a:solidFill>
                  </a:defRPr>
                </a:pPr>
                <a:r>
                  <a:rPr kumimoji="0" 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Calibri" panose="020F0502020204030204"/>
                    <a:cs typeface="Comic Sans MS" panose="030F0702030302020204" pitchFamily="66" charset="0"/>
                  </a:rPr>
                  <a:t>t</a:t>
                </a:r>
                <a:endPara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omic Sans MS" panose="030F0702030302020204" pitchFamily="66" charset="0"/>
                </a:endParaRPr>
              </a:p>
            </p:txBody>
          </p:sp>
          <p:sp>
            <p:nvSpPr>
              <p:cNvPr id="313" name="xlab"/>
              <p:cNvSpPr>
                <a:spLocks noGrp="1"/>
              </p:cNvSpPr>
              <p:nvPr/>
            </p:nvSpPr>
            <p:spPr>
              <a:xfrm>
                <a:off x="3561" y="8742"/>
                <a:ext cx="800" cy="284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900" b="1">
                    <a:solidFill>
                      <a:srgbClr val="111111"/>
                    </a:solidFill>
                  </a:defRPr>
                </a:pPr>
                <a:r>
                  <a:rPr kumimoji="0" 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Calibri" panose="020F0502020204030204"/>
                    <a:cs typeface="Comic Sans MS" panose="030F0702030302020204" pitchFamily="66" charset="0"/>
                  </a:rPr>
                  <a:t>t+1</a:t>
                </a:r>
                <a:endPara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omic Sans MS" panose="030F0702030302020204" pitchFamily="66" charset="0"/>
                </a:endParaRPr>
              </a:p>
            </p:txBody>
          </p:sp>
          <p:grpSp>
            <p:nvGrpSpPr>
              <p:cNvPr id="64" name="组合 63"/>
              <p:cNvGrpSpPr/>
              <p:nvPr/>
            </p:nvGrpSpPr>
            <p:grpSpPr>
              <a:xfrm>
                <a:off x="4525" y="9021"/>
                <a:ext cx="652" cy="35"/>
                <a:chOff x="3108" y="8012"/>
                <a:chExt cx="516" cy="28"/>
              </a:xfrm>
            </p:grpSpPr>
            <p:sp>
              <p:nvSpPr>
                <p:cNvPr id="13" name="椭圆 12"/>
                <p:cNvSpPr/>
                <p:nvPr/>
              </p:nvSpPr>
              <p:spPr>
                <a:xfrm>
                  <a:off x="3108" y="8012"/>
                  <a:ext cx="28" cy="2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omic Sans MS" panose="030F0702030302020204" pitchFamily="66" charset="0"/>
                    <a:cs typeface="Comic Sans MS" panose="030F0702030302020204" pitchFamily="66" charset="0"/>
                  </a:endParaRPr>
                </a:p>
              </p:txBody>
            </p:sp>
            <p:sp>
              <p:nvSpPr>
                <p:cNvPr id="14" name="椭圆 13"/>
                <p:cNvSpPr/>
                <p:nvPr/>
              </p:nvSpPr>
              <p:spPr>
                <a:xfrm>
                  <a:off x="3365" y="8012"/>
                  <a:ext cx="28" cy="2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omic Sans MS" panose="030F0702030302020204" pitchFamily="66" charset="0"/>
                    <a:cs typeface="Comic Sans MS" panose="030F0702030302020204" pitchFamily="66" charset="0"/>
                  </a:endParaRPr>
                </a:p>
              </p:txBody>
            </p:sp>
            <p:sp>
              <p:nvSpPr>
                <p:cNvPr id="16" name="椭圆 15"/>
                <p:cNvSpPr/>
                <p:nvPr/>
              </p:nvSpPr>
              <p:spPr>
                <a:xfrm>
                  <a:off x="3596" y="8012"/>
                  <a:ext cx="28" cy="2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omic Sans MS" panose="030F0702030302020204" pitchFamily="66" charset="0"/>
                    <a:cs typeface="Comic Sans MS" panose="030F0702030302020204" pitchFamily="66" charset="0"/>
                  </a:endParaRPr>
                </a:p>
              </p:txBody>
            </p:sp>
          </p:grpSp>
          <p:sp>
            <p:nvSpPr>
              <p:cNvPr id="247" name="anchor"/>
              <p:cNvSpPr>
                <a:spLocks noGrp="1"/>
              </p:cNvSpPr>
              <p:nvPr/>
            </p:nvSpPr>
            <p:spPr>
              <a:xfrm>
                <a:off x="2653" y="6743"/>
                <a:ext cx="38" cy="38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48" name="anchor"/>
              <p:cNvSpPr>
                <a:spLocks noGrp="1"/>
              </p:cNvSpPr>
              <p:nvPr/>
            </p:nvSpPr>
            <p:spPr>
              <a:xfrm>
                <a:off x="3260" y="6099"/>
                <a:ext cx="38" cy="38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53" name="anchor"/>
              <p:cNvSpPr>
                <a:spLocks noGrp="1"/>
              </p:cNvSpPr>
              <p:nvPr/>
            </p:nvSpPr>
            <p:spPr>
              <a:xfrm>
                <a:off x="3260" y="6099"/>
                <a:ext cx="38" cy="38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54" name="anchor"/>
              <p:cNvSpPr>
                <a:spLocks noGrp="1"/>
              </p:cNvSpPr>
              <p:nvPr/>
            </p:nvSpPr>
            <p:spPr>
              <a:xfrm>
                <a:off x="3866" y="6440"/>
                <a:ext cx="38" cy="38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59" name="anchor"/>
              <p:cNvSpPr>
                <a:spLocks noGrp="1"/>
              </p:cNvSpPr>
              <p:nvPr/>
            </p:nvSpPr>
            <p:spPr>
              <a:xfrm>
                <a:off x="3866" y="6440"/>
                <a:ext cx="38" cy="38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60" name="anchor"/>
              <p:cNvSpPr>
                <a:spLocks noGrp="1"/>
              </p:cNvSpPr>
              <p:nvPr/>
            </p:nvSpPr>
            <p:spPr>
              <a:xfrm>
                <a:off x="4473" y="6781"/>
                <a:ext cx="38" cy="38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65" name="anchor"/>
              <p:cNvSpPr>
                <a:spLocks noGrp="1"/>
              </p:cNvSpPr>
              <p:nvPr/>
            </p:nvSpPr>
            <p:spPr>
              <a:xfrm>
                <a:off x="4473" y="6781"/>
                <a:ext cx="38" cy="38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66" name="anchor"/>
              <p:cNvSpPr>
                <a:spLocks noGrp="1"/>
              </p:cNvSpPr>
              <p:nvPr/>
            </p:nvSpPr>
            <p:spPr>
              <a:xfrm>
                <a:off x="5118" y="6971"/>
                <a:ext cx="38" cy="38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71" name="anchor"/>
              <p:cNvSpPr>
                <a:spLocks noGrp="1"/>
              </p:cNvSpPr>
              <p:nvPr/>
            </p:nvSpPr>
            <p:spPr>
              <a:xfrm>
                <a:off x="5118" y="6971"/>
                <a:ext cx="38" cy="38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72" name="anchor"/>
              <p:cNvSpPr>
                <a:spLocks noGrp="1"/>
              </p:cNvSpPr>
              <p:nvPr/>
            </p:nvSpPr>
            <p:spPr>
              <a:xfrm>
                <a:off x="5724" y="7047"/>
                <a:ext cx="38" cy="38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77" name="teacher-point"/>
              <p:cNvSpPr>
                <a:spLocks noGrp="1"/>
              </p:cNvSpPr>
              <p:nvPr/>
            </p:nvSpPr>
            <p:spPr>
              <a:xfrm>
                <a:off x="2596" y="6687"/>
                <a:ext cx="152" cy="152"/>
              </a:xfrm>
              <a:prstGeom prst="ellipse">
                <a:avLst/>
              </a:prstGeom>
              <a:solidFill>
                <a:srgbClr val="9DBCF7"/>
              </a:solidFill>
              <a:ln w="9525">
                <a:solidFill>
                  <a:srgbClr val="2F73E8"/>
                </a:solidFill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79" name="anchor"/>
              <p:cNvSpPr>
                <a:spLocks noGrp="1"/>
              </p:cNvSpPr>
              <p:nvPr/>
            </p:nvSpPr>
            <p:spPr>
              <a:xfrm>
                <a:off x="2653" y="6819"/>
                <a:ext cx="38" cy="38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82" name="teacher-point"/>
              <p:cNvSpPr>
                <a:spLocks noGrp="1"/>
              </p:cNvSpPr>
              <p:nvPr/>
            </p:nvSpPr>
            <p:spPr>
              <a:xfrm>
                <a:off x="3203" y="6042"/>
                <a:ext cx="152" cy="152"/>
              </a:xfrm>
              <a:prstGeom prst="ellipse">
                <a:avLst/>
              </a:prstGeom>
              <a:solidFill>
                <a:srgbClr val="9DBCF7"/>
              </a:solidFill>
              <a:ln w="9525">
                <a:solidFill>
                  <a:srgbClr val="2F73E8"/>
                </a:solidFill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84" name="anchor"/>
              <p:cNvSpPr>
                <a:spLocks noGrp="1"/>
              </p:cNvSpPr>
              <p:nvPr/>
            </p:nvSpPr>
            <p:spPr>
              <a:xfrm>
                <a:off x="3260" y="6175"/>
                <a:ext cx="38" cy="38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87" name="teacher-point"/>
              <p:cNvSpPr>
                <a:spLocks noGrp="1"/>
              </p:cNvSpPr>
              <p:nvPr/>
            </p:nvSpPr>
            <p:spPr>
              <a:xfrm>
                <a:off x="3810" y="6383"/>
                <a:ext cx="152" cy="152"/>
              </a:xfrm>
              <a:prstGeom prst="ellipse">
                <a:avLst/>
              </a:prstGeom>
              <a:solidFill>
                <a:srgbClr val="9DBCF7"/>
              </a:solidFill>
              <a:ln w="9525">
                <a:solidFill>
                  <a:srgbClr val="2F73E8"/>
                </a:solidFill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89" name="anchor"/>
              <p:cNvSpPr>
                <a:spLocks noGrp="1"/>
              </p:cNvSpPr>
              <p:nvPr/>
            </p:nvSpPr>
            <p:spPr>
              <a:xfrm>
                <a:off x="3866" y="6516"/>
                <a:ext cx="38" cy="38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cxnSp>
            <p:nvCxnSpPr>
              <p:cNvPr id="942" name="直接箭头连接符 941"/>
              <p:cNvCxnSpPr/>
              <p:nvPr/>
            </p:nvCxnSpPr>
            <p:spPr>
              <a:xfrm>
                <a:off x="3453" y="6409"/>
                <a:ext cx="0" cy="1075"/>
              </a:xfrm>
              <a:prstGeom prst="straightConnector1">
                <a:avLst/>
              </a:prstGeom>
              <a:ln w="10478">
                <a:solidFill>
                  <a:srgbClr val="FF6A00"/>
                </a:solidFill>
                <a:prstDash val="dash"/>
                <a:headEnd type="triangle"/>
                <a:tailEnd type="triangle"/>
              </a:ln>
            </p:spPr>
          </p:cxnSp>
          <p:sp>
            <p:nvSpPr>
              <p:cNvPr id="292" name="teacher-point"/>
              <p:cNvSpPr>
                <a:spLocks noGrp="1"/>
              </p:cNvSpPr>
              <p:nvPr/>
            </p:nvSpPr>
            <p:spPr>
              <a:xfrm>
                <a:off x="4416" y="6724"/>
                <a:ext cx="152" cy="152"/>
              </a:xfrm>
              <a:prstGeom prst="ellipse">
                <a:avLst/>
              </a:prstGeom>
              <a:solidFill>
                <a:srgbClr val="9DBCF7"/>
              </a:solidFill>
              <a:ln w="9525">
                <a:solidFill>
                  <a:srgbClr val="2F73E8"/>
                </a:solidFill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94" name="anchor"/>
              <p:cNvSpPr>
                <a:spLocks noGrp="1"/>
              </p:cNvSpPr>
              <p:nvPr/>
            </p:nvSpPr>
            <p:spPr>
              <a:xfrm>
                <a:off x="4473" y="6857"/>
                <a:ext cx="38" cy="38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97" name="teacher-point"/>
              <p:cNvSpPr>
                <a:spLocks noGrp="1"/>
              </p:cNvSpPr>
              <p:nvPr/>
            </p:nvSpPr>
            <p:spPr>
              <a:xfrm>
                <a:off x="5061" y="6914"/>
                <a:ext cx="152" cy="152"/>
              </a:xfrm>
              <a:prstGeom prst="ellipse">
                <a:avLst/>
              </a:prstGeom>
              <a:solidFill>
                <a:srgbClr val="9DBCF7"/>
              </a:solidFill>
              <a:ln w="9525">
                <a:solidFill>
                  <a:srgbClr val="2F73E8"/>
                </a:solidFill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99" name="anchor"/>
              <p:cNvSpPr>
                <a:spLocks noGrp="1"/>
              </p:cNvSpPr>
              <p:nvPr/>
            </p:nvSpPr>
            <p:spPr>
              <a:xfrm>
                <a:off x="5118" y="7047"/>
                <a:ext cx="38" cy="38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302" name="teacher-point"/>
              <p:cNvSpPr>
                <a:spLocks noGrp="1"/>
              </p:cNvSpPr>
              <p:nvPr/>
            </p:nvSpPr>
            <p:spPr>
              <a:xfrm>
                <a:off x="5667" y="6990"/>
                <a:ext cx="152" cy="152"/>
              </a:xfrm>
              <a:prstGeom prst="ellipse">
                <a:avLst/>
              </a:prstGeom>
              <a:solidFill>
                <a:srgbClr val="9DBCF7"/>
              </a:solidFill>
              <a:ln w="9525">
                <a:solidFill>
                  <a:srgbClr val="2F73E8"/>
                </a:solidFill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304" name="anchor"/>
              <p:cNvSpPr>
                <a:spLocks noGrp="1"/>
              </p:cNvSpPr>
              <p:nvPr/>
            </p:nvSpPr>
            <p:spPr>
              <a:xfrm>
                <a:off x="5724" y="7123"/>
                <a:ext cx="38" cy="38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cxnSp>
            <p:nvCxnSpPr>
              <p:cNvPr id="5" name="直接箭头连接符 4"/>
              <p:cNvCxnSpPr>
                <a:stCxn id="277" idx="7"/>
                <a:endCxn id="282" idx="2"/>
              </p:cNvCxnSpPr>
              <p:nvPr/>
            </p:nvCxnSpPr>
            <p:spPr>
              <a:xfrm flipV="1">
                <a:off x="2725" y="6118"/>
                <a:ext cx="478" cy="591"/>
              </a:xfrm>
              <a:prstGeom prst="straightConnector1">
                <a:avLst/>
              </a:prstGeom>
              <a:ln w="12700">
                <a:solidFill>
                  <a:srgbClr val="2F73E8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7" name="直接箭头连接符 16"/>
              <p:cNvCxnSpPr>
                <a:stCxn id="282" idx="6"/>
                <a:endCxn id="287" idx="1"/>
              </p:cNvCxnSpPr>
              <p:nvPr/>
            </p:nvCxnSpPr>
            <p:spPr>
              <a:xfrm>
                <a:off x="3355" y="6118"/>
                <a:ext cx="478" cy="288"/>
              </a:xfrm>
              <a:prstGeom prst="straightConnector1">
                <a:avLst/>
              </a:prstGeom>
              <a:ln w="12700">
                <a:solidFill>
                  <a:srgbClr val="4985EB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0" name="直接箭头连接符 19"/>
              <p:cNvCxnSpPr>
                <a:stCxn id="287" idx="6"/>
                <a:endCxn id="292" idx="1"/>
              </p:cNvCxnSpPr>
              <p:nvPr/>
            </p:nvCxnSpPr>
            <p:spPr>
              <a:xfrm>
                <a:off x="3961" y="6459"/>
                <a:ext cx="478" cy="288"/>
              </a:xfrm>
              <a:prstGeom prst="straightConnector1">
                <a:avLst/>
              </a:prstGeom>
              <a:ln w="12700">
                <a:solidFill>
                  <a:srgbClr val="4985EB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7" name="直接箭头连接符 26"/>
              <p:cNvCxnSpPr>
                <a:stCxn id="292" idx="6"/>
                <a:endCxn id="297" idx="2"/>
              </p:cNvCxnSpPr>
              <p:nvPr/>
            </p:nvCxnSpPr>
            <p:spPr>
              <a:xfrm>
                <a:off x="4568" y="6800"/>
                <a:ext cx="493" cy="190"/>
              </a:xfrm>
              <a:prstGeom prst="straightConnector1">
                <a:avLst/>
              </a:prstGeom>
              <a:ln w="12700">
                <a:solidFill>
                  <a:srgbClr val="4985EB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9" name="直接箭头连接符 38"/>
              <p:cNvCxnSpPr>
                <a:stCxn id="297" idx="6"/>
                <a:endCxn id="302" idx="2"/>
              </p:cNvCxnSpPr>
              <p:nvPr/>
            </p:nvCxnSpPr>
            <p:spPr>
              <a:xfrm>
                <a:off x="5212" y="6990"/>
                <a:ext cx="455" cy="76"/>
              </a:xfrm>
              <a:prstGeom prst="straightConnector1">
                <a:avLst/>
              </a:prstGeom>
              <a:ln w="12700">
                <a:solidFill>
                  <a:srgbClr val="4985EB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61" name="右大括号 60"/>
              <p:cNvSpPr/>
              <p:nvPr/>
            </p:nvSpPr>
            <p:spPr>
              <a:xfrm rot="18180000">
                <a:off x="3610" y="5745"/>
                <a:ext cx="152" cy="670"/>
              </a:xfrm>
              <a:prstGeom prst="rightBrace">
                <a:avLst/>
              </a:prstGeom>
              <a:ln>
                <a:solidFill>
                  <a:srgbClr val="4985EB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2" name="文本框 61"/>
                  <p:cNvSpPr txBox="1"/>
                  <p:nvPr/>
                </p:nvSpPr>
                <p:spPr>
                  <a:xfrm>
                    <a:off x="3403" y="5472"/>
                    <a:ext cx="1115" cy="682"/>
                  </a:xfrm>
                  <a:prstGeom prst="rect">
                    <a:avLst/>
                  </a:prstGeom>
                  <a:noFill/>
                </p:spPr>
                <p:txBody>
                  <a:bodyPr wrap="none" rtlCol="0" anchor="t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1" i="1">
                              <a:solidFill>
                                <a:srgbClr val="2F73E8"/>
                              </a:solidFill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∆</m:t>
                          </m:r>
                          <m:sSubSup>
                            <m:sSubSupPr>
                              <m:ctrlPr>
                                <a:rPr lang="en-US" altLang="zh-CN" b="1" i="1">
                                  <a:solidFill>
                                    <a:srgbClr val="2F73E8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1" i="1">
                                  <a:solidFill>
                                    <a:srgbClr val="2F73E8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𝒉</m:t>
                              </m:r>
                            </m:e>
                            <m:sub>
                              <m:r>
                                <a:rPr lang="en-US" altLang="zh-CN" b="1" i="1">
                                  <a:solidFill>
                                    <a:srgbClr val="2F73E8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𝑻</m:t>
                              </m:r>
                            </m:sub>
                            <m:sup>
                              <m:r>
                                <a:rPr lang="en-US" altLang="zh-CN" b="1" i="1">
                                  <a:solidFill>
                                    <a:srgbClr val="2F73E8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b="1" i="1">
                                  <a:solidFill>
                                    <a:srgbClr val="2F73E8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zh-CN" b="1" i="1">
                                  <a:solidFill>
                                    <a:srgbClr val="2F73E8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oMath>
                      </m:oMathPara>
                    </a14:m>
                    <a:endParaRPr lang="en-US" altLang="zh-CN" b="1" i="1">
                      <a:solidFill>
                        <a:srgbClr val="2F73E8"/>
                      </a:solidFill>
                      <a:latin typeface="Comic Sans MS" panose="030F0702030302020204" pitchFamily="66" charset="0"/>
                      <a:cs typeface="Comic Sans MS" panose="030F0702030302020204" pitchFamily="66" charset="0"/>
                    </a:endParaRPr>
                  </a:p>
                </p:txBody>
              </p:sp>
            </mc:Choice>
            <mc:Fallback>
              <p:sp>
                <p:nvSpPr>
                  <p:cNvPr id="62" name="文本框 6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03" y="5472"/>
                    <a:ext cx="1115" cy="682"/>
                  </a:xfrm>
                  <a:prstGeom prst="rect">
                    <a:avLst/>
                  </a:prstGeom>
                  <a:blipFill rotWithShape="1">
                    <a:blip r:embed="rId12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06" name="直接箭头连接符 105"/>
              <p:cNvCxnSpPr>
                <a:stCxn id="278" idx="7"/>
                <a:endCxn id="283" idx="3"/>
              </p:cNvCxnSpPr>
              <p:nvPr/>
            </p:nvCxnSpPr>
            <p:spPr>
              <a:xfrm flipV="1">
                <a:off x="2725" y="7743"/>
                <a:ext cx="500" cy="387"/>
              </a:xfrm>
              <a:prstGeom prst="straightConnector1">
                <a:avLst/>
              </a:prstGeom>
              <a:ln w="12700">
                <a:solidFill>
                  <a:srgbClr val="188326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09" name="直接箭头连接符 108"/>
              <p:cNvCxnSpPr>
                <a:stCxn id="283" idx="6"/>
                <a:endCxn id="288" idx="2"/>
              </p:cNvCxnSpPr>
              <p:nvPr/>
            </p:nvCxnSpPr>
            <p:spPr>
              <a:xfrm flipV="1">
                <a:off x="3355" y="7652"/>
                <a:ext cx="455" cy="38"/>
              </a:xfrm>
              <a:prstGeom prst="straightConnector1">
                <a:avLst/>
              </a:prstGeom>
              <a:ln w="12700">
                <a:solidFill>
                  <a:srgbClr val="188326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10" name="直接箭头连接符 109"/>
              <p:cNvCxnSpPr>
                <a:stCxn id="288" idx="6"/>
                <a:endCxn id="293" idx="2"/>
              </p:cNvCxnSpPr>
              <p:nvPr/>
            </p:nvCxnSpPr>
            <p:spPr>
              <a:xfrm>
                <a:off x="3961" y="7652"/>
                <a:ext cx="455" cy="303"/>
              </a:xfrm>
              <a:prstGeom prst="straightConnector1">
                <a:avLst/>
              </a:prstGeom>
              <a:ln w="12700">
                <a:solidFill>
                  <a:srgbClr val="188326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12" name="直接箭头连接符 111"/>
              <p:cNvCxnSpPr>
                <a:stCxn id="293" idx="6"/>
                <a:endCxn id="298" idx="2"/>
              </p:cNvCxnSpPr>
              <p:nvPr/>
            </p:nvCxnSpPr>
            <p:spPr>
              <a:xfrm>
                <a:off x="4568" y="7955"/>
                <a:ext cx="493" cy="76"/>
              </a:xfrm>
              <a:prstGeom prst="straightConnector1">
                <a:avLst/>
              </a:prstGeom>
              <a:ln w="12700">
                <a:solidFill>
                  <a:srgbClr val="188326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16" name="直接箭头连接符 115"/>
              <p:cNvCxnSpPr>
                <a:stCxn id="298" idx="6"/>
                <a:endCxn id="303" idx="2"/>
              </p:cNvCxnSpPr>
              <p:nvPr/>
            </p:nvCxnSpPr>
            <p:spPr>
              <a:xfrm>
                <a:off x="5212" y="8031"/>
                <a:ext cx="455" cy="19"/>
              </a:xfrm>
              <a:prstGeom prst="straightConnector1">
                <a:avLst/>
              </a:prstGeom>
              <a:ln w="12700">
                <a:solidFill>
                  <a:srgbClr val="188326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20" name="左大括号 119"/>
              <p:cNvSpPr/>
              <p:nvPr/>
            </p:nvSpPr>
            <p:spPr>
              <a:xfrm rot="15900000">
                <a:off x="3511" y="7603"/>
                <a:ext cx="181" cy="591"/>
              </a:xfrm>
              <a:prstGeom prst="leftBrace">
                <a:avLst/>
              </a:prstGeom>
              <a:ln>
                <a:solidFill>
                  <a:srgbClr val="188326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188326"/>
                  </a:solidFill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23" name="文本框 122"/>
                  <p:cNvSpPr txBox="1"/>
                  <p:nvPr/>
                </p:nvSpPr>
                <p:spPr>
                  <a:xfrm>
                    <a:off x="3158" y="7880"/>
                    <a:ext cx="1115" cy="685"/>
                  </a:xfrm>
                  <a:prstGeom prst="rect">
                    <a:avLst/>
                  </a:prstGeom>
                  <a:noFill/>
                </p:spPr>
                <p:txBody>
                  <a:bodyPr wrap="none" rtlCol="0" anchor="t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1" i="1">
                              <a:solidFill>
                                <a:srgbClr val="188326"/>
                              </a:solidFill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∆</m:t>
                          </m:r>
                          <m:sSubSup>
                            <m:sSubSupPr>
                              <m:ctrlPr>
                                <a:rPr lang="en-US" altLang="zh-CN" b="1" i="1">
                                  <a:solidFill>
                                    <a:srgbClr val="188326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1" i="1">
                                  <a:solidFill>
                                    <a:srgbClr val="188326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𝒉</m:t>
                              </m:r>
                            </m:e>
                            <m:sub>
                              <m:r>
                                <a:rPr lang="en-US" altLang="zh-CN" b="1" i="1">
                                  <a:solidFill>
                                    <a:srgbClr val="188326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𝑺</m:t>
                              </m:r>
                            </m:sub>
                            <m:sup>
                              <m:r>
                                <a:rPr lang="en-US" altLang="zh-CN" b="1" i="1">
                                  <a:solidFill>
                                    <a:srgbClr val="188326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b="1" i="1">
                                  <a:solidFill>
                                    <a:srgbClr val="188326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zh-CN" b="1" i="1">
                                  <a:solidFill>
                                    <a:srgbClr val="188326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oMath>
                      </m:oMathPara>
                    </a14:m>
                    <a:endParaRPr lang="en-US" altLang="zh-CN" b="1" i="1">
                      <a:solidFill>
                        <a:srgbClr val="188326"/>
                      </a:solidFill>
                      <a:latin typeface="Cambria Math" panose="02040503050406030204" pitchFamily="18" charset="0"/>
                      <a:ea typeface="MS Mincho" charset="0"/>
                      <a:cs typeface="Cambria Math" panose="02040503050406030204" pitchFamily="18" charset="0"/>
                    </a:endParaRPr>
                  </a:p>
                </p:txBody>
              </p:sp>
            </mc:Choice>
            <mc:Fallback>
              <p:sp>
                <p:nvSpPr>
                  <p:cNvPr id="123" name="文本框 12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158" y="7880"/>
                    <a:ext cx="1115" cy="685"/>
                  </a:xfrm>
                  <a:prstGeom prst="rect">
                    <a:avLst/>
                  </a:prstGeom>
                  <a:blipFill rotWithShape="1">
                    <a:blip r:embed="rId13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45" name="任意形状 244"/>
              <p:cNvSpPr/>
              <p:nvPr/>
            </p:nvSpPr>
            <p:spPr>
              <a:xfrm>
                <a:off x="2836" y="8517"/>
                <a:ext cx="2954" cy="399"/>
              </a:xfrm>
              <a:custGeom>
                <a:avLst/>
                <a:gdLst>
                  <a:gd name="connsiteX0" fmla="*/ 0 w 2954"/>
                  <a:gd name="connsiteY0" fmla="*/ 392 h 399"/>
                  <a:gd name="connsiteX1" fmla="*/ 960 w 2954"/>
                  <a:gd name="connsiteY1" fmla="*/ 5 h 399"/>
                  <a:gd name="connsiteX2" fmla="*/ 2014 w 2954"/>
                  <a:gd name="connsiteY2" fmla="*/ 344 h 399"/>
                  <a:gd name="connsiteX3" fmla="*/ 2954 w 2954"/>
                  <a:gd name="connsiteY3" fmla="*/ 392 h 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54" h="399">
                    <a:moveTo>
                      <a:pt x="0" y="392"/>
                    </a:moveTo>
                    <a:cubicBezTo>
                      <a:pt x="369" y="276"/>
                      <a:pt x="604" y="-43"/>
                      <a:pt x="960" y="5"/>
                    </a:cubicBezTo>
                    <a:cubicBezTo>
                      <a:pt x="1316" y="53"/>
                      <a:pt x="1667" y="272"/>
                      <a:pt x="2014" y="344"/>
                    </a:cubicBezTo>
                    <a:cubicBezTo>
                      <a:pt x="2362" y="417"/>
                      <a:pt x="2772" y="400"/>
                      <a:pt x="2954" y="392"/>
                    </a:cubicBezTo>
                  </a:path>
                </a:pathLst>
              </a:custGeom>
              <a:noFill/>
              <a:ln w="28575">
                <a:solidFill>
                  <a:srgbClr val="FF6A00"/>
                </a:solidFill>
                <a:prstDash val="dash"/>
                <a:tailEnd type="arrow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cxnSp>
          <p:nvCxnSpPr>
            <p:cNvPr id="115" name="直接箭头连接符 114"/>
            <p:cNvCxnSpPr/>
            <p:nvPr/>
          </p:nvCxnSpPr>
          <p:spPr>
            <a:xfrm rot="5400000" flipH="1">
              <a:off x="8592" y="7350"/>
              <a:ext cx="2" cy="283"/>
            </a:xfrm>
            <a:prstGeom prst="straightConnector1">
              <a:avLst/>
            </a:prstGeom>
            <a:ln w="10541">
              <a:solidFill>
                <a:srgbClr val="FF6A00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9" name="anchor"/>
            <p:cNvSpPr>
              <a:spLocks noGrp="1"/>
            </p:cNvSpPr>
            <p:nvPr/>
          </p:nvSpPr>
          <p:spPr>
            <a:xfrm>
              <a:off x="7511" y="8755"/>
              <a:ext cx="38" cy="38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21" name="anchor"/>
            <p:cNvSpPr>
              <a:spLocks noGrp="1"/>
            </p:cNvSpPr>
            <p:nvPr/>
          </p:nvSpPr>
          <p:spPr>
            <a:xfrm>
              <a:off x="7511" y="8755"/>
              <a:ext cx="38" cy="38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22" name="anchor"/>
            <p:cNvSpPr>
              <a:spLocks noGrp="1"/>
            </p:cNvSpPr>
            <p:nvPr/>
          </p:nvSpPr>
          <p:spPr>
            <a:xfrm>
              <a:off x="10317" y="8755"/>
              <a:ext cx="38" cy="38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29" name="anchor"/>
            <p:cNvSpPr>
              <a:spLocks noGrp="1"/>
            </p:cNvSpPr>
            <p:nvPr/>
          </p:nvSpPr>
          <p:spPr>
            <a:xfrm>
              <a:off x="7629" y="7958"/>
              <a:ext cx="38" cy="38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30" name="anchor"/>
            <p:cNvSpPr>
              <a:spLocks noGrp="1"/>
            </p:cNvSpPr>
            <p:nvPr/>
          </p:nvSpPr>
          <p:spPr>
            <a:xfrm>
              <a:off x="8236" y="8053"/>
              <a:ext cx="38" cy="38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cxnSp>
          <p:nvCxnSpPr>
            <p:cNvPr id="982" name="直接箭头连接符 981"/>
            <p:cNvCxnSpPr>
              <a:stCxn id="329" idx="6"/>
              <a:endCxn id="330" idx="2"/>
            </p:cNvCxnSpPr>
            <p:nvPr/>
          </p:nvCxnSpPr>
          <p:spPr>
            <a:xfrm>
              <a:off x="7667" y="7977"/>
              <a:ext cx="569" cy="95"/>
            </a:xfrm>
            <a:prstGeom prst="straightConnector1">
              <a:avLst/>
            </a:prstGeom>
            <a:ln w="12700">
              <a:solidFill>
                <a:srgbClr val="188326"/>
              </a:solidFill>
              <a:prstDash val="solid"/>
            </a:ln>
          </p:spPr>
        </p:cxnSp>
        <p:sp>
          <p:nvSpPr>
            <p:cNvPr id="335" name="anchor"/>
            <p:cNvSpPr>
              <a:spLocks noGrp="1"/>
            </p:cNvSpPr>
            <p:nvPr/>
          </p:nvSpPr>
          <p:spPr>
            <a:xfrm>
              <a:off x="8236" y="8053"/>
              <a:ext cx="38" cy="38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36" name="anchor"/>
            <p:cNvSpPr>
              <a:spLocks noGrp="1"/>
            </p:cNvSpPr>
            <p:nvPr/>
          </p:nvSpPr>
          <p:spPr>
            <a:xfrm>
              <a:off x="8842" y="7996"/>
              <a:ext cx="38" cy="38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cxnSp>
          <p:nvCxnSpPr>
            <p:cNvPr id="988" name="直接箭头连接符 987"/>
            <p:cNvCxnSpPr>
              <a:stCxn id="335" idx="6"/>
              <a:endCxn id="336" idx="2"/>
            </p:cNvCxnSpPr>
            <p:nvPr/>
          </p:nvCxnSpPr>
          <p:spPr>
            <a:xfrm flipV="1">
              <a:off x="8274" y="8015"/>
              <a:ext cx="569" cy="57"/>
            </a:xfrm>
            <a:prstGeom prst="straightConnector1">
              <a:avLst/>
            </a:prstGeom>
            <a:ln w="12700">
              <a:solidFill>
                <a:srgbClr val="188326"/>
              </a:solidFill>
              <a:prstDash val="solid"/>
            </a:ln>
          </p:spPr>
        </p:cxnSp>
        <p:sp>
          <p:nvSpPr>
            <p:cNvPr id="341" name="anchor"/>
            <p:cNvSpPr>
              <a:spLocks noGrp="1"/>
            </p:cNvSpPr>
            <p:nvPr/>
          </p:nvSpPr>
          <p:spPr>
            <a:xfrm>
              <a:off x="8842" y="7996"/>
              <a:ext cx="38" cy="38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42" name="anchor"/>
            <p:cNvSpPr>
              <a:spLocks noGrp="1"/>
            </p:cNvSpPr>
            <p:nvPr/>
          </p:nvSpPr>
          <p:spPr>
            <a:xfrm>
              <a:off x="9449" y="7883"/>
              <a:ext cx="38" cy="38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cxnSp>
          <p:nvCxnSpPr>
            <p:cNvPr id="994" name="直接箭头连接符 993"/>
            <p:cNvCxnSpPr>
              <a:stCxn id="341" idx="6"/>
              <a:endCxn id="342" idx="2"/>
            </p:cNvCxnSpPr>
            <p:nvPr/>
          </p:nvCxnSpPr>
          <p:spPr>
            <a:xfrm flipV="1">
              <a:off x="8880" y="7902"/>
              <a:ext cx="569" cy="114"/>
            </a:xfrm>
            <a:prstGeom prst="straightConnector1">
              <a:avLst/>
            </a:prstGeom>
            <a:ln w="12700">
              <a:solidFill>
                <a:srgbClr val="188326"/>
              </a:solidFill>
              <a:prstDash val="solid"/>
            </a:ln>
          </p:spPr>
        </p:cxnSp>
        <p:sp>
          <p:nvSpPr>
            <p:cNvPr id="347" name="anchor"/>
            <p:cNvSpPr>
              <a:spLocks noGrp="1"/>
            </p:cNvSpPr>
            <p:nvPr/>
          </p:nvSpPr>
          <p:spPr>
            <a:xfrm>
              <a:off x="9449" y="7883"/>
              <a:ext cx="38" cy="38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48" name="anchor"/>
            <p:cNvSpPr>
              <a:spLocks noGrp="1"/>
            </p:cNvSpPr>
            <p:nvPr/>
          </p:nvSpPr>
          <p:spPr>
            <a:xfrm>
              <a:off x="10094" y="7693"/>
              <a:ext cx="38" cy="38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53" name="anchor"/>
            <p:cNvSpPr>
              <a:spLocks noGrp="1"/>
            </p:cNvSpPr>
            <p:nvPr/>
          </p:nvSpPr>
          <p:spPr>
            <a:xfrm>
              <a:off x="10094" y="7693"/>
              <a:ext cx="38" cy="38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54" name="anchor"/>
            <p:cNvSpPr>
              <a:spLocks noGrp="1"/>
            </p:cNvSpPr>
            <p:nvPr/>
          </p:nvSpPr>
          <p:spPr>
            <a:xfrm>
              <a:off x="10700" y="7579"/>
              <a:ext cx="38" cy="38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cxnSp>
          <p:nvCxnSpPr>
            <p:cNvPr id="1006" name="直接箭头连接符 1005"/>
            <p:cNvCxnSpPr>
              <a:stCxn id="353" idx="6"/>
              <a:endCxn id="354" idx="2"/>
            </p:cNvCxnSpPr>
            <p:nvPr/>
          </p:nvCxnSpPr>
          <p:spPr>
            <a:xfrm flipV="1">
              <a:off x="10132" y="7598"/>
              <a:ext cx="569" cy="114"/>
            </a:xfrm>
            <a:prstGeom prst="straightConnector1">
              <a:avLst/>
            </a:prstGeom>
            <a:ln w="12700">
              <a:solidFill>
                <a:srgbClr val="188326"/>
              </a:solidFill>
              <a:prstDash val="solid"/>
            </a:ln>
          </p:spPr>
        </p:cxnSp>
        <p:sp>
          <p:nvSpPr>
            <p:cNvPr id="357" name="student-point"/>
            <p:cNvSpPr>
              <a:spLocks noGrp="1"/>
            </p:cNvSpPr>
            <p:nvPr/>
          </p:nvSpPr>
          <p:spPr>
            <a:xfrm>
              <a:off x="7572" y="7902"/>
              <a:ext cx="152" cy="152"/>
            </a:xfrm>
            <a:prstGeom prst="ellipse">
              <a:avLst/>
            </a:prstGeom>
            <a:solidFill>
              <a:srgbClr val="61C15D"/>
            </a:solidFill>
            <a:ln w="9525">
              <a:solidFill>
                <a:srgbClr val="188326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59" name="anchor"/>
            <p:cNvSpPr>
              <a:spLocks noGrp="1"/>
            </p:cNvSpPr>
            <p:nvPr/>
          </p:nvSpPr>
          <p:spPr>
            <a:xfrm>
              <a:off x="7629" y="7883"/>
              <a:ext cx="38" cy="38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62" name="student-point"/>
            <p:cNvSpPr>
              <a:spLocks noGrp="1"/>
            </p:cNvSpPr>
            <p:nvPr/>
          </p:nvSpPr>
          <p:spPr>
            <a:xfrm>
              <a:off x="8179" y="7996"/>
              <a:ext cx="152" cy="152"/>
            </a:xfrm>
            <a:prstGeom prst="ellipse">
              <a:avLst/>
            </a:prstGeom>
            <a:solidFill>
              <a:srgbClr val="61C15D"/>
            </a:solidFill>
            <a:ln w="9525">
              <a:solidFill>
                <a:srgbClr val="188326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64" name="anchor"/>
            <p:cNvSpPr>
              <a:spLocks noGrp="1"/>
            </p:cNvSpPr>
            <p:nvPr/>
          </p:nvSpPr>
          <p:spPr>
            <a:xfrm>
              <a:off x="8236" y="7977"/>
              <a:ext cx="38" cy="38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67" name="student-point"/>
            <p:cNvSpPr>
              <a:spLocks noGrp="1"/>
            </p:cNvSpPr>
            <p:nvPr/>
          </p:nvSpPr>
          <p:spPr>
            <a:xfrm>
              <a:off x="8785" y="7939"/>
              <a:ext cx="152" cy="152"/>
            </a:xfrm>
            <a:prstGeom prst="ellipse">
              <a:avLst/>
            </a:prstGeom>
            <a:solidFill>
              <a:srgbClr val="61C15D"/>
            </a:solidFill>
            <a:ln w="9525">
              <a:solidFill>
                <a:srgbClr val="188326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69" name="anchor"/>
            <p:cNvSpPr>
              <a:spLocks noGrp="1"/>
            </p:cNvSpPr>
            <p:nvPr/>
          </p:nvSpPr>
          <p:spPr>
            <a:xfrm>
              <a:off x="8842" y="7920"/>
              <a:ext cx="38" cy="38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72" name="student-point"/>
            <p:cNvSpPr>
              <a:spLocks noGrp="1"/>
            </p:cNvSpPr>
            <p:nvPr/>
          </p:nvSpPr>
          <p:spPr>
            <a:xfrm>
              <a:off x="9392" y="7826"/>
              <a:ext cx="152" cy="152"/>
            </a:xfrm>
            <a:prstGeom prst="ellipse">
              <a:avLst/>
            </a:prstGeom>
            <a:solidFill>
              <a:srgbClr val="61C15D"/>
            </a:solidFill>
            <a:ln w="9525">
              <a:solidFill>
                <a:srgbClr val="188326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74" name="anchor"/>
            <p:cNvSpPr>
              <a:spLocks noGrp="1"/>
            </p:cNvSpPr>
            <p:nvPr/>
          </p:nvSpPr>
          <p:spPr>
            <a:xfrm>
              <a:off x="9449" y="7807"/>
              <a:ext cx="38" cy="38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77" name="student-point"/>
            <p:cNvSpPr>
              <a:spLocks noGrp="1"/>
            </p:cNvSpPr>
            <p:nvPr/>
          </p:nvSpPr>
          <p:spPr>
            <a:xfrm>
              <a:off x="10037" y="7636"/>
              <a:ext cx="152" cy="152"/>
            </a:xfrm>
            <a:prstGeom prst="ellipse">
              <a:avLst/>
            </a:prstGeom>
            <a:solidFill>
              <a:srgbClr val="61C15D"/>
            </a:solidFill>
            <a:ln w="9525">
              <a:solidFill>
                <a:srgbClr val="188326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79" name="anchor"/>
            <p:cNvSpPr>
              <a:spLocks noGrp="1"/>
            </p:cNvSpPr>
            <p:nvPr/>
          </p:nvSpPr>
          <p:spPr>
            <a:xfrm>
              <a:off x="10094" y="7617"/>
              <a:ext cx="38" cy="38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82" name="student-point"/>
            <p:cNvSpPr>
              <a:spLocks noGrp="1"/>
            </p:cNvSpPr>
            <p:nvPr/>
          </p:nvSpPr>
          <p:spPr>
            <a:xfrm>
              <a:off x="10644" y="7522"/>
              <a:ext cx="152" cy="152"/>
            </a:xfrm>
            <a:prstGeom prst="ellipse">
              <a:avLst/>
            </a:prstGeom>
            <a:solidFill>
              <a:srgbClr val="61C15D"/>
            </a:solidFill>
            <a:ln w="9525">
              <a:solidFill>
                <a:srgbClr val="188326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84" name="anchor"/>
            <p:cNvSpPr>
              <a:spLocks noGrp="1"/>
            </p:cNvSpPr>
            <p:nvPr/>
          </p:nvSpPr>
          <p:spPr>
            <a:xfrm>
              <a:off x="10700" y="7503"/>
              <a:ext cx="38" cy="38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26" name="xlab"/>
            <p:cNvSpPr>
              <a:spLocks noGrp="1"/>
            </p:cNvSpPr>
            <p:nvPr/>
          </p:nvSpPr>
          <p:spPr>
            <a:xfrm>
              <a:off x="7905" y="8964"/>
              <a:ext cx="763" cy="316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900" b="1">
                  <a:solidFill>
                    <a:srgbClr val="111111"/>
                  </a:solidFill>
                </a:defRPr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omic Sans MS" panose="030F0702030302020204" pitchFamily="66" charset="0"/>
                </a:rPr>
                <a:t>t+1</a:t>
              </a:r>
              <a:endParaRPr kumimoji="0" sz="1200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omic Sans MS" panose="030F0702030302020204" pitchFamily="66" charset="0"/>
              </a:endParaRPr>
            </a:p>
          </p:txBody>
        </p:sp>
        <p:sp>
          <p:nvSpPr>
            <p:cNvPr id="28" name="xlab"/>
            <p:cNvSpPr>
              <a:spLocks noGrp="1"/>
            </p:cNvSpPr>
            <p:nvPr/>
          </p:nvSpPr>
          <p:spPr>
            <a:xfrm>
              <a:off x="8440" y="9036"/>
              <a:ext cx="838" cy="284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900" b="1">
                  <a:solidFill>
                    <a:srgbClr val="111111"/>
                  </a:solidFill>
                </a:defRPr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omic Sans MS" panose="030F0702030302020204" pitchFamily="66" charset="0"/>
                </a:rPr>
                <a:t>t+2</a:t>
              </a:r>
              <a:endPara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omic Sans MS" panose="030F0702030302020204" pitchFamily="66" charset="0"/>
              </a:endParaRPr>
            </a:p>
          </p:txBody>
        </p:sp>
        <p:grpSp>
          <p:nvGrpSpPr>
            <p:cNvPr id="104" name="组合 103"/>
            <p:cNvGrpSpPr/>
            <p:nvPr/>
          </p:nvGrpSpPr>
          <p:grpSpPr>
            <a:xfrm>
              <a:off x="9308" y="9168"/>
              <a:ext cx="651" cy="34"/>
              <a:chOff x="9329" y="8725"/>
              <a:chExt cx="651" cy="34"/>
            </a:xfrm>
          </p:grpSpPr>
          <p:sp>
            <p:nvSpPr>
              <p:cNvPr id="32" name="椭圆 31"/>
              <p:cNvSpPr/>
              <p:nvPr/>
            </p:nvSpPr>
            <p:spPr>
              <a:xfrm>
                <a:off x="9329" y="8725"/>
                <a:ext cx="35" cy="35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34" name="椭圆 33"/>
              <p:cNvSpPr/>
              <p:nvPr/>
            </p:nvSpPr>
            <p:spPr>
              <a:xfrm>
                <a:off x="9654" y="8725"/>
                <a:ext cx="35" cy="35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35" name="椭圆 34"/>
              <p:cNvSpPr/>
              <p:nvPr/>
            </p:nvSpPr>
            <p:spPr>
              <a:xfrm>
                <a:off x="9946" y="8725"/>
                <a:ext cx="35" cy="35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</p:grpSp>
        <p:sp>
          <p:nvSpPr>
            <p:cNvPr id="124" name="xlab"/>
            <p:cNvSpPr>
              <a:spLocks noGrp="1"/>
            </p:cNvSpPr>
            <p:nvPr/>
          </p:nvSpPr>
          <p:spPr>
            <a:xfrm>
              <a:off x="9806" y="8919"/>
              <a:ext cx="838" cy="284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900" b="1">
                  <a:solidFill>
                    <a:srgbClr val="111111"/>
                  </a:solidFill>
                </a:defRPr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omic Sans MS" panose="030F0702030302020204" pitchFamily="66" charset="0"/>
                </a:rPr>
                <a:t>t+z</a:t>
              </a:r>
              <a:endPara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omic Sans MS" panose="030F0702030302020204" pitchFamily="66" charset="0"/>
              </a:endParaRPr>
            </a:p>
          </p:txBody>
        </p:sp>
        <p:cxnSp>
          <p:nvCxnSpPr>
            <p:cNvPr id="128" name="直接箭头连接符 127"/>
            <p:cNvCxnSpPr/>
            <p:nvPr/>
          </p:nvCxnSpPr>
          <p:spPr>
            <a:xfrm flipV="1">
              <a:off x="9550" y="7754"/>
              <a:ext cx="495" cy="126"/>
            </a:xfrm>
            <a:prstGeom prst="straightConnector1">
              <a:avLst/>
            </a:prstGeom>
            <a:ln w="12700">
              <a:solidFill>
                <a:srgbClr val="18832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31" name="曲线连接符 130"/>
            <p:cNvCxnSpPr>
              <a:stCxn id="357" idx="4"/>
              <a:endCxn id="377" idx="4"/>
            </p:cNvCxnSpPr>
            <p:nvPr/>
          </p:nvCxnSpPr>
          <p:spPr>
            <a:xfrm rot="5400000" flipH="1" flipV="1">
              <a:off x="8747" y="6688"/>
              <a:ext cx="265" cy="2465"/>
            </a:xfrm>
            <a:prstGeom prst="curvedConnector3">
              <a:avLst>
                <a:gd name="adj1" fmla="val -178571"/>
              </a:avLst>
            </a:prstGeom>
            <a:ln>
              <a:solidFill>
                <a:srgbClr val="18832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6" name="文本框 135"/>
                <p:cNvSpPr txBox="1"/>
                <p:nvPr/>
              </p:nvSpPr>
              <p:spPr>
                <a:xfrm>
                  <a:off x="9562" y="8053"/>
                  <a:ext cx="1093" cy="685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>
                            <a:solidFill>
                              <a:srgbClr val="188326"/>
                            </a:solidFill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∆</m:t>
                        </m:r>
                        <m:sSubSup>
                          <m:sSubSupPr>
                            <m:ctrlPr>
                              <a:rPr lang="en-US" altLang="zh-CN" b="1" i="1">
                                <a:solidFill>
                                  <a:srgbClr val="188326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1" i="1">
                                <a:solidFill>
                                  <a:srgbClr val="188326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en-US" altLang="zh-CN" b="1" i="1">
                                <a:solidFill>
                                  <a:srgbClr val="188326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𝑺</m:t>
                            </m:r>
                          </m:sub>
                          <m:sup>
                            <m:r>
                              <a:rPr lang="en-US" altLang="zh-CN" b="1" i="1">
                                <a:solidFill>
                                  <a:srgbClr val="188326"/>
                                </a:solidFill>
                                <a:latin typeface="Cambria Math" panose="02040503050406030204" pitchFamily="18" charset="0"/>
                                <a:ea typeface="MS Mincho" charset="0"/>
                                <a:cs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b="1" i="1">
                                <a:solidFill>
                                  <a:srgbClr val="188326"/>
                                </a:solidFill>
                                <a:latin typeface="Cambria Math" panose="02040503050406030204" pitchFamily="18" charset="0"/>
                                <a:ea typeface="MS Mincho" charset="0"/>
                                <a:cs typeface="Cambria Math" panose="02040503050406030204" pitchFamily="18" charset="0"/>
                              </a:rPr>
                              <m:t>𝒛</m:t>
                            </m:r>
                            <m:r>
                              <a:rPr lang="en-US" altLang="zh-CN" b="1" i="1">
                                <a:solidFill>
                                  <a:srgbClr val="188326"/>
                                </a:solidFill>
                                <a:latin typeface="Cambria Math" panose="02040503050406030204" pitchFamily="18" charset="0"/>
                                <a:ea typeface="MS Mincho" charset="0"/>
                                <a:cs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</m:oMath>
                    </m:oMathPara>
                  </a14:m>
                  <a:endParaRPr lang="en-US" altLang="zh-CN" b="1" i="1">
                    <a:solidFill>
                      <a:srgbClr val="188326"/>
                    </a:solidFill>
                    <a:latin typeface="Cambria Math" panose="02040503050406030204" pitchFamily="18" charset="0"/>
                    <a:ea typeface="MS Mincho" charset="0"/>
                    <a:cs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136" name="文本框 13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62" y="8053"/>
                  <a:ext cx="1093" cy="685"/>
                </a:xfrm>
                <a:prstGeom prst="rect">
                  <a:avLst/>
                </a:prstGeom>
                <a:blipFill rotWithShape="1">
                  <a:blip r:embed="rId1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2" name="xlab"/>
            <p:cNvSpPr>
              <a:spLocks noGrp="1"/>
            </p:cNvSpPr>
            <p:nvPr/>
          </p:nvSpPr>
          <p:spPr>
            <a:xfrm>
              <a:off x="7458" y="8694"/>
              <a:ext cx="474" cy="291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900" b="1">
                  <a:solidFill>
                    <a:srgbClr val="111111"/>
                  </a:solidFill>
                </a:defRPr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omic Sans MS" panose="030F0702030302020204" pitchFamily="66" charset="0"/>
                </a:rPr>
                <a:t>t</a:t>
              </a:r>
              <a:endPara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omic Sans MS" panose="030F0702030302020204" pitchFamily="66" charset="0"/>
              </a:endParaRPr>
            </a:p>
          </p:txBody>
        </p:sp>
        <p:sp>
          <p:nvSpPr>
            <p:cNvPr id="23" name="xlab"/>
            <p:cNvSpPr>
              <a:spLocks noGrp="1"/>
            </p:cNvSpPr>
            <p:nvPr/>
          </p:nvSpPr>
          <p:spPr>
            <a:xfrm>
              <a:off x="10560" y="8689"/>
              <a:ext cx="474" cy="284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900" b="1">
                  <a:solidFill>
                    <a:srgbClr val="111111"/>
                  </a:solidFill>
                </a:defRPr>
              </a:pPr>
              <a:r>
                <a:rPr kumimoji="0" sz="1200" b="1" i="0" u="none" strike="noStrike" kern="1200" cap="none" spc="0" normalizeH="0" baseline="0" noProof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omic Sans MS" panose="030F0702030302020204" pitchFamily="66" charset="0"/>
                </a:rPr>
                <a:t>T</a:t>
              </a:r>
              <a:endParaRPr kumimoji="0" sz="1200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omic Sans MS" panose="030F0702030302020204" pitchFamily="66" charset="0"/>
              </a:endParaRPr>
            </a:p>
          </p:txBody>
        </p:sp>
        <p:sp>
          <p:nvSpPr>
            <p:cNvPr id="73" name="任意形状 244"/>
            <p:cNvSpPr/>
            <p:nvPr/>
          </p:nvSpPr>
          <p:spPr>
            <a:xfrm>
              <a:off x="7531" y="8549"/>
              <a:ext cx="3428" cy="467"/>
            </a:xfrm>
            <a:custGeom>
              <a:avLst/>
              <a:gdLst>
                <a:gd name="connsiteX0" fmla="*/ 0 w 3428"/>
                <a:gd name="connsiteY0" fmla="*/ 22 h 466"/>
                <a:gd name="connsiteX1" fmla="*/ 851 w 3428"/>
                <a:gd name="connsiteY1" fmla="*/ 458 h 466"/>
                <a:gd name="connsiteX2" fmla="*/ 2178 w 3428"/>
                <a:gd name="connsiteY2" fmla="*/ 404 h 466"/>
                <a:gd name="connsiteX3" fmla="*/ 3428 w 3428"/>
                <a:gd name="connsiteY3" fmla="*/ 0 h 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28" h="467">
                  <a:moveTo>
                    <a:pt x="0" y="22"/>
                  </a:moveTo>
                  <a:cubicBezTo>
                    <a:pt x="369" y="-94"/>
                    <a:pt x="495" y="410"/>
                    <a:pt x="851" y="458"/>
                  </a:cubicBezTo>
                  <a:cubicBezTo>
                    <a:pt x="1207" y="507"/>
                    <a:pt x="1831" y="332"/>
                    <a:pt x="2178" y="404"/>
                  </a:cubicBezTo>
                  <a:cubicBezTo>
                    <a:pt x="2526" y="478"/>
                    <a:pt x="3246" y="8"/>
                    <a:pt x="3428" y="0"/>
                  </a:cubicBezTo>
                </a:path>
              </a:pathLst>
            </a:custGeom>
            <a:noFill/>
            <a:ln w="28575">
              <a:solidFill>
                <a:srgbClr val="FF6A00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2" name="文本框 141"/>
                <p:cNvSpPr txBox="1"/>
                <p:nvPr/>
              </p:nvSpPr>
              <p:spPr>
                <a:xfrm>
                  <a:off x="5142" y="7209"/>
                  <a:ext cx="668" cy="58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zh-CN" sz="1800" b="1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儷宋 Pro" panose="02020300000000000000" charset="-120"/>
                                <a:cs typeface="DejaVu Math TeX Gyre" panose="02000503000000000000" charset="0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kumimoji="0" lang="en-US" altLang="zh-CN" sz="1800" b="1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DejaVu Math TeX Gyre" panose="02000503000000000000" charset="0"/>
                                <a:ea typeface="儷宋 Pro" panose="02020300000000000000" charset="-120"/>
                                <a:cs typeface="DejaVu Math TeX Gyre" panose="02000503000000000000" charset="0"/>
                                <a:sym typeface="+mn-ea"/>
                              </a:rPr>
                              <m:t>𝑳</m:t>
                            </m:r>
                          </m:e>
                          <m:sub>
                            <m:r>
                              <a:rPr kumimoji="0" lang="en-US" altLang="zh-CN" sz="1800" b="1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DejaVu Math TeX Gyre" panose="02000503000000000000" charset="0"/>
                                <a:ea typeface="儷宋 Pro" panose="02020300000000000000" charset="-120"/>
                                <a:cs typeface="DejaVu Math TeX Gyre" panose="02000503000000000000" charset="0"/>
                                <a:sym typeface="+mn-ea"/>
                              </a:rPr>
                              <m:t>𝒍</m:t>
                            </m:r>
                          </m:sub>
                        </m:sSub>
                      </m:oMath>
                    </m:oMathPara>
                  </a14:m>
                  <a:endPara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cs typeface="Calibri" panose="020F0502020204030204"/>
                  </a:endParaRPr>
                </a:p>
              </p:txBody>
            </p:sp>
          </mc:Choice>
          <mc:Fallback>
            <p:sp>
              <p:nvSpPr>
                <p:cNvPr id="142" name="文本框 14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42" y="7209"/>
                  <a:ext cx="668" cy="580"/>
                </a:xfrm>
                <a:prstGeom prst="rect">
                  <a:avLst/>
                </a:prstGeom>
                <a:blipFill rotWithShape="1">
                  <a:blip r:embed="rId1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56" name="组合 155"/>
            <p:cNvGrpSpPr/>
            <p:nvPr/>
          </p:nvGrpSpPr>
          <p:grpSpPr>
            <a:xfrm>
              <a:off x="6242" y="6724"/>
              <a:ext cx="1232" cy="843"/>
              <a:chOff x="6231" y="6724"/>
              <a:chExt cx="1232" cy="843"/>
            </a:xfrm>
          </p:grpSpPr>
          <p:pic>
            <p:nvPicPr>
              <p:cNvPr id="146" name="图片 145"/>
              <p:cNvPicPr>
                <a:picLocks noChangeAspect="1"/>
              </p:cNvPicPr>
              <p:nvPr/>
            </p:nvPicPr>
            <p:blipFill>
              <a:blip r:embed="rId16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>
                <a:off x="6574" y="6724"/>
                <a:ext cx="548" cy="548"/>
              </a:xfrm>
              <a:prstGeom prst="rect">
                <a:avLst/>
              </a:prstGeom>
            </p:spPr>
          </p:pic>
          <p:sp>
            <p:nvSpPr>
              <p:cNvPr id="147" name="文本框 146"/>
              <p:cNvSpPr txBox="1"/>
              <p:nvPr/>
            </p:nvSpPr>
            <p:spPr>
              <a:xfrm>
                <a:off x="6231" y="7133"/>
                <a:ext cx="1233" cy="4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1200" b="1" dirty="0">
                    <a:solidFill>
                      <a:srgbClr val="4985EB"/>
                    </a:solidFill>
                    <a:latin typeface="Comic Sans MS" panose="030F0702030302020204" pitchFamily="66" charset="0"/>
                  </a:rPr>
                  <a:t>Teacher</a:t>
                </a:r>
                <a:endParaRPr kumimoji="1" lang="en-US" altLang="zh-CN" sz="1200" b="1" dirty="0">
                  <a:solidFill>
                    <a:srgbClr val="4985EB"/>
                  </a:solidFill>
                  <a:latin typeface="Comic Sans MS" panose="030F0702030302020204" pitchFamily="66" charset="0"/>
                </a:endParaRPr>
              </a:p>
            </p:txBody>
          </p:sp>
        </p:grpSp>
        <p:grpSp>
          <p:nvGrpSpPr>
            <p:cNvPr id="149" name="组合 148"/>
            <p:cNvGrpSpPr/>
            <p:nvPr/>
          </p:nvGrpSpPr>
          <p:grpSpPr>
            <a:xfrm>
              <a:off x="6255" y="7611"/>
              <a:ext cx="1206" cy="947"/>
              <a:chOff x="1328" y="7862"/>
              <a:chExt cx="1206" cy="947"/>
            </a:xfrm>
          </p:grpSpPr>
          <p:pic>
            <p:nvPicPr>
              <p:cNvPr id="150" name="图片 149"/>
              <p:cNvPicPr>
                <a:picLocks noChangeAspect="1"/>
              </p:cNvPicPr>
              <p:nvPr/>
            </p:nvPicPr>
            <p:blipFill>
              <a:blip r:embed="rId17">
                <a:duotone>
                  <a:schemeClr val="accent3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>
                <a:off x="1508" y="7862"/>
                <a:ext cx="552" cy="552"/>
              </a:xfrm>
              <a:prstGeom prst="rect">
                <a:avLst/>
              </a:prstGeom>
            </p:spPr>
          </p:pic>
          <p:sp>
            <p:nvSpPr>
              <p:cNvPr id="151" name="文本框 150"/>
              <p:cNvSpPr txBox="1"/>
              <p:nvPr/>
            </p:nvSpPr>
            <p:spPr>
              <a:xfrm>
                <a:off x="1328" y="8375"/>
                <a:ext cx="1206" cy="4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1200" b="1" dirty="0">
                    <a:solidFill>
                      <a:srgbClr val="268B34"/>
                    </a:solidFill>
                    <a:latin typeface="Comic Sans MS" panose="030F0702030302020204" pitchFamily="66" charset="0"/>
                  </a:rPr>
                  <a:t>Student</a:t>
                </a:r>
                <a:endParaRPr kumimoji="1" lang="en-US" altLang="zh-CN" sz="1200" b="1" dirty="0">
                  <a:solidFill>
                    <a:srgbClr val="268B34"/>
                  </a:solidFill>
                  <a:latin typeface="Comic Sans MS" panose="030F0702030302020204" pitchFamily="66" charset="0"/>
                </a:endParaRPr>
              </a:p>
            </p:txBody>
          </p:sp>
        </p:grpSp>
      </p:grpSp>
      <p:grpSp>
        <p:nvGrpSpPr>
          <p:cNvPr id="183" name="组合 182"/>
          <p:cNvGrpSpPr/>
          <p:nvPr/>
        </p:nvGrpSpPr>
        <p:grpSpPr>
          <a:xfrm>
            <a:off x="9039225" y="3187700"/>
            <a:ext cx="3314700" cy="342900"/>
            <a:chOff x="12015" y="4905"/>
            <a:chExt cx="5220" cy="540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14" name="Fused TS-T loss variable"/>
                <p:cNvSpPr>
                  <a:spLocks noGrp="1"/>
                </p:cNvSpPr>
                <p:nvPr/>
              </p:nvSpPr>
              <p:spPr>
                <a:xfrm>
                  <a:off x="12015" y="4905"/>
                  <a:ext cx="1230" cy="540"/>
                </a:xfrm>
                <a:prstGeom prst="roundRect">
                  <a:avLst>
                    <a:gd name="adj" fmla="val 19444"/>
                  </a:avLst>
                </a:prstGeom>
                <a:solidFill>
                  <a:srgbClr val="76206F"/>
                </a:solidFill>
                <a:ln w="11430">
                  <a:solidFill>
                    <a:srgbClr val="76206F"/>
                  </a:solidFill>
                  <a:prstDash val="solid"/>
                </a:ln>
              </p:spPr>
              <p:txBody>
                <a:bodyPr wrap="square" lIns="28575" tIns="19050" rIns="28575" bIns="19050" anchor="ctr">
                  <a:normAutofit/>
                </a:bodyPr>
                <a:lstStyle/>
                <a:p>
                  <a:pPr algn="ctr">
                    <a:defRPr sz="1350" b="1">
                      <a:solidFill>
                        <a:srgbClr val="FFFFFF"/>
                      </a:solidFill>
                      <a:latin typeface="Cambria Math" panose="02040503050406030204"/>
                      <a:ea typeface="Cambria Math" panose="02040503050406030204"/>
                      <a:cs typeface="Cambria Math" panose="02040503050406030204"/>
                    </a:defRPr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  <a:ea typeface="Cambria Math" panose="02040503050406030204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ℒ</m:t>
                            </m:r>
                          </m:e>
                          <m:sub>
                            <m:r>
                              <a:rPr lang="en-US" sz="160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  <a:ea typeface="Cambria Math" panose="02040503050406030204"/>
                                <a:cs typeface="Cambria Math" panose="02040503050406030204" pitchFamily="18" charset="0"/>
                              </a:rPr>
                              <m:t>𝑇𝑆</m:t>
                            </m:r>
                            <m:r>
                              <a:rPr lang="en-US" sz="160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  <a:ea typeface="Cambria Math" panose="02040503050406030204"/>
                                <a:cs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60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  <a:ea typeface="Cambria Math" panose="02040503050406030204"/>
                                <a:cs typeface="Cambria Math" panose="02040503050406030204" pitchFamily="18" charset="0"/>
                              </a:rPr>
                              <m:t>𝑻</m:t>
                            </m:r>
                          </m:sub>
                        </m:sSub>
                      </m:oMath>
                    </m:oMathPara>
                  </a14:m>
                  <a:endParaRPr sz="1600">
                    <a:solidFill>
                      <a:srgbClr val="FFFFFF"/>
                    </a:solidFill>
                    <a:latin typeface="Cambria Math" panose="02040503050406030204"/>
                    <a:ea typeface="Cambria Math" panose="02040503050406030204"/>
                    <a:cs typeface="Cambria Math" panose="02040503050406030204"/>
                  </a:endParaRPr>
                </a:p>
              </p:txBody>
            </p:sp>
          </mc:Choice>
          <mc:Fallback>
            <p:sp>
              <p:nvSpPr>
                <p:cNvPr id="1314" name="Fused TS-T loss variable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15" y="4905"/>
                  <a:ext cx="1230" cy="540"/>
                </a:xfrm>
                <a:prstGeom prst="roundRect">
                  <a:avLst>
                    <a:gd name="adj" fmla="val 19444"/>
                  </a:avLst>
                </a:prstGeom>
                <a:blipFill rotWithShape="1">
                  <a:blip r:embed="rId18"/>
                </a:blipFill>
                <a:ln w="11430">
                  <a:solidFill>
                    <a:srgbClr val="76206F"/>
                  </a:solidFill>
                  <a:prstDash val="solid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15" name="Fusion equals"/>
            <p:cNvSpPr>
              <a:spLocks noGrp="1"/>
            </p:cNvSpPr>
            <p:nvPr/>
          </p:nvSpPr>
          <p:spPr>
            <a:xfrm>
              <a:off x="13275" y="4920"/>
              <a:ext cx="300" cy="51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9525" tIns="9525" rIns="9525" bIns="9525" anchor="ctr">
              <a:normAutofit/>
            </a:bodyPr>
            <a:lstStyle/>
            <a:p>
              <a:pPr algn="ctr">
                <a:defRPr sz="1575" b="1">
                  <a:solidFill>
                    <a:srgbClr val="76206F"/>
                  </a:solidFill>
                  <a:latin typeface="Comic Sans MS" panose="030F0702030302020204"/>
                  <a:ea typeface="Comic Sans MS" panose="030F0702030302020204"/>
                  <a:cs typeface="Comic Sans MS" panose="030F0702030302020204"/>
                </a:defRPr>
              </a:pPr>
              <a:r>
                <a:rPr sz="1575" b="1">
                  <a:solidFill>
                    <a:srgbClr val="76206F"/>
                  </a:solidFill>
                  <a:latin typeface="Comic Sans MS" panose="030F0702030302020204"/>
                  <a:ea typeface="Comic Sans MS" panose="030F0702030302020204"/>
                  <a:cs typeface="Comic Sans MS" panose="030F0702030302020204"/>
                </a:rPr>
                <a:t>=</a:t>
              </a:r>
              <a:endParaRPr sz="1575" b="1">
                <a:solidFill>
                  <a:srgbClr val="76206F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</a:endParaRPr>
            </a:p>
          </p:txBody>
        </p:sp>
        <p:sp>
          <p:nvSpPr>
            <p:cNvPr id="1316" name="Fusion beta"/>
            <p:cNvSpPr>
              <a:spLocks noGrp="1"/>
            </p:cNvSpPr>
            <p:nvPr/>
          </p:nvSpPr>
          <p:spPr>
            <a:xfrm>
              <a:off x="13575" y="4920"/>
              <a:ext cx="360" cy="51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9525" tIns="9525" rIns="9525" bIns="9525" anchor="ctr">
              <a:normAutofit/>
            </a:bodyPr>
            <a:lstStyle/>
            <a:p>
              <a:pPr algn="ctr">
                <a:defRPr sz="1500" b="1">
                  <a:solidFill>
                    <a:srgbClr val="76206F"/>
                  </a:solidFill>
                  <a:latin typeface="Cambria Math" panose="02040503050406030204"/>
                  <a:ea typeface="Cambria Math" panose="02040503050406030204"/>
                  <a:cs typeface="Cambria Math" panose="02040503050406030204"/>
                </a:defRPr>
              </a:pPr>
              <a:r>
                <a:rPr sz="1500" b="1">
                  <a:solidFill>
                    <a:srgbClr val="76206F"/>
                  </a:solidFill>
                  <a:latin typeface="Cambria Math" panose="02040503050406030204"/>
                  <a:ea typeface="Cambria Math" panose="02040503050406030204"/>
                  <a:cs typeface="Cambria Math" panose="02040503050406030204"/>
                </a:rPr>
                <a:t>β</a:t>
              </a:r>
              <a:endParaRPr sz="1500" b="1">
                <a:solidFill>
                  <a:srgbClr val="76206F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17" name="Sequential loss variable top"/>
                <p:cNvSpPr>
                  <a:spLocks noGrp="1"/>
                </p:cNvSpPr>
                <p:nvPr/>
              </p:nvSpPr>
              <p:spPr>
                <a:xfrm>
                  <a:off x="13965" y="4905"/>
                  <a:ext cx="990" cy="540"/>
                </a:xfrm>
                <a:prstGeom prst="roundRect">
                  <a:avLst>
                    <a:gd name="adj" fmla="val 19444"/>
                  </a:avLst>
                </a:prstGeom>
                <a:solidFill>
                  <a:srgbClr val="76206F"/>
                </a:solidFill>
                <a:ln w="11430">
                  <a:solidFill>
                    <a:srgbClr val="76206F"/>
                  </a:solidFill>
                  <a:prstDash val="solid"/>
                </a:ln>
              </p:spPr>
              <p:txBody>
                <a:bodyPr wrap="square" lIns="28575" tIns="19050" rIns="28575" bIns="19050" anchor="ctr">
                  <a:normAutofit/>
                </a:bodyPr>
                <a:lstStyle/>
                <a:p>
                  <a:pPr algn="ctr">
                    <a:defRPr sz="1275" b="1">
                      <a:solidFill>
                        <a:srgbClr val="FFFFFF"/>
                      </a:solidFill>
                      <a:latin typeface="Cambria Math" panose="02040503050406030204"/>
                      <a:ea typeface="Cambria Math" panose="02040503050406030204"/>
                      <a:cs typeface="Cambria Math" panose="02040503050406030204"/>
                    </a:defRPr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75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  <a:ea typeface="Cambria Math" panose="02040503050406030204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ℒ</m:t>
                            </m:r>
                          </m:e>
                          <m:sub>
                            <m:r>
                              <a:rPr lang="en-US" sz="1275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  <a:ea typeface="Cambria Math" panose="02040503050406030204"/>
                                <a:cs typeface="Cambria Math" panose="02040503050406030204" pitchFamily="18" charset="0"/>
                              </a:rPr>
                              <m:t>𝑠𝑒𝑞</m:t>
                            </m:r>
                          </m:sub>
                        </m:sSub>
                      </m:oMath>
                    </m:oMathPara>
                  </a14:m>
                  <a:endParaRPr sz="1275">
                    <a:solidFill>
                      <a:srgbClr val="FFFFFF"/>
                    </a:solidFill>
                    <a:latin typeface="Cambria Math" panose="02040503050406030204"/>
                    <a:ea typeface="Cambria Math" panose="02040503050406030204"/>
                    <a:cs typeface="Cambria Math" panose="02040503050406030204"/>
                  </a:endParaRPr>
                </a:p>
              </p:txBody>
            </p:sp>
          </mc:Choice>
          <mc:Fallback>
            <p:sp>
              <p:nvSpPr>
                <p:cNvPr id="1317" name="Sequential loss variable top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965" y="4905"/>
                  <a:ext cx="990" cy="540"/>
                </a:xfrm>
                <a:prstGeom prst="roundRect">
                  <a:avLst>
                    <a:gd name="adj" fmla="val 19444"/>
                  </a:avLst>
                </a:prstGeom>
                <a:blipFill rotWithShape="1">
                  <a:blip r:embed="rId19"/>
                </a:blipFill>
                <a:ln w="11430">
                  <a:solidFill>
                    <a:srgbClr val="76206F"/>
                  </a:solidFill>
                  <a:prstDash val="solid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18" name="Fusion plus"/>
            <p:cNvSpPr>
              <a:spLocks noGrp="1"/>
            </p:cNvSpPr>
            <p:nvPr/>
          </p:nvSpPr>
          <p:spPr>
            <a:xfrm>
              <a:off x="14985" y="4920"/>
              <a:ext cx="300" cy="51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9525" tIns="9525" rIns="9525" bIns="9525" anchor="ctr">
              <a:normAutofit/>
            </a:bodyPr>
            <a:lstStyle/>
            <a:p>
              <a:pPr algn="ctr">
                <a:defRPr sz="1575" b="1">
                  <a:solidFill>
                    <a:srgbClr val="76206F"/>
                  </a:solidFill>
                  <a:latin typeface="Comic Sans MS" panose="030F0702030302020204"/>
                  <a:ea typeface="Comic Sans MS" panose="030F0702030302020204"/>
                  <a:cs typeface="Comic Sans MS" panose="030F0702030302020204"/>
                </a:defRPr>
              </a:pPr>
              <a:r>
                <a:rPr sz="1575" b="1">
                  <a:solidFill>
                    <a:srgbClr val="76206F"/>
                  </a:solidFill>
                  <a:latin typeface="Comic Sans MS" panose="030F0702030302020204"/>
                  <a:ea typeface="Comic Sans MS" panose="030F0702030302020204"/>
                  <a:cs typeface="Comic Sans MS" panose="030F0702030302020204"/>
                </a:rPr>
                <a:t>+</a:t>
              </a:r>
              <a:endParaRPr sz="1575" b="1">
                <a:solidFill>
                  <a:srgbClr val="76206F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</a:endParaRPr>
            </a:p>
          </p:txBody>
        </p:sp>
        <p:sp>
          <p:nvSpPr>
            <p:cNvPr id="1319" name="Fusion complement"/>
            <p:cNvSpPr>
              <a:spLocks noGrp="1"/>
            </p:cNvSpPr>
            <p:nvPr/>
          </p:nvSpPr>
          <p:spPr>
            <a:xfrm>
              <a:off x="15285" y="4920"/>
              <a:ext cx="750" cy="51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9525" tIns="9525" rIns="9525" bIns="9525" anchor="ctr">
              <a:normAutofit/>
            </a:bodyPr>
            <a:lstStyle/>
            <a:p>
              <a:pPr algn="ctr">
                <a:defRPr sz="1350" b="1">
                  <a:solidFill>
                    <a:srgbClr val="76206F"/>
                  </a:solidFill>
                  <a:latin typeface="Cambria Math" panose="02040503050406030204"/>
                  <a:ea typeface="Cambria Math" panose="02040503050406030204"/>
                  <a:cs typeface="Cambria Math" panose="02040503050406030204"/>
                </a:defRPr>
              </a:pPr>
              <a:r>
                <a:rPr lang="en-US" sz="1350" b="1">
                  <a:solidFill>
                    <a:srgbClr val="76206F"/>
                  </a:solidFill>
                  <a:latin typeface="Cambria Math" panose="02040503050406030204"/>
                  <a:ea typeface="Cambria Math" panose="02040503050406030204"/>
                  <a:cs typeface="Cambria Math" panose="02040503050406030204"/>
                </a:rPr>
                <a:t>(</a:t>
              </a:r>
              <a:r>
                <a:rPr sz="1350" b="1">
                  <a:solidFill>
                    <a:srgbClr val="76206F"/>
                  </a:solidFill>
                  <a:latin typeface="Cambria Math" panose="02040503050406030204"/>
                  <a:ea typeface="Cambria Math" panose="02040503050406030204"/>
                  <a:cs typeface="Cambria Math" panose="02040503050406030204"/>
                </a:rPr>
                <a:t>1−β</a:t>
              </a:r>
              <a:r>
                <a:rPr lang="en-US" sz="1350" b="1">
                  <a:solidFill>
                    <a:srgbClr val="76206F"/>
                  </a:solidFill>
                  <a:latin typeface="Cambria Math" panose="02040503050406030204"/>
                  <a:ea typeface="Cambria Math" panose="02040503050406030204"/>
                  <a:cs typeface="Cambria Math" panose="02040503050406030204"/>
                </a:rPr>
                <a:t>)</a:t>
              </a:r>
              <a:endParaRPr lang="en-US" sz="1350" b="1">
                <a:solidFill>
                  <a:srgbClr val="76206F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20" name="Final loss variable top"/>
                <p:cNvSpPr>
                  <a:spLocks noGrp="1"/>
                </p:cNvSpPr>
                <p:nvPr/>
              </p:nvSpPr>
              <p:spPr>
                <a:xfrm>
                  <a:off x="16065" y="4905"/>
                  <a:ext cx="1170" cy="540"/>
                </a:xfrm>
                <a:prstGeom prst="roundRect">
                  <a:avLst>
                    <a:gd name="adj" fmla="val 19444"/>
                  </a:avLst>
                </a:prstGeom>
                <a:solidFill>
                  <a:srgbClr val="76206F"/>
                </a:solidFill>
                <a:ln w="11430">
                  <a:solidFill>
                    <a:srgbClr val="76206F"/>
                  </a:solidFill>
                  <a:prstDash val="solid"/>
                </a:ln>
              </p:spPr>
              <p:txBody>
                <a:bodyPr wrap="square" lIns="28575" tIns="19050" rIns="28575" bIns="19050" anchor="ctr">
                  <a:normAutofit/>
                </a:bodyPr>
                <a:lstStyle/>
                <a:p>
                  <a:pPr algn="ctr">
                    <a:defRPr sz="1275" b="1">
                      <a:solidFill>
                        <a:srgbClr val="FFFFFF"/>
                      </a:solidFill>
                      <a:latin typeface="Cambria Math" panose="02040503050406030204"/>
                      <a:ea typeface="Cambria Math" panose="02040503050406030204"/>
                      <a:cs typeface="Cambria Math" panose="02040503050406030204"/>
                    </a:defRPr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75" b="1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  <a:ea typeface="Cambria Math" panose="02040503050406030204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ℒ</m:t>
                            </m:r>
                          </m:e>
                          <m:sub>
                            <m:r>
                              <a:rPr lang="en-US" sz="1275" b="1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  <a:ea typeface="Cambria Math" panose="02040503050406030204"/>
                                <a:cs typeface="Cambria Math" panose="02040503050406030204" pitchFamily="18" charset="0"/>
                              </a:rPr>
                              <m:t>𝒇𝒊𝒏𝒂𝒍</m:t>
                            </m:r>
                          </m:sub>
                        </m:sSub>
                      </m:oMath>
                    </m:oMathPara>
                  </a14:m>
                  <a:endParaRPr sz="1275" b="1">
                    <a:solidFill>
                      <a:srgbClr val="FFFFFF"/>
                    </a:solidFill>
                    <a:latin typeface="Cambria Math" panose="02040503050406030204"/>
                    <a:ea typeface="Cambria Math" panose="02040503050406030204"/>
                    <a:cs typeface="Cambria Math" panose="02040503050406030204"/>
                  </a:endParaRPr>
                </a:p>
              </p:txBody>
            </p:sp>
          </mc:Choice>
          <mc:Fallback>
            <p:sp>
              <p:nvSpPr>
                <p:cNvPr id="1320" name="Final loss variable top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065" y="4905"/>
                  <a:ext cx="1170" cy="540"/>
                </a:xfrm>
                <a:prstGeom prst="roundRect">
                  <a:avLst>
                    <a:gd name="adj" fmla="val 19444"/>
                  </a:avLst>
                </a:prstGeom>
                <a:blipFill rotWithShape="1">
                  <a:blip r:embed="rId20"/>
                </a:blipFill>
                <a:ln w="11430">
                  <a:solidFill>
                    <a:srgbClr val="76206F"/>
                  </a:solidFill>
                  <a:prstDash val="solid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9" name="矩形: 圆角 14"/>
          <p:cNvSpPr/>
          <p:nvPr/>
        </p:nvSpPr>
        <p:spPr>
          <a:xfrm>
            <a:off x="7319010" y="3848100"/>
            <a:ext cx="911860" cy="635635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rPr>
              <a:t>Z-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rPr>
              <a:t>score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mic Sans MS" panose="030F0702030302020204" pitchFamily="66" charset="0"/>
              <a:ea typeface="Calibri" panose="020F0502020204030204"/>
              <a:cs typeface="Calibri" panose="020F0502020204030204"/>
            </a:endParaRPr>
          </a:p>
        </p:txBody>
      </p:sp>
      <p:grpSp>
        <p:nvGrpSpPr>
          <p:cNvPr id="186" name="组合 185"/>
          <p:cNvGrpSpPr/>
          <p:nvPr/>
        </p:nvGrpSpPr>
        <p:grpSpPr>
          <a:xfrm>
            <a:off x="8990330" y="114935"/>
            <a:ext cx="3556000" cy="2327275"/>
            <a:chOff x="14491" y="1904"/>
            <a:chExt cx="4109" cy="2045"/>
          </a:xfrm>
        </p:grpSpPr>
        <p:sp>
          <p:nvSpPr>
            <p:cNvPr id="522" name="loss"/>
            <p:cNvSpPr>
              <a:spLocks noGrp="1"/>
            </p:cNvSpPr>
            <p:nvPr/>
          </p:nvSpPr>
          <p:spPr>
            <a:xfrm>
              <a:off x="14491" y="1904"/>
              <a:ext cx="4109" cy="2045"/>
            </a:xfrm>
            <a:custGeom>
              <a:avLst/>
              <a:gdLst>
                <a:gd name="csX0" fmla="*/ 0 w 1657350"/>
                <a:gd name="csY0" fmla="*/ 102279 h 1155700"/>
                <a:gd name="csX1" fmla="*/ 102279 w 1657350"/>
                <a:gd name="csY1" fmla="*/ 0 h 1155700"/>
                <a:gd name="csX2" fmla="*/ 601071 w 1657350"/>
                <a:gd name="csY2" fmla="*/ 0 h 1155700"/>
                <a:gd name="csX3" fmla="*/ 1056279 w 1657350"/>
                <a:gd name="csY3" fmla="*/ 0 h 1155700"/>
                <a:gd name="csX4" fmla="*/ 1555071 w 1657350"/>
                <a:gd name="csY4" fmla="*/ 0 h 1155700"/>
                <a:gd name="csX5" fmla="*/ 1657350 w 1657350"/>
                <a:gd name="csY5" fmla="*/ 102279 h 1155700"/>
                <a:gd name="csX6" fmla="*/ 1657350 w 1657350"/>
                <a:gd name="csY6" fmla="*/ 558827 h 1155700"/>
                <a:gd name="csX7" fmla="*/ 1657350 w 1657350"/>
                <a:gd name="csY7" fmla="*/ 1053421 h 1155700"/>
                <a:gd name="csX8" fmla="*/ 1555071 w 1657350"/>
                <a:gd name="csY8" fmla="*/ 1155700 h 1155700"/>
                <a:gd name="csX9" fmla="*/ 1041751 w 1657350"/>
                <a:gd name="csY9" fmla="*/ 1155700 h 1155700"/>
                <a:gd name="csX10" fmla="*/ 542959 w 1657350"/>
                <a:gd name="csY10" fmla="*/ 1155700 h 1155700"/>
                <a:gd name="csX11" fmla="*/ 102279 w 1657350"/>
                <a:gd name="csY11" fmla="*/ 1155700 h 1155700"/>
                <a:gd name="csX12" fmla="*/ 0 w 1657350"/>
                <a:gd name="csY12" fmla="*/ 1053421 h 1155700"/>
                <a:gd name="csX13" fmla="*/ 0 w 1657350"/>
                <a:gd name="csY13" fmla="*/ 577850 h 1155700"/>
                <a:gd name="csX14" fmla="*/ 0 w 1657350"/>
                <a:gd name="csY14" fmla="*/ 102279 h 11557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1657350" h="1155700" fill="none" extrusionOk="0">
                  <a:moveTo>
                    <a:pt x="0" y="102279"/>
                  </a:moveTo>
                  <a:cubicBezTo>
                    <a:pt x="-5204" y="35185"/>
                    <a:pt x="45959" y="-2257"/>
                    <a:pt x="102279" y="0"/>
                  </a:cubicBezTo>
                  <a:cubicBezTo>
                    <a:pt x="304020" y="13055"/>
                    <a:pt x="386704" y="-12001"/>
                    <a:pt x="601071" y="0"/>
                  </a:cubicBezTo>
                  <a:cubicBezTo>
                    <a:pt x="815438" y="12001"/>
                    <a:pt x="844931" y="-6527"/>
                    <a:pt x="1056279" y="0"/>
                  </a:cubicBezTo>
                  <a:cubicBezTo>
                    <a:pt x="1267627" y="6527"/>
                    <a:pt x="1425664" y="16735"/>
                    <a:pt x="1555071" y="0"/>
                  </a:cubicBezTo>
                  <a:cubicBezTo>
                    <a:pt x="1615094" y="-748"/>
                    <a:pt x="1658326" y="55060"/>
                    <a:pt x="1657350" y="102279"/>
                  </a:cubicBezTo>
                  <a:cubicBezTo>
                    <a:pt x="1667711" y="276571"/>
                    <a:pt x="1651553" y="416038"/>
                    <a:pt x="1657350" y="558827"/>
                  </a:cubicBezTo>
                  <a:cubicBezTo>
                    <a:pt x="1663147" y="701616"/>
                    <a:pt x="1654890" y="831885"/>
                    <a:pt x="1657350" y="1053421"/>
                  </a:cubicBezTo>
                  <a:cubicBezTo>
                    <a:pt x="1659994" y="1101776"/>
                    <a:pt x="1613122" y="1157391"/>
                    <a:pt x="1555071" y="1155700"/>
                  </a:cubicBezTo>
                  <a:cubicBezTo>
                    <a:pt x="1303222" y="1151101"/>
                    <a:pt x="1209543" y="1160429"/>
                    <a:pt x="1041751" y="1155700"/>
                  </a:cubicBezTo>
                  <a:cubicBezTo>
                    <a:pt x="873959" y="1150971"/>
                    <a:pt x="665865" y="1154475"/>
                    <a:pt x="542959" y="1155700"/>
                  </a:cubicBezTo>
                  <a:cubicBezTo>
                    <a:pt x="420053" y="1156925"/>
                    <a:pt x="278583" y="1143518"/>
                    <a:pt x="102279" y="1155700"/>
                  </a:cubicBezTo>
                  <a:cubicBezTo>
                    <a:pt x="41612" y="1168731"/>
                    <a:pt x="-3504" y="1098874"/>
                    <a:pt x="0" y="1053421"/>
                  </a:cubicBezTo>
                  <a:cubicBezTo>
                    <a:pt x="18729" y="867212"/>
                    <a:pt x="-4507" y="686474"/>
                    <a:pt x="0" y="577850"/>
                  </a:cubicBezTo>
                  <a:cubicBezTo>
                    <a:pt x="4507" y="469226"/>
                    <a:pt x="16964" y="241845"/>
                    <a:pt x="0" y="102279"/>
                  </a:cubicBezTo>
                  <a:close/>
                </a:path>
                <a:path w="1657350" h="1155700" stroke="0" extrusionOk="0">
                  <a:moveTo>
                    <a:pt x="0" y="102279"/>
                  </a:moveTo>
                  <a:cubicBezTo>
                    <a:pt x="-10777" y="39145"/>
                    <a:pt x="34370" y="4287"/>
                    <a:pt x="102279" y="0"/>
                  </a:cubicBezTo>
                  <a:cubicBezTo>
                    <a:pt x="246129" y="-20315"/>
                    <a:pt x="500598" y="-16605"/>
                    <a:pt x="615599" y="0"/>
                  </a:cubicBezTo>
                  <a:cubicBezTo>
                    <a:pt x="730600" y="16605"/>
                    <a:pt x="863804" y="14696"/>
                    <a:pt x="1085335" y="0"/>
                  </a:cubicBezTo>
                  <a:cubicBezTo>
                    <a:pt x="1306866" y="-14696"/>
                    <a:pt x="1440881" y="-4024"/>
                    <a:pt x="1555071" y="0"/>
                  </a:cubicBezTo>
                  <a:cubicBezTo>
                    <a:pt x="1610791" y="-2470"/>
                    <a:pt x="1660394" y="34529"/>
                    <a:pt x="1657350" y="102279"/>
                  </a:cubicBezTo>
                  <a:cubicBezTo>
                    <a:pt x="1635750" y="226616"/>
                    <a:pt x="1677404" y="445846"/>
                    <a:pt x="1657350" y="558827"/>
                  </a:cubicBezTo>
                  <a:cubicBezTo>
                    <a:pt x="1637296" y="671808"/>
                    <a:pt x="1645855" y="841176"/>
                    <a:pt x="1657350" y="1053421"/>
                  </a:cubicBezTo>
                  <a:cubicBezTo>
                    <a:pt x="1653215" y="1116748"/>
                    <a:pt x="1603325" y="1146151"/>
                    <a:pt x="1555071" y="1155700"/>
                  </a:cubicBezTo>
                  <a:cubicBezTo>
                    <a:pt x="1452605" y="1139714"/>
                    <a:pt x="1260909" y="1140226"/>
                    <a:pt x="1099863" y="1155700"/>
                  </a:cubicBezTo>
                  <a:cubicBezTo>
                    <a:pt x="938817" y="1171174"/>
                    <a:pt x="718673" y="1170466"/>
                    <a:pt x="615599" y="1155700"/>
                  </a:cubicBezTo>
                  <a:cubicBezTo>
                    <a:pt x="512525" y="1140934"/>
                    <a:pt x="207863" y="1170176"/>
                    <a:pt x="102279" y="1155700"/>
                  </a:cubicBezTo>
                  <a:cubicBezTo>
                    <a:pt x="54191" y="1165989"/>
                    <a:pt x="3630" y="1106730"/>
                    <a:pt x="0" y="1053421"/>
                  </a:cubicBezTo>
                  <a:cubicBezTo>
                    <a:pt x="1347" y="851741"/>
                    <a:pt x="-12747" y="706086"/>
                    <a:pt x="0" y="577850"/>
                  </a:cubicBezTo>
                  <a:cubicBezTo>
                    <a:pt x="12747" y="449614"/>
                    <a:pt x="9420" y="254191"/>
                    <a:pt x="0" y="102279"/>
                  </a:cubicBezTo>
                  <a:close/>
                </a:path>
              </a:pathLst>
            </a:custGeom>
            <a:solidFill>
              <a:srgbClr val="FFF6F6"/>
            </a:solidFill>
            <a:ln w="14288">
              <a:solidFill>
                <a:srgbClr val="E60000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cs typeface="Calibri" panose="020F0502020204030204"/>
              </a:endParaRPr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15492" y="1952"/>
              <a:ext cx="2272" cy="350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lstStyle/>
            <a:p>
              <a:pPr algn="l"/>
              <a:r>
                <a:rPr lang="en-US" altLang="zh-CN" sz="2000" b="1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alibri" panose="020F0502020204030204"/>
                  <a:sym typeface="+mn-ea"/>
                </a:rPr>
                <a:t>Total loss</a:t>
              </a:r>
              <a:endParaRPr lang="zh-CN" altLang="en-US" sz="2000" b="1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Fused TS-T loss variable"/>
              <p:cNvSpPr>
                <a:spLocks noGrp="1"/>
              </p:cNvSpPr>
              <p:nvPr/>
            </p:nvSpPr>
            <p:spPr>
              <a:xfrm>
                <a:off x="11304270" y="1914525"/>
                <a:ext cx="1091565" cy="457200"/>
              </a:xfrm>
              <a:prstGeom prst="roundRect">
                <a:avLst>
                  <a:gd name="adj" fmla="val 19444"/>
                </a:avLst>
              </a:prstGeom>
              <a:solidFill>
                <a:srgbClr val="76206F"/>
              </a:solidFill>
              <a:ln w="11430">
                <a:solidFill>
                  <a:srgbClr val="76206F"/>
                </a:solidFill>
                <a:prstDash val="solid"/>
              </a:ln>
            </p:spPr>
            <p:txBody>
              <a:bodyPr wrap="square" lIns="28575" tIns="19050" rIns="28575" bIns="19050" anchor="ctr">
                <a:normAutofit/>
              </a:bodyPr>
              <a:lstStyle/>
              <a:p>
                <a:pPr algn="ctr">
                  <a:defRPr sz="1350" b="1">
                    <a:solidFill>
                      <a:srgbClr val="FFFFFF"/>
                    </a:solidFill>
                    <a:latin typeface="Cambria Math" panose="02040503050406030204"/>
                    <a:ea typeface="Cambria Math" panose="02040503050406030204"/>
                    <a:cs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ambria Math" panose="02040503050406030204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sz="2000" b="1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ambria Math" panose="02040503050406030204"/>
                              <a:cs typeface="Cambria Math" panose="02040503050406030204" pitchFamily="18" charset="0"/>
                            </a:rPr>
                            <m:t>𝑻𝑺</m:t>
                          </m:r>
                          <m:r>
                            <a:rPr lang="en-US" sz="2000" b="1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ambria Math" panose="02040503050406030204"/>
                              <a:cs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1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ambria Math" panose="02040503050406030204"/>
                              <a:cs typeface="Cambria Math" panose="02040503050406030204" pitchFamily="18" charset="0"/>
                            </a:rPr>
                            <m:t>𝑻</m:t>
                          </m:r>
                        </m:sub>
                      </m:sSub>
                    </m:oMath>
                  </m:oMathPara>
                </a14:m>
                <a:endParaRPr sz="2000" b="1">
                  <a:solidFill>
                    <a:srgbClr val="FFFFFF"/>
                  </a:solidFill>
                  <a:latin typeface="Cambria Math" panose="02040503050406030204"/>
                  <a:ea typeface="Cambria Math" panose="02040503050406030204"/>
                  <a:cs typeface="Cambria Math" panose="02040503050406030204"/>
                </a:endParaRPr>
              </a:p>
            </p:txBody>
          </p:sp>
        </mc:Choice>
        <mc:Fallback>
          <p:sp>
            <p:nvSpPr>
              <p:cNvPr id="29" name="Fused TS-T loss variabl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04270" y="1914525"/>
                <a:ext cx="1091565" cy="457200"/>
              </a:xfrm>
              <a:prstGeom prst="roundRect">
                <a:avLst>
                  <a:gd name="adj" fmla="val 19444"/>
                </a:avLst>
              </a:prstGeom>
              <a:blipFill rotWithShape="1">
                <a:blip r:embed="rId21"/>
                <a:stretch>
                  <a:fillRect l="-524" t="-1250" r="-524" b="-1250"/>
                </a:stretch>
              </a:blipFill>
              <a:ln w="11430">
                <a:solidFill>
                  <a:srgbClr val="76206F"/>
                </a:solidFill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8" name="组合 67"/>
          <p:cNvGrpSpPr/>
          <p:nvPr/>
        </p:nvGrpSpPr>
        <p:grpSpPr>
          <a:xfrm>
            <a:off x="7567295" y="1123950"/>
            <a:ext cx="721360" cy="179070"/>
            <a:chOff x="11302" y="4436"/>
            <a:chExt cx="1136" cy="282"/>
          </a:xfrm>
        </p:grpSpPr>
        <p:sp>
          <p:nvSpPr>
            <p:cNvPr id="51" name="矩形 50"/>
            <p:cNvSpPr/>
            <p:nvPr/>
          </p:nvSpPr>
          <p:spPr>
            <a:xfrm>
              <a:off x="11302" y="4436"/>
              <a:ext cx="283" cy="283"/>
            </a:xfrm>
            <a:prstGeom prst="rect">
              <a:avLst/>
            </a:prstGeom>
            <a:solidFill>
              <a:srgbClr val="2F73E8"/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矩形 57"/>
            <p:cNvSpPr/>
            <p:nvPr/>
          </p:nvSpPr>
          <p:spPr>
            <a:xfrm>
              <a:off x="11590" y="4436"/>
              <a:ext cx="283" cy="283"/>
            </a:xfrm>
            <a:prstGeom prst="rect">
              <a:avLst/>
            </a:prstGeom>
            <a:solidFill>
              <a:srgbClr val="2F73E8"/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矩形 58"/>
            <p:cNvSpPr/>
            <p:nvPr/>
          </p:nvSpPr>
          <p:spPr>
            <a:xfrm>
              <a:off x="11873" y="4436"/>
              <a:ext cx="283" cy="283"/>
            </a:xfrm>
            <a:prstGeom prst="rect">
              <a:avLst/>
            </a:prstGeom>
            <a:solidFill>
              <a:srgbClr val="2F73E8"/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矩形 64"/>
            <p:cNvSpPr/>
            <p:nvPr/>
          </p:nvSpPr>
          <p:spPr>
            <a:xfrm>
              <a:off x="12156" y="4436"/>
              <a:ext cx="283" cy="283"/>
            </a:xfrm>
            <a:prstGeom prst="rect">
              <a:avLst/>
            </a:prstGeom>
            <a:solidFill>
              <a:srgbClr val="2F73E8"/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96" name="Student title"/>
          <p:cNvSpPr>
            <a:spLocks noGrp="1"/>
          </p:cNvSpPr>
          <p:nvPr/>
        </p:nvSpPr>
        <p:spPr>
          <a:xfrm>
            <a:off x="2707005" y="7677785"/>
            <a:ext cx="3996690" cy="3975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25" b="1">
                <a:solidFill>
                  <a:srgbClr val="188326"/>
                </a:solidFill>
              </a:defRPr>
            </a:pPr>
            <a:r>
              <a:rPr kumimoji="0" sz="2300" b="1" i="0" u="none" strike="noStrike" kern="1200" cap="none" spc="0" normalizeH="0" baseline="0" noProof="0" dirty="0">
                <a:ln>
                  <a:noFill/>
                </a:ln>
                <a:solidFill>
                  <a:srgbClr val="188326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rPr>
              <a:t>Student: lightweight LNN</a:t>
            </a:r>
            <a:endParaRPr kumimoji="0" sz="2300" b="1" i="0" u="none" strike="noStrike" kern="1200" cap="none" spc="0" normalizeH="0" baseline="0" noProof="0" dirty="0">
              <a:ln>
                <a:noFill/>
              </a:ln>
              <a:solidFill>
                <a:srgbClr val="188326"/>
              </a:solidFill>
              <a:effectLst/>
              <a:uLnTx/>
              <a:uFillTx/>
              <a:latin typeface="Comic Sans MS" panose="030F0702030302020204" pitchFamily="66" charset="0"/>
              <a:ea typeface="Calibri" panose="020F0502020204030204"/>
              <a:cs typeface="Calibri" panose="020F05020202040302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60" name="HS"/>
              <p:cNvSpPr>
                <a:spLocks noGrp="1"/>
              </p:cNvSpPr>
              <p:nvPr/>
            </p:nvSpPr>
            <p:spPr>
              <a:xfrm>
                <a:off x="1446530" y="5907405"/>
                <a:ext cx="428625" cy="2476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575" b="1">
                    <a:solidFill>
                      <a:srgbClr val="111111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20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sz="20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/>
                              <a:cs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kumimoji="0" lang="en-US" sz="20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/>
                              <a:cs typeface="Cambria Math" panose="02040503050406030204" pitchFamily="18" charset="0"/>
                            </a:rPr>
                            <m:t>𝑺</m:t>
                          </m:r>
                        </m:sub>
                      </m:sSub>
                    </m:oMath>
                  </m:oMathPara>
                </a14:m>
                <a:endParaRPr kumimoji="0" sz="2000" b="1" i="1" u="none" strike="noStrike" kern="1200" cap="none" spc="0" normalizeH="0" baseline="0" noProof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/>
                  <a:cs typeface="Calibri" panose="020F0502020204030204"/>
                </a:endParaRPr>
              </a:p>
            </p:txBody>
          </p:sp>
        </mc:Choice>
        <mc:Fallback>
          <p:sp>
            <p:nvSpPr>
              <p:cNvPr id="460" name="HS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6530" y="5907405"/>
                <a:ext cx="428625" cy="247650"/>
              </a:xfrm>
              <a:prstGeom prst="rect">
                <a:avLst/>
              </a:prstGeom>
              <a:blipFill rotWithShape="1">
                <a:blip r:embed="rId22"/>
                <a:stretch>
                  <a:fillRect b="-41538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1" name="student hidden"/>
          <p:cNvSpPr>
            <a:spLocks noGrp="1"/>
          </p:cNvSpPr>
          <p:nvPr/>
        </p:nvSpPr>
        <p:spPr>
          <a:xfrm>
            <a:off x="1962150" y="5919470"/>
            <a:ext cx="4133850" cy="409575"/>
          </a:xfrm>
          <a:prstGeom prst="roundRect">
            <a:avLst>
              <a:gd name="adj" fmla="val 13953"/>
            </a:avLst>
          </a:prstGeom>
          <a:solidFill>
            <a:srgbClr val="EFF9EB"/>
          </a:solidFill>
          <a:ln w="9525">
            <a:solidFill>
              <a:srgbClr val="55A83C"/>
            </a:solidFill>
            <a:prstDash val="dash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62" name="token-0"/>
          <p:cNvSpPr>
            <a:spLocks noGrp="1"/>
          </p:cNvSpPr>
          <p:nvPr/>
        </p:nvSpPr>
        <p:spPr>
          <a:xfrm>
            <a:off x="2162175" y="6014720"/>
            <a:ext cx="304800" cy="219075"/>
          </a:xfrm>
          <a:prstGeom prst="roundRect">
            <a:avLst>
              <a:gd name="adj" fmla="val 17391"/>
            </a:avLst>
          </a:prstGeom>
          <a:solidFill>
            <a:srgbClr val="43B94C"/>
          </a:solidFill>
          <a:ln w="9525">
            <a:solidFill>
              <a:srgbClr val="188326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63" name="token-label-0"/>
          <p:cNvSpPr>
            <a:spLocks noGrp="1"/>
          </p:cNvSpPr>
          <p:nvPr/>
        </p:nvSpPr>
        <p:spPr>
          <a:xfrm>
            <a:off x="2162175" y="6024245"/>
            <a:ext cx="304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1">
                <a:solidFill>
                  <a:srgbClr val="111111"/>
                </a:solidFill>
              </a:defRPr>
            </a:pPr>
            <a:r>
              <a:rPr kumimoji="0" sz="975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kumimoji="0" sz="975" b="1" i="0" u="none" strike="noStrike" kern="1200" cap="none" spc="0" normalizeH="0" baseline="0" noProof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464" name="token-1"/>
          <p:cNvSpPr>
            <a:spLocks noGrp="1"/>
          </p:cNvSpPr>
          <p:nvPr/>
        </p:nvSpPr>
        <p:spPr>
          <a:xfrm>
            <a:off x="2828925" y="6014720"/>
            <a:ext cx="304800" cy="219075"/>
          </a:xfrm>
          <a:prstGeom prst="roundRect">
            <a:avLst>
              <a:gd name="adj" fmla="val 17391"/>
            </a:avLst>
          </a:prstGeom>
          <a:solidFill>
            <a:srgbClr val="43B94C"/>
          </a:solidFill>
          <a:ln w="9525">
            <a:solidFill>
              <a:srgbClr val="188326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65" name="token-label-1"/>
          <p:cNvSpPr>
            <a:spLocks noGrp="1"/>
          </p:cNvSpPr>
          <p:nvPr/>
        </p:nvSpPr>
        <p:spPr>
          <a:xfrm>
            <a:off x="2828925" y="6024245"/>
            <a:ext cx="304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1">
                <a:solidFill>
                  <a:srgbClr val="111111"/>
                </a:solidFill>
              </a:defRPr>
            </a:pPr>
            <a:r>
              <a:rPr kumimoji="0" sz="975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kumimoji="0" sz="975" b="1" i="0" u="none" strike="noStrike" kern="1200" cap="none" spc="0" normalizeH="0" baseline="0" noProof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466" name="token-2"/>
          <p:cNvSpPr>
            <a:spLocks noGrp="1"/>
          </p:cNvSpPr>
          <p:nvPr/>
        </p:nvSpPr>
        <p:spPr>
          <a:xfrm>
            <a:off x="3495675" y="6014720"/>
            <a:ext cx="304800" cy="219075"/>
          </a:xfrm>
          <a:prstGeom prst="roundRect">
            <a:avLst>
              <a:gd name="adj" fmla="val 17391"/>
            </a:avLst>
          </a:prstGeom>
          <a:solidFill>
            <a:srgbClr val="43B94C"/>
          </a:solidFill>
          <a:ln w="9525">
            <a:solidFill>
              <a:srgbClr val="188326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67" name="token-label-2"/>
          <p:cNvSpPr>
            <a:spLocks noGrp="1"/>
          </p:cNvSpPr>
          <p:nvPr/>
        </p:nvSpPr>
        <p:spPr>
          <a:xfrm>
            <a:off x="3495675" y="6024245"/>
            <a:ext cx="304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1">
                <a:solidFill>
                  <a:srgbClr val="111111"/>
                </a:solidFill>
              </a:defRPr>
            </a:pPr>
            <a:r>
              <a:rPr kumimoji="0" sz="975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kumimoji="0" sz="975" b="1" i="0" u="none" strike="noStrike" kern="1200" cap="none" spc="0" normalizeH="0" baseline="0" noProof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468" name="token-3"/>
          <p:cNvSpPr>
            <a:spLocks noGrp="1"/>
          </p:cNvSpPr>
          <p:nvPr/>
        </p:nvSpPr>
        <p:spPr>
          <a:xfrm>
            <a:off x="4162425" y="6014720"/>
            <a:ext cx="304800" cy="219075"/>
          </a:xfrm>
          <a:prstGeom prst="roundRect">
            <a:avLst>
              <a:gd name="adj" fmla="val 17391"/>
            </a:avLst>
          </a:prstGeom>
          <a:solidFill>
            <a:srgbClr val="43B94C"/>
          </a:solidFill>
          <a:ln w="9525">
            <a:solidFill>
              <a:srgbClr val="188326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69" name="token-label-3"/>
          <p:cNvSpPr>
            <a:spLocks noGrp="1"/>
          </p:cNvSpPr>
          <p:nvPr/>
        </p:nvSpPr>
        <p:spPr>
          <a:xfrm>
            <a:off x="4162425" y="6024245"/>
            <a:ext cx="304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1">
                <a:solidFill>
                  <a:srgbClr val="111111"/>
                </a:solidFill>
              </a:defRPr>
            </a:pPr>
            <a:r>
              <a:rPr kumimoji="0" sz="975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·</a:t>
            </a:r>
            <a:endParaRPr kumimoji="0" sz="975" b="1" i="0" u="none" strike="noStrike" kern="1200" cap="none" spc="0" normalizeH="0" baseline="0" noProof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470" name="student dots"/>
          <p:cNvSpPr>
            <a:spLocks noGrp="1"/>
          </p:cNvSpPr>
          <p:nvPr/>
        </p:nvSpPr>
        <p:spPr>
          <a:xfrm>
            <a:off x="4991100" y="5995670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650" b="1">
                <a:solidFill>
                  <a:srgbClr val="111111"/>
                </a:solidFill>
              </a:defRPr>
            </a:pPr>
            <a:r>
              <a:rPr kumimoji="0" sz="1650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⋯</a:t>
            </a:r>
            <a:endParaRPr kumimoji="0" sz="1650" b="1" i="0" u="none" strike="noStrike" kern="1200" cap="none" spc="0" normalizeH="0" baseline="0" noProof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471" name="token-0"/>
          <p:cNvSpPr>
            <a:spLocks noGrp="1"/>
          </p:cNvSpPr>
          <p:nvPr/>
        </p:nvSpPr>
        <p:spPr>
          <a:xfrm>
            <a:off x="5610225" y="6014720"/>
            <a:ext cx="304800" cy="219075"/>
          </a:xfrm>
          <a:prstGeom prst="roundRect">
            <a:avLst>
              <a:gd name="adj" fmla="val 17391"/>
            </a:avLst>
          </a:prstGeom>
          <a:solidFill>
            <a:srgbClr val="43B94C"/>
          </a:solidFill>
          <a:ln w="9525">
            <a:solidFill>
              <a:srgbClr val="188326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72" name="token-label-0"/>
              <p:cNvSpPr>
                <a:spLocks noGrp="1"/>
              </p:cNvSpPr>
              <p:nvPr/>
            </p:nvSpPr>
            <p:spPr>
              <a:xfrm>
                <a:off x="5610225" y="6024245"/>
                <a:ext cx="304800" cy="2095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975" b="1">
                    <a:solidFill>
                      <a:srgbClr val="111111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975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sz="975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/>
                              <a:cs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kumimoji="0" lang="en-US" sz="975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/>
                              <a:cs typeface="Cambria Math" panose="02040503050406030204" pitchFamily="18" charset="0"/>
                            </a:rPr>
                            <m:t>𝑺</m:t>
                          </m:r>
                        </m:sub>
                      </m:sSub>
                    </m:oMath>
                  </m:oMathPara>
                </a14:m>
                <a:endParaRPr kumimoji="0" sz="975" b="1" i="0" u="none" strike="noStrike" kern="1200" cap="none" spc="0" normalizeH="0" baseline="0" noProof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/>
                  <a:cs typeface="Calibri" panose="020F0502020204030204"/>
                </a:endParaRPr>
              </a:p>
            </p:txBody>
          </p:sp>
        </mc:Choice>
        <mc:Fallback>
          <p:sp>
            <p:nvSpPr>
              <p:cNvPr id="472" name="token-label-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0225" y="6024245"/>
                <a:ext cx="304800" cy="209550"/>
              </a:xfrm>
              <a:prstGeom prst="rect">
                <a:avLst/>
              </a:prstGeom>
              <a:blipFill rotWithShape="1">
                <a:blip r:embed="rId23"/>
                <a:stretch>
                  <a:fillRect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0" name="anchor"/>
          <p:cNvSpPr>
            <a:spLocks noGrp="1"/>
          </p:cNvSpPr>
          <p:nvPr/>
        </p:nvSpPr>
        <p:spPr>
          <a:xfrm>
            <a:off x="8783955" y="79692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23" name="anchor"/>
          <p:cNvSpPr>
            <a:spLocks noGrp="1"/>
          </p:cNvSpPr>
          <p:nvPr/>
        </p:nvSpPr>
        <p:spPr>
          <a:xfrm>
            <a:off x="4269105" y="59118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cxnSp>
        <p:nvCxnSpPr>
          <p:cNvPr id="1275" name="直接箭头连接符 1274"/>
          <p:cNvCxnSpPr/>
          <p:nvPr/>
        </p:nvCxnSpPr>
        <p:spPr>
          <a:xfrm flipV="1">
            <a:off x="2973705" y="5596890"/>
            <a:ext cx="0" cy="280035"/>
          </a:xfrm>
          <a:prstGeom prst="straightConnector1">
            <a:avLst/>
          </a:prstGeom>
          <a:ln w="38100">
            <a:solidFill>
              <a:srgbClr val="FF6A00"/>
            </a:solidFill>
            <a:prstDash val="solid"/>
            <a:tailEnd type="triangle" w="med" len="med"/>
          </a:ln>
        </p:spPr>
      </p:cxnSp>
      <p:grpSp>
        <p:nvGrpSpPr>
          <p:cNvPr id="310" name="组合 309"/>
          <p:cNvGrpSpPr/>
          <p:nvPr/>
        </p:nvGrpSpPr>
        <p:grpSpPr>
          <a:xfrm>
            <a:off x="10320020" y="5830570"/>
            <a:ext cx="2076450" cy="2344420"/>
            <a:chOff x="14235" y="9023"/>
            <a:chExt cx="3270" cy="3692"/>
          </a:xfrm>
        </p:grpSpPr>
        <p:sp>
          <p:nvSpPr>
            <p:cNvPr id="589" name="Legend"/>
            <p:cNvSpPr>
              <a:spLocks noGrp="1"/>
            </p:cNvSpPr>
            <p:nvPr/>
          </p:nvSpPr>
          <p:spPr>
            <a:xfrm>
              <a:off x="14235" y="9023"/>
              <a:ext cx="3269" cy="3693"/>
            </a:xfrm>
            <a:prstGeom prst="roundRect">
              <a:avLst>
                <a:gd name="adj" fmla="val 8000"/>
              </a:avLst>
            </a:prstGeom>
            <a:pattFill prst="pct10">
              <a:fgClr>
                <a:schemeClr val="bg2">
                  <a:lumMod val="90000"/>
                </a:schemeClr>
              </a:fgClr>
              <a:bgClr>
                <a:schemeClr val="bg1"/>
              </a:bgClr>
            </a:pattFill>
            <a:ln w="11430">
              <a:solidFill>
                <a:srgbClr val="777777"/>
              </a:solidFill>
              <a:prstDash val="dash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grpSp>
          <p:nvGrpSpPr>
            <p:cNvPr id="86" name="组合 85"/>
            <p:cNvGrpSpPr/>
            <p:nvPr/>
          </p:nvGrpSpPr>
          <p:grpSpPr>
            <a:xfrm rot="0">
              <a:off x="14369" y="11755"/>
              <a:ext cx="3136" cy="780"/>
              <a:chOff x="18512" y="12013"/>
              <a:chExt cx="3136" cy="653"/>
            </a:xfrm>
          </p:grpSpPr>
          <p:sp>
            <p:nvSpPr>
              <p:cNvPr id="601" name="leg3"/>
              <p:cNvSpPr>
                <a:spLocks noGrp="1"/>
              </p:cNvSpPr>
              <p:nvPr/>
            </p:nvSpPr>
            <p:spPr>
              <a:xfrm>
                <a:off x="19352" y="12013"/>
                <a:ext cx="2296" cy="653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975" b="0">
                    <a:solidFill>
                      <a:srgbClr val="111111"/>
                    </a:solidFill>
                  </a:defRPr>
                </a:pPr>
                <a:r>
                  <a:rPr kumimoji="0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Calibri" panose="020F0502020204030204"/>
                    <a:cs typeface="Calibri" panose="020F0502020204030204"/>
                  </a:rPr>
                  <a:t>TS-T </a:t>
                </a:r>
                <a:r>
                  <a:rPr kumimoji="0" 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Calibri" panose="020F0502020204030204"/>
                    <a:cs typeface="Calibri" panose="020F0502020204030204"/>
                  </a:rPr>
                  <a:t>KL </a:t>
                </a: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Calibri" panose="020F0502020204030204"/>
                    <a:cs typeface="Calibri" panose="020F0502020204030204"/>
                  </a:rPr>
                  <a:t>divergence</a:t>
                </a:r>
                <a:endParaRPr kumimoji="0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endParaRPr>
              </a:p>
            </p:txBody>
          </p:sp>
          <p:cxnSp>
            <p:nvCxnSpPr>
              <p:cNvPr id="1251" name="直接箭头连接符 1250"/>
              <p:cNvCxnSpPr/>
              <p:nvPr/>
            </p:nvCxnSpPr>
            <p:spPr>
              <a:xfrm>
                <a:off x="18512" y="12391"/>
                <a:ext cx="690" cy="0"/>
              </a:xfrm>
              <a:prstGeom prst="straightConnector1">
                <a:avLst/>
              </a:prstGeom>
              <a:ln w="18098">
                <a:solidFill>
                  <a:srgbClr val="7A35CC"/>
                </a:solidFill>
                <a:prstDash val="dash"/>
                <a:headEnd type="triangle"/>
                <a:tailEnd type="triangle" w="med" len="med"/>
              </a:ln>
            </p:spPr>
          </p:cxnSp>
        </p:grpSp>
        <p:grpSp>
          <p:nvGrpSpPr>
            <p:cNvPr id="77" name="组合 76"/>
            <p:cNvGrpSpPr/>
            <p:nvPr/>
          </p:nvGrpSpPr>
          <p:grpSpPr>
            <a:xfrm rot="0">
              <a:off x="14493" y="9901"/>
              <a:ext cx="2139" cy="560"/>
              <a:chOff x="18843" y="10938"/>
              <a:chExt cx="2139" cy="469"/>
            </a:xfrm>
          </p:grpSpPr>
          <p:pic>
            <p:nvPicPr>
              <p:cNvPr id="111" name="图片 110"/>
              <p:cNvPicPr>
                <a:picLocks noChangeAspect="1"/>
              </p:cNvPicPr>
              <p:nvPr/>
            </p:nvPicPr>
            <p:blipFill>
              <a:blip r:embed="rId2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8843" y="10938"/>
                <a:ext cx="469" cy="469"/>
              </a:xfrm>
              <a:prstGeom prst="rect">
                <a:avLst/>
              </a:prstGeom>
            </p:spPr>
          </p:pic>
          <p:sp>
            <p:nvSpPr>
              <p:cNvPr id="114" name="leg1"/>
              <p:cNvSpPr>
                <a:spLocks noGrp="1"/>
              </p:cNvSpPr>
              <p:nvPr/>
            </p:nvSpPr>
            <p:spPr>
              <a:xfrm>
                <a:off x="19409" y="10938"/>
                <a:ext cx="1573" cy="358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975" b="0">
                    <a:solidFill>
                      <a:srgbClr val="111111"/>
                    </a:solidFill>
                  </a:defRPr>
                </a:pPr>
                <a:r>
                  <a:rPr kumimoji="0" 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Calibri" panose="020F0502020204030204"/>
                    <a:cs typeface="Calibri" panose="020F0502020204030204"/>
                  </a:rPr>
                  <a:t>F</a:t>
                </a: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Calibri" panose="020F0502020204030204"/>
                    <a:cs typeface="Calibri" panose="020F0502020204030204"/>
                  </a:rPr>
                  <a:t>rozen</a:t>
                </a:r>
                <a:endParaRPr kumimoji="0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endParaRPr>
              </a:p>
            </p:txBody>
          </p:sp>
        </p:grpSp>
        <p:grpSp>
          <p:nvGrpSpPr>
            <p:cNvPr id="75" name="组合 74"/>
            <p:cNvGrpSpPr/>
            <p:nvPr/>
          </p:nvGrpSpPr>
          <p:grpSpPr>
            <a:xfrm rot="0">
              <a:off x="14470" y="9150"/>
              <a:ext cx="2366" cy="562"/>
              <a:chOff x="18811" y="10287"/>
              <a:chExt cx="2366" cy="471"/>
            </a:xfrm>
          </p:grpSpPr>
          <p:pic>
            <p:nvPicPr>
              <p:cNvPr id="83" name="图片 82"/>
              <p:cNvPicPr>
                <a:picLocks noChangeAspect="1"/>
              </p:cNvPicPr>
              <p:nvPr/>
            </p:nvPicPr>
            <p:blipFill>
              <a:blip r:embed="rId2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8811" y="10287"/>
                <a:ext cx="471" cy="471"/>
              </a:xfrm>
              <a:prstGeom prst="rect">
                <a:avLst/>
              </a:prstGeom>
            </p:spPr>
          </p:pic>
          <p:sp>
            <p:nvSpPr>
              <p:cNvPr id="85" name="leg1"/>
              <p:cNvSpPr>
                <a:spLocks noGrp="1"/>
              </p:cNvSpPr>
              <p:nvPr/>
            </p:nvSpPr>
            <p:spPr>
              <a:xfrm>
                <a:off x="19251" y="10314"/>
                <a:ext cx="1926" cy="442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975" b="0">
                    <a:solidFill>
                      <a:srgbClr val="111111"/>
                    </a:solidFill>
                  </a:defRPr>
                </a:pPr>
                <a:r>
                  <a:rPr kumimoji="0" 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Calibri" panose="020F0502020204030204"/>
                    <a:cs typeface="Calibri" panose="020F0502020204030204"/>
                  </a:rPr>
                  <a:t>T</a:t>
                </a: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Calibri" panose="020F0502020204030204"/>
                    <a:cs typeface="Calibri" panose="020F0502020204030204"/>
                  </a:rPr>
                  <a:t>rainable</a:t>
                </a:r>
                <a:endParaRPr kumimoji="0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endParaRPr>
              </a:p>
            </p:txBody>
          </p:sp>
        </p:grpSp>
        <p:grpSp>
          <p:nvGrpSpPr>
            <p:cNvPr id="84" name="组合 83"/>
            <p:cNvGrpSpPr/>
            <p:nvPr/>
          </p:nvGrpSpPr>
          <p:grpSpPr>
            <a:xfrm rot="0">
              <a:off x="14369" y="10601"/>
              <a:ext cx="3136" cy="1270"/>
              <a:chOff x="18530" y="9830"/>
              <a:chExt cx="3136" cy="1064"/>
            </a:xfrm>
          </p:grpSpPr>
          <p:sp>
            <p:nvSpPr>
              <p:cNvPr id="81" name="leg2"/>
              <p:cNvSpPr>
                <a:spLocks noGrp="1"/>
              </p:cNvSpPr>
              <p:nvPr/>
            </p:nvSpPr>
            <p:spPr>
              <a:xfrm>
                <a:off x="19371" y="9830"/>
                <a:ext cx="2295" cy="1064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975" b="0">
                    <a:solidFill>
                      <a:srgbClr val="111111"/>
                    </a:solidFill>
                  </a:defRPr>
                </a:pPr>
                <a:r>
                  <a:rPr kumimoji="0" 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Calibri" panose="020F0502020204030204"/>
                    <a:cs typeface="Calibri" panose="020F0502020204030204"/>
                  </a:rPr>
                  <a:t>MemKD Smooth L1 Loss</a:t>
                </a:r>
                <a:endParaRPr kumimoji="0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endParaRPr>
              </a:p>
            </p:txBody>
          </p:sp>
          <p:cxnSp>
            <p:nvCxnSpPr>
              <p:cNvPr id="82" name="直接箭头连接符 81"/>
              <p:cNvCxnSpPr/>
              <p:nvPr/>
            </p:nvCxnSpPr>
            <p:spPr>
              <a:xfrm>
                <a:off x="18530" y="10132"/>
                <a:ext cx="690" cy="0"/>
              </a:xfrm>
              <a:prstGeom prst="straightConnector1">
                <a:avLst/>
              </a:prstGeom>
              <a:ln w="18098">
                <a:solidFill>
                  <a:srgbClr val="FF6A00"/>
                </a:solidFill>
                <a:prstDash val="dash"/>
                <a:headEnd type="triangle"/>
                <a:tailEnd type="triangle" w="med" len="med"/>
              </a:ln>
            </p:spPr>
          </p:cxnSp>
        </p:grpSp>
        <p:sp>
          <p:nvSpPr>
            <p:cNvPr id="527" name="anchor"/>
            <p:cNvSpPr>
              <a:spLocks noGrp="1"/>
            </p:cNvSpPr>
            <p:nvPr/>
          </p:nvSpPr>
          <p:spPr>
            <a:xfrm>
              <a:off x="14298" y="12206"/>
              <a:ext cx="30" cy="36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643" name="anchor"/>
            <p:cNvSpPr>
              <a:spLocks noGrp="1"/>
            </p:cNvSpPr>
            <p:nvPr/>
          </p:nvSpPr>
          <p:spPr>
            <a:xfrm>
              <a:off x="14268" y="12400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</p:grpSp>
      <p:sp>
        <p:nvSpPr>
          <p:cNvPr id="650" name="anchor"/>
          <p:cNvSpPr>
            <a:spLocks noGrp="1"/>
          </p:cNvSpPr>
          <p:nvPr/>
        </p:nvSpPr>
        <p:spPr>
          <a:xfrm>
            <a:off x="8412480" y="74358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48" name="组合 47"/>
          <p:cNvGrpSpPr/>
          <p:nvPr/>
        </p:nvGrpSpPr>
        <p:grpSpPr>
          <a:xfrm rot="0">
            <a:off x="1556385" y="6731635"/>
            <a:ext cx="6629400" cy="1200150"/>
            <a:chOff x="2970" y="11400"/>
            <a:chExt cx="10440" cy="1890"/>
          </a:xfrm>
        </p:grpSpPr>
        <p:sp>
          <p:nvSpPr>
            <p:cNvPr id="397" name="module-1D CNN&#10;encoder"/>
            <p:cNvSpPr>
              <a:spLocks noGrp="1"/>
            </p:cNvSpPr>
            <p:nvPr/>
          </p:nvSpPr>
          <p:spPr>
            <a:xfrm>
              <a:off x="3330" y="11400"/>
              <a:ext cx="1665" cy="1890"/>
            </a:xfrm>
            <a:prstGeom prst="roundRect">
              <a:avLst>
                <a:gd name="adj" fmla="val 9009"/>
              </a:avLst>
            </a:prstGeom>
            <a:solidFill>
              <a:srgbClr val="FFFFFF"/>
            </a:solidFill>
            <a:ln w="14288">
              <a:solidFill>
                <a:srgbClr val="55A83C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98" name="module-title-1D CNN&#10;encoder"/>
            <p:cNvSpPr>
              <a:spLocks noGrp="1"/>
            </p:cNvSpPr>
            <p:nvPr/>
          </p:nvSpPr>
          <p:spPr>
            <a:xfrm>
              <a:off x="3161" y="11400"/>
              <a:ext cx="1812" cy="772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425" b="1">
                  <a:solidFill>
                    <a:srgbClr val="111111"/>
                  </a:solidFill>
                </a:defRPr>
              </a:pPr>
              <a:r>
                <a:rPr kumimoji="0" sz="1600" b="1" i="0" u="none" strike="noStrike" kern="1200" cap="none" spc="0" normalizeH="0" baseline="0" noProof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omic Sans MS" panose="030F0702030302020204" pitchFamily="66" charset="0"/>
                </a:rPr>
                <a:t>1D CNN</a:t>
              </a:r>
              <a:endParaRPr kumimoji="0" sz="1600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omic Sans MS" panose="030F0702030302020204" pitchFamily="66" charset="0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425" b="1">
                  <a:solidFill>
                    <a:srgbClr val="111111"/>
                  </a:solidFill>
                </a:defRPr>
              </a:pPr>
              <a:r>
                <a:rPr kumimoji="0" sz="1600" b="1" i="0" u="none" strike="noStrike" kern="1200" cap="none" spc="0" normalizeH="0" baseline="0" noProof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omic Sans MS" panose="030F0702030302020204" pitchFamily="66" charset="0"/>
                </a:rPr>
                <a:t>encoder</a:t>
              </a:r>
              <a:endParaRPr kumimoji="0" sz="1600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omic Sans MS" panose="030F0702030302020204" pitchFamily="66" charset="0"/>
              </a:endParaRPr>
            </a:p>
          </p:txBody>
        </p:sp>
        <p:sp>
          <p:nvSpPr>
            <p:cNvPr id="402" name="anchor"/>
            <p:cNvSpPr>
              <a:spLocks noGrp="1"/>
            </p:cNvSpPr>
            <p:nvPr/>
          </p:nvSpPr>
          <p:spPr>
            <a:xfrm>
              <a:off x="4065" y="1255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03" name="anchor"/>
            <p:cNvSpPr>
              <a:spLocks noGrp="1"/>
            </p:cNvSpPr>
            <p:nvPr/>
          </p:nvSpPr>
          <p:spPr>
            <a:xfrm>
              <a:off x="4290" y="1237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05" name="anchor"/>
            <p:cNvSpPr>
              <a:spLocks noGrp="1"/>
            </p:cNvSpPr>
            <p:nvPr/>
          </p:nvSpPr>
          <p:spPr>
            <a:xfrm>
              <a:off x="4380" y="12600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06" name="anchor"/>
            <p:cNvSpPr>
              <a:spLocks noGrp="1"/>
            </p:cNvSpPr>
            <p:nvPr/>
          </p:nvSpPr>
          <p:spPr>
            <a:xfrm>
              <a:off x="4635" y="12420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45" name="module-Classifier"/>
            <p:cNvSpPr>
              <a:spLocks noGrp="1"/>
            </p:cNvSpPr>
            <p:nvPr/>
          </p:nvSpPr>
          <p:spPr>
            <a:xfrm>
              <a:off x="10980" y="11400"/>
              <a:ext cx="1605" cy="1890"/>
            </a:xfrm>
            <a:prstGeom prst="roundRect">
              <a:avLst>
                <a:gd name="adj" fmla="val 9346"/>
              </a:avLst>
            </a:prstGeom>
            <a:solidFill>
              <a:srgbClr val="FFFFFF"/>
            </a:solidFill>
            <a:ln w="14288">
              <a:solidFill>
                <a:srgbClr val="55A83C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46" name="module-title-Classifier"/>
            <p:cNvSpPr>
              <a:spLocks noGrp="1"/>
            </p:cNvSpPr>
            <p:nvPr/>
          </p:nvSpPr>
          <p:spPr>
            <a:xfrm>
              <a:off x="10869" y="11400"/>
              <a:ext cx="1821" cy="361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425" b="1">
                  <a:solidFill>
                    <a:srgbClr val="111111"/>
                  </a:solidFill>
                </a:defRPr>
              </a:pPr>
              <a:r>
                <a:rPr kumimoji="0" sz="1600" b="1" i="0" u="none" strike="noStrike" kern="1200" cap="none" spc="0" normalizeH="0" baseline="0" noProof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omic Sans MS" panose="030F0702030302020204" pitchFamily="66" charset="0"/>
                </a:rPr>
                <a:t>Classifier</a:t>
              </a:r>
              <a:endParaRPr kumimoji="0" sz="1600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omic Sans MS" panose="030F0702030302020204" pitchFamily="66" charset="0"/>
              </a:endParaRPr>
            </a:p>
          </p:txBody>
        </p:sp>
        <p:sp>
          <p:nvSpPr>
            <p:cNvPr id="447" name="bar-0"/>
            <p:cNvSpPr>
              <a:spLocks noGrp="1"/>
            </p:cNvSpPr>
            <p:nvPr/>
          </p:nvSpPr>
          <p:spPr>
            <a:xfrm>
              <a:off x="11182" y="12602"/>
              <a:ext cx="135" cy="304"/>
            </a:xfrm>
            <a:prstGeom prst="rect">
              <a:avLst/>
            </a:prstGeom>
            <a:solidFill>
              <a:srgbClr val="55A83C"/>
            </a:solidFill>
            <a:ln w="9525">
              <a:solidFill>
                <a:srgbClr val="55A83C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48" name="bar-1"/>
            <p:cNvSpPr>
              <a:spLocks noGrp="1"/>
            </p:cNvSpPr>
            <p:nvPr/>
          </p:nvSpPr>
          <p:spPr>
            <a:xfrm>
              <a:off x="11497" y="12367"/>
              <a:ext cx="135" cy="539"/>
            </a:xfrm>
            <a:prstGeom prst="rect">
              <a:avLst/>
            </a:prstGeom>
            <a:solidFill>
              <a:srgbClr val="55A83C"/>
            </a:solidFill>
            <a:ln w="9525">
              <a:solidFill>
                <a:srgbClr val="55A83C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49" name="bar-2"/>
            <p:cNvSpPr>
              <a:spLocks noGrp="1"/>
            </p:cNvSpPr>
            <p:nvPr/>
          </p:nvSpPr>
          <p:spPr>
            <a:xfrm>
              <a:off x="11812" y="12080"/>
              <a:ext cx="135" cy="827"/>
            </a:xfrm>
            <a:prstGeom prst="rect">
              <a:avLst/>
            </a:prstGeom>
            <a:solidFill>
              <a:srgbClr val="55A83C"/>
            </a:solidFill>
            <a:ln w="9525">
              <a:solidFill>
                <a:srgbClr val="55A83C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50" name="bar-3"/>
            <p:cNvSpPr>
              <a:spLocks noGrp="1"/>
            </p:cNvSpPr>
            <p:nvPr/>
          </p:nvSpPr>
          <p:spPr>
            <a:xfrm>
              <a:off x="12127" y="12367"/>
              <a:ext cx="135" cy="539"/>
            </a:xfrm>
            <a:prstGeom prst="rect">
              <a:avLst/>
            </a:prstGeom>
            <a:solidFill>
              <a:srgbClr val="55A83C"/>
            </a:solidFill>
            <a:ln w="9525">
              <a:solidFill>
                <a:srgbClr val="55A83C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51" name="anchor"/>
            <p:cNvSpPr>
              <a:spLocks noGrp="1"/>
            </p:cNvSpPr>
            <p:nvPr/>
          </p:nvSpPr>
          <p:spPr>
            <a:xfrm>
              <a:off x="4995" y="1225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cxnSp>
          <p:nvCxnSpPr>
            <p:cNvPr id="1104" name="直接箭头连接符 1103"/>
            <p:cNvCxnSpPr>
              <a:stCxn id="451" idx="6"/>
              <a:endCxn id="452" idx="2"/>
            </p:cNvCxnSpPr>
            <p:nvPr/>
          </p:nvCxnSpPr>
          <p:spPr>
            <a:xfrm>
              <a:off x="5025" y="12270"/>
              <a:ext cx="330" cy="0"/>
            </a:xfrm>
            <a:prstGeom prst="straightConnector1">
              <a:avLst/>
            </a:prstGeom>
            <a:ln w="20955">
              <a:solidFill>
                <a:srgbClr val="111111"/>
              </a:solidFill>
              <a:prstDash val="solid"/>
              <a:tailEnd type="triangle" w="med" len="med"/>
            </a:ln>
          </p:spPr>
        </p:cxnSp>
        <p:cxnSp>
          <p:nvCxnSpPr>
            <p:cNvPr id="1107" name="直接箭头连接符 1106"/>
            <p:cNvCxnSpPr>
              <a:stCxn id="454" idx="6"/>
              <a:endCxn id="455" idx="2"/>
            </p:cNvCxnSpPr>
            <p:nvPr/>
          </p:nvCxnSpPr>
          <p:spPr>
            <a:xfrm>
              <a:off x="8115" y="12270"/>
              <a:ext cx="315" cy="0"/>
            </a:xfrm>
            <a:prstGeom prst="straightConnector1">
              <a:avLst/>
            </a:prstGeom>
            <a:ln w="20955">
              <a:solidFill>
                <a:srgbClr val="111111"/>
              </a:solidFill>
              <a:prstDash val="solid"/>
              <a:tailEnd type="triangle" w="med" len="med"/>
            </a:ln>
          </p:spPr>
        </p:cxnSp>
        <p:sp>
          <p:nvSpPr>
            <p:cNvPr id="458" name="anchor"/>
            <p:cNvSpPr>
              <a:spLocks noGrp="1"/>
            </p:cNvSpPr>
            <p:nvPr/>
          </p:nvSpPr>
          <p:spPr>
            <a:xfrm>
              <a:off x="10965" y="1225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cxnSp>
          <p:nvCxnSpPr>
            <p:cNvPr id="1110" name="直接箭头连接符 1109"/>
            <p:cNvCxnSpPr>
              <a:stCxn id="457" idx="6"/>
              <a:endCxn id="458" idx="2"/>
            </p:cNvCxnSpPr>
            <p:nvPr/>
          </p:nvCxnSpPr>
          <p:spPr>
            <a:xfrm>
              <a:off x="10650" y="12270"/>
              <a:ext cx="315" cy="0"/>
            </a:xfrm>
            <a:prstGeom prst="straightConnector1">
              <a:avLst/>
            </a:prstGeom>
            <a:ln w="20955">
              <a:solidFill>
                <a:srgbClr val="111111"/>
              </a:solidFill>
              <a:prstDash val="solid"/>
              <a:tailEnd type="triangle" w="med" len="med"/>
            </a:ln>
          </p:spPr>
        </p:cxnSp>
        <p:sp>
          <p:nvSpPr>
            <p:cNvPr id="617" name="anchor"/>
            <p:cNvSpPr>
              <a:spLocks noGrp="1"/>
            </p:cNvSpPr>
            <p:nvPr/>
          </p:nvSpPr>
          <p:spPr>
            <a:xfrm>
              <a:off x="2970" y="1222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646" name="anchor"/>
            <p:cNvSpPr>
              <a:spLocks noGrp="1"/>
            </p:cNvSpPr>
            <p:nvPr/>
          </p:nvSpPr>
          <p:spPr>
            <a:xfrm>
              <a:off x="12570" y="12240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647" name="anchor"/>
            <p:cNvSpPr>
              <a:spLocks noGrp="1"/>
            </p:cNvSpPr>
            <p:nvPr/>
          </p:nvSpPr>
          <p:spPr>
            <a:xfrm>
              <a:off x="13125" y="12240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649" name="anchor"/>
            <p:cNvSpPr>
              <a:spLocks noGrp="1"/>
            </p:cNvSpPr>
            <p:nvPr/>
          </p:nvSpPr>
          <p:spPr>
            <a:xfrm>
              <a:off x="12570" y="1300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cxnSp>
          <p:nvCxnSpPr>
            <p:cNvPr id="1302" name="直接箭头连接符 1301"/>
            <p:cNvCxnSpPr>
              <a:stCxn id="649" idx="6"/>
              <a:endCxn id="650" idx="2"/>
            </p:cNvCxnSpPr>
            <p:nvPr/>
          </p:nvCxnSpPr>
          <p:spPr>
            <a:xfrm>
              <a:off x="12600" y="13020"/>
              <a:ext cx="810" cy="0"/>
            </a:xfrm>
            <a:prstGeom prst="straightConnector1">
              <a:avLst/>
            </a:prstGeom>
            <a:ln w="20955">
              <a:solidFill>
                <a:srgbClr val="111111"/>
              </a:solidFill>
              <a:prstDash val="solid"/>
              <a:tailEnd type="triangle" w="med" len="med"/>
            </a:ln>
          </p:spPr>
        </p:cxnSp>
        <p:sp>
          <p:nvSpPr>
            <p:cNvPr id="241" name="立方体 240"/>
            <p:cNvSpPr/>
            <p:nvPr/>
          </p:nvSpPr>
          <p:spPr>
            <a:xfrm>
              <a:off x="3554" y="12384"/>
              <a:ext cx="600" cy="798"/>
            </a:xfrm>
            <a:prstGeom prst="cube">
              <a:avLst>
                <a:gd name="adj" fmla="val 60185"/>
              </a:avLst>
            </a:prstGeom>
            <a:solidFill>
              <a:srgbClr val="A4D197"/>
            </a:solidFill>
            <a:ln>
              <a:solidFill>
                <a:srgbClr val="55A83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244" name="立方体 243"/>
            <p:cNvSpPr/>
            <p:nvPr/>
          </p:nvSpPr>
          <p:spPr>
            <a:xfrm>
              <a:off x="4274" y="12570"/>
              <a:ext cx="478" cy="564"/>
            </a:xfrm>
            <a:prstGeom prst="cube">
              <a:avLst>
                <a:gd name="adj" fmla="val 47419"/>
              </a:avLst>
            </a:prstGeom>
            <a:solidFill>
              <a:srgbClr val="A4D197"/>
            </a:solidFill>
            <a:ln>
              <a:solidFill>
                <a:srgbClr val="55A83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grpSp>
          <p:nvGrpSpPr>
            <p:cNvPr id="42" name="组合 41"/>
            <p:cNvGrpSpPr/>
            <p:nvPr/>
          </p:nvGrpSpPr>
          <p:grpSpPr>
            <a:xfrm>
              <a:off x="5355" y="11910"/>
              <a:ext cx="2760" cy="855"/>
              <a:chOff x="5355" y="11910"/>
              <a:chExt cx="2760" cy="855"/>
            </a:xfrm>
          </p:grpSpPr>
          <p:sp>
            <p:nvSpPr>
              <p:cNvPr id="408" name="module-BPCSCfC"/>
              <p:cNvSpPr>
                <a:spLocks noGrp="1"/>
              </p:cNvSpPr>
              <p:nvPr/>
            </p:nvSpPr>
            <p:spPr>
              <a:xfrm>
                <a:off x="5370" y="11910"/>
                <a:ext cx="2715" cy="693"/>
              </a:xfrm>
              <a:prstGeom prst="roundRect">
                <a:avLst>
                  <a:gd name="adj" fmla="val 7353"/>
                </a:avLst>
              </a:prstGeom>
              <a:solidFill>
                <a:srgbClr val="FFFFFF"/>
              </a:solidFill>
              <a:ln w="14288">
                <a:solidFill>
                  <a:srgbClr val="55A83C"/>
                </a:solidFill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409" name="module-title-BPCSCfC"/>
              <p:cNvSpPr>
                <a:spLocks noGrp="1"/>
              </p:cNvSpPr>
              <p:nvPr/>
            </p:nvSpPr>
            <p:spPr>
              <a:xfrm>
                <a:off x="5862" y="12077"/>
                <a:ext cx="1731" cy="36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425" b="1">
                    <a:solidFill>
                      <a:srgbClr val="111111"/>
                    </a:solidFill>
                  </a:defRPr>
                </a:pPr>
                <a:r>
                  <a:rPr kumimoji="0" sz="1600" b="1" i="0" u="none" strike="noStrike" kern="1200" cap="none" spc="0" normalizeH="0" baseline="0" noProof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Calibri" panose="020F0502020204030204"/>
                    <a:cs typeface="Comic Sans MS" panose="030F0702030302020204" pitchFamily="66" charset="0"/>
                  </a:rPr>
                  <a:t>BPCSCfC</a:t>
                </a:r>
                <a:endParaRPr kumimoji="0" sz="1600" b="1" i="0" u="none" strike="noStrike" kern="1200" cap="none" spc="0" normalizeH="0" baseline="0" noProof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omic Sans MS" panose="030F0702030302020204" pitchFamily="66" charset="0"/>
                </a:endParaRPr>
              </a:p>
            </p:txBody>
          </p:sp>
          <p:sp>
            <p:nvSpPr>
              <p:cNvPr id="419" name="anchor"/>
              <p:cNvSpPr>
                <a:spLocks noGrp="1"/>
              </p:cNvSpPr>
              <p:nvPr/>
            </p:nvSpPr>
            <p:spPr>
              <a:xfrm>
                <a:off x="5880" y="12270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420" name="anchor"/>
              <p:cNvSpPr>
                <a:spLocks noGrp="1"/>
              </p:cNvSpPr>
              <p:nvPr/>
            </p:nvSpPr>
            <p:spPr>
              <a:xfrm>
                <a:off x="6450" y="12735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422" name="anchor"/>
              <p:cNvSpPr>
                <a:spLocks noGrp="1"/>
              </p:cNvSpPr>
              <p:nvPr/>
            </p:nvSpPr>
            <p:spPr>
              <a:xfrm>
                <a:off x="6450" y="12270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423" name="anchor"/>
              <p:cNvSpPr>
                <a:spLocks noGrp="1"/>
              </p:cNvSpPr>
              <p:nvPr/>
            </p:nvSpPr>
            <p:spPr>
              <a:xfrm>
                <a:off x="5880" y="12735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426" name="anchor"/>
              <p:cNvSpPr>
                <a:spLocks noGrp="1"/>
              </p:cNvSpPr>
              <p:nvPr/>
            </p:nvSpPr>
            <p:spPr>
              <a:xfrm>
                <a:off x="7005" y="12735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428" name="anchor"/>
              <p:cNvSpPr>
                <a:spLocks noGrp="1"/>
              </p:cNvSpPr>
              <p:nvPr/>
            </p:nvSpPr>
            <p:spPr>
              <a:xfrm>
                <a:off x="7005" y="12270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429" name="anchor"/>
              <p:cNvSpPr>
                <a:spLocks noGrp="1"/>
              </p:cNvSpPr>
              <p:nvPr/>
            </p:nvSpPr>
            <p:spPr>
              <a:xfrm>
                <a:off x="6450" y="12735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431" name="anchor"/>
              <p:cNvSpPr>
                <a:spLocks noGrp="1"/>
              </p:cNvSpPr>
              <p:nvPr/>
            </p:nvSpPr>
            <p:spPr>
              <a:xfrm>
                <a:off x="7005" y="12270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432" name="anchor"/>
              <p:cNvSpPr>
                <a:spLocks noGrp="1"/>
              </p:cNvSpPr>
              <p:nvPr/>
            </p:nvSpPr>
            <p:spPr>
              <a:xfrm>
                <a:off x="7815" y="12735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434" name="anchor"/>
              <p:cNvSpPr>
                <a:spLocks noGrp="1"/>
              </p:cNvSpPr>
              <p:nvPr/>
            </p:nvSpPr>
            <p:spPr>
              <a:xfrm>
                <a:off x="7815" y="12270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435" name="anchor"/>
              <p:cNvSpPr>
                <a:spLocks noGrp="1"/>
              </p:cNvSpPr>
              <p:nvPr/>
            </p:nvSpPr>
            <p:spPr>
              <a:xfrm>
                <a:off x="7005" y="12735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452" name="anchor"/>
              <p:cNvSpPr>
                <a:spLocks noGrp="1"/>
              </p:cNvSpPr>
              <p:nvPr/>
            </p:nvSpPr>
            <p:spPr>
              <a:xfrm>
                <a:off x="5355" y="12255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454" name="anchor"/>
              <p:cNvSpPr>
                <a:spLocks noGrp="1"/>
              </p:cNvSpPr>
              <p:nvPr/>
            </p:nvSpPr>
            <p:spPr>
              <a:xfrm>
                <a:off x="8085" y="12255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</p:grpSp>
        <p:grpSp>
          <p:nvGrpSpPr>
            <p:cNvPr id="45" name="组合 44"/>
            <p:cNvGrpSpPr/>
            <p:nvPr/>
          </p:nvGrpSpPr>
          <p:grpSpPr>
            <a:xfrm>
              <a:off x="8430" y="11894"/>
              <a:ext cx="2220" cy="736"/>
              <a:chOff x="8430" y="11894"/>
              <a:chExt cx="2220" cy="736"/>
            </a:xfrm>
          </p:grpSpPr>
          <p:sp>
            <p:nvSpPr>
              <p:cNvPr id="438" name="module-DRASP"/>
              <p:cNvSpPr>
                <a:spLocks noGrp="1"/>
              </p:cNvSpPr>
              <p:nvPr/>
            </p:nvSpPr>
            <p:spPr>
              <a:xfrm>
                <a:off x="8460" y="11894"/>
                <a:ext cx="2175" cy="736"/>
              </a:xfrm>
              <a:prstGeom prst="roundRect">
                <a:avLst>
                  <a:gd name="adj" fmla="val 7353"/>
                </a:avLst>
              </a:prstGeom>
              <a:solidFill>
                <a:srgbClr val="FFFFFF"/>
              </a:solidFill>
              <a:ln w="14288">
                <a:solidFill>
                  <a:srgbClr val="55A83C"/>
                </a:solidFill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439" name="module-title-DRASP"/>
              <p:cNvSpPr>
                <a:spLocks noGrp="1"/>
              </p:cNvSpPr>
              <p:nvPr/>
            </p:nvSpPr>
            <p:spPr>
              <a:xfrm>
                <a:off x="8535" y="12077"/>
                <a:ext cx="1995" cy="36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425" b="1">
                    <a:solidFill>
                      <a:srgbClr val="111111"/>
                    </a:solidFill>
                  </a:defRPr>
                </a:pPr>
                <a:r>
                  <a:rPr kumimoji="0" sz="1600" b="1" i="0" u="none" strike="noStrike" kern="1200" cap="none" spc="0" normalizeH="0" baseline="0" noProof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Calibri" panose="020F0502020204030204"/>
                    <a:cs typeface="Comic Sans MS" panose="030F0702030302020204" pitchFamily="66" charset="0"/>
                  </a:rPr>
                  <a:t>DRASP</a:t>
                </a:r>
                <a:endParaRPr kumimoji="0" sz="1600" b="1" i="0" u="none" strike="noStrike" kern="1200" cap="none" spc="0" normalizeH="0" baseline="0" noProof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omic Sans MS" panose="030F0702030302020204" pitchFamily="66" charset="0"/>
                </a:endParaRPr>
              </a:p>
            </p:txBody>
          </p:sp>
          <p:sp>
            <p:nvSpPr>
              <p:cNvPr id="455" name="anchor"/>
              <p:cNvSpPr>
                <a:spLocks noGrp="1"/>
              </p:cNvSpPr>
              <p:nvPr/>
            </p:nvSpPr>
            <p:spPr>
              <a:xfrm>
                <a:off x="8430" y="12255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457" name="anchor"/>
              <p:cNvSpPr>
                <a:spLocks noGrp="1"/>
              </p:cNvSpPr>
              <p:nvPr/>
            </p:nvSpPr>
            <p:spPr>
              <a:xfrm>
                <a:off x="10620" y="12255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</p:grpSp>
      </p:grpSp>
      <p:cxnSp>
        <p:nvCxnSpPr>
          <p:cNvPr id="89" name="直接连接符 88"/>
          <p:cNvCxnSpPr/>
          <p:nvPr/>
        </p:nvCxnSpPr>
        <p:spPr>
          <a:xfrm flipV="1">
            <a:off x="2961640" y="6360160"/>
            <a:ext cx="0" cy="752475"/>
          </a:xfrm>
          <a:prstGeom prst="line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肘形连接符 136"/>
          <p:cNvCxnSpPr>
            <a:endCxn id="511" idx="2"/>
          </p:cNvCxnSpPr>
          <p:nvPr/>
        </p:nvCxnSpPr>
        <p:spPr>
          <a:xfrm rot="16200000">
            <a:off x="6043295" y="6683375"/>
            <a:ext cx="972185" cy="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11" name="student-zst"/>
              <p:cNvSpPr>
                <a:spLocks noGrp="1"/>
              </p:cNvSpPr>
              <p:nvPr/>
            </p:nvSpPr>
            <p:spPr>
              <a:xfrm>
                <a:off x="6322695" y="5911850"/>
                <a:ext cx="428625" cy="2857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500" b="1">
                    <a:solidFill>
                      <a:srgbClr val="111111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0" lang="en-US" altLang="zh-CN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0" lang="en-US" altLang="zh-CN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kumimoji="0" lang="en-US" altLang="zh-CN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  <m:sup>
                          <m:r>
                            <a:rPr kumimoji="0" lang="en-US" altLang="zh-CN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</m:oMath>
                  </m:oMathPara>
                </a14:m>
                <a:endParaRPr kumimoji="0" sz="1500" b="1" i="1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/>
                  <a:cs typeface="Calibri" panose="020F0502020204030204"/>
                </a:endParaRPr>
              </a:p>
            </p:txBody>
          </p:sp>
        </mc:Choice>
        <mc:Fallback>
          <p:sp>
            <p:nvSpPr>
              <p:cNvPr id="511" name="student-zst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2695" y="5911850"/>
                <a:ext cx="428625" cy="285750"/>
              </a:xfrm>
              <a:prstGeom prst="rect">
                <a:avLst/>
              </a:prstGeom>
              <a:blipFill rotWithShape="1">
                <a:blip r:embed="rId26"/>
                <a:stretch>
                  <a:fillRect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组合 23"/>
          <p:cNvGrpSpPr/>
          <p:nvPr/>
        </p:nvGrpSpPr>
        <p:grpSpPr>
          <a:xfrm rot="0">
            <a:off x="8230870" y="7684135"/>
            <a:ext cx="721360" cy="179070"/>
            <a:chOff x="11302" y="4436"/>
            <a:chExt cx="1136" cy="282"/>
          </a:xfrm>
          <a:solidFill>
            <a:srgbClr val="A4D197"/>
          </a:solidFill>
        </p:grpSpPr>
        <p:sp>
          <p:nvSpPr>
            <p:cNvPr id="31" name="矩形 30"/>
            <p:cNvSpPr/>
            <p:nvPr/>
          </p:nvSpPr>
          <p:spPr>
            <a:xfrm>
              <a:off x="11302" y="4436"/>
              <a:ext cx="283" cy="283"/>
            </a:xfrm>
            <a:prstGeom prst="rect">
              <a:avLst/>
            </a:prstGeom>
            <a:grpFill/>
            <a:ln>
              <a:solidFill>
                <a:srgbClr val="55A83C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矩形 36"/>
            <p:cNvSpPr/>
            <p:nvPr/>
          </p:nvSpPr>
          <p:spPr>
            <a:xfrm>
              <a:off x="11590" y="4436"/>
              <a:ext cx="283" cy="283"/>
            </a:xfrm>
            <a:prstGeom prst="rect">
              <a:avLst/>
            </a:prstGeom>
            <a:grpFill/>
            <a:ln>
              <a:solidFill>
                <a:srgbClr val="55A83C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 45"/>
            <p:cNvSpPr/>
            <p:nvPr/>
          </p:nvSpPr>
          <p:spPr>
            <a:xfrm>
              <a:off x="11873" y="4436"/>
              <a:ext cx="283" cy="283"/>
            </a:xfrm>
            <a:prstGeom prst="rect">
              <a:avLst/>
            </a:prstGeom>
            <a:grpFill/>
            <a:ln>
              <a:solidFill>
                <a:srgbClr val="55A83C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矩形 46"/>
            <p:cNvSpPr/>
            <p:nvPr/>
          </p:nvSpPr>
          <p:spPr>
            <a:xfrm>
              <a:off x="12156" y="4436"/>
              <a:ext cx="283" cy="283"/>
            </a:xfrm>
            <a:prstGeom prst="rect">
              <a:avLst/>
            </a:prstGeom>
            <a:grpFill/>
            <a:ln>
              <a:solidFill>
                <a:srgbClr val="55A83C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58" name="矩形: 圆角 14"/>
          <p:cNvSpPr/>
          <p:nvPr/>
        </p:nvSpPr>
        <p:spPr>
          <a:xfrm>
            <a:off x="7588885" y="3220085"/>
            <a:ext cx="1334135" cy="27051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rPr>
              <a:t>Broadcast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mic Sans MS" panose="030F0702030302020204" pitchFamily="66" charset="0"/>
              <a:ea typeface="Calibri" panose="020F0502020204030204"/>
              <a:cs typeface="Calibri" panose="020F0502020204030204"/>
            </a:endParaRPr>
          </a:p>
        </p:txBody>
      </p:sp>
      <p:cxnSp>
        <p:nvCxnSpPr>
          <p:cNvPr id="22" name="直接箭头连接符 21"/>
          <p:cNvCxnSpPr/>
          <p:nvPr/>
        </p:nvCxnSpPr>
        <p:spPr>
          <a:xfrm>
            <a:off x="8492490" y="3978910"/>
            <a:ext cx="0" cy="549910"/>
          </a:xfrm>
          <a:prstGeom prst="straightConnector1">
            <a:avLst/>
          </a:prstGeom>
          <a:solidFill>
            <a:schemeClr val="accent5">
              <a:lumMod val="20000"/>
              <a:lumOff val="80000"/>
            </a:schemeClr>
          </a:solidFill>
          <a:ln w="15240">
            <a:solidFill>
              <a:srgbClr val="7A35CC"/>
            </a:solidFill>
            <a:prstDash val="dash"/>
            <a:headEnd type="triangle"/>
            <a:tailEnd type="triangle" w="med" len="med"/>
          </a:ln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107" name="Teacher temporal tensor 1 layer 3"/>
              <p:cNvSpPr>
                <a:spLocks noGrp="1"/>
              </p:cNvSpPr>
              <p:nvPr/>
            </p:nvSpPr>
            <p:spPr>
              <a:xfrm>
                <a:off x="8360410" y="3724910"/>
                <a:ext cx="304800" cy="246380"/>
              </a:xfrm>
              <a:prstGeom prst="rect">
                <a:avLst/>
              </a:prstGeom>
              <a:solidFill>
                <a:srgbClr val="D5E5FF"/>
              </a:solidFill>
              <a:ln w="12383">
                <a:solidFill>
                  <a:srgbClr val="4A83EA"/>
                </a:solidFill>
                <a:prstDash val="solid"/>
              </a:ln>
            </p:spPr>
            <p:txBody>
              <a:bodyPr wrap="none" lIns="9525" tIns="9525" rIns="9525" bIns="9525" anchor="ctr">
                <a:normAutofit/>
              </a:bodyPr>
              <a:lstStyle/>
              <a:p>
                <a:pPr algn="ctr">
                  <a:defRPr sz="1275" b="1">
                    <a:solidFill>
                      <a:srgbClr val="245EBE"/>
                    </a:solidFill>
                    <a:latin typeface="Cambria Math" panose="02040503050406030204"/>
                    <a:ea typeface="Cambria Math" panose="02040503050406030204"/>
                    <a:cs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275" b="1" i="1">
                              <a:solidFill>
                                <a:srgbClr val="245EBE"/>
                              </a:solidFill>
                              <a:latin typeface="Cambria Math" panose="02040503050406030204" pitchFamily="18" charset="0"/>
                              <a:ea typeface="Cambria Math" panose="02040503050406030204"/>
                              <a:cs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275" b="1" i="1">
                              <a:solidFill>
                                <a:srgbClr val="245EBE"/>
                              </a:solidFill>
                              <a:latin typeface="Cambria Math" panose="02040503050406030204" pitchFamily="18" charset="0"/>
                              <a:ea typeface="Cambria Math" panose="02040503050406030204"/>
                              <a:cs typeface="Cambria Math" panose="02040503050406030204" pitchFamily="18" charset="0"/>
                            </a:rPr>
                            <m:t>𝒁</m:t>
                          </m:r>
                        </m:e>
                        <m:sub>
                          <m:r>
                            <a:rPr lang="en-US" sz="1275" b="1" i="1">
                              <a:solidFill>
                                <a:srgbClr val="245EBE"/>
                              </a:solidFill>
                              <a:latin typeface="Cambria Math" panose="02040503050406030204" pitchFamily="18" charset="0"/>
                              <a:ea typeface="Cambria Math" panose="02040503050406030204"/>
                              <a:cs typeface="Cambria Math" panose="02040503050406030204" pitchFamily="18" charset="0"/>
                            </a:rPr>
                            <m:t>𝑻</m:t>
                          </m:r>
                        </m:sub>
                        <m:sup>
                          <m:r>
                            <a:rPr lang="en-US" sz="1275" b="1" i="1">
                              <a:solidFill>
                                <a:srgbClr val="245EBE"/>
                              </a:solidFill>
                              <a:latin typeface="Cambria Math" panose="02040503050406030204" pitchFamily="18" charset="0"/>
                              <a:ea typeface="Cambria Math" panose="02040503050406030204"/>
                              <a:cs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sz="1275" b="1">
                  <a:solidFill>
                    <a:srgbClr val="245EBE"/>
                  </a:solidFill>
                  <a:latin typeface="Cambria Math" panose="02040503050406030204"/>
                  <a:ea typeface="Cambria Math" panose="02040503050406030204"/>
                  <a:cs typeface="Cambria Math" panose="02040503050406030204"/>
                </a:endParaRPr>
              </a:p>
            </p:txBody>
          </p:sp>
        </mc:Choice>
        <mc:Fallback>
          <p:sp>
            <p:nvSpPr>
              <p:cNvPr id="2107" name="Teacher temporal tensor 1 layer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0410" y="3724910"/>
                <a:ext cx="304800" cy="246380"/>
              </a:xfrm>
              <a:prstGeom prst="rect">
                <a:avLst/>
              </a:prstGeom>
              <a:blipFill rotWithShape="1">
                <a:blip r:embed="rId27"/>
                <a:stretch>
                  <a:fillRect l="-2083" t="-2577" r="-1875" b="-2320"/>
                </a:stretch>
              </a:blipFill>
              <a:ln w="12383">
                <a:solidFill>
                  <a:srgbClr val="4A83EA"/>
                </a:solidFill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2" name="Teacher temporal tensor 1 layer 3"/>
              <p:cNvSpPr>
                <a:spLocks noGrp="1"/>
              </p:cNvSpPr>
              <p:nvPr/>
            </p:nvSpPr>
            <p:spPr>
              <a:xfrm>
                <a:off x="8734425" y="3724910"/>
                <a:ext cx="304800" cy="246380"/>
              </a:xfrm>
              <a:prstGeom prst="rect">
                <a:avLst/>
              </a:prstGeom>
              <a:solidFill>
                <a:srgbClr val="D5E5FF"/>
              </a:solidFill>
              <a:ln w="12383">
                <a:solidFill>
                  <a:srgbClr val="4A83EA"/>
                </a:solidFill>
                <a:prstDash val="solid"/>
              </a:ln>
            </p:spPr>
            <p:txBody>
              <a:bodyPr wrap="none" lIns="9525" tIns="9525" rIns="9525" bIns="9525" anchor="ctr">
                <a:normAutofit/>
              </a:bodyPr>
              <a:lstStyle/>
              <a:p>
                <a:pPr algn="ctr">
                  <a:defRPr sz="1275" b="1">
                    <a:solidFill>
                      <a:srgbClr val="245EBE"/>
                    </a:solidFill>
                    <a:latin typeface="Cambria Math" panose="02040503050406030204"/>
                    <a:ea typeface="Cambria Math" panose="02040503050406030204"/>
                    <a:cs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275" b="1" i="1">
                              <a:solidFill>
                                <a:srgbClr val="245EBE"/>
                              </a:solidFill>
                              <a:latin typeface="Cambria Math" panose="02040503050406030204" pitchFamily="18" charset="0"/>
                              <a:ea typeface="Cambria Math" panose="02040503050406030204"/>
                              <a:cs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275" b="1" i="1">
                              <a:solidFill>
                                <a:srgbClr val="245EBE"/>
                              </a:solidFill>
                              <a:latin typeface="Cambria Math" panose="02040503050406030204" pitchFamily="18" charset="0"/>
                              <a:ea typeface="Cambria Math" panose="02040503050406030204"/>
                              <a:cs typeface="Cambria Math" panose="02040503050406030204" pitchFamily="18" charset="0"/>
                            </a:rPr>
                            <m:t>𝒁</m:t>
                          </m:r>
                        </m:e>
                        <m:sub>
                          <m:r>
                            <a:rPr lang="en-US" sz="1275" b="1" i="1">
                              <a:solidFill>
                                <a:srgbClr val="245EBE"/>
                              </a:solidFill>
                              <a:latin typeface="Cambria Math" panose="02040503050406030204" pitchFamily="18" charset="0"/>
                              <a:ea typeface="Cambria Math" panose="02040503050406030204"/>
                              <a:cs typeface="Cambria Math" panose="02040503050406030204" pitchFamily="18" charset="0"/>
                            </a:rPr>
                            <m:t>𝑻</m:t>
                          </m:r>
                        </m:sub>
                        <m:sup>
                          <m:r>
                            <a:rPr lang="en-US" sz="1275" b="1" i="1">
                              <a:solidFill>
                                <a:srgbClr val="245EBE"/>
                              </a:solidFill>
                              <a:latin typeface="Cambria Math" panose="02040503050406030204" pitchFamily="18" charset="0"/>
                              <a:ea typeface="Cambria Math" panose="02040503050406030204"/>
                              <a:cs typeface="Cambria Math" panose="02040503050406030204" pitchFamily="18" charset="0"/>
                            </a:rPr>
                            <m:t>𝟐</m:t>
                          </m:r>
                        </m:sup>
                      </m:sSubSup>
                    </m:oMath>
                  </m:oMathPara>
                </a14:m>
                <a:endParaRPr sz="1275" b="1">
                  <a:solidFill>
                    <a:srgbClr val="245EBE"/>
                  </a:solidFill>
                  <a:latin typeface="Cambria Math" panose="02040503050406030204"/>
                  <a:ea typeface="Cambria Math" panose="02040503050406030204"/>
                  <a:cs typeface="Cambria Math" panose="02040503050406030204"/>
                </a:endParaRPr>
              </a:p>
            </p:txBody>
          </p:sp>
        </mc:Choice>
        <mc:Fallback>
          <p:sp>
            <p:nvSpPr>
              <p:cNvPr id="72" name="Teacher temporal tensor 1 layer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4425" y="3724910"/>
                <a:ext cx="304800" cy="246380"/>
              </a:xfrm>
              <a:prstGeom prst="rect">
                <a:avLst/>
              </a:prstGeom>
              <a:blipFill rotWithShape="1">
                <a:blip r:embed="rId28"/>
                <a:stretch>
                  <a:fillRect l="-2083" t="-2577" r="-1875" b="-2320"/>
                </a:stretch>
              </a:blipFill>
              <a:ln w="12383">
                <a:solidFill>
                  <a:srgbClr val="4A83EA"/>
                </a:solidFill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4" name="Student temporal tensor 1 layer 3"/>
              <p:cNvSpPr>
                <a:spLocks noGrp="1"/>
              </p:cNvSpPr>
              <p:nvPr/>
            </p:nvSpPr>
            <p:spPr>
              <a:xfrm>
                <a:off x="8360410" y="4573905"/>
                <a:ext cx="304800" cy="246380"/>
              </a:xfrm>
              <a:prstGeom prst="rect">
                <a:avLst/>
              </a:prstGeom>
              <a:solidFill>
                <a:srgbClr val="D6F1DA"/>
              </a:solidFill>
              <a:ln w="12383">
                <a:solidFill>
                  <a:srgbClr val="35A446"/>
                </a:solidFill>
                <a:prstDash val="solid"/>
              </a:ln>
            </p:spPr>
            <p:txBody>
              <a:bodyPr wrap="none" lIns="9525" tIns="9525" rIns="9525" bIns="9525" anchor="ctr">
                <a:normAutofit/>
              </a:bodyPr>
              <a:lstStyle/>
              <a:p>
                <a:pPr algn="ctr">
                  <a:defRPr sz="1275" b="1">
                    <a:solidFill>
                      <a:srgbClr val="217C30"/>
                    </a:solidFill>
                    <a:latin typeface="Cambria Math" panose="02040503050406030204"/>
                    <a:ea typeface="Cambria Math" panose="02040503050406030204"/>
                    <a:cs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275" b="1" i="1">
                              <a:solidFill>
                                <a:srgbClr val="217C30"/>
                              </a:solidFill>
                              <a:latin typeface="Cambria Math" panose="02040503050406030204" pitchFamily="18" charset="0"/>
                              <a:ea typeface="Cambria Math" panose="02040503050406030204"/>
                              <a:cs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275" b="1" i="1">
                              <a:solidFill>
                                <a:srgbClr val="217C30"/>
                              </a:solidFill>
                              <a:latin typeface="Cambria Math" panose="02040503050406030204" pitchFamily="18" charset="0"/>
                              <a:ea typeface="Cambria Math" panose="02040503050406030204"/>
                              <a:cs typeface="Cambria Math" panose="02040503050406030204" pitchFamily="18" charset="0"/>
                            </a:rPr>
                            <m:t>𝒁</m:t>
                          </m:r>
                        </m:e>
                        <m:sub>
                          <m:r>
                            <a:rPr lang="en-US" sz="1275" b="1" i="1">
                              <a:solidFill>
                                <a:srgbClr val="217C30"/>
                              </a:solidFill>
                              <a:latin typeface="Cambria Math" panose="02040503050406030204" pitchFamily="18" charset="0"/>
                              <a:ea typeface="Cambria Math" panose="02040503050406030204"/>
                              <a:cs typeface="Cambria Math" panose="02040503050406030204" pitchFamily="18" charset="0"/>
                            </a:rPr>
                            <m:t>𝑺</m:t>
                          </m:r>
                        </m:sub>
                        <m:sup>
                          <m:r>
                            <a:rPr lang="en-US" sz="1275" b="1" i="1">
                              <a:solidFill>
                                <a:srgbClr val="217C30"/>
                              </a:solidFill>
                              <a:latin typeface="Cambria Math" panose="02040503050406030204" pitchFamily="18" charset="0"/>
                              <a:ea typeface="Cambria Math" panose="02040503050406030204"/>
                              <a:cs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sz="1275" b="1">
                  <a:solidFill>
                    <a:srgbClr val="217C30"/>
                  </a:solidFill>
                  <a:latin typeface="Cambria Math" panose="02040503050406030204"/>
                  <a:ea typeface="Cambria Math" panose="02040503050406030204"/>
                  <a:cs typeface="Cambria Math" panose="02040503050406030204"/>
                </a:endParaRPr>
              </a:p>
            </p:txBody>
          </p:sp>
        </mc:Choice>
        <mc:Fallback>
          <p:sp>
            <p:nvSpPr>
              <p:cNvPr id="74" name="Student temporal tensor 1 layer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0410" y="4573905"/>
                <a:ext cx="304800" cy="246380"/>
              </a:xfrm>
              <a:prstGeom prst="rect">
                <a:avLst/>
              </a:prstGeom>
              <a:blipFill rotWithShape="1">
                <a:blip r:embed="rId29"/>
                <a:stretch>
                  <a:fillRect l="-2083" t="-2577" r="-1875" b="-2320"/>
                </a:stretch>
              </a:blipFill>
              <a:ln w="12383">
                <a:solidFill>
                  <a:srgbClr val="35A446"/>
                </a:solidFill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6" name="Student temporal tensor 1 layer 3"/>
              <p:cNvSpPr>
                <a:spLocks noGrp="1"/>
              </p:cNvSpPr>
              <p:nvPr/>
            </p:nvSpPr>
            <p:spPr>
              <a:xfrm>
                <a:off x="8734425" y="4573905"/>
                <a:ext cx="304800" cy="246380"/>
              </a:xfrm>
              <a:prstGeom prst="rect">
                <a:avLst/>
              </a:prstGeom>
              <a:solidFill>
                <a:srgbClr val="D6F1DA"/>
              </a:solidFill>
              <a:ln w="12383">
                <a:solidFill>
                  <a:srgbClr val="35A446"/>
                </a:solidFill>
                <a:prstDash val="solid"/>
              </a:ln>
            </p:spPr>
            <p:txBody>
              <a:bodyPr wrap="none" lIns="9525" tIns="9525" rIns="9525" bIns="9525" anchor="ctr">
                <a:normAutofit/>
              </a:bodyPr>
              <a:lstStyle/>
              <a:p>
                <a:pPr algn="ctr">
                  <a:defRPr sz="1275" b="1">
                    <a:solidFill>
                      <a:srgbClr val="217C30"/>
                    </a:solidFill>
                    <a:latin typeface="Cambria Math" panose="02040503050406030204"/>
                    <a:ea typeface="Cambria Math" panose="02040503050406030204"/>
                    <a:cs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275" b="1" i="1">
                              <a:solidFill>
                                <a:srgbClr val="217C30"/>
                              </a:solidFill>
                              <a:latin typeface="Cambria Math" panose="02040503050406030204" pitchFamily="18" charset="0"/>
                              <a:ea typeface="Cambria Math" panose="02040503050406030204"/>
                              <a:cs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275" b="1" i="1">
                              <a:solidFill>
                                <a:srgbClr val="217C30"/>
                              </a:solidFill>
                              <a:latin typeface="Cambria Math" panose="02040503050406030204" pitchFamily="18" charset="0"/>
                              <a:ea typeface="Cambria Math" panose="02040503050406030204"/>
                              <a:cs typeface="Cambria Math" panose="02040503050406030204" pitchFamily="18" charset="0"/>
                            </a:rPr>
                            <m:t>𝒁</m:t>
                          </m:r>
                        </m:e>
                        <m:sub>
                          <m:r>
                            <a:rPr lang="en-US" sz="1275" b="1" i="1">
                              <a:solidFill>
                                <a:srgbClr val="217C30"/>
                              </a:solidFill>
                              <a:latin typeface="Cambria Math" panose="02040503050406030204" pitchFamily="18" charset="0"/>
                              <a:ea typeface="Cambria Math" panose="02040503050406030204"/>
                              <a:cs typeface="Cambria Math" panose="02040503050406030204" pitchFamily="18" charset="0"/>
                            </a:rPr>
                            <m:t>𝑺</m:t>
                          </m:r>
                        </m:sub>
                        <m:sup>
                          <m:r>
                            <a:rPr lang="en-US" sz="1275" b="1" i="1">
                              <a:solidFill>
                                <a:srgbClr val="217C30"/>
                              </a:solidFill>
                              <a:latin typeface="Cambria Math" panose="02040503050406030204" pitchFamily="18" charset="0"/>
                              <a:ea typeface="Cambria Math" panose="02040503050406030204"/>
                              <a:cs typeface="Cambria Math" panose="02040503050406030204" pitchFamily="18" charset="0"/>
                            </a:rPr>
                            <m:t>𝟐</m:t>
                          </m:r>
                        </m:sup>
                      </m:sSubSup>
                    </m:oMath>
                  </m:oMathPara>
                </a14:m>
                <a:endParaRPr sz="1275" b="1">
                  <a:solidFill>
                    <a:srgbClr val="217C30"/>
                  </a:solidFill>
                  <a:latin typeface="Cambria Math" panose="02040503050406030204"/>
                  <a:ea typeface="Cambria Math" panose="02040503050406030204"/>
                  <a:cs typeface="Cambria Math" panose="02040503050406030204"/>
                </a:endParaRPr>
              </a:p>
            </p:txBody>
          </p:sp>
        </mc:Choice>
        <mc:Fallback>
          <p:sp>
            <p:nvSpPr>
              <p:cNvPr id="76" name="Student temporal tensor 1 layer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4425" y="4573905"/>
                <a:ext cx="304800" cy="246380"/>
              </a:xfrm>
              <a:prstGeom prst="rect">
                <a:avLst/>
              </a:prstGeom>
              <a:blipFill rotWithShape="1">
                <a:blip r:embed="rId30"/>
                <a:stretch>
                  <a:fillRect l="-2083" t="-2577" r="-1875" b="-2320"/>
                </a:stretch>
              </a:blipFill>
              <a:ln w="12383">
                <a:solidFill>
                  <a:srgbClr val="35A446"/>
                </a:solidFill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7" name="直接箭头连接符 126"/>
          <p:cNvCxnSpPr/>
          <p:nvPr/>
        </p:nvCxnSpPr>
        <p:spPr>
          <a:xfrm>
            <a:off x="8874760" y="4004310"/>
            <a:ext cx="0" cy="549910"/>
          </a:xfrm>
          <a:prstGeom prst="straightConnector1">
            <a:avLst/>
          </a:prstGeom>
          <a:solidFill>
            <a:schemeClr val="accent5">
              <a:lumMod val="20000"/>
              <a:lumOff val="80000"/>
            </a:schemeClr>
          </a:solidFill>
          <a:ln w="15240">
            <a:solidFill>
              <a:srgbClr val="7A35CC"/>
            </a:solidFill>
            <a:prstDash val="dash"/>
            <a:headEnd type="triangle"/>
            <a:tailEnd type="triangle" w="med" len="med"/>
          </a:ln>
        </p:spPr>
      </p:cxnSp>
      <p:sp>
        <p:nvSpPr>
          <p:cNvPr id="18" name="右大括号 17"/>
          <p:cNvSpPr/>
          <p:nvPr/>
        </p:nvSpPr>
        <p:spPr>
          <a:xfrm rot="5400000">
            <a:off x="9688195" y="3726180"/>
            <a:ext cx="212725" cy="2505075"/>
          </a:xfrm>
          <a:prstGeom prst="rightBrace">
            <a:avLst>
              <a:gd name="adj1" fmla="val 0"/>
              <a:gd name="adj2" fmla="val 50000"/>
            </a:avLst>
          </a:prstGeom>
          <a:ln w="25400">
            <a:solidFill>
              <a:srgbClr val="7A35CC"/>
            </a:solidFill>
            <a:prstDash val="solid"/>
            <a:tailEnd type="none" w="med" len="med"/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9427845" y="5029835"/>
                <a:ext cx="534035" cy="36830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>
                              <a:solidFill>
                                <a:srgbClr val="7A35CC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solidFill>
                                <a:srgbClr val="7A35CC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altLang="zh-CN" b="1" i="1">
                              <a:solidFill>
                                <a:srgbClr val="7A35CC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𝑺</m:t>
                          </m:r>
                        </m:sub>
                      </m:sSub>
                    </m:oMath>
                  </m:oMathPara>
                </a14:m>
                <a:endParaRPr lang="en-US" altLang="zh-CN" b="1" i="1">
                  <a:solidFill>
                    <a:srgbClr val="7A35CC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7845" y="5029835"/>
                <a:ext cx="534035" cy="368300"/>
              </a:xfrm>
              <a:prstGeom prst="rect">
                <a:avLst/>
              </a:prstGeom>
              <a:blipFill rotWithShape="1"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4" name="teacher dots"/>
          <p:cNvSpPr>
            <a:spLocks noGrp="1"/>
          </p:cNvSpPr>
          <p:nvPr/>
        </p:nvSpPr>
        <p:spPr>
          <a:xfrm>
            <a:off x="9315450" y="3688080"/>
            <a:ext cx="299720" cy="282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650" b="1">
                <a:solidFill>
                  <a:srgbClr val="111111"/>
                </a:solidFill>
              </a:defRPr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4A83EA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⋯</a:t>
            </a:r>
            <a:endParaRPr kumimoji="0" sz="2400" b="1" i="0" u="none" strike="noStrike" kern="1200" cap="none" spc="0" normalizeH="0" baseline="0" noProof="0" dirty="0">
              <a:ln>
                <a:noFill/>
              </a:ln>
              <a:solidFill>
                <a:srgbClr val="4A83EA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45" name="teacher dots"/>
          <p:cNvSpPr>
            <a:spLocks noGrp="1"/>
          </p:cNvSpPr>
          <p:nvPr/>
        </p:nvSpPr>
        <p:spPr>
          <a:xfrm>
            <a:off x="9315450" y="4512310"/>
            <a:ext cx="333375" cy="3022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650" b="1">
                <a:solidFill>
                  <a:srgbClr val="111111"/>
                </a:solidFill>
              </a:defRPr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35A446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⋯</a:t>
            </a:r>
            <a:endParaRPr kumimoji="0" sz="2400" b="1" i="0" u="none" strike="noStrike" kern="1200" cap="none" spc="0" normalizeH="0" baseline="0" noProof="0" dirty="0">
              <a:ln>
                <a:noFill/>
              </a:ln>
              <a:solidFill>
                <a:srgbClr val="35A446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cxnSp>
        <p:nvCxnSpPr>
          <p:cNvPr id="148" name="直接箭头连接符 147"/>
          <p:cNvCxnSpPr/>
          <p:nvPr/>
        </p:nvCxnSpPr>
        <p:spPr>
          <a:xfrm>
            <a:off x="8895080" y="4283075"/>
            <a:ext cx="179070" cy="0"/>
          </a:xfrm>
          <a:prstGeom prst="straightConnector1">
            <a:avLst/>
          </a:prstGeom>
          <a:ln w="25400">
            <a:solidFill>
              <a:srgbClr val="7A35CC"/>
            </a:solidFill>
            <a:prstDash val="solid"/>
            <a:tailEnd type="triangle" w="med" len="med"/>
          </a:ln>
        </p:spPr>
      </p:cxnSp>
      <p:grpSp>
        <p:nvGrpSpPr>
          <p:cNvPr id="281" name="组合 280"/>
          <p:cNvGrpSpPr/>
          <p:nvPr/>
        </p:nvGrpSpPr>
        <p:grpSpPr>
          <a:xfrm>
            <a:off x="10838815" y="3752215"/>
            <a:ext cx="372745" cy="1068070"/>
            <a:chOff x="16810" y="5909"/>
            <a:chExt cx="587" cy="1682"/>
          </a:xfrm>
        </p:grpSpPr>
        <p:grpSp>
          <p:nvGrpSpPr>
            <p:cNvPr id="168" name="组合 167"/>
            <p:cNvGrpSpPr/>
            <p:nvPr/>
          </p:nvGrpSpPr>
          <p:grpSpPr>
            <a:xfrm rot="0">
              <a:off x="16917" y="5909"/>
              <a:ext cx="480" cy="1682"/>
              <a:chOff x="14430" y="6434"/>
              <a:chExt cx="480" cy="1432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121" name="Teacher temporal tensor 3 layer 3"/>
                  <p:cNvSpPr>
                    <a:spLocks noGrp="1"/>
                  </p:cNvSpPr>
                  <p:nvPr/>
                </p:nvSpPr>
                <p:spPr>
                  <a:xfrm>
                    <a:off x="14430" y="6434"/>
                    <a:ext cx="480" cy="330"/>
                  </a:xfrm>
                  <a:prstGeom prst="rect">
                    <a:avLst/>
                  </a:prstGeom>
                  <a:solidFill>
                    <a:srgbClr val="D5E5FF"/>
                  </a:solidFill>
                  <a:ln w="12383">
                    <a:solidFill>
                      <a:srgbClr val="4A83EA"/>
                    </a:solidFill>
                    <a:prstDash val="solid"/>
                  </a:ln>
                </p:spPr>
                <p:txBody>
                  <a:bodyPr wrap="none" lIns="9525" tIns="9525" rIns="9525" bIns="9525" anchor="ctr">
                    <a:normAutofit/>
                  </a:bodyPr>
                  <a:lstStyle/>
                  <a:p>
                    <a:pPr algn="ctr">
                      <a:defRPr sz="1275" b="1">
                        <a:solidFill>
                          <a:srgbClr val="245EBE"/>
                        </a:solidFill>
                        <a:latin typeface="Cambria Math" panose="02040503050406030204"/>
                        <a:ea typeface="Cambria Math" panose="02040503050406030204"/>
                        <a:cs typeface="Cambria Math" panose="02040503050406030204"/>
                      </a:defRPr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sz="1275" b="1" i="1">
                                  <a:solidFill>
                                    <a:srgbClr val="245EBE"/>
                                  </a:solidFill>
                                  <a:latin typeface="Cambria Math" panose="02040503050406030204" pitchFamily="18" charset="0"/>
                                  <a:ea typeface="Cambria Math" panose="02040503050406030204"/>
                                  <a:cs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75" b="1" i="1">
                                  <a:solidFill>
                                    <a:srgbClr val="245EBE"/>
                                  </a:solidFill>
                                  <a:latin typeface="Cambria Math" panose="02040503050406030204" pitchFamily="18" charset="0"/>
                                  <a:ea typeface="Cambria Math" panose="02040503050406030204"/>
                                  <a:cs typeface="Cambria Math" panose="02040503050406030204" pitchFamily="18" charset="0"/>
                                </a:rPr>
                                <m:t>𝒁</m:t>
                              </m:r>
                            </m:e>
                            <m:sub>
                              <m:r>
                                <a:rPr lang="en-US" sz="1275" b="1" i="1">
                                  <a:solidFill>
                                    <a:srgbClr val="245EBE"/>
                                  </a:solidFill>
                                  <a:latin typeface="Cambria Math" panose="02040503050406030204" pitchFamily="18" charset="0"/>
                                  <a:ea typeface="Cambria Math" panose="02040503050406030204"/>
                                  <a:cs typeface="Cambria Math" panose="02040503050406030204" pitchFamily="18" charset="0"/>
                                </a:rPr>
                                <m:t>𝑻</m:t>
                              </m:r>
                            </m:sub>
                            <m:sup>
                              <m:r>
                                <a:rPr lang="en-US" sz="1275" b="1" i="1">
                                  <a:solidFill>
                                    <a:srgbClr val="245EBE"/>
                                  </a:solidFill>
                                  <a:latin typeface="Cambria Math" panose="02040503050406030204" pitchFamily="18" charset="0"/>
                                  <a:ea typeface="Cambria Math" panose="02040503050406030204"/>
                                  <a:cs typeface="Cambria Math" panose="02040503050406030204" pitchFamily="18" charset="0"/>
                                </a:rPr>
                                <m:t>𝒕</m:t>
                              </m:r>
                            </m:sup>
                          </m:sSubSup>
                        </m:oMath>
                      </m:oMathPara>
                    </a14:m>
                    <a:endParaRPr sz="1275" b="1">
                      <a:solidFill>
                        <a:srgbClr val="245EBE"/>
                      </a:solidFill>
                      <a:latin typeface="Cambria Math" panose="02040503050406030204"/>
                      <a:ea typeface="Cambria Math" panose="02040503050406030204"/>
                      <a:cs typeface="Cambria Math" panose="02040503050406030204"/>
                    </a:endParaRPr>
                  </a:p>
                </p:txBody>
              </p:sp>
            </mc:Choice>
            <mc:Fallback>
              <p:sp>
                <p:nvSpPr>
                  <p:cNvPr id="2121" name="Teacher temporal tensor 3 layer 3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30" y="6434"/>
                    <a:ext cx="480" cy="330"/>
                  </a:xfrm>
                  <a:prstGeom prst="rect">
                    <a:avLst/>
                  </a:prstGeom>
                  <a:blipFill rotWithShape="1">
                    <a:blip r:embed="rId32"/>
                  </a:blipFill>
                  <a:ln w="12383">
                    <a:solidFill>
                      <a:srgbClr val="4A83EA"/>
                    </a:solidFill>
                    <a:prstDash val="solid"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17" name="Student temporal tensor 1 layer 3"/>
                  <p:cNvSpPr>
                    <a:spLocks noGrp="1"/>
                  </p:cNvSpPr>
                  <p:nvPr/>
                </p:nvSpPr>
                <p:spPr>
                  <a:xfrm>
                    <a:off x="14430" y="7536"/>
                    <a:ext cx="480" cy="330"/>
                  </a:xfrm>
                  <a:prstGeom prst="rect">
                    <a:avLst/>
                  </a:prstGeom>
                  <a:solidFill>
                    <a:srgbClr val="D6F1DA"/>
                  </a:solidFill>
                  <a:ln w="12383">
                    <a:solidFill>
                      <a:srgbClr val="35A446"/>
                    </a:solidFill>
                    <a:prstDash val="solid"/>
                  </a:ln>
                </p:spPr>
                <p:txBody>
                  <a:bodyPr wrap="none" lIns="9525" tIns="9525" rIns="9525" bIns="9525" anchor="ctr">
                    <a:normAutofit/>
                  </a:bodyPr>
                  <a:lstStyle/>
                  <a:p>
                    <a:pPr algn="ctr">
                      <a:defRPr sz="1275" b="1">
                        <a:solidFill>
                          <a:srgbClr val="217C30"/>
                        </a:solidFill>
                        <a:latin typeface="Cambria Math" panose="02040503050406030204"/>
                        <a:ea typeface="Cambria Math" panose="02040503050406030204"/>
                        <a:cs typeface="Cambria Math" panose="02040503050406030204"/>
                      </a:defRPr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sz="1275" b="1" i="1">
                                  <a:solidFill>
                                    <a:srgbClr val="217C30"/>
                                  </a:solidFill>
                                  <a:latin typeface="Cambria Math" panose="02040503050406030204" pitchFamily="18" charset="0"/>
                                  <a:ea typeface="Cambria Math" panose="02040503050406030204"/>
                                  <a:cs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75" b="1" i="1">
                                  <a:solidFill>
                                    <a:srgbClr val="217C30"/>
                                  </a:solidFill>
                                  <a:latin typeface="Cambria Math" panose="02040503050406030204" pitchFamily="18" charset="0"/>
                                  <a:ea typeface="Cambria Math" panose="02040503050406030204"/>
                                  <a:cs typeface="Cambria Math" panose="02040503050406030204" pitchFamily="18" charset="0"/>
                                </a:rPr>
                                <m:t>𝒁</m:t>
                              </m:r>
                            </m:e>
                            <m:sub>
                              <m:r>
                                <a:rPr lang="en-US" sz="1275" b="1" i="1">
                                  <a:solidFill>
                                    <a:srgbClr val="217C30"/>
                                  </a:solidFill>
                                  <a:latin typeface="Cambria Math" panose="02040503050406030204" pitchFamily="18" charset="0"/>
                                  <a:ea typeface="Cambria Math" panose="02040503050406030204"/>
                                  <a:cs typeface="Cambria Math" panose="02040503050406030204" pitchFamily="18" charset="0"/>
                                </a:rPr>
                                <m:t>𝑺</m:t>
                              </m:r>
                            </m:sub>
                            <m:sup>
                              <m:r>
                                <a:rPr lang="en-US" sz="1275" b="1" i="1">
                                  <a:solidFill>
                                    <a:srgbClr val="217C30"/>
                                  </a:solidFill>
                                  <a:latin typeface="Cambria Math" panose="02040503050406030204" pitchFamily="18" charset="0"/>
                                  <a:ea typeface="Cambria Math" panose="02040503050406030204"/>
                                  <a:cs typeface="Cambria Math" panose="02040503050406030204" pitchFamily="18" charset="0"/>
                                </a:rPr>
                                <m:t>𝒕</m:t>
                              </m:r>
                            </m:sup>
                          </m:sSubSup>
                        </m:oMath>
                      </m:oMathPara>
                    </a14:m>
                    <a:endParaRPr sz="1275" b="1">
                      <a:solidFill>
                        <a:srgbClr val="217C30"/>
                      </a:solidFill>
                      <a:latin typeface="Cambria Math" panose="02040503050406030204"/>
                      <a:ea typeface="Cambria Math" panose="02040503050406030204"/>
                      <a:cs typeface="Cambria Math" panose="02040503050406030204"/>
                    </a:endParaRPr>
                  </a:p>
                </p:txBody>
              </p:sp>
            </mc:Choice>
            <mc:Fallback>
              <p:sp>
                <p:nvSpPr>
                  <p:cNvPr id="117" name="Student temporal tensor 1 layer 3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30" y="7536"/>
                    <a:ext cx="480" cy="330"/>
                  </a:xfrm>
                  <a:prstGeom prst="rect">
                    <a:avLst/>
                  </a:prstGeom>
                  <a:blipFill rotWithShape="1">
                    <a:blip r:embed="rId33"/>
                  </a:blipFill>
                  <a:ln w="12383">
                    <a:solidFill>
                      <a:srgbClr val="35A446"/>
                    </a:solidFill>
                    <a:prstDash val="solid"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32" name="直接箭头连接符 131"/>
              <p:cNvCxnSpPr/>
              <p:nvPr/>
            </p:nvCxnSpPr>
            <p:spPr>
              <a:xfrm>
                <a:off x="14650" y="6772"/>
                <a:ext cx="0" cy="737"/>
              </a:xfrm>
              <a:prstGeom prst="straightConnector1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15240">
                <a:solidFill>
                  <a:srgbClr val="7A35CC"/>
                </a:solidFill>
                <a:prstDash val="dash"/>
                <a:headEnd type="triangle"/>
                <a:tailEnd type="triangle" w="med" len="med"/>
              </a:ln>
            </p:spPr>
          </p:cxnSp>
        </p:grpSp>
        <p:cxnSp>
          <p:nvCxnSpPr>
            <p:cNvPr id="169" name="直接箭头连接符 168"/>
            <p:cNvCxnSpPr/>
            <p:nvPr/>
          </p:nvCxnSpPr>
          <p:spPr>
            <a:xfrm flipH="1" flipV="1">
              <a:off x="16810" y="6770"/>
              <a:ext cx="259" cy="11"/>
            </a:xfrm>
            <a:prstGeom prst="straightConnector1">
              <a:avLst/>
            </a:prstGeom>
            <a:ln w="25400">
              <a:solidFill>
                <a:srgbClr val="7A35CC"/>
              </a:solidFill>
              <a:prstDash val="solid"/>
              <a:tailEnd type="triangle" w="med" len="med"/>
            </a:ln>
          </p:spPr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70" name="文本框 169"/>
              <p:cNvSpPr txBox="1"/>
              <p:nvPr/>
            </p:nvSpPr>
            <p:spPr>
              <a:xfrm>
                <a:off x="8993505" y="3994150"/>
                <a:ext cx="1887855" cy="55689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𝓛</m:t>
                          </m:r>
                        </m:e>
                        <m:sub>
                          <m:r>
                            <a:rPr lang="en-US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/>
                              <a:cs typeface="Cambria Math" panose="02040503050406030204" pitchFamily="18" charset="0"/>
                            </a:rPr>
                            <m:t>𝒔𝒆𝒒</m:t>
                          </m:r>
                        </m:sub>
                      </m:sSub>
                      <m:r>
                        <a:rPr lang="en-US" altLang="zh-CN" sz="1400" b="1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subHide m:val="on"/>
                              <m:supHide m:val="on"/>
                              <m:ctrlPr>
                                <a:rPr lang="en-US" altLang="zh-CN" sz="1400" b="1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n-US" altLang="zh-CN" sz="1400" b="1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𝑫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𝑲𝑳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1400" b="1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CN" sz="1400" b="1" i="1">
                                          <a:latin typeface="Cambria Math" panose="02040503050406030204" pitchFamily="18" charset="0"/>
                                          <a:cs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400" b="1" i="1">
                                          <a:latin typeface="Cambria Math" panose="02040503050406030204" pitchFamily="18" charset="0"/>
                                          <a:cs typeface="Cambria Math" panose="02040503050406030204" pitchFamily="18" charset="0"/>
                                        </a:rPr>
                                        <m:t>𝒁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latin typeface="Cambria Math" panose="02040503050406030204" pitchFamily="18" charset="0"/>
                                          <a:cs typeface="Cambria Math" panose="02040503050406030204" pitchFamily="18" charset="0"/>
                                        </a:rPr>
                                        <m:t>𝑻</m:t>
                                      </m:r>
                                    </m:sub>
                                    <m:sup>
                                      <m:r>
                                        <a:rPr lang="en-US" sz="1400" b="1" i="1">
                                          <a:latin typeface="Cambria Math" panose="02040503050406030204" pitchFamily="18" charset="0"/>
                                        </a:rPr>
                                        <m:t>𝒕</m:t>
                                      </m:r>
                                    </m:sup>
                                  </m:sSubSup>
                                  <m:d>
                                    <m:dPr>
                                      <m:begChr m:val="‖"/>
                                      <m:endChr m:val=""/>
                                      <m:ctrlPr>
                                        <a:rPr lang="en-US" altLang="zh-CN" sz="1400" b="1" i="1">
                                          <a:latin typeface="Cambria Math" panose="02040503050406030204" pitchFamily="18" charset="0"/>
                                          <a:cs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  <a:cs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  <a:cs typeface="Cambria Math" panose="02040503050406030204" pitchFamily="18" charset="0"/>
                                            </a:rPr>
                                            <m:t>𝒁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  <a:cs typeface="Cambria Math" panose="02040503050406030204" pitchFamily="18" charset="0"/>
                                            </a:rPr>
                                            <m:t>𝑺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  <a:cs typeface="Cambria Math" panose="02040503050406030204" pitchFamily="18" charset="0"/>
                                            </a:rPr>
                                            <m:t>𝒕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</m:d>
                            </m:e>
                          </m:nary>
                        </m:num>
                        <m:den>
                          <m:sSub>
                            <m:sSubPr>
                              <m:ctrlPr>
                                <a:rPr lang="en-US" altLang="zh-CN" sz="1400" b="1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1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𝑻</m:t>
                              </m:r>
                            </m:e>
                            <m:sub>
                              <m:r>
                                <a:rPr lang="en-US" altLang="zh-CN" sz="1400" b="1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𝑺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sz="1400" b="1"/>
              </a:p>
            </p:txBody>
          </p:sp>
        </mc:Choice>
        <mc:Fallback>
          <p:sp>
            <p:nvSpPr>
              <p:cNvPr id="170" name="文本框 1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3505" y="3994150"/>
                <a:ext cx="1887855" cy="556895"/>
              </a:xfrm>
              <a:prstGeom prst="rect">
                <a:avLst/>
              </a:prstGeom>
              <a:blipFill rotWithShape="1"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3" name="直接箭头连接符 172"/>
          <p:cNvCxnSpPr>
            <a:stCxn id="69" idx="0"/>
          </p:cNvCxnSpPr>
          <p:nvPr/>
        </p:nvCxnSpPr>
        <p:spPr>
          <a:xfrm flipV="1">
            <a:off x="7774940" y="3484880"/>
            <a:ext cx="5715" cy="363220"/>
          </a:xfrm>
          <a:prstGeom prst="straightConnector1">
            <a:avLst/>
          </a:prstGeom>
          <a:ln w="25400">
            <a:solidFill>
              <a:srgbClr val="7A35CC"/>
            </a:solidFill>
            <a:prstDash val="solid"/>
            <a:miter lim="800000"/>
            <a:tailEnd type="triangle" w="med" len="med"/>
          </a:ln>
        </p:spPr>
      </p:cxnSp>
      <p:cxnSp>
        <p:nvCxnSpPr>
          <p:cNvPr id="174" name="直接箭头连接符 173"/>
          <p:cNvCxnSpPr/>
          <p:nvPr/>
        </p:nvCxnSpPr>
        <p:spPr>
          <a:xfrm flipH="1">
            <a:off x="8886825" y="3500120"/>
            <a:ext cx="0" cy="180000"/>
          </a:xfrm>
          <a:prstGeom prst="straightConnector1">
            <a:avLst/>
          </a:prstGeom>
          <a:ln w="25400">
            <a:solidFill>
              <a:srgbClr val="7A35CC"/>
            </a:solidFill>
            <a:prstDash val="solid"/>
            <a:tailEnd type="arrow" w="med" len="med"/>
          </a:ln>
        </p:spPr>
      </p:cxnSp>
      <p:cxnSp>
        <p:nvCxnSpPr>
          <p:cNvPr id="177" name="直接箭头连接符 176"/>
          <p:cNvCxnSpPr/>
          <p:nvPr/>
        </p:nvCxnSpPr>
        <p:spPr>
          <a:xfrm flipH="1" flipV="1">
            <a:off x="7444105" y="4487545"/>
            <a:ext cx="0" cy="1296000"/>
          </a:xfrm>
          <a:prstGeom prst="straightConnector1">
            <a:avLst/>
          </a:prstGeom>
          <a:ln w="25400">
            <a:solidFill>
              <a:srgbClr val="7A35CC"/>
            </a:solidFill>
            <a:prstDash val="sysDash"/>
            <a:miter lim="800000"/>
            <a:tailEnd type="triangle" w="med" len="med"/>
          </a:ln>
        </p:spPr>
      </p:cxnSp>
      <p:cxnSp>
        <p:nvCxnSpPr>
          <p:cNvPr id="180" name="肘形连接符 179"/>
          <p:cNvCxnSpPr>
            <a:stCxn id="69" idx="2"/>
          </p:cNvCxnSpPr>
          <p:nvPr/>
        </p:nvCxnSpPr>
        <p:spPr>
          <a:xfrm rot="5400000" flipV="1">
            <a:off x="7971155" y="4287520"/>
            <a:ext cx="133350" cy="525780"/>
          </a:xfrm>
          <a:prstGeom prst="bentConnector2">
            <a:avLst/>
          </a:prstGeom>
          <a:ln w="25400">
            <a:solidFill>
              <a:srgbClr val="7A35CC"/>
            </a:solidFill>
            <a:prstDash val="sysDash"/>
            <a:tailEnd type="triangle" w="med" len="med"/>
          </a:ln>
        </p:spPr>
      </p:cxnSp>
      <p:cxnSp>
        <p:nvCxnSpPr>
          <p:cNvPr id="185" name="直接箭头连接符 184"/>
          <p:cNvCxnSpPr>
            <a:stCxn id="215" idx="1"/>
          </p:cNvCxnSpPr>
          <p:nvPr/>
        </p:nvCxnSpPr>
        <p:spPr>
          <a:xfrm flipH="1">
            <a:off x="7444105" y="1613535"/>
            <a:ext cx="0" cy="2245995"/>
          </a:xfrm>
          <a:prstGeom prst="straightConnector1">
            <a:avLst/>
          </a:prstGeom>
          <a:ln w="25400">
            <a:solidFill>
              <a:srgbClr val="7A35CC"/>
            </a:solidFill>
            <a:prstDash val="solid"/>
            <a:tailEnd type="triangle" w="med" len="med"/>
          </a:ln>
        </p:spPr>
      </p:cxnSp>
      <p:grpSp>
        <p:nvGrpSpPr>
          <p:cNvPr id="189" name="组合 188"/>
          <p:cNvGrpSpPr/>
          <p:nvPr/>
        </p:nvGrpSpPr>
        <p:grpSpPr>
          <a:xfrm>
            <a:off x="11360785" y="4800600"/>
            <a:ext cx="721360" cy="179070"/>
            <a:chOff x="11302" y="4436"/>
            <a:chExt cx="1136" cy="282"/>
          </a:xfrm>
          <a:solidFill>
            <a:srgbClr val="A4D197"/>
          </a:solidFill>
        </p:grpSpPr>
        <p:sp>
          <p:nvSpPr>
            <p:cNvPr id="192" name="矩形 191"/>
            <p:cNvSpPr/>
            <p:nvPr/>
          </p:nvSpPr>
          <p:spPr>
            <a:xfrm>
              <a:off x="11302" y="4436"/>
              <a:ext cx="283" cy="283"/>
            </a:xfrm>
            <a:prstGeom prst="rect">
              <a:avLst/>
            </a:prstGeom>
            <a:grpFill/>
            <a:ln>
              <a:solidFill>
                <a:srgbClr val="55A83C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2" name="矩形 201"/>
            <p:cNvSpPr/>
            <p:nvPr/>
          </p:nvSpPr>
          <p:spPr>
            <a:xfrm>
              <a:off x="11590" y="4436"/>
              <a:ext cx="283" cy="283"/>
            </a:xfrm>
            <a:prstGeom prst="rect">
              <a:avLst/>
            </a:prstGeom>
            <a:grpFill/>
            <a:ln>
              <a:solidFill>
                <a:srgbClr val="55A83C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5" name="矩形 204"/>
            <p:cNvSpPr/>
            <p:nvPr/>
          </p:nvSpPr>
          <p:spPr>
            <a:xfrm>
              <a:off x="11873" y="4436"/>
              <a:ext cx="283" cy="283"/>
            </a:xfrm>
            <a:prstGeom prst="rect">
              <a:avLst/>
            </a:prstGeom>
            <a:grpFill/>
            <a:ln>
              <a:solidFill>
                <a:srgbClr val="55A83C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8" name="矩形 207"/>
            <p:cNvSpPr/>
            <p:nvPr/>
          </p:nvSpPr>
          <p:spPr>
            <a:xfrm>
              <a:off x="12156" y="4436"/>
              <a:ext cx="283" cy="283"/>
            </a:xfrm>
            <a:prstGeom prst="rect">
              <a:avLst/>
            </a:prstGeom>
            <a:grpFill/>
            <a:ln>
              <a:solidFill>
                <a:srgbClr val="55A83C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09" name="组合 208"/>
          <p:cNvGrpSpPr/>
          <p:nvPr/>
        </p:nvGrpSpPr>
        <p:grpSpPr>
          <a:xfrm>
            <a:off x="11360150" y="3791585"/>
            <a:ext cx="721360" cy="179070"/>
            <a:chOff x="11302" y="4436"/>
            <a:chExt cx="1136" cy="282"/>
          </a:xfrm>
        </p:grpSpPr>
        <p:sp>
          <p:nvSpPr>
            <p:cNvPr id="216" name="矩形 215"/>
            <p:cNvSpPr/>
            <p:nvPr/>
          </p:nvSpPr>
          <p:spPr>
            <a:xfrm>
              <a:off x="11302" y="4436"/>
              <a:ext cx="283" cy="283"/>
            </a:xfrm>
            <a:prstGeom prst="rect">
              <a:avLst/>
            </a:prstGeom>
            <a:solidFill>
              <a:srgbClr val="2F73E8"/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0" name="矩形 229"/>
            <p:cNvSpPr/>
            <p:nvPr/>
          </p:nvSpPr>
          <p:spPr>
            <a:xfrm>
              <a:off x="11590" y="4436"/>
              <a:ext cx="283" cy="283"/>
            </a:xfrm>
            <a:prstGeom prst="rect">
              <a:avLst/>
            </a:prstGeom>
            <a:solidFill>
              <a:srgbClr val="2F73E8"/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3" name="矩形 232"/>
            <p:cNvSpPr/>
            <p:nvPr/>
          </p:nvSpPr>
          <p:spPr>
            <a:xfrm>
              <a:off x="11873" y="4436"/>
              <a:ext cx="283" cy="283"/>
            </a:xfrm>
            <a:prstGeom prst="rect">
              <a:avLst/>
            </a:prstGeom>
            <a:solidFill>
              <a:srgbClr val="2F73E8"/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6" name="矩形 235"/>
            <p:cNvSpPr/>
            <p:nvPr/>
          </p:nvSpPr>
          <p:spPr>
            <a:xfrm>
              <a:off x="12156" y="4436"/>
              <a:ext cx="283" cy="283"/>
            </a:xfrm>
            <a:prstGeom prst="rect">
              <a:avLst/>
            </a:prstGeom>
            <a:solidFill>
              <a:srgbClr val="2F73E8"/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237" name="直接箭头连接符 236"/>
          <p:cNvCxnSpPr/>
          <p:nvPr/>
        </p:nvCxnSpPr>
        <p:spPr>
          <a:xfrm>
            <a:off x="11723370" y="4093226"/>
            <a:ext cx="0" cy="549708"/>
          </a:xfrm>
          <a:prstGeom prst="straightConnector1">
            <a:avLst/>
          </a:prstGeom>
          <a:solidFill>
            <a:schemeClr val="accent5">
              <a:lumMod val="20000"/>
              <a:lumOff val="80000"/>
            </a:schemeClr>
          </a:solidFill>
          <a:ln w="15240">
            <a:solidFill>
              <a:srgbClr val="7A35CC"/>
            </a:solidFill>
            <a:prstDash val="dash"/>
            <a:headEnd type="triangle"/>
            <a:tailEnd type="triangle" w="med" len="med"/>
          </a:ln>
        </p:spPr>
      </p:cxnSp>
      <p:cxnSp>
        <p:nvCxnSpPr>
          <p:cNvPr id="249" name="直接连接符 248"/>
          <p:cNvCxnSpPr/>
          <p:nvPr/>
        </p:nvCxnSpPr>
        <p:spPr>
          <a:xfrm>
            <a:off x="11838305" y="4354680"/>
            <a:ext cx="365760" cy="0"/>
          </a:xfrm>
          <a:prstGeom prst="line">
            <a:avLst/>
          </a:prstGeom>
          <a:ln w="25400">
            <a:solidFill>
              <a:srgbClr val="7A35CC"/>
            </a:solidFill>
            <a:prstDash val="solid"/>
            <a:miter lim="800000"/>
            <a:tailEnd type="none" w="med" len="med"/>
          </a:ln>
        </p:spPr>
      </p:cxnSp>
      <p:cxnSp>
        <p:nvCxnSpPr>
          <p:cNvPr id="252" name="直接箭头连接符 251"/>
          <p:cNvCxnSpPr/>
          <p:nvPr/>
        </p:nvCxnSpPr>
        <p:spPr>
          <a:xfrm flipH="1" flipV="1">
            <a:off x="12204065" y="3552190"/>
            <a:ext cx="0" cy="812800"/>
          </a:xfrm>
          <a:prstGeom prst="straightConnector1">
            <a:avLst/>
          </a:prstGeom>
          <a:ln w="25400">
            <a:solidFill>
              <a:srgbClr val="7A35CC"/>
            </a:solidFill>
            <a:prstDash val="solid"/>
            <a:tailEnd type="triangle" w="med" len="med"/>
          </a:ln>
        </p:spPr>
      </p:cxnSp>
      <p:cxnSp>
        <p:nvCxnSpPr>
          <p:cNvPr id="264" name="直接连接符 263"/>
          <p:cNvCxnSpPr/>
          <p:nvPr/>
        </p:nvCxnSpPr>
        <p:spPr>
          <a:xfrm>
            <a:off x="826770" y="2821140"/>
            <a:ext cx="0" cy="4438015"/>
          </a:xfrm>
          <a:prstGeom prst="line">
            <a:avLst/>
          </a:prstGeom>
          <a:ln w="25400">
            <a:solidFill>
              <a:schemeClr val="tx1"/>
            </a:solidFill>
            <a:prstDash val="solid"/>
            <a:tailEnd type="none" w="med" len="med"/>
          </a:ln>
        </p:spPr>
      </p:cxnSp>
      <p:cxnSp>
        <p:nvCxnSpPr>
          <p:cNvPr id="267" name="直接箭头连接符 266"/>
          <p:cNvCxnSpPr/>
          <p:nvPr/>
        </p:nvCxnSpPr>
        <p:spPr>
          <a:xfrm>
            <a:off x="835515" y="7240300"/>
            <a:ext cx="548640" cy="0"/>
          </a:xfrm>
          <a:prstGeom prst="straightConnector1">
            <a:avLst/>
          </a:prstGeom>
          <a:ln w="25400">
            <a:solidFill>
              <a:schemeClr val="tx1"/>
            </a:solidFill>
            <a:prstDash val="solid"/>
            <a:tailEnd type="triangle" w="med" len="med"/>
          </a:ln>
        </p:spPr>
      </p:cxnSp>
      <p:sp>
        <p:nvSpPr>
          <p:cNvPr id="286" name="Student temporal tensor 1 layer 3"/>
          <p:cNvSpPr>
            <a:spLocks noGrp="1"/>
          </p:cNvSpPr>
          <p:nvPr/>
        </p:nvSpPr>
        <p:spPr>
          <a:xfrm>
            <a:off x="6771005" y="5946775"/>
            <a:ext cx="304800" cy="246380"/>
          </a:xfrm>
          <a:prstGeom prst="rect">
            <a:avLst/>
          </a:prstGeom>
          <a:solidFill>
            <a:srgbClr val="D6F1DA"/>
          </a:solidFill>
          <a:ln w="12383">
            <a:solidFill>
              <a:srgbClr val="35A446"/>
            </a:solidFill>
            <a:prstDash val="solid"/>
          </a:ln>
        </p:spPr>
        <p:txBody>
          <a:bodyPr wrap="none" lIns="9525" tIns="9525" rIns="9525" bIns="9525" anchor="ctr">
            <a:normAutofit/>
          </a:bodyPr>
          <a:lstStyle/>
          <a:p>
            <a:pPr algn="ctr">
              <a:defRPr sz="1275" b="1">
                <a:solidFill>
                  <a:srgbClr val="217C30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defRPr>
            </a:pPr>
            <a:endParaRPr sz="1275" b="1">
              <a:solidFill>
                <a:srgbClr val="217C30"/>
              </a:solidFill>
              <a:latin typeface="Cambria Math" panose="02040503050406030204"/>
              <a:ea typeface="Cambria Math" panose="02040503050406030204"/>
              <a:cs typeface="Cambria Math" panose="02040503050406030204"/>
            </a:endParaRPr>
          </a:p>
        </p:txBody>
      </p:sp>
      <p:sp>
        <p:nvSpPr>
          <p:cNvPr id="291" name="Student temporal tensor 1 layer 3"/>
          <p:cNvSpPr>
            <a:spLocks noGrp="1"/>
          </p:cNvSpPr>
          <p:nvPr/>
        </p:nvSpPr>
        <p:spPr>
          <a:xfrm>
            <a:off x="7066280" y="5946775"/>
            <a:ext cx="304800" cy="246380"/>
          </a:xfrm>
          <a:prstGeom prst="rect">
            <a:avLst/>
          </a:prstGeom>
          <a:solidFill>
            <a:srgbClr val="D6F1DA"/>
          </a:solidFill>
          <a:ln w="12383">
            <a:solidFill>
              <a:srgbClr val="35A446"/>
            </a:solidFill>
            <a:prstDash val="solid"/>
          </a:ln>
        </p:spPr>
        <p:txBody>
          <a:bodyPr wrap="none" lIns="9525" tIns="9525" rIns="9525" bIns="9525" anchor="ctr">
            <a:normAutofit/>
          </a:bodyPr>
          <a:lstStyle/>
          <a:p>
            <a:pPr algn="ctr">
              <a:defRPr sz="1275" b="1">
                <a:solidFill>
                  <a:srgbClr val="217C30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defRPr>
            </a:pPr>
            <a:endParaRPr sz="1275" b="1">
              <a:solidFill>
                <a:srgbClr val="217C30"/>
              </a:solidFill>
              <a:latin typeface="Cambria Math" panose="02040503050406030204"/>
              <a:ea typeface="Cambria Math" panose="02040503050406030204"/>
              <a:cs typeface="Cambria Math" panose="02040503050406030204"/>
            </a:endParaRPr>
          </a:p>
        </p:txBody>
      </p:sp>
      <p:sp>
        <p:nvSpPr>
          <p:cNvPr id="301" name="Student temporal tensor 1 layer 3"/>
          <p:cNvSpPr>
            <a:spLocks noGrp="1"/>
          </p:cNvSpPr>
          <p:nvPr/>
        </p:nvSpPr>
        <p:spPr>
          <a:xfrm>
            <a:off x="7371080" y="5946775"/>
            <a:ext cx="304800" cy="246380"/>
          </a:xfrm>
          <a:prstGeom prst="rect">
            <a:avLst/>
          </a:prstGeom>
          <a:solidFill>
            <a:srgbClr val="D6F1DA"/>
          </a:solidFill>
          <a:ln w="12383">
            <a:solidFill>
              <a:srgbClr val="35A446"/>
            </a:solidFill>
            <a:prstDash val="solid"/>
          </a:ln>
        </p:spPr>
        <p:txBody>
          <a:bodyPr wrap="none" lIns="9525" tIns="9525" rIns="9525" bIns="9525" anchor="ctr">
            <a:normAutofit/>
          </a:bodyPr>
          <a:lstStyle/>
          <a:p>
            <a:pPr algn="ctr">
              <a:defRPr sz="1275" b="1">
                <a:solidFill>
                  <a:srgbClr val="217C30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defRPr>
            </a:pPr>
            <a:endParaRPr sz="1275" b="1">
              <a:solidFill>
                <a:srgbClr val="217C30"/>
              </a:solidFill>
              <a:latin typeface="Cambria Math" panose="02040503050406030204"/>
              <a:ea typeface="Cambria Math" panose="02040503050406030204"/>
              <a:cs typeface="Cambria Math" panose="02040503050406030204"/>
            </a:endParaRPr>
          </a:p>
        </p:txBody>
      </p:sp>
      <p:sp>
        <p:nvSpPr>
          <p:cNvPr id="306" name="Student temporal tensor 1 layer 3"/>
          <p:cNvSpPr>
            <a:spLocks noGrp="1"/>
          </p:cNvSpPr>
          <p:nvPr/>
        </p:nvSpPr>
        <p:spPr>
          <a:xfrm>
            <a:off x="7675880" y="5946775"/>
            <a:ext cx="304800" cy="246380"/>
          </a:xfrm>
          <a:prstGeom prst="rect">
            <a:avLst/>
          </a:prstGeom>
          <a:solidFill>
            <a:srgbClr val="D6F1DA"/>
          </a:solidFill>
          <a:ln w="12383">
            <a:solidFill>
              <a:srgbClr val="35A446"/>
            </a:solidFill>
            <a:prstDash val="solid"/>
          </a:ln>
        </p:spPr>
        <p:txBody>
          <a:bodyPr wrap="none" lIns="9525" tIns="9525" rIns="9525" bIns="9525" anchor="ctr">
            <a:normAutofit/>
          </a:bodyPr>
          <a:lstStyle/>
          <a:p>
            <a:pPr algn="ctr">
              <a:defRPr sz="1275" b="1">
                <a:solidFill>
                  <a:srgbClr val="217C30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defRPr>
            </a:pPr>
            <a:endParaRPr sz="1275" b="1">
              <a:solidFill>
                <a:srgbClr val="217C30"/>
              </a:solidFill>
              <a:latin typeface="Cambria Math" panose="02040503050406030204"/>
              <a:ea typeface="Cambria Math" panose="02040503050406030204"/>
              <a:cs typeface="Cambria Math" panose="02040503050406030204"/>
            </a:endParaRPr>
          </a:p>
        </p:txBody>
      </p:sp>
      <p:sp>
        <p:nvSpPr>
          <p:cNvPr id="307" name="Student temporal tensor 1 layer 3"/>
          <p:cNvSpPr>
            <a:spLocks noGrp="1"/>
          </p:cNvSpPr>
          <p:nvPr/>
        </p:nvSpPr>
        <p:spPr>
          <a:xfrm>
            <a:off x="7984490" y="5946775"/>
            <a:ext cx="304800" cy="246380"/>
          </a:xfrm>
          <a:prstGeom prst="rect">
            <a:avLst/>
          </a:prstGeom>
          <a:solidFill>
            <a:srgbClr val="D6F1DA"/>
          </a:solidFill>
          <a:ln w="12383">
            <a:solidFill>
              <a:srgbClr val="35A446"/>
            </a:solidFill>
            <a:prstDash val="solid"/>
          </a:ln>
        </p:spPr>
        <p:txBody>
          <a:bodyPr wrap="none" lIns="9525" tIns="9525" rIns="9525" bIns="9525" anchor="ctr">
            <a:normAutofit/>
          </a:bodyPr>
          <a:lstStyle/>
          <a:p>
            <a:pPr algn="ctr">
              <a:defRPr sz="1275" b="1">
                <a:solidFill>
                  <a:srgbClr val="217C30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defRPr>
            </a:pPr>
            <a:endParaRPr sz="1275" b="1">
              <a:solidFill>
                <a:srgbClr val="217C30"/>
              </a:solidFill>
              <a:latin typeface="Cambria Math" panose="02040503050406030204"/>
              <a:ea typeface="Cambria Math" panose="02040503050406030204"/>
              <a:cs typeface="Cambria Math" panose="02040503050406030204"/>
            </a:endParaRPr>
          </a:p>
        </p:txBody>
      </p:sp>
      <p:sp>
        <p:nvSpPr>
          <p:cNvPr id="308" name="student dots"/>
          <p:cNvSpPr>
            <a:spLocks noGrp="1"/>
          </p:cNvSpPr>
          <p:nvPr/>
        </p:nvSpPr>
        <p:spPr>
          <a:xfrm>
            <a:off x="7747000" y="5983605"/>
            <a:ext cx="22352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650" b="1">
                <a:solidFill>
                  <a:srgbClr val="111111"/>
                </a:solidFill>
              </a:defRPr>
            </a:pPr>
            <a:r>
              <a:rPr kumimoji="0" sz="1650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⋯</a:t>
            </a:r>
            <a:endParaRPr kumimoji="0" sz="1650" b="1" i="0" u="none" strike="noStrike" kern="1200" cap="none" spc="0" normalizeH="0" baseline="0" noProof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grpSp>
        <p:nvGrpSpPr>
          <p:cNvPr id="311" name="组合 310"/>
          <p:cNvGrpSpPr/>
          <p:nvPr/>
        </p:nvGrpSpPr>
        <p:grpSpPr>
          <a:xfrm>
            <a:off x="9097645" y="7293610"/>
            <a:ext cx="1205230" cy="857885"/>
            <a:chOff x="27189" y="7696"/>
            <a:chExt cx="1898" cy="1351"/>
          </a:xfrm>
        </p:grpSpPr>
        <p:sp>
          <p:nvSpPr>
            <p:cNvPr id="314" name="class-Cargo ship"/>
            <p:cNvSpPr>
              <a:spLocks noGrp="1"/>
            </p:cNvSpPr>
            <p:nvPr/>
          </p:nvSpPr>
          <p:spPr>
            <a:xfrm>
              <a:off x="27189" y="8599"/>
              <a:ext cx="1899" cy="448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>
              <a:defPPr>
                <a:defRPr lang="en-US"/>
              </a:defPPr>
              <a:lvl1pPr marL="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050" b="0">
                  <a:solidFill>
                    <a:srgbClr val="111111"/>
                  </a:solidFill>
                </a:defRPr>
              </a:pPr>
              <a:r>
                <a:rPr kumimoji="0" lang="en-US" altLang="zh-CN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rPr>
                <a:t>Predicted Class</a:t>
              </a:r>
              <a:endParaRPr kumimoji="0" lang="en-US" altLang="zh-CN" sz="105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endParaRPr>
            </a:p>
          </p:txBody>
        </p:sp>
        <p:pic>
          <p:nvPicPr>
            <p:cNvPr id="316" name="图片 315"/>
            <p:cNvPicPr>
              <a:picLocks noChangeAspect="1"/>
            </p:cNvPicPr>
            <p:nvPr/>
          </p:nvPicPr>
          <p:blipFill>
            <a:blip r:embed="rId3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728" y="7696"/>
              <a:ext cx="822" cy="822"/>
            </a:xfrm>
            <a:prstGeom prst="rect">
              <a:avLst/>
            </a:prstGeom>
          </p:spPr>
        </p:pic>
      </p:grpSp>
      <p:cxnSp>
        <p:nvCxnSpPr>
          <p:cNvPr id="320" name="直接箭头连接符 319"/>
          <p:cNvCxnSpPr/>
          <p:nvPr/>
        </p:nvCxnSpPr>
        <p:spPr>
          <a:xfrm flipV="1">
            <a:off x="8952865" y="7769895"/>
            <a:ext cx="294005" cy="11430"/>
          </a:xfrm>
          <a:prstGeom prst="straightConnector1">
            <a:avLst/>
          </a:prstGeom>
          <a:ln w="25400">
            <a:solidFill>
              <a:srgbClr val="002060"/>
            </a:solidFill>
            <a:prstDash val="solid"/>
            <a:tailEnd type="triangle" w="med" len="med"/>
          </a:ln>
        </p:spPr>
      </p:cxnSp>
      <p:sp>
        <p:nvSpPr>
          <p:cNvPr id="323" name="圆角矩形 322"/>
          <p:cNvSpPr/>
          <p:nvPr/>
        </p:nvSpPr>
        <p:spPr>
          <a:xfrm>
            <a:off x="8441055" y="5881370"/>
            <a:ext cx="1817370" cy="715645"/>
          </a:xfrm>
          <a:prstGeom prst="roundRect">
            <a:avLst/>
          </a:prstGeom>
          <a:noFill/>
          <a:ln w="13335">
            <a:solidFill>
              <a:srgbClr val="C00000"/>
            </a:solidFill>
            <a:prstDash val="dash"/>
          </a:ln>
        </p:spPr>
        <p:txBody>
          <a:bodyPr/>
          <a:p>
            <a:pPr marL="0" marR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337" name="组合 336"/>
          <p:cNvGrpSpPr/>
          <p:nvPr/>
        </p:nvGrpSpPr>
        <p:grpSpPr>
          <a:xfrm rot="0">
            <a:off x="8990648" y="6233795"/>
            <a:ext cx="718185" cy="255270"/>
            <a:chOff x="12552" y="3375"/>
            <a:chExt cx="1131" cy="402"/>
          </a:xfrm>
        </p:grpSpPr>
        <p:sp>
          <p:nvSpPr>
            <p:cNvPr id="628" name="anchor"/>
            <p:cNvSpPr>
              <a:spLocks noGrp="1"/>
            </p:cNvSpPr>
            <p:nvPr/>
          </p:nvSpPr>
          <p:spPr>
            <a:xfrm>
              <a:off x="13170" y="337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631" name="anchor"/>
            <p:cNvSpPr>
              <a:spLocks noGrp="1"/>
            </p:cNvSpPr>
            <p:nvPr/>
          </p:nvSpPr>
          <p:spPr>
            <a:xfrm>
              <a:off x="13605" y="337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24" name="矩形 323"/>
            <p:cNvSpPr/>
            <p:nvPr/>
          </p:nvSpPr>
          <p:spPr>
            <a:xfrm>
              <a:off x="12552" y="3495"/>
              <a:ext cx="283" cy="283"/>
            </a:xfrm>
            <a:prstGeom prst="rect">
              <a:avLst/>
            </a:prstGeom>
            <a:solidFill>
              <a:srgbClr val="C00000"/>
            </a:solidFill>
            <a:ln w="13335">
              <a:solidFill>
                <a:schemeClr val="tx1"/>
              </a:solidFill>
              <a:prstDash val="solid"/>
            </a:ln>
          </p:spPr>
          <p:txBody>
            <a:bodyPr/>
            <a:p>
              <a:pPr marL="0" marR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28" name="矩形 327"/>
            <p:cNvSpPr/>
            <p:nvPr/>
          </p:nvSpPr>
          <p:spPr>
            <a:xfrm>
              <a:off x="12835" y="3495"/>
              <a:ext cx="283" cy="283"/>
            </a:xfrm>
            <a:prstGeom prst="rect">
              <a:avLst/>
            </a:prstGeom>
            <a:noFill/>
            <a:ln w="13335">
              <a:solidFill>
                <a:schemeClr val="tx1"/>
              </a:solidFill>
              <a:prstDash val="soli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00000"/>
                  </a:solidFill>
                </a14:hiddenFill>
              </a:ext>
            </a:extLst>
          </p:spPr>
          <p:txBody>
            <a:bodyPr/>
            <a:p>
              <a:pPr marL="0" marR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31" name="矩形 330"/>
            <p:cNvSpPr/>
            <p:nvPr/>
          </p:nvSpPr>
          <p:spPr>
            <a:xfrm>
              <a:off x="13401" y="3495"/>
              <a:ext cx="283" cy="283"/>
            </a:xfrm>
            <a:prstGeom prst="rect">
              <a:avLst/>
            </a:prstGeom>
            <a:noFill/>
            <a:ln w="13335">
              <a:solidFill>
                <a:schemeClr val="tx1"/>
              </a:solidFill>
              <a:prstDash val="soli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00000"/>
                  </a:solidFill>
                </a14:hiddenFill>
              </a:ext>
            </a:extLst>
          </p:spPr>
          <p:txBody>
            <a:bodyPr/>
            <a:p>
              <a:pPr marL="0" marR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34" name="矩形 333"/>
            <p:cNvSpPr/>
            <p:nvPr/>
          </p:nvSpPr>
          <p:spPr>
            <a:xfrm>
              <a:off x="13118" y="3495"/>
              <a:ext cx="283" cy="283"/>
            </a:xfrm>
            <a:prstGeom prst="rect">
              <a:avLst/>
            </a:prstGeom>
            <a:noFill/>
            <a:ln w="13335">
              <a:solidFill>
                <a:schemeClr val="tx1"/>
              </a:solidFill>
              <a:prstDash val="soli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00000"/>
                  </a:solidFill>
                </a14:hiddenFill>
              </a:ext>
            </a:extLst>
          </p:spPr>
          <p:txBody>
            <a:bodyPr/>
            <a:p>
              <a:pPr marL="0" marR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</p:grpSp>
      <p:sp>
        <p:nvSpPr>
          <p:cNvPr id="340" name="文本框 339"/>
          <p:cNvSpPr txBox="1"/>
          <p:nvPr/>
        </p:nvSpPr>
        <p:spPr>
          <a:xfrm>
            <a:off x="8448675" y="5886450"/>
            <a:ext cx="1828800" cy="30670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400" b="1">
                <a:latin typeface="Comic Sans MS" panose="030F0702030302020204" pitchFamily="66" charset="0"/>
                <a:ea typeface="微软雅黑" panose="020B0503020204020204" charset="-122"/>
                <a:cs typeface="Comic Sans MS" panose="030F0702030302020204" pitchFamily="66" charset="0"/>
              </a:rPr>
              <a:t>Ground Truth label</a:t>
            </a:r>
            <a:endParaRPr lang="en-US" altLang="zh-CN" sz="1400" b="1">
              <a:latin typeface="Comic Sans MS" panose="030F0702030302020204" pitchFamily="66" charset="0"/>
              <a:ea typeface="微软雅黑" panose="020B0503020204020204" charset="-122"/>
              <a:cs typeface="Comic Sans MS" panose="030F0702030302020204" pitchFamily="66" charset="0"/>
            </a:endParaRPr>
          </a:p>
        </p:txBody>
      </p:sp>
      <p:cxnSp>
        <p:nvCxnSpPr>
          <p:cNvPr id="346" name="直接箭头连接符 345"/>
          <p:cNvCxnSpPr>
            <a:stCxn id="323" idx="2"/>
          </p:cNvCxnSpPr>
          <p:nvPr/>
        </p:nvCxnSpPr>
        <p:spPr>
          <a:xfrm>
            <a:off x="9349740" y="6597015"/>
            <a:ext cx="6350" cy="262255"/>
          </a:xfrm>
          <a:prstGeom prst="straightConnector1">
            <a:avLst/>
          </a:prstGeom>
          <a:ln w="22225">
            <a:solidFill>
              <a:srgbClr val="C00000"/>
            </a:solidFill>
            <a:prstDash val="solid"/>
            <a:miter lim="800000"/>
            <a:tailEnd type="triangle" w="med" len="med"/>
          </a:ln>
        </p:spPr>
      </p:cxnSp>
      <p:cxnSp>
        <p:nvCxnSpPr>
          <p:cNvPr id="349" name="直接箭头连接符 348"/>
          <p:cNvCxnSpPr/>
          <p:nvPr/>
        </p:nvCxnSpPr>
        <p:spPr>
          <a:xfrm flipH="1" flipV="1">
            <a:off x="9378950" y="7137400"/>
            <a:ext cx="101600" cy="146050"/>
          </a:xfrm>
          <a:prstGeom prst="straightConnector1">
            <a:avLst/>
          </a:prstGeom>
          <a:ln w="22225">
            <a:solidFill>
              <a:srgbClr val="C00000"/>
            </a:solidFill>
            <a:prstDash val="solid"/>
            <a:miter lim="800000"/>
            <a:tailEnd type="triangle" w="med" len="med"/>
          </a:ln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52" name="文本框 351"/>
              <p:cNvSpPr txBox="1"/>
              <p:nvPr/>
            </p:nvSpPr>
            <p:spPr>
              <a:xfrm>
                <a:off x="9215120" y="6813550"/>
                <a:ext cx="400050" cy="39878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altLang="zh-CN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𝑳</m:t>
                          </m:r>
                        </m:e>
                        <m:sub>
                          <m:r>
                            <a:rPr kumimoji="0" lang="en-US" altLang="zh-CN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𝑪𝑬</m:t>
                          </m:r>
                        </m:sub>
                      </m:sSub>
                    </m:oMath>
                  </m:oMathPara>
                </a14:m>
                <a:endParaRPr kumimoji="0" lang="en-US" altLang="zh-CN" sz="2000" b="1" i="1" u="none" strike="noStrike" kern="1200" cap="none" spc="0" normalizeH="0" baseline="0" noProof="0" smtClean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52" name="文本框 3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5120" y="6813550"/>
                <a:ext cx="400050" cy="398780"/>
              </a:xfrm>
              <a:prstGeom prst="rect">
                <a:avLst/>
              </a:prstGeom>
              <a:blipFill rotWithShape="1">
                <a:blip r:embed="rId36"/>
                <a:stretch>
                  <a:fillRect r="-201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0" name="矩形: 圆角 121"/>
              <p:cNvSpPr/>
              <p:nvPr/>
            </p:nvSpPr>
            <p:spPr>
              <a:xfrm>
                <a:off x="10648950" y="1285875"/>
                <a:ext cx="890905" cy="512445"/>
              </a:xfrm>
              <a:prstGeom prst="roundRect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1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000" b="1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sub>
                      </m:sSub>
                    </m:oMath>
                  </m:oMathPara>
                </a14:m>
                <a:endPara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omic Sans MS" panose="030F0702030302020204" pitchFamily="66" charset="0"/>
                  <a:cs typeface="Calibri" panose="020F0502020204030204"/>
                </a:endParaRPr>
              </a:p>
            </p:txBody>
          </p:sp>
        </mc:Choice>
        <mc:Fallback>
          <p:sp>
            <p:nvSpPr>
              <p:cNvPr id="360" name="矩形: 圆角 1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8950" y="1285875"/>
                <a:ext cx="890905" cy="512445"/>
              </a:xfrm>
              <a:prstGeom prst="roundRect">
                <a:avLst/>
              </a:prstGeom>
              <a:blipFill rotWithShape="1">
                <a:blip r:embed="rId37"/>
                <a:stretch>
                  <a:fillRect l="-1069" t="-1859" r="-1069" b="-1859"/>
                </a:stretch>
              </a:blipFill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5" name="圆角矩形 364"/>
              <p:cNvSpPr/>
              <p:nvPr/>
            </p:nvSpPr>
            <p:spPr>
              <a:xfrm>
                <a:off x="10277475" y="663575"/>
                <a:ext cx="914400" cy="508000"/>
              </a:xfrm>
              <a:prstGeom prst="roundRect">
                <a:avLst/>
              </a:prstGeom>
              <a:solidFill>
                <a:srgbClr val="C00000"/>
              </a:solidFill>
              <a:ln w="13335">
                <a:solidFill>
                  <a:srgbClr val="C00000"/>
                </a:solidFill>
                <a:prstDash val="solid"/>
              </a:ln>
            </p:spPr>
            <p:txBody>
              <a:bodyPr/>
              <a:p>
                <a:pPr marL="0" marR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altLang="zh-CN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𝑳</m:t>
                          </m:r>
                        </m:e>
                        <m:sub>
                          <m:r>
                            <a:rPr kumimoji="0" lang="en-US" altLang="zh-CN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𝑪𝑬</m:t>
                          </m:r>
                        </m:sub>
                      </m:sSub>
                    </m:oMath>
                  </m:oMathPara>
                </a14:m>
                <a:endParaRPr kumimoji="0" lang="en-US" altLang="zh-CN" sz="1800" b="1" i="1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65" name="圆角矩形 36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77475" y="663575"/>
                <a:ext cx="914400" cy="508000"/>
              </a:xfrm>
              <a:prstGeom prst="roundRect">
                <a:avLst/>
              </a:prstGeom>
              <a:blipFill rotWithShape="1">
                <a:blip r:embed="rId38"/>
                <a:stretch>
                  <a:fillRect l="-764" t="-1375" r="-694" b="-1250"/>
                </a:stretch>
              </a:blipFill>
              <a:ln w="13335">
                <a:solidFill>
                  <a:srgbClr val="C00000"/>
                </a:solidFill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0" name="文本框 369"/>
              <p:cNvSpPr txBox="1"/>
              <p:nvPr/>
            </p:nvSpPr>
            <p:spPr>
              <a:xfrm>
                <a:off x="8803005" y="1311275"/>
                <a:ext cx="1089025" cy="39878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altLang="zh-CN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𝑳</m:t>
                          </m:r>
                        </m:e>
                        <m:sub>
                          <m:r>
                            <a:rPr kumimoji="0" lang="en-US" altLang="zh-CN" sz="20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𝒕𝒐𝒕𝒂</m:t>
                          </m:r>
                          <m:r>
                            <a:rPr kumimoji="0" lang="en-US" altLang="zh-CN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𝒍</m:t>
                          </m:r>
                        </m:sub>
                      </m:sSub>
                    </m:oMath>
                  </m:oMathPara>
                </a14:m>
                <a:endParaRPr kumimoji="0" lang="en-US" altLang="zh-CN" sz="2000" b="1" i="1" u="none" strike="noStrike" kern="1200" cap="none" spc="0" normalizeH="0" baseline="0" noProof="0" smtClean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70" name="文本框 3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3005" y="1311275"/>
                <a:ext cx="1089025" cy="398780"/>
              </a:xfrm>
              <a:prstGeom prst="rect">
                <a:avLst/>
              </a:prstGeom>
              <a:blipFill rotWithShape="1"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5" name="文本框 374"/>
              <p:cNvSpPr txBox="1"/>
              <p:nvPr/>
            </p:nvSpPr>
            <p:spPr>
              <a:xfrm>
                <a:off x="10084435" y="1351915"/>
                <a:ext cx="584835" cy="39878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zh-CN" altLang="en-US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𝝀</m:t>
                          </m:r>
                        </m:e>
                        <m:sub>
                          <m:r>
                            <a:rPr kumimoji="0" lang="en-US" altLang="zh-CN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</m:oMath>
                  </m:oMathPara>
                </a14:m>
                <a:endParaRPr kumimoji="0" lang="en-US" altLang="zh-CN" sz="2000" b="1" i="1" u="none" strike="noStrike" kern="1200" cap="none" spc="0" normalizeH="0" baseline="0" noProof="0" smtClean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75" name="文本框 3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4435" y="1351915"/>
                <a:ext cx="584835" cy="398780"/>
              </a:xfrm>
              <a:prstGeom prst="rect">
                <a:avLst/>
              </a:prstGeom>
              <a:blipFill rotWithShape="1"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0" name="文本框 379"/>
              <p:cNvSpPr txBox="1"/>
              <p:nvPr/>
            </p:nvSpPr>
            <p:spPr>
              <a:xfrm>
                <a:off x="10084435" y="1933575"/>
                <a:ext cx="1276350" cy="39878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0" lang="en-US" altLang="zh-CN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0" lang="en-US" altLang="zh-CN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kumimoji="0" lang="en-US" altLang="zh-CN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0" lang="en-US" altLang="zh-CN" sz="20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11111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zh-CN" altLang="en-US" sz="20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11111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𝝀</m:t>
                              </m:r>
                            </m:e>
                            <m:sub>
                              <m:r>
                                <a:rPr kumimoji="0" lang="en-US" altLang="zh-CN" sz="20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11111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kumimoji="0" lang="en-US" altLang="zh-CN" sz="2000" b="1" i="1" u="none" strike="noStrike" kern="1200" cap="none" spc="0" normalizeH="0" baseline="0" noProof="0" smtClean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80" name="文本框 3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4435" y="1933575"/>
                <a:ext cx="1276350" cy="398780"/>
              </a:xfrm>
              <a:prstGeom prst="rect">
                <a:avLst/>
              </a:prstGeom>
              <a:blipFill rotWithShape="1"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5" name="左大括号 384"/>
          <p:cNvSpPr/>
          <p:nvPr/>
        </p:nvSpPr>
        <p:spPr>
          <a:xfrm>
            <a:off x="9869805" y="772795"/>
            <a:ext cx="266065" cy="1581785"/>
          </a:xfrm>
          <a:prstGeom prst="leftBrace">
            <a:avLst/>
          </a:prstGeom>
          <a:ln w="25400">
            <a:solidFill>
              <a:schemeClr val="tx1"/>
            </a:solidFill>
            <a:prstDash val="solid"/>
            <a:miter lim="800000"/>
            <a:tailEnd type="none" w="med" len="med"/>
          </a:ln>
        </p:spPr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MWM1Nzc1YzNmZmM0NTVmNmUyZTAzYWNkYjJlMTA1MjAifQ=="/>
  <p:tag name="OPCH-69E96082845118F4234D3ED8D5A1F7A8CBF17ACDA7186666DDD4DC2D1FFB5A9B" val="[{&quot;GradientColorId&quot;:&quot;&quot;,&quot;IsFree&quot;:true,&quot;IsGradient&quot;:false,&quot;ImagePath&quot;:&quot;&quot;,&quot;GradientColor&quot;:null,&quot;SimpleColor&quot;:&quot;#000000&quot;}]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pattFill prst="ltUpDiag">
          <a:fgClr>
            <a:schemeClr val="accent5">
              <a:lumMod val="20000"/>
              <a:lumOff val="80000"/>
            </a:schemeClr>
          </a:fgClr>
          <a:bgClr>
            <a:schemeClr val="bg1"/>
          </a:bgClr>
        </a:pattFill>
        <a:ln w="13335">
          <a:solidFill>
            <a:srgbClr val="7A35CC"/>
          </a:solidFill>
          <a:prstDash val="dash"/>
        </a:ln>
      </a:spPr>
      <a:bodyPr/>
      <a:lstStyle>
        <a:defPPr marL="0" marR="0" indent="0" algn="l" defTabSz="91440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kern="1200" cap="none" spc="0" normalizeH="0" baseline="0" noProof="0">
            <a:ln>
              <a:noFill/>
            </a:ln>
            <a:solidFill>
              <a:srgbClr val="000000"/>
            </a:solidFill>
            <a:effectLst/>
            <a:uLnTx/>
            <a:uFillTx/>
            <a:latin typeface="Calibri" panose="020F0502020204030204"/>
            <a:cs typeface="Calibri" panose="020F0502020204030204"/>
          </a:defRPr>
        </a:defPPr>
      </a:lstStyle>
    </a:spDef>
    <a:lnDef>
      <a:spPr>
        <a:ln w="25400">
          <a:solidFill>
            <a:srgbClr val="7A35CC"/>
          </a:solidFill>
          <a:prstDash val="solid"/>
          <a:tailEnd type="triangle" w="med" len="med"/>
        </a:ln>
      </a:spPr>
      <a:bodyPr/>
      <a:lstStyle/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751</Words>
  <Application>WPS 演示</Application>
  <PresentationFormat>自定义</PresentationFormat>
  <Paragraphs>169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6" baseType="lpstr">
      <vt:lpstr>Arial</vt:lpstr>
      <vt:lpstr>宋体</vt:lpstr>
      <vt:lpstr>Wingdings</vt:lpstr>
      <vt:lpstr>Calibri</vt:lpstr>
      <vt:lpstr>Comic Sans MS</vt:lpstr>
      <vt:lpstr>Cambria Math</vt:lpstr>
      <vt:lpstr>儷宋 Pro</vt:lpstr>
      <vt:lpstr>DejaVu Math TeX Gyre</vt:lpstr>
      <vt:lpstr>微软雅黑</vt:lpstr>
      <vt:lpstr>MS Mincho</vt:lpstr>
      <vt:lpstr>Cambria Math</vt:lpstr>
      <vt:lpstr>Comic Sans MS</vt:lpstr>
      <vt:lpstr>Arial Unicode MS</vt:lpstr>
      <vt:lpstr>Segoe Print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岳洋</cp:lastModifiedBy>
  <cp:revision>122</cp:revision>
  <dcterms:created xsi:type="dcterms:W3CDTF">2026-06-23T16:13:00Z</dcterms:created>
  <dcterms:modified xsi:type="dcterms:W3CDTF">2026-07-18T13:04:27Z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0C1AACB59994497D8ADCDD1EE54ECA84_13</vt:lpwstr>
  </property>
  <property fmtid="{D5CDD505-2E9C-101B-9397-08002B2CF9AE}" pid="3" name="KSOProductBuildVer">
    <vt:lpwstr>2052-12.1.0.23542</vt:lpwstr>
  </property>
</Properties>
</file>