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4201775" cy="10048875"/>
  <p:notesSz cx="6858000" cy="9144000"/>
  <p:custDataLst>
    <p:tags r:id="rId4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FF8"/>
    <a:srgbClr val="FF6A00"/>
    <a:srgbClr val="A4D197"/>
    <a:srgbClr val="55A83C"/>
    <a:srgbClr val="7834C8"/>
    <a:srgbClr val="4985EB"/>
    <a:srgbClr val="90B4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5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nchor"/>
          <p:cNvSpPr>
            <a:spLocks noGrp="1"/>
          </p:cNvSpPr>
          <p:nvPr/>
        </p:nvSpPr>
        <p:spPr>
          <a:xfrm>
            <a:off x="266700" y="47815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anchor"/>
          <p:cNvSpPr>
            <a:spLocks noGrp="1"/>
          </p:cNvSpPr>
          <p:nvPr/>
        </p:nvSpPr>
        <p:spPr>
          <a:xfrm>
            <a:off x="266700" y="51054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anchor"/>
          <p:cNvSpPr>
            <a:spLocks noGrp="1"/>
          </p:cNvSpPr>
          <p:nvPr/>
        </p:nvSpPr>
        <p:spPr>
          <a:xfrm>
            <a:off x="289084" y="4732491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anchor"/>
          <p:cNvSpPr>
            <a:spLocks noGrp="1"/>
          </p:cNvSpPr>
          <p:nvPr/>
        </p:nvSpPr>
        <p:spPr>
          <a:xfrm>
            <a:off x="289084" y="5154459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2" name="Teacher panel"/>
          <p:cNvSpPr>
            <a:spLocks noGrp="1"/>
          </p:cNvSpPr>
          <p:nvPr/>
        </p:nvSpPr>
        <p:spPr>
          <a:xfrm>
            <a:off x="2028825" y="114300"/>
            <a:ext cx="5214938" cy="2524125"/>
          </a:xfrm>
          <a:prstGeom prst="roundRect">
            <a:avLst>
              <a:gd name="adj" fmla="val 5283"/>
            </a:avLst>
          </a:prstGeom>
          <a:solidFill>
            <a:srgbClr val="F8FBFF"/>
          </a:solidFill>
          <a:ln w="12383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" name="Teacher title"/>
          <p:cNvSpPr>
            <a:spLocks noGrp="1"/>
          </p:cNvSpPr>
          <p:nvPr/>
        </p:nvSpPr>
        <p:spPr>
          <a:xfrm>
            <a:off x="2301394" y="209550"/>
            <a:ext cx="4669801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646AD"/>
                </a:solidFill>
              </a:defRPr>
            </a:pPr>
            <a:r>
              <a:rPr sz="1650" b="1" dirty="0">
                <a:solidFill>
                  <a:srgbClr val="0646AD"/>
                </a:solidFill>
                <a:latin typeface="Comic Sans MS" panose="030F0702030302020204" pitchFamily="66" charset="0"/>
              </a:rPr>
              <a:t>Teacher: pretrained wav2vec 2.0</a:t>
            </a:r>
          </a:p>
        </p:txBody>
      </p:sp>
      <p:sp>
        <p:nvSpPr>
          <p:cNvPr id="154" name="module-CNN&#10;encoder"/>
          <p:cNvSpPr>
            <a:spLocks noGrp="1"/>
          </p:cNvSpPr>
          <p:nvPr/>
        </p:nvSpPr>
        <p:spPr>
          <a:xfrm>
            <a:off x="2247900" y="523875"/>
            <a:ext cx="1133475" cy="1152525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5" name="module-title-CNN&#10;encoder"/>
          <p:cNvSpPr>
            <a:spLocks noGrp="1"/>
          </p:cNvSpPr>
          <p:nvPr/>
        </p:nvSpPr>
        <p:spPr>
          <a:xfrm>
            <a:off x="2305050" y="619124"/>
            <a:ext cx="10191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 dirty="0">
                <a:solidFill>
                  <a:srgbClr val="111111"/>
                </a:solidFill>
                <a:latin typeface="Comic Sans MS" panose="030F0702030302020204" pitchFamily="66" charset="0"/>
              </a:rPr>
              <a:t>CNN</a:t>
            </a:r>
          </a:p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 dirty="0">
                <a:solidFill>
                  <a:srgbClr val="111111"/>
                </a:solidFill>
                <a:latin typeface="Comic Sans MS" panose="030F0702030302020204" pitchFamily="66" charset="0"/>
              </a:rPr>
              <a:t>encoder</a:t>
            </a:r>
          </a:p>
        </p:txBody>
      </p:sp>
      <p:sp>
        <p:nvSpPr>
          <p:cNvPr id="159" name="anchor"/>
          <p:cNvSpPr>
            <a:spLocks noGrp="1"/>
          </p:cNvSpPr>
          <p:nvPr/>
        </p:nvSpPr>
        <p:spPr>
          <a:xfrm>
            <a:off x="2714625" y="13525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" name="anchor"/>
          <p:cNvSpPr>
            <a:spLocks noGrp="1"/>
          </p:cNvSpPr>
          <p:nvPr/>
        </p:nvSpPr>
        <p:spPr>
          <a:xfrm>
            <a:off x="2857500" y="12382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2" name="anchor"/>
          <p:cNvSpPr>
            <a:spLocks noGrp="1"/>
          </p:cNvSpPr>
          <p:nvPr/>
        </p:nvSpPr>
        <p:spPr>
          <a:xfrm>
            <a:off x="2914650" y="1381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" name="anchor"/>
          <p:cNvSpPr>
            <a:spLocks noGrp="1"/>
          </p:cNvSpPr>
          <p:nvPr/>
        </p:nvSpPr>
        <p:spPr>
          <a:xfrm>
            <a:off x="3076575" y="12668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5" name="module-Transformer"/>
          <p:cNvSpPr>
            <a:spLocks noGrp="1"/>
          </p:cNvSpPr>
          <p:nvPr/>
        </p:nvSpPr>
        <p:spPr>
          <a:xfrm>
            <a:off x="3629025" y="523875"/>
            <a:ext cx="1771650" cy="1152525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66" name="module-title-Transformer"/>
          <p:cNvSpPr>
            <a:spLocks noGrp="1"/>
          </p:cNvSpPr>
          <p:nvPr/>
        </p:nvSpPr>
        <p:spPr>
          <a:xfrm>
            <a:off x="3681413" y="559185"/>
            <a:ext cx="1657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 dirty="0">
                <a:solidFill>
                  <a:srgbClr val="111111"/>
                </a:solidFill>
                <a:latin typeface="Comic Sans MS" panose="030F0702030302020204" pitchFamily="66" charset="0"/>
              </a:rPr>
              <a:t>Transformer</a:t>
            </a:r>
            <a:r>
              <a:rPr lang="en-US" sz="1425" b="1" dirty="0">
                <a:solidFill>
                  <a:srgbClr val="111111"/>
                </a:solidFill>
                <a:latin typeface="Comic Sans MS" panose="030F0702030302020204" pitchFamily="66" charset="0"/>
              </a:rPr>
              <a:t> layer</a:t>
            </a:r>
            <a:endParaRPr sz="1425" b="1" dirty="0">
              <a:solidFill>
                <a:srgbClr val="111111"/>
              </a:solidFill>
              <a:latin typeface="Comic Sans MS" panose="030F0702030302020204" pitchFamily="66" charset="0"/>
            </a:endParaRPr>
          </a:p>
        </p:txBody>
      </p:sp>
      <p:sp>
        <p:nvSpPr>
          <p:cNvPr id="167" name="tr-top"/>
          <p:cNvSpPr>
            <a:spLocks noGrp="1"/>
          </p:cNvSpPr>
          <p:nvPr/>
        </p:nvSpPr>
        <p:spPr>
          <a:xfrm>
            <a:off x="3895725" y="1038225"/>
            <a:ext cx="142875" cy="142875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8" name="tr-bot"/>
          <p:cNvSpPr>
            <a:spLocks noGrp="1"/>
          </p:cNvSpPr>
          <p:nvPr/>
        </p:nvSpPr>
        <p:spPr>
          <a:xfrm>
            <a:off x="3895725" y="1476375"/>
            <a:ext cx="142875" cy="142875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9" name="tr-top"/>
          <p:cNvSpPr>
            <a:spLocks noGrp="1"/>
          </p:cNvSpPr>
          <p:nvPr/>
        </p:nvSpPr>
        <p:spPr>
          <a:xfrm>
            <a:off x="4257675" y="1038225"/>
            <a:ext cx="142875" cy="142875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0" name="tr-bot"/>
          <p:cNvSpPr>
            <a:spLocks noGrp="1"/>
          </p:cNvSpPr>
          <p:nvPr/>
        </p:nvSpPr>
        <p:spPr>
          <a:xfrm>
            <a:off x="4257675" y="1476375"/>
            <a:ext cx="142875" cy="142875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1" name="tr-top"/>
          <p:cNvSpPr>
            <a:spLocks noGrp="1"/>
          </p:cNvSpPr>
          <p:nvPr/>
        </p:nvSpPr>
        <p:spPr>
          <a:xfrm>
            <a:off x="4610100" y="1038225"/>
            <a:ext cx="142875" cy="142875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2" name="tr-bot"/>
          <p:cNvSpPr>
            <a:spLocks noGrp="1"/>
          </p:cNvSpPr>
          <p:nvPr/>
        </p:nvSpPr>
        <p:spPr>
          <a:xfrm>
            <a:off x="4610100" y="1476375"/>
            <a:ext cx="142875" cy="142875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3" name="tr-top"/>
          <p:cNvSpPr>
            <a:spLocks noGrp="1"/>
          </p:cNvSpPr>
          <p:nvPr/>
        </p:nvSpPr>
        <p:spPr>
          <a:xfrm>
            <a:off x="5124450" y="1038225"/>
            <a:ext cx="142875" cy="142875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" name="tr-bot"/>
          <p:cNvSpPr>
            <a:spLocks noGrp="1"/>
          </p:cNvSpPr>
          <p:nvPr/>
        </p:nvSpPr>
        <p:spPr>
          <a:xfrm>
            <a:off x="5124450" y="1476375"/>
            <a:ext cx="142875" cy="142875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5" name="anchor"/>
          <p:cNvSpPr>
            <a:spLocks noGrp="1"/>
          </p:cNvSpPr>
          <p:nvPr/>
        </p:nvSpPr>
        <p:spPr>
          <a:xfrm>
            <a:off x="3952875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6" name="anchor"/>
          <p:cNvSpPr>
            <a:spLocks noGrp="1"/>
          </p:cNvSpPr>
          <p:nvPr/>
        </p:nvSpPr>
        <p:spPr>
          <a:xfrm>
            <a:off x="4314825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8" name="anchor"/>
          <p:cNvSpPr>
            <a:spLocks noGrp="1"/>
          </p:cNvSpPr>
          <p:nvPr/>
        </p:nvSpPr>
        <p:spPr>
          <a:xfrm>
            <a:off x="4314825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9" name="anchor"/>
          <p:cNvSpPr>
            <a:spLocks noGrp="1"/>
          </p:cNvSpPr>
          <p:nvPr/>
        </p:nvSpPr>
        <p:spPr>
          <a:xfrm>
            <a:off x="3952875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1" name="anchor"/>
          <p:cNvSpPr>
            <a:spLocks noGrp="1"/>
          </p:cNvSpPr>
          <p:nvPr/>
        </p:nvSpPr>
        <p:spPr>
          <a:xfrm>
            <a:off x="4314825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2" name="anchor"/>
          <p:cNvSpPr>
            <a:spLocks noGrp="1"/>
          </p:cNvSpPr>
          <p:nvPr/>
        </p:nvSpPr>
        <p:spPr>
          <a:xfrm>
            <a:off x="4667250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" name="anchor"/>
          <p:cNvSpPr>
            <a:spLocks noGrp="1"/>
          </p:cNvSpPr>
          <p:nvPr/>
        </p:nvSpPr>
        <p:spPr>
          <a:xfrm>
            <a:off x="4667250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" name="anchor"/>
          <p:cNvSpPr>
            <a:spLocks noGrp="1"/>
          </p:cNvSpPr>
          <p:nvPr/>
        </p:nvSpPr>
        <p:spPr>
          <a:xfrm>
            <a:off x="4314825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7" name="anchor"/>
          <p:cNvSpPr>
            <a:spLocks noGrp="1"/>
          </p:cNvSpPr>
          <p:nvPr/>
        </p:nvSpPr>
        <p:spPr>
          <a:xfrm>
            <a:off x="4667250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8" name="anchor"/>
          <p:cNvSpPr>
            <a:spLocks noGrp="1"/>
          </p:cNvSpPr>
          <p:nvPr/>
        </p:nvSpPr>
        <p:spPr>
          <a:xfrm>
            <a:off x="5181600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0" name="anchor"/>
          <p:cNvSpPr>
            <a:spLocks noGrp="1"/>
          </p:cNvSpPr>
          <p:nvPr/>
        </p:nvSpPr>
        <p:spPr>
          <a:xfrm>
            <a:off x="5181600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1" name="anchor"/>
          <p:cNvSpPr>
            <a:spLocks noGrp="1"/>
          </p:cNvSpPr>
          <p:nvPr/>
        </p:nvSpPr>
        <p:spPr>
          <a:xfrm>
            <a:off x="4667250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3" name="ellipsis"/>
          <p:cNvSpPr>
            <a:spLocks noGrp="1"/>
          </p:cNvSpPr>
          <p:nvPr/>
        </p:nvSpPr>
        <p:spPr>
          <a:xfrm>
            <a:off x="4757038" y="1134490"/>
            <a:ext cx="348362" cy="295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 dirty="0">
                <a:solidFill>
                  <a:srgbClr val="111111"/>
                </a:solidFill>
              </a:rPr>
              <a:t>.</a:t>
            </a:r>
            <a:r>
              <a:rPr lang="en-US" altLang="zh-CN" sz="1275" dirty="0">
                <a:solidFill>
                  <a:srgbClr val="111111"/>
                </a:solidFill>
              </a:rPr>
              <a:t>.</a:t>
            </a:r>
            <a:r>
              <a:rPr sz="1275" b="0" dirty="0">
                <a:solidFill>
                  <a:srgbClr val="111111"/>
                </a:solidFill>
              </a:rPr>
              <a:t>.</a:t>
            </a:r>
          </a:p>
        </p:txBody>
      </p:sp>
      <p:sp>
        <p:nvSpPr>
          <p:cNvPr id="194" name="module-Classifier"/>
          <p:cNvSpPr>
            <a:spLocks noGrp="1"/>
          </p:cNvSpPr>
          <p:nvPr/>
        </p:nvSpPr>
        <p:spPr>
          <a:xfrm>
            <a:off x="5657850" y="523875"/>
            <a:ext cx="1238250" cy="1152525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" name="module-title-Classifier"/>
          <p:cNvSpPr>
            <a:spLocks noGrp="1"/>
          </p:cNvSpPr>
          <p:nvPr/>
        </p:nvSpPr>
        <p:spPr>
          <a:xfrm>
            <a:off x="5715000" y="619125"/>
            <a:ext cx="1123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 dirty="0">
                <a:solidFill>
                  <a:srgbClr val="111111"/>
                </a:solidFill>
                <a:latin typeface="Comic Sans MS" panose="030F0702030302020204" pitchFamily="66" charset="0"/>
              </a:rPr>
              <a:t>Classifier</a:t>
            </a:r>
          </a:p>
        </p:txBody>
      </p:sp>
      <p:sp>
        <p:nvSpPr>
          <p:cNvPr id="196" name="bar-0"/>
          <p:cNvSpPr>
            <a:spLocks noGrp="1"/>
          </p:cNvSpPr>
          <p:nvPr/>
        </p:nvSpPr>
        <p:spPr>
          <a:xfrm>
            <a:off x="5916930" y="1351598"/>
            <a:ext cx="85725" cy="193357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7" name="bar-1"/>
          <p:cNvSpPr>
            <a:spLocks noGrp="1"/>
          </p:cNvSpPr>
          <p:nvPr/>
        </p:nvSpPr>
        <p:spPr>
          <a:xfrm>
            <a:off x="6116955" y="1202436"/>
            <a:ext cx="85725" cy="342519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8" name="bar-2"/>
          <p:cNvSpPr>
            <a:spLocks noGrp="1"/>
          </p:cNvSpPr>
          <p:nvPr/>
        </p:nvSpPr>
        <p:spPr>
          <a:xfrm>
            <a:off x="6316980" y="1020128"/>
            <a:ext cx="85725" cy="524828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9" name="bar-3"/>
          <p:cNvSpPr>
            <a:spLocks noGrp="1"/>
          </p:cNvSpPr>
          <p:nvPr/>
        </p:nvSpPr>
        <p:spPr>
          <a:xfrm>
            <a:off x="6517005" y="1202436"/>
            <a:ext cx="85725" cy="342519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0" name="anchor"/>
          <p:cNvSpPr>
            <a:spLocks noGrp="1"/>
          </p:cNvSpPr>
          <p:nvPr/>
        </p:nvSpPr>
        <p:spPr>
          <a:xfrm>
            <a:off x="338137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1" name="anchor"/>
          <p:cNvSpPr>
            <a:spLocks noGrp="1"/>
          </p:cNvSpPr>
          <p:nvPr/>
        </p:nvSpPr>
        <p:spPr>
          <a:xfrm>
            <a:off x="362902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853" name="直接箭头连接符 852"/>
          <p:cNvCxnSpPr>
            <a:stCxn id="200" idx="6"/>
            <a:endCxn id="201" idx="2"/>
          </p:cNvCxnSpPr>
          <p:nvPr/>
        </p:nvCxnSpPr>
        <p:spPr>
          <a:xfrm>
            <a:off x="3400425" y="1104900"/>
            <a:ext cx="22860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3" name="anchor"/>
          <p:cNvSpPr>
            <a:spLocks noGrp="1"/>
          </p:cNvSpPr>
          <p:nvPr/>
        </p:nvSpPr>
        <p:spPr>
          <a:xfrm>
            <a:off x="540067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" name="anchor"/>
          <p:cNvSpPr>
            <a:spLocks noGrp="1"/>
          </p:cNvSpPr>
          <p:nvPr/>
        </p:nvSpPr>
        <p:spPr>
          <a:xfrm>
            <a:off x="564832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856" name="直接箭头连接符 855"/>
          <p:cNvCxnSpPr>
            <a:stCxn id="203" idx="6"/>
            <a:endCxn id="204" idx="2"/>
          </p:cNvCxnSpPr>
          <p:nvPr/>
        </p:nvCxnSpPr>
        <p:spPr>
          <a:xfrm>
            <a:off x="5419725" y="1104900"/>
            <a:ext cx="22860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6" name="anchor"/>
          <p:cNvSpPr>
            <a:spLocks noGrp="1"/>
          </p:cNvSpPr>
          <p:nvPr/>
        </p:nvSpPr>
        <p:spPr>
          <a:xfrm>
            <a:off x="6896100" y="12096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7" name="anchor"/>
          <p:cNvSpPr>
            <a:spLocks noGrp="1"/>
          </p:cNvSpPr>
          <p:nvPr/>
        </p:nvSpPr>
        <p:spPr>
          <a:xfrm>
            <a:off x="7458075" y="12096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859" name="直接箭头连接符 858"/>
          <p:cNvCxnSpPr>
            <a:stCxn id="206" idx="6"/>
            <a:endCxn id="207" idx="2"/>
          </p:cNvCxnSpPr>
          <p:nvPr/>
        </p:nvCxnSpPr>
        <p:spPr>
          <a:xfrm>
            <a:off x="6915150" y="1219200"/>
            <a:ext cx="542925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9" name="bar-0"/>
          <p:cNvSpPr>
            <a:spLocks noGrp="1"/>
          </p:cNvSpPr>
          <p:nvPr/>
        </p:nvSpPr>
        <p:spPr>
          <a:xfrm>
            <a:off x="7620000" y="1190625"/>
            <a:ext cx="85725" cy="200025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0" name="bar-1"/>
          <p:cNvSpPr>
            <a:spLocks noGrp="1"/>
          </p:cNvSpPr>
          <p:nvPr/>
        </p:nvSpPr>
        <p:spPr>
          <a:xfrm>
            <a:off x="7829550" y="1176338"/>
            <a:ext cx="85725" cy="214313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1" name="bar-2"/>
          <p:cNvSpPr>
            <a:spLocks noGrp="1"/>
          </p:cNvSpPr>
          <p:nvPr/>
        </p:nvSpPr>
        <p:spPr>
          <a:xfrm>
            <a:off x="8039100" y="1190625"/>
            <a:ext cx="85725" cy="200025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2" name="bar-3"/>
          <p:cNvSpPr>
            <a:spLocks noGrp="1"/>
          </p:cNvSpPr>
          <p:nvPr/>
        </p:nvSpPr>
        <p:spPr>
          <a:xfrm>
            <a:off x="8248650" y="1162050"/>
            <a:ext cx="85725" cy="228600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3" name="bar-4"/>
          <p:cNvSpPr>
            <a:spLocks noGrp="1"/>
          </p:cNvSpPr>
          <p:nvPr/>
        </p:nvSpPr>
        <p:spPr>
          <a:xfrm>
            <a:off x="8458200" y="1184910"/>
            <a:ext cx="85725" cy="205740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4" name="bar-5"/>
          <p:cNvSpPr>
            <a:spLocks noGrp="1"/>
          </p:cNvSpPr>
          <p:nvPr/>
        </p:nvSpPr>
        <p:spPr>
          <a:xfrm>
            <a:off x="8667750" y="1196340"/>
            <a:ext cx="85725" cy="194310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zt"/>
              <p:cNvSpPr>
                <a:spLocks noGrp="1"/>
              </p:cNvSpPr>
              <p:nvPr/>
            </p:nvSpPr>
            <p:spPr>
              <a:xfrm>
                <a:off x="8077200" y="781050"/>
                <a:ext cx="419100" cy="3048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500" b="1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500" b="1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altLang="zh-CN" sz="1500" b="1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5" name="z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200" y="781050"/>
                <a:ext cx="419100" cy="3048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classes"/>
          <p:cNvSpPr>
            <a:spLocks noGrp="1"/>
          </p:cNvSpPr>
          <p:nvPr/>
        </p:nvSpPr>
        <p:spPr>
          <a:xfrm>
            <a:off x="7791450" y="142875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 dirty="0">
                <a:solidFill>
                  <a:srgbClr val="111111"/>
                </a:solidFill>
              </a:rPr>
              <a:t>(</a:t>
            </a:r>
            <a:r>
              <a:rPr sz="1125" b="1" i="1" dirty="0">
                <a:solidFill>
                  <a:srgbClr val="111111"/>
                </a:solidFill>
              </a:rPr>
              <a:t>C</a:t>
            </a:r>
            <a:r>
              <a:rPr sz="1125" b="0" dirty="0">
                <a:solidFill>
                  <a:srgbClr val="111111"/>
                </a:solidFill>
              </a:rPr>
              <a:t> classes)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HT"/>
              <p:cNvSpPr>
                <a:spLocks noGrp="1"/>
              </p:cNvSpPr>
              <p:nvPr/>
            </p:nvSpPr>
            <p:spPr>
              <a:xfrm>
                <a:off x="2143125" y="2019300"/>
                <a:ext cx="428625" cy="2476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1575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575" b="1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575" b="1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1575" b="1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sz="1575" b="1" dirty="0">
                  <a:solidFill>
                    <a:srgbClr val="111111"/>
                  </a:solidFill>
                </a:endParaRPr>
              </a:p>
            </p:txBody>
          </p:sp>
        </mc:Choice>
        <mc:Fallback xmlns="">
          <p:sp>
            <p:nvSpPr>
              <p:cNvPr id="217" name="H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125" y="2019300"/>
                <a:ext cx="428625" cy="247650"/>
              </a:xfrm>
              <a:prstGeom prst="rect">
                <a:avLst/>
              </a:prstGeom>
              <a:blipFill rotWithShape="1">
                <a:blip r:embed="rId4"/>
                <a:stretch>
                  <a:fillRect b="-15641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8" name="teacher hidden"/>
          <p:cNvSpPr>
            <a:spLocks noGrp="1"/>
          </p:cNvSpPr>
          <p:nvPr/>
        </p:nvSpPr>
        <p:spPr>
          <a:xfrm>
            <a:off x="2628900" y="1933575"/>
            <a:ext cx="3943350" cy="409575"/>
          </a:xfrm>
          <a:prstGeom prst="roundRect">
            <a:avLst>
              <a:gd name="adj" fmla="val 13953"/>
            </a:avLst>
          </a:prstGeom>
          <a:solidFill>
            <a:srgbClr val="E9F2FF"/>
          </a:solidFill>
          <a:ln w="9525">
            <a:solidFill>
              <a:srgbClr val="2F73E8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9" name="token-0"/>
          <p:cNvSpPr>
            <a:spLocks noGrp="1"/>
          </p:cNvSpPr>
          <p:nvPr/>
        </p:nvSpPr>
        <p:spPr>
          <a:xfrm>
            <a:off x="27717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0" name="token-label-0"/>
          <p:cNvSpPr>
            <a:spLocks noGrp="1"/>
          </p:cNvSpPr>
          <p:nvPr/>
        </p:nvSpPr>
        <p:spPr>
          <a:xfrm>
            <a:off x="27717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221" name="token-1"/>
          <p:cNvSpPr>
            <a:spLocks noGrp="1"/>
          </p:cNvSpPr>
          <p:nvPr/>
        </p:nvSpPr>
        <p:spPr>
          <a:xfrm>
            <a:off x="34194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2" name="token-label-1"/>
          <p:cNvSpPr>
            <a:spLocks noGrp="1"/>
          </p:cNvSpPr>
          <p:nvPr/>
        </p:nvSpPr>
        <p:spPr>
          <a:xfrm>
            <a:off x="34194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223" name="token-2"/>
          <p:cNvSpPr>
            <a:spLocks noGrp="1"/>
          </p:cNvSpPr>
          <p:nvPr/>
        </p:nvSpPr>
        <p:spPr>
          <a:xfrm>
            <a:off x="40671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4" name="token-label-2"/>
          <p:cNvSpPr>
            <a:spLocks noGrp="1"/>
          </p:cNvSpPr>
          <p:nvPr/>
        </p:nvSpPr>
        <p:spPr>
          <a:xfrm>
            <a:off x="40671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225" name="token-3"/>
          <p:cNvSpPr>
            <a:spLocks noGrp="1"/>
          </p:cNvSpPr>
          <p:nvPr/>
        </p:nvSpPr>
        <p:spPr>
          <a:xfrm>
            <a:off x="47148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6" name="token-label-3"/>
          <p:cNvSpPr>
            <a:spLocks noGrp="1"/>
          </p:cNvSpPr>
          <p:nvPr/>
        </p:nvSpPr>
        <p:spPr>
          <a:xfrm>
            <a:off x="47148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·</a:t>
            </a:r>
          </a:p>
        </p:txBody>
      </p:sp>
      <p:sp>
        <p:nvSpPr>
          <p:cNvPr id="227" name="teacher dots"/>
          <p:cNvSpPr>
            <a:spLocks noGrp="1"/>
          </p:cNvSpPr>
          <p:nvPr/>
        </p:nvSpPr>
        <p:spPr>
          <a:xfrm>
            <a:off x="5467350" y="200977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 dirty="0">
                <a:solidFill>
                  <a:srgbClr val="111111"/>
                </a:solidFill>
              </a:rPr>
              <a:t>⋯</a:t>
            </a:r>
          </a:p>
        </p:txBody>
      </p:sp>
      <p:sp>
        <p:nvSpPr>
          <p:cNvPr id="228" name="token-0"/>
          <p:cNvSpPr>
            <a:spLocks noGrp="1"/>
          </p:cNvSpPr>
          <p:nvPr/>
        </p:nvSpPr>
        <p:spPr>
          <a:xfrm>
            <a:off x="6210300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token-label-0"/>
              <p:cNvSpPr>
                <a:spLocks noGrp="1"/>
              </p:cNvSpPr>
              <p:nvPr/>
            </p:nvSpPr>
            <p:spPr>
              <a:xfrm>
                <a:off x="6210300" y="2038350"/>
                <a:ext cx="304800" cy="2095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975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75" b="1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975" b="1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altLang="zh-CN" sz="975" b="1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sz="975" b="1" dirty="0">
                  <a:solidFill>
                    <a:srgbClr val="111111"/>
                  </a:solidFill>
                </a:endParaRPr>
              </a:p>
            </p:txBody>
          </p:sp>
        </mc:Choice>
        <mc:Fallback xmlns="">
          <p:sp>
            <p:nvSpPr>
              <p:cNvPr id="229" name="token-label-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300" y="2038350"/>
                <a:ext cx="304800" cy="209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teacher hidden label"/>
          <p:cNvSpPr>
            <a:spLocks noGrp="1"/>
          </p:cNvSpPr>
          <p:nvPr/>
        </p:nvSpPr>
        <p:spPr>
          <a:xfrm>
            <a:off x="3181350" y="2381250"/>
            <a:ext cx="2619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teacher hidden sequence (time steps Tₜ)</a:t>
            </a:r>
          </a:p>
        </p:txBody>
      </p:sp>
      <p:sp>
        <p:nvSpPr>
          <p:cNvPr id="395" name="Student panel"/>
          <p:cNvSpPr>
            <a:spLocks noGrp="1"/>
          </p:cNvSpPr>
          <p:nvPr/>
        </p:nvSpPr>
        <p:spPr>
          <a:xfrm>
            <a:off x="2030730" y="6724650"/>
            <a:ext cx="6419850" cy="2819400"/>
          </a:xfrm>
          <a:prstGeom prst="roundRect">
            <a:avLst>
              <a:gd name="adj" fmla="val 4054"/>
            </a:avLst>
          </a:prstGeom>
          <a:solidFill>
            <a:srgbClr val="FBFFF8"/>
          </a:solidFill>
          <a:ln w="12383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6" name="Student title"/>
          <p:cNvSpPr>
            <a:spLocks noGrp="1"/>
          </p:cNvSpPr>
          <p:nvPr/>
        </p:nvSpPr>
        <p:spPr>
          <a:xfrm>
            <a:off x="3421380" y="6749415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88326"/>
                </a:solidFill>
              </a:defRPr>
            </a:pPr>
            <a:r>
              <a:rPr sz="1725" b="1" dirty="0">
                <a:solidFill>
                  <a:srgbClr val="188326"/>
                </a:solidFill>
                <a:latin typeface="Comic Sans MS" panose="030F0702030302020204" pitchFamily="66" charset="0"/>
              </a:rPr>
              <a:t>Student: lightweight LNN</a:t>
            </a:r>
          </a:p>
        </p:txBody>
      </p:sp>
      <p:sp>
        <p:nvSpPr>
          <p:cNvPr id="397" name="module-1D CNN&#10;encoder"/>
          <p:cNvSpPr>
            <a:spLocks noGrp="1"/>
          </p:cNvSpPr>
          <p:nvPr/>
        </p:nvSpPr>
        <p:spPr>
          <a:xfrm>
            <a:off x="2114550" y="7143750"/>
            <a:ext cx="1057275" cy="1295400"/>
          </a:xfrm>
          <a:prstGeom prst="roundRect">
            <a:avLst>
              <a:gd name="adj" fmla="val 9009"/>
            </a:avLst>
          </a:prstGeom>
          <a:solidFill>
            <a:srgbClr val="FFFFFF"/>
          </a:solidFill>
          <a:ln w="14288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8" name="module-title-1D CNN&#10;encoder"/>
          <p:cNvSpPr>
            <a:spLocks noGrp="1"/>
          </p:cNvSpPr>
          <p:nvPr/>
        </p:nvSpPr>
        <p:spPr>
          <a:xfrm>
            <a:off x="2171700" y="7239000"/>
            <a:ext cx="942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1D CNN</a:t>
            </a:r>
          </a:p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encoder</a:t>
            </a:r>
          </a:p>
        </p:txBody>
      </p:sp>
      <p:sp>
        <p:nvSpPr>
          <p:cNvPr id="402" name="anchor"/>
          <p:cNvSpPr>
            <a:spLocks noGrp="1"/>
          </p:cNvSpPr>
          <p:nvPr/>
        </p:nvSpPr>
        <p:spPr>
          <a:xfrm>
            <a:off x="2581275" y="79724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3" name="anchor"/>
          <p:cNvSpPr>
            <a:spLocks noGrp="1"/>
          </p:cNvSpPr>
          <p:nvPr/>
        </p:nvSpPr>
        <p:spPr>
          <a:xfrm>
            <a:off x="2724150" y="7858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5" name="anchor"/>
          <p:cNvSpPr>
            <a:spLocks noGrp="1"/>
          </p:cNvSpPr>
          <p:nvPr/>
        </p:nvSpPr>
        <p:spPr>
          <a:xfrm>
            <a:off x="2781300" y="80010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6" name="anchor"/>
          <p:cNvSpPr>
            <a:spLocks noGrp="1"/>
          </p:cNvSpPr>
          <p:nvPr/>
        </p:nvSpPr>
        <p:spPr>
          <a:xfrm>
            <a:off x="2943225" y="78867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8" name="module-BPCSCfC"/>
          <p:cNvSpPr>
            <a:spLocks noGrp="1"/>
          </p:cNvSpPr>
          <p:nvPr/>
        </p:nvSpPr>
        <p:spPr>
          <a:xfrm>
            <a:off x="3409950" y="7143750"/>
            <a:ext cx="1724025" cy="12954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4288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09" name="module-title-BPCSCfC"/>
          <p:cNvSpPr>
            <a:spLocks noGrp="1"/>
          </p:cNvSpPr>
          <p:nvPr/>
        </p:nvSpPr>
        <p:spPr>
          <a:xfrm>
            <a:off x="3467100" y="7239000"/>
            <a:ext cx="16097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BPCSCfC</a:t>
            </a:r>
          </a:p>
        </p:txBody>
      </p:sp>
      <p:sp>
        <p:nvSpPr>
          <p:cNvPr id="415" name="tr-top"/>
          <p:cNvSpPr>
            <a:spLocks noGrp="1"/>
          </p:cNvSpPr>
          <p:nvPr/>
        </p:nvSpPr>
        <p:spPr>
          <a:xfrm>
            <a:off x="3689985" y="7637145"/>
            <a:ext cx="283845" cy="142875"/>
          </a:xfrm>
          <a:prstGeom prst="rect">
            <a:avLst/>
          </a:prstGeom>
          <a:solidFill>
            <a:srgbClr val="55A83C">
              <a:alpha val="53333"/>
            </a:srgbClr>
          </a:solidFill>
          <a:ln w="1333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9" name="anchor"/>
          <p:cNvSpPr>
            <a:spLocks noGrp="1"/>
          </p:cNvSpPr>
          <p:nvPr/>
        </p:nvSpPr>
        <p:spPr>
          <a:xfrm>
            <a:off x="3733800" y="77914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0" name="anchor"/>
          <p:cNvSpPr>
            <a:spLocks noGrp="1"/>
          </p:cNvSpPr>
          <p:nvPr/>
        </p:nvSpPr>
        <p:spPr>
          <a:xfrm>
            <a:off x="4095750" y="80867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2" name="anchor"/>
          <p:cNvSpPr>
            <a:spLocks noGrp="1"/>
          </p:cNvSpPr>
          <p:nvPr/>
        </p:nvSpPr>
        <p:spPr>
          <a:xfrm>
            <a:off x="4095750" y="77914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3" name="anchor"/>
          <p:cNvSpPr>
            <a:spLocks noGrp="1"/>
          </p:cNvSpPr>
          <p:nvPr/>
        </p:nvSpPr>
        <p:spPr>
          <a:xfrm>
            <a:off x="3733800" y="80867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5" name="anchor"/>
          <p:cNvSpPr>
            <a:spLocks noGrp="1"/>
          </p:cNvSpPr>
          <p:nvPr/>
        </p:nvSpPr>
        <p:spPr>
          <a:xfrm>
            <a:off x="4095750" y="77914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6" name="anchor"/>
          <p:cNvSpPr>
            <a:spLocks noGrp="1"/>
          </p:cNvSpPr>
          <p:nvPr/>
        </p:nvSpPr>
        <p:spPr>
          <a:xfrm>
            <a:off x="4448175" y="80867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8" name="anchor"/>
          <p:cNvSpPr>
            <a:spLocks noGrp="1"/>
          </p:cNvSpPr>
          <p:nvPr/>
        </p:nvSpPr>
        <p:spPr>
          <a:xfrm>
            <a:off x="4448175" y="77914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9" name="anchor"/>
          <p:cNvSpPr>
            <a:spLocks noGrp="1"/>
          </p:cNvSpPr>
          <p:nvPr/>
        </p:nvSpPr>
        <p:spPr>
          <a:xfrm>
            <a:off x="4095750" y="80867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1" name="anchor"/>
          <p:cNvSpPr>
            <a:spLocks noGrp="1"/>
          </p:cNvSpPr>
          <p:nvPr/>
        </p:nvSpPr>
        <p:spPr>
          <a:xfrm>
            <a:off x="4448175" y="77914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2" name="anchor"/>
          <p:cNvSpPr>
            <a:spLocks noGrp="1"/>
          </p:cNvSpPr>
          <p:nvPr/>
        </p:nvSpPr>
        <p:spPr>
          <a:xfrm>
            <a:off x="4962525" y="80867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4" name="anchor"/>
          <p:cNvSpPr>
            <a:spLocks noGrp="1"/>
          </p:cNvSpPr>
          <p:nvPr/>
        </p:nvSpPr>
        <p:spPr>
          <a:xfrm>
            <a:off x="4962525" y="77914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5" name="anchor"/>
          <p:cNvSpPr>
            <a:spLocks noGrp="1"/>
          </p:cNvSpPr>
          <p:nvPr/>
        </p:nvSpPr>
        <p:spPr>
          <a:xfrm>
            <a:off x="4448175" y="80867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8" name="module-DRASP"/>
          <p:cNvSpPr>
            <a:spLocks noGrp="1"/>
          </p:cNvSpPr>
          <p:nvPr/>
        </p:nvSpPr>
        <p:spPr>
          <a:xfrm>
            <a:off x="5362575" y="7143750"/>
            <a:ext cx="1381125" cy="12954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4288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9" name="module-title-DRASP"/>
          <p:cNvSpPr>
            <a:spLocks noGrp="1"/>
          </p:cNvSpPr>
          <p:nvPr/>
        </p:nvSpPr>
        <p:spPr>
          <a:xfrm>
            <a:off x="5419725" y="7239000"/>
            <a:ext cx="12668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DRASP</a:t>
            </a:r>
          </a:p>
        </p:txBody>
      </p:sp>
      <p:sp>
        <p:nvSpPr>
          <p:cNvPr id="441" name="bar-0"/>
          <p:cNvSpPr>
            <a:spLocks noGrp="1"/>
          </p:cNvSpPr>
          <p:nvPr/>
        </p:nvSpPr>
        <p:spPr>
          <a:xfrm>
            <a:off x="5532755" y="8141970"/>
            <a:ext cx="85725" cy="193357"/>
          </a:xfrm>
          <a:prstGeom prst="rect">
            <a:avLst/>
          </a:prstGeom>
          <a:solidFill>
            <a:srgbClr val="A4D197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2" name="bar-1"/>
          <p:cNvSpPr>
            <a:spLocks noGrp="1"/>
          </p:cNvSpPr>
          <p:nvPr/>
        </p:nvSpPr>
        <p:spPr>
          <a:xfrm>
            <a:off x="5667375" y="7995285"/>
            <a:ext cx="85725" cy="342519"/>
          </a:xfrm>
          <a:prstGeom prst="rect">
            <a:avLst/>
          </a:prstGeom>
          <a:solidFill>
            <a:srgbClr val="A4D197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3" name="bar-2"/>
          <p:cNvSpPr>
            <a:spLocks noGrp="1"/>
          </p:cNvSpPr>
          <p:nvPr/>
        </p:nvSpPr>
        <p:spPr>
          <a:xfrm>
            <a:off x="5800725" y="7809865"/>
            <a:ext cx="85725" cy="524828"/>
          </a:xfrm>
          <a:prstGeom prst="rect">
            <a:avLst/>
          </a:prstGeom>
          <a:solidFill>
            <a:srgbClr val="A4D197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5" name="module-Classifier"/>
          <p:cNvSpPr>
            <a:spLocks noGrp="1"/>
          </p:cNvSpPr>
          <p:nvPr/>
        </p:nvSpPr>
        <p:spPr>
          <a:xfrm>
            <a:off x="6972300" y="7143750"/>
            <a:ext cx="1019175" cy="129540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4288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" name="module-title-Classifier"/>
          <p:cNvSpPr>
            <a:spLocks noGrp="1"/>
          </p:cNvSpPr>
          <p:nvPr/>
        </p:nvSpPr>
        <p:spPr>
          <a:xfrm>
            <a:off x="7029450" y="7239000"/>
            <a:ext cx="904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Classifier</a:t>
            </a:r>
          </a:p>
        </p:txBody>
      </p:sp>
      <p:sp>
        <p:nvSpPr>
          <p:cNvPr id="447" name="bar-0"/>
          <p:cNvSpPr>
            <a:spLocks noGrp="1"/>
          </p:cNvSpPr>
          <p:nvPr/>
        </p:nvSpPr>
        <p:spPr>
          <a:xfrm>
            <a:off x="7100887" y="8001953"/>
            <a:ext cx="85725" cy="193357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8" name="bar-1"/>
          <p:cNvSpPr>
            <a:spLocks noGrp="1"/>
          </p:cNvSpPr>
          <p:nvPr/>
        </p:nvSpPr>
        <p:spPr>
          <a:xfrm>
            <a:off x="7300912" y="7852791"/>
            <a:ext cx="85725" cy="342519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9" name="bar-2"/>
          <p:cNvSpPr>
            <a:spLocks noGrp="1"/>
          </p:cNvSpPr>
          <p:nvPr/>
        </p:nvSpPr>
        <p:spPr>
          <a:xfrm>
            <a:off x="7500937" y="7670483"/>
            <a:ext cx="85725" cy="524828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0" name="bar-3"/>
          <p:cNvSpPr>
            <a:spLocks noGrp="1"/>
          </p:cNvSpPr>
          <p:nvPr/>
        </p:nvSpPr>
        <p:spPr>
          <a:xfrm>
            <a:off x="7700962" y="7852791"/>
            <a:ext cx="85725" cy="342519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1" name="anchor"/>
          <p:cNvSpPr>
            <a:spLocks noGrp="1"/>
          </p:cNvSpPr>
          <p:nvPr/>
        </p:nvSpPr>
        <p:spPr>
          <a:xfrm>
            <a:off x="3171825" y="77819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2" name="anchor"/>
          <p:cNvSpPr>
            <a:spLocks noGrp="1"/>
          </p:cNvSpPr>
          <p:nvPr/>
        </p:nvSpPr>
        <p:spPr>
          <a:xfrm>
            <a:off x="3400425" y="77819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104" name="直接箭头连接符 1103"/>
          <p:cNvCxnSpPr>
            <a:stCxn id="451" idx="6"/>
            <a:endCxn id="452" idx="2"/>
          </p:cNvCxnSpPr>
          <p:nvPr/>
        </p:nvCxnSpPr>
        <p:spPr>
          <a:xfrm>
            <a:off x="3190875" y="7791450"/>
            <a:ext cx="20955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454" name="anchor"/>
          <p:cNvSpPr>
            <a:spLocks noGrp="1"/>
          </p:cNvSpPr>
          <p:nvPr/>
        </p:nvSpPr>
        <p:spPr>
          <a:xfrm>
            <a:off x="5133975" y="77819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5" name="anchor"/>
          <p:cNvSpPr>
            <a:spLocks noGrp="1"/>
          </p:cNvSpPr>
          <p:nvPr/>
        </p:nvSpPr>
        <p:spPr>
          <a:xfrm>
            <a:off x="5353050" y="77819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107" name="直接箭头连接符 1106"/>
          <p:cNvCxnSpPr>
            <a:stCxn id="454" idx="6"/>
            <a:endCxn id="455" idx="2"/>
          </p:cNvCxnSpPr>
          <p:nvPr/>
        </p:nvCxnSpPr>
        <p:spPr>
          <a:xfrm>
            <a:off x="5153025" y="7791450"/>
            <a:ext cx="200025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457" name="anchor"/>
          <p:cNvSpPr>
            <a:spLocks noGrp="1"/>
          </p:cNvSpPr>
          <p:nvPr/>
        </p:nvSpPr>
        <p:spPr>
          <a:xfrm>
            <a:off x="6743700" y="77819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" name="anchor"/>
          <p:cNvSpPr>
            <a:spLocks noGrp="1"/>
          </p:cNvSpPr>
          <p:nvPr/>
        </p:nvSpPr>
        <p:spPr>
          <a:xfrm>
            <a:off x="6962775" y="77819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110" name="直接箭头连接符 1109"/>
          <p:cNvCxnSpPr>
            <a:stCxn id="457" idx="6"/>
            <a:endCxn id="458" idx="2"/>
          </p:cNvCxnSpPr>
          <p:nvPr/>
        </p:nvCxnSpPr>
        <p:spPr>
          <a:xfrm>
            <a:off x="6762750" y="7791450"/>
            <a:ext cx="200025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460" name="HS"/>
          <p:cNvSpPr>
            <a:spLocks noGrp="1"/>
          </p:cNvSpPr>
          <p:nvPr/>
        </p:nvSpPr>
        <p:spPr>
          <a:xfrm>
            <a:off x="2114550" y="8829675"/>
            <a:ext cx="428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Hₛ</a:t>
            </a:r>
          </a:p>
        </p:txBody>
      </p:sp>
      <p:sp>
        <p:nvSpPr>
          <p:cNvPr id="461" name="student hidden"/>
          <p:cNvSpPr>
            <a:spLocks noGrp="1"/>
          </p:cNvSpPr>
          <p:nvPr/>
        </p:nvSpPr>
        <p:spPr>
          <a:xfrm>
            <a:off x="2562225" y="8724900"/>
            <a:ext cx="4133850" cy="409575"/>
          </a:xfrm>
          <a:prstGeom prst="roundRect">
            <a:avLst>
              <a:gd name="adj" fmla="val 13953"/>
            </a:avLst>
          </a:prstGeom>
          <a:solidFill>
            <a:srgbClr val="EFF9EB"/>
          </a:solidFill>
          <a:ln w="9525">
            <a:solidFill>
              <a:srgbClr val="55A83C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2" name="token-0"/>
          <p:cNvSpPr>
            <a:spLocks noGrp="1"/>
          </p:cNvSpPr>
          <p:nvPr/>
        </p:nvSpPr>
        <p:spPr>
          <a:xfrm>
            <a:off x="2762250" y="882015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3" name="token-label-0"/>
          <p:cNvSpPr>
            <a:spLocks noGrp="1"/>
          </p:cNvSpPr>
          <p:nvPr/>
        </p:nvSpPr>
        <p:spPr>
          <a:xfrm>
            <a:off x="2762250" y="882967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464" name="token-1"/>
          <p:cNvSpPr>
            <a:spLocks noGrp="1"/>
          </p:cNvSpPr>
          <p:nvPr/>
        </p:nvSpPr>
        <p:spPr>
          <a:xfrm>
            <a:off x="3429000" y="882015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5" name="token-label-1"/>
          <p:cNvSpPr>
            <a:spLocks noGrp="1"/>
          </p:cNvSpPr>
          <p:nvPr/>
        </p:nvSpPr>
        <p:spPr>
          <a:xfrm>
            <a:off x="3429000" y="882967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466" name="token-2"/>
          <p:cNvSpPr>
            <a:spLocks noGrp="1"/>
          </p:cNvSpPr>
          <p:nvPr/>
        </p:nvSpPr>
        <p:spPr>
          <a:xfrm>
            <a:off x="4095750" y="882015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7" name="token-label-2"/>
          <p:cNvSpPr>
            <a:spLocks noGrp="1"/>
          </p:cNvSpPr>
          <p:nvPr/>
        </p:nvSpPr>
        <p:spPr>
          <a:xfrm>
            <a:off x="4095750" y="882967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468" name="token-3"/>
          <p:cNvSpPr>
            <a:spLocks noGrp="1"/>
          </p:cNvSpPr>
          <p:nvPr/>
        </p:nvSpPr>
        <p:spPr>
          <a:xfrm>
            <a:off x="4762500" y="882015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9" name="token-label-3"/>
          <p:cNvSpPr>
            <a:spLocks noGrp="1"/>
          </p:cNvSpPr>
          <p:nvPr/>
        </p:nvSpPr>
        <p:spPr>
          <a:xfrm>
            <a:off x="4762500" y="882967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·</a:t>
            </a:r>
          </a:p>
        </p:txBody>
      </p:sp>
      <p:sp>
        <p:nvSpPr>
          <p:cNvPr id="470" name="student dots"/>
          <p:cNvSpPr>
            <a:spLocks noGrp="1"/>
          </p:cNvSpPr>
          <p:nvPr/>
        </p:nvSpPr>
        <p:spPr>
          <a:xfrm>
            <a:off x="5591175" y="88011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⋯</a:t>
            </a:r>
          </a:p>
        </p:txBody>
      </p:sp>
      <p:sp>
        <p:nvSpPr>
          <p:cNvPr id="471" name="token-0"/>
          <p:cNvSpPr>
            <a:spLocks noGrp="1"/>
          </p:cNvSpPr>
          <p:nvPr/>
        </p:nvSpPr>
        <p:spPr>
          <a:xfrm>
            <a:off x="6210300" y="882015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2" name="token-label-0"/>
          <p:cNvSpPr>
            <a:spLocks noGrp="1"/>
          </p:cNvSpPr>
          <p:nvPr/>
        </p:nvSpPr>
        <p:spPr>
          <a:xfrm>
            <a:off x="6210300" y="882967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Tₛ</a:t>
            </a:r>
          </a:p>
        </p:txBody>
      </p:sp>
      <p:sp>
        <p:nvSpPr>
          <p:cNvPr id="473" name="student hidden label"/>
          <p:cNvSpPr>
            <a:spLocks noGrp="1"/>
          </p:cNvSpPr>
          <p:nvPr/>
        </p:nvSpPr>
        <p:spPr>
          <a:xfrm>
            <a:off x="3105150" y="9172575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student hidden sequence (time steps Tₛ)</a:t>
            </a:r>
          </a:p>
        </p:txBody>
      </p:sp>
      <p:sp>
        <p:nvSpPr>
          <p:cNvPr id="474" name="TS-T panel"/>
          <p:cNvSpPr>
            <a:spLocks noGrp="1"/>
          </p:cNvSpPr>
          <p:nvPr/>
        </p:nvSpPr>
        <p:spPr>
          <a:xfrm>
            <a:off x="6522085" y="2930525"/>
            <a:ext cx="3269615" cy="3601085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3335">
            <a:solidFill>
              <a:srgbClr val="7A35CC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5" name="TS-T title"/>
          <p:cNvSpPr>
            <a:spLocks noGrp="1"/>
          </p:cNvSpPr>
          <p:nvPr/>
        </p:nvSpPr>
        <p:spPr>
          <a:xfrm>
            <a:off x="7703986" y="2981325"/>
            <a:ext cx="90614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7A35CC"/>
                </a:solidFill>
              </a:defRPr>
            </a:pPr>
            <a:r>
              <a:rPr sz="1800" b="1" dirty="0">
                <a:solidFill>
                  <a:srgbClr val="7A35CC"/>
                </a:solidFill>
                <a:latin typeface="Comic Sans MS" panose="030F0702030302020204" pitchFamily="66" charset="0"/>
              </a:rPr>
              <a:t>TS-T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7" name="broadcast"/>
              <p:cNvSpPr>
                <a:spLocks noGrp="1"/>
              </p:cNvSpPr>
              <p:nvPr/>
            </p:nvSpPr>
            <p:spPr>
              <a:xfrm>
                <a:off x="7486650" y="3215640"/>
                <a:ext cx="1809750" cy="4000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1125" b="0">
                    <a:solidFill>
                      <a:srgbClr val="111111"/>
                    </a:solidFill>
                  </a:defRPr>
                </a:pPr>
                <a:r>
                  <a:rPr sz="1125" b="0" dirty="0">
                    <a:solidFill>
                      <a:srgbClr val="111111"/>
                    </a:solidFill>
                  </a:rPr>
                  <a:t>Broadcast teacher logits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25" b="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25" b="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1125" b="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sz="1125" b="0" dirty="0">
                  <a:solidFill>
                    <a:srgbClr val="111111"/>
                  </a:solidFill>
                </a:endParaRPr>
              </a:p>
              <a:p>
                <a:pPr algn="ctr">
                  <a:defRPr sz="1125" b="0">
                    <a:solidFill>
                      <a:srgbClr val="111111"/>
                    </a:solidFill>
                  </a:defRPr>
                </a:pPr>
                <a:r>
                  <a:rPr sz="1125" b="0" dirty="0">
                    <a:solidFill>
                      <a:srgbClr val="111111"/>
                    </a:solidFill>
                  </a:rPr>
                  <a:t>over time and to final</a:t>
                </a:r>
              </a:p>
            </p:txBody>
          </p:sp>
        </mc:Choice>
        <mc:Fallback xmlns="">
          <p:sp>
            <p:nvSpPr>
              <p:cNvPr id="477" name="broadcas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650" y="3215640"/>
                <a:ext cx="1809750" cy="4000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组合 39"/>
          <p:cNvGrpSpPr/>
          <p:nvPr/>
        </p:nvGrpSpPr>
        <p:grpSpPr>
          <a:xfrm>
            <a:off x="6966434" y="3655060"/>
            <a:ext cx="2381250" cy="1689935"/>
            <a:chOff x="11325" y="4152900"/>
            <a:chExt cx="3750" cy="1689935"/>
          </a:xfrm>
        </p:grpSpPr>
        <p:sp>
          <p:nvSpPr>
            <p:cNvPr id="478" name="bar-0"/>
            <p:cNvSpPr>
              <a:spLocks noGrp="1"/>
            </p:cNvSpPr>
            <p:nvPr/>
          </p:nvSpPr>
          <p:spPr>
            <a:xfrm>
              <a:off x="11460" y="4242435"/>
              <a:ext cx="135" cy="205740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9" name="bar-1"/>
            <p:cNvSpPr>
              <a:spLocks noGrp="1"/>
            </p:cNvSpPr>
            <p:nvPr/>
          </p:nvSpPr>
          <p:spPr>
            <a:xfrm>
              <a:off x="11775" y="4253865"/>
              <a:ext cx="135" cy="194310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0" name="bar-2"/>
            <p:cNvSpPr>
              <a:spLocks noGrp="1"/>
            </p:cNvSpPr>
            <p:nvPr/>
          </p:nvSpPr>
          <p:spPr>
            <a:xfrm>
              <a:off x="12090" y="4248150"/>
              <a:ext cx="135" cy="200025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" name="bar-3"/>
            <p:cNvSpPr>
              <a:spLocks noGrp="1"/>
            </p:cNvSpPr>
            <p:nvPr/>
          </p:nvSpPr>
          <p:spPr>
            <a:xfrm>
              <a:off x="12405" y="4259580"/>
              <a:ext cx="135" cy="188595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" name="tst dots top"/>
            <p:cNvSpPr>
              <a:spLocks noGrp="1"/>
            </p:cNvSpPr>
            <p:nvPr/>
          </p:nvSpPr>
          <p:spPr>
            <a:xfrm>
              <a:off x="13155" y="4152900"/>
              <a:ext cx="52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350" b="1">
                  <a:solidFill>
                    <a:srgbClr val="111111"/>
                  </a:solidFill>
                </a:defRPr>
              </a:pPr>
              <a:r>
                <a:rPr sz="1350" b="1">
                  <a:solidFill>
                    <a:srgbClr val="111111"/>
                  </a:solidFill>
                </a:rPr>
                <a:t>⋯</a:t>
              </a:r>
            </a:p>
          </p:txBody>
        </p:sp>
        <p:sp>
          <p:nvSpPr>
            <p:cNvPr id="483" name="bar-0"/>
            <p:cNvSpPr>
              <a:spLocks noGrp="1"/>
            </p:cNvSpPr>
            <p:nvPr/>
          </p:nvSpPr>
          <p:spPr>
            <a:xfrm>
              <a:off x="13845" y="4257040"/>
              <a:ext cx="135" cy="191770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4" name="bar-1"/>
            <p:cNvSpPr>
              <a:spLocks noGrp="1"/>
            </p:cNvSpPr>
            <p:nvPr/>
          </p:nvSpPr>
          <p:spPr>
            <a:xfrm>
              <a:off x="14160" y="4248150"/>
              <a:ext cx="135" cy="200025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5" name="bar-2"/>
            <p:cNvSpPr>
              <a:spLocks noGrp="1"/>
            </p:cNvSpPr>
            <p:nvPr/>
          </p:nvSpPr>
          <p:spPr>
            <a:xfrm>
              <a:off x="14475" y="4248150"/>
              <a:ext cx="135" cy="200025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6" name="bar-3"/>
            <p:cNvSpPr>
              <a:spLocks noGrp="1"/>
            </p:cNvSpPr>
            <p:nvPr/>
          </p:nvSpPr>
          <p:spPr>
            <a:xfrm>
              <a:off x="14790" y="4259580"/>
              <a:ext cx="135" cy="188595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7" name="anchor"/>
            <p:cNvSpPr>
              <a:spLocks noGrp="1"/>
            </p:cNvSpPr>
            <p:nvPr/>
          </p:nvSpPr>
          <p:spPr>
            <a:xfrm>
              <a:off x="11865" y="4533900"/>
              <a:ext cx="30" cy="1905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8" name="anchor"/>
            <p:cNvSpPr>
              <a:spLocks noGrp="1"/>
            </p:cNvSpPr>
            <p:nvPr/>
          </p:nvSpPr>
          <p:spPr>
            <a:xfrm>
              <a:off x="11865" y="4810125"/>
              <a:ext cx="30" cy="1905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140" name="直接箭头连接符 1139"/>
            <p:cNvCxnSpPr/>
            <p:nvPr/>
          </p:nvCxnSpPr>
          <p:spPr>
            <a:xfrm>
              <a:off x="11704" y="4550410"/>
              <a:ext cx="0" cy="257175"/>
            </a:xfrm>
            <a:prstGeom prst="straightConnector1">
              <a:avLst/>
            </a:prstGeom>
            <a:ln w="15240">
              <a:solidFill>
                <a:srgbClr val="7A35CC"/>
              </a:solidFill>
              <a:prstDash val="dash"/>
              <a:tailEnd type="triangle" w="med" len="med"/>
            </a:ln>
          </p:spPr>
        </p:cxnSp>
        <p:sp>
          <p:nvSpPr>
            <p:cNvPr id="490" name="anchor"/>
            <p:cNvSpPr>
              <a:spLocks noGrp="1"/>
            </p:cNvSpPr>
            <p:nvPr/>
          </p:nvSpPr>
          <p:spPr>
            <a:xfrm>
              <a:off x="12555" y="4533900"/>
              <a:ext cx="30" cy="1905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" name="anchor"/>
            <p:cNvSpPr>
              <a:spLocks noGrp="1"/>
            </p:cNvSpPr>
            <p:nvPr/>
          </p:nvSpPr>
          <p:spPr>
            <a:xfrm>
              <a:off x="12555" y="4810125"/>
              <a:ext cx="30" cy="1905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143" name="直接箭头连接符 1142"/>
            <p:cNvCxnSpPr/>
            <p:nvPr/>
          </p:nvCxnSpPr>
          <p:spPr>
            <a:xfrm>
              <a:off x="12328" y="4552950"/>
              <a:ext cx="0" cy="257175"/>
            </a:xfrm>
            <a:prstGeom prst="straightConnector1">
              <a:avLst/>
            </a:prstGeom>
            <a:ln w="15240">
              <a:solidFill>
                <a:srgbClr val="7A35CC"/>
              </a:solidFill>
              <a:prstDash val="dash"/>
              <a:tailEnd type="triangle" w="med" len="med"/>
            </a:ln>
          </p:spPr>
        </p:cxnSp>
        <p:sp>
          <p:nvSpPr>
            <p:cNvPr id="493" name="anchor"/>
            <p:cNvSpPr>
              <a:spLocks noGrp="1"/>
            </p:cNvSpPr>
            <p:nvPr/>
          </p:nvSpPr>
          <p:spPr>
            <a:xfrm>
              <a:off x="14070" y="4533900"/>
              <a:ext cx="30" cy="1905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" name="anchor"/>
            <p:cNvSpPr>
              <a:spLocks noGrp="1"/>
            </p:cNvSpPr>
            <p:nvPr/>
          </p:nvSpPr>
          <p:spPr>
            <a:xfrm>
              <a:off x="14070" y="4810125"/>
              <a:ext cx="30" cy="1905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146" name="直接箭头连接符 1145"/>
            <p:cNvCxnSpPr>
              <a:stCxn id="493" idx="4"/>
              <a:endCxn id="494" idx="0"/>
            </p:cNvCxnSpPr>
            <p:nvPr/>
          </p:nvCxnSpPr>
          <p:spPr>
            <a:xfrm>
              <a:off x="14085" y="4552950"/>
              <a:ext cx="0" cy="257175"/>
            </a:xfrm>
            <a:prstGeom prst="straightConnector1">
              <a:avLst/>
            </a:prstGeom>
            <a:ln w="15240">
              <a:solidFill>
                <a:srgbClr val="7A35CC"/>
              </a:solidFill>
              <a:prstDash val="dash"/>
              <a:tailEnd type="triangle" w="med" len="med"/>
            </a:ln>
          </p:spPr>
        </p:cxnSp>
        <p:sp>
          <p:nvSpPr>
            <p:cNvPr id="496" name="anchor"/>
            <p:cNvSpPr>
              <a:spLocks noGrp="1"/>
            </p:cNvSpPr>
            <p:nvPr/>
          </p:nvSpPr>
          <p:spPr>
            <a:xfrm>
              <a:off x="14640" y="4533900"/>
              <a:ext cx="30" cy="1905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7" name="anchor"/>
            <p:cNvSpPr>
              <a:spLocks noGrp="1"/>
            </p:cNvSpPr>
            <p:nvPr/>
          </p:nvSpPr>
          <p:spPr>
            <a:xfrm>
              <a:off x="14640" y="4810125"/>
              <a:ext cx="30" cy="1905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149" name="直接箭头连接符 1148"/>
            <p:cNvCxnSpPr>
              <a:stCxn id="496" idx="4"/>
              <a:endCxn id="497" idx="0"/>
            </p:cNvCxnSpPr>
            <p:nvPr/>
          </p:nvCxnSpPr>
          <p:spPr>
            <a:xfrm>
              <a:off x="14655" y="4552950"/>
              <a:ext cx="0" cy="257175"/>
            </a:xfrm>
            <a:prstGeom prst="straightConnector1">
              <a:avLst/>
            </a:prstGeom>
            <a:ln w="15240">
              <a:solidFill>
                <a:srgbClr val="7A35CC"/>
              </a:solidFill>
              <a:prstDash val="dash"/>
              <a:tailEnd type="triangle" w="med" len="med"/>
            </a:ln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9" name="align step"/>
                <p:cNvSpPr>
                  <a:spLocks noGrp="1"/>
                </p:cNvSpPr>
                <p:nvPr/>
              </p:nvSpPr>
              <p:spPr>
                <a:xfrm>
                  <a:off x="11325" y="4914900"/>
                  <a:ext cx="1994" cy="409575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algn="ctr">
                    <a:defRPr sz="975" b="1">
                      <a:solidFill>
                        <a:srgbClr val="111111"/>
                      </a:solidFill>
                    </a:defRPr>
                  </a:pPr>
                  <a:r>
                    <a:rPr sz="975" b="1" dirty="0">
                      <a:solidFill>
                        <a:srgbClr val="111111"/>
                      </a:solidFill>
                    </a:rPr>
                    <a:t>Align with time-step</a:t>
                  </a:r>
                </a:p>
                <a:p>
                  <a:pPr algn="ctr">
                    <a:defRPr sz="975" b="1">
                      <a:solidFill>
                        <a:srgbClr val="111111"/>
                      </a:solidFill>
                    </a:defRPr>
                  </a:pPr>
                  <a:r>
                    <a:rPr sz="975" b="1" dirty="0">
                      <a:solidFill>
                        <a:srgbClr val="111111"/>
                      </a:solidFill>
                    </a:rPr>
                    <a:t>logits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975" b="1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975" b="1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975" b="1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975" b="1" i="1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</m:oMath>
                  </a14:m>
                  <a:endParaRPr sz="975" b="1" dirty="0">
                    <a:solidFill>
                      <a:srgbClr val="111111"/>
                    </a:solidFill>
                  </a:endParaRPr>
                </a:p>
              </p:txBody>
            </p:sp>
          </mc:Choice>
          <mc:Fallback xmlns="">
            <p:sp>
              <p:nvSpPr>
                <p:cNvPr id="499" name="align step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5" y="4914900"/>
                  <a:ext cx="1994" cy="409575"/>
                </a:xfrm>
                <a:prstGeom prst="rect">
                  <a:avLst/>
                </a:prstGeom>
                <a:blipFill rotWithShape="1">
                  <a:blip r:embed="rId7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0" name="align final"/>
                <p:cNvSpPr>
                  <a:spLocks noGrp="1"/>
                </p:cNvSpPr>
                <p:nvPr/>
              </p:nvSpPr>
              <p:spPr>
                <a:xfrm>
                  <a:off x="13500" y="4914900"/>
                  <a:ext cx="1575" cy="409575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algn="ctr">
                    <a:defRPr sz="975" b="1">
                      <a:solidFill>
                        <a:srgbClr val="111111"/>
                      </a:solidFill>
                    </a:defRPr>
                  </a:pPr>
                  <a:r>
                    <a:rPr sz="975" b="1" dirty="0">
                      <a:solidFill>
                        <a:srgbClr val="111111"/>
                      </a:solidFill>
                    </a:rPr>
                    <a:t>Align with final</a:t>
                  </a:r>
                </a:p>
                <a:p>
                  <a:pPr algn="ctr">
                    <a:defRPr sz="975" b="1">
                      <a:solidFill>
                        <a:srgbClr val="111111"/>
                      </a:solidFill>
                    </a:defRPr>
                  </a:pPr>
                  <a:r>
                    <a:rPr sz="975" b="1" dirty="0">
                      <a:solidFill>
                        <a:srgbClr val="111111"/>
                      </a:solidFill>
                    </a:rPr>
                    <a:t>logits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975" b="1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975" b="1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975" b="1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a14:m>
                  <a:endParaRPr sz="975" b="1" dirty="0">
                    <a:solidFill>
                      <a:srgbClr val="111111"/>
                    </a:solidFill>
                  </a:endParaRPr>
                </a:p>
              </p:txBody>
            </p:sp>
          </mc:Choice>
          <mc:Fallback xmlns="">
            <p:sp>
              <p:nvSpPr>
                <p:cNvPr id="500" name="align final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00" y="4914900"/>
                  <a:ext cx="1575" cy="409575"/>
                </a:xfrm>
                <a:prstGeom prst="rect">
                  <a:avLst/>
                </a:prstGeom>
                <a:blipFill rotWithShape="1">
                  <a:blip r:embed="rId8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1" name="bar-0"/>
            <p:cNvSpPr>
              <a:spLocks noGrp="1"/>
            </p:cNvSpPr>
            <p:nvPr/>
          </p:nvSpPr>
          <p:spPr>
            <a:xfrm>
              <a:off x="11460" y="5424805"/>
              <a:ext cx="135" cy="214630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" name="bar-1"/>
            <p:cNvSpPr>
              <a:spLocks noGrp="1"/>
            </p:cNvSpPr>
            <p:nvPr/>
          </p:nvSpPr>
          <p:spPr>
            <a:xfrm>
              <a:off x="11865" y="5396230"/>
              <a:ext cx="135" cy="243205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3" name="bar-2"/>
            <p:cNvSpPr>
              <a:spLocks noGrp="1"/>
            </p:cNvSpPr>
            <p:nvPr/>
          </p:nvSpPr>
          <p:spPr>
            <a:xfrm>
              <a:off x="12270" y="5410200"/>
              <a:ext cx="135" cy="228600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4" name="tst dots bottom"/>
            <p:cNvSpPr>
              <a:spLocks noGrp="1"/>
            </p:cNvSpPr>
            <p:nvPr/>
          </p:nvSpPr>
          <p:spPr>
            <a:xfrm>
              <a:off x="12434" y="5393690"/>
              <a:ext cx="4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350" b="1">
                  <a:solidFill>
                    <a:srgbClr val="111111"/>
                  </a:solidFill>
                </a:defRPr>
              </a:pPr>
              <a:r>
                <a:rPr sz="1350" b="1" dirty="0">
                  <a:solidFill>
                    <a:srgbClr val="111111"/>
                  </a:solidFill>
                </a:rPr>
                <a:t>⋯</a:t>
              </a:r>
            </a:p>
          </p:txBody>
        </p:sp>
        <p:sp>
          <p:nvSpPr>
            <p:cNvPr id="505" name="bar-0"/>
            <p:cNvSpPr>
              <a:spLocks noGrp="1"/>
            </p:cNvSpPr>
            <p:nvPr/>
          </p:nvSpPr>
          <p:spPr>
            <a:xfrm>
              <a:off x="12870" y="5393055"/>
              <a:ext cx="135" cy="245745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6" name="bar-0"/>
            <p:cNvSpPr>
              <a:spLocks noGrp="1"/>
            </p:cNvSpPr>
            <p:nvPr/>
          </p:nvSpPr>
          <p:spPr>
            <a:xfrm>
              <a:off x="14340" y="5393055"/>
              <a:ext cx="135" cy="245745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7" name="anchor"/>
            <p:cNvSpPr>
              <a:spLocks noGrp="1"/>
            </p:cNvSpPr>
            <p:nvPr/>
          </p:nvSpPr>
          <p:spPr>
            <a:xfrm>
              <a:off x="11355" y="5762625"/>
              <a:ext cx="30" cy="1905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8" name="anchor"/>
            <p:cNvSpPr>
              <a:spLocks noGrp="1"/>
            </p:cNvSpPr>
            <p:nvPr/>
          </p:nvSpPr>
          <p:spPr>
            <a:xfrm>
              <a:off x="14715" y="5762625"/>
              <a:ext cx="30" cy="1905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160" name="直接箭头连接符 1159"/>
            <p:cNvCxnSpPr/>
            <p:nvPr/>
          </p:nvCxnSpPr>
          <p:spPr>
            <a:xfrm>
              <a:off x="11595" y="5842835"/>
              <a:ext cx="3330" cy="0"/>
            </a:xfrm>
            <a:prstGeom prst="straightConnector1">
              <a:avLst/>
            </a:prstGeom>
            <a:ln w="9525">
              <a:solidFill>
                <a:srgbClr val="7A35CC"/>
              </a:solidFill>
              <a:prstDash val="dash"/>
            </a:ln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1" name="student-zst"/>
              <p:cNvSpPr>
                <a:spLocks noGrp="1"/>
              </p:cNvSpPr>
              <p:nvPr/>
            </p:nvSpPr>
            <p:spPr>
              <a:xfrm>
                <a:off x="8618220" y="6953250"/>
                <a:ext cx="428625" cy="2857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50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5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15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US" altLang="zh-CN" sz="15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sz="1500" i="1" dirty="0">
                  <a:solidFill>
                    <a:srgbClr val="111111"/>
                  </a:solidFill>
                </a:endParaRPr>
              </a:p>
            </p:txBody>
          </p:sp>
        </mc:Choice>
        <mc:Fallback xmlns="">
          <p:sp>
            <p:nvSpPr>
              <p:cNvPr id="511" name="student-zs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8220" y="6953250"/>
                <a:ext cx="428625" cy="28575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" name="bar-0"/>
          <p:cNvSpPr>
            <a:spLocks noGrp="1"/>
          </p:cNvSpPr>
          <p:nvPr/>
        </p:nvSpPr>
        <p:spPr>
          <a:xfrm>
            <a:off x="8524875" y="7326630"/>
            <a:ext cx="95250" cy="236220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3" name="bar-1"/>
          <p:cNvSpPr>
            <a:spLocks noGrp="1"/>
          </p:cNvSpPr>
          <p:nvPr/>
        </p:nvSpPr>
        <p:spPr>
          <a:xfrm>
            <a:off x="8734425" y="7350252"/>
            <a:ext cx="95250" cy="212598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4" name="bar-2"/>
          <p:cNvSpPr>
            <a:spLocks noGrp="1"/>
          </p:cNvSpPr>
          <p:nvPr/>
        </p:nvSpPr>
        <p:spPr>
          <a:xfrm>
            <a:off x="8943975" y="7338441"/>
            <a:ext cx="95250" cy="224409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5" name="per-step"/>
          <p:cNvSpPr>
            <a:spLocks noGrp="1"/>
          </p:cNvSpPr>
          <p:nvPr/>
        </p:nvSpPr>
        <p:spPr>
          <a:xfrm>
            <a:off x="9124950" y="72961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 dirty="0">
                <a:solidFill>
                  <a:srgbClr val="111111"/>
                </a:solidFill>
              </a:rPr>
              <a:t>⋯</a:t>
            </a:r>
          </a:p>
        </p:txBody>
      </p:sp>
      <p:sp>
        <p:nvSpPr>
          <p:cNvPr id="516" name="bar-0"/>
          <p:cNvSpPr>
            <a:spLocks noGrp="1"/>
          </p:cNvSpPr>
          <p:nvPr/>
        </p:nvSpPr>
        <p:spPr>
          <a:xfrm>
            <a:off x="9525000" y="7341394"/>
            <a:ext cx="95250" cy="221456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7" name="bar-1"/>
          <p:cNvSpPr>
            <a:spLocks noGrp="1"/>
          </p:cNvSpPr>
          <p:nvPr/>
        </p:nvSpPr>
        <p:spPr>
          <a:xfrm>
            <a:off x="9791700" y="7350252"/>
            <a:ext cx="95250" cy="212598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8" name="per-label"/>
          <p:cNvSpPr>
            <a:spLocks noGrp="1"/>
          </p:cNvSpPr>
          <p:nvPr/>
        </p:nvSpPr>
        <p:spPr>
          <a:xfrm>
            <a:off x="8639175" y="77343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(per time step)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9" name="student-zs"/>
              <p:cNvSpPr>
                <a:spLocks noGrp="1"/>
              </p:cNvSpPr>
              <p:nvPr/>
            </p:nvSpPr>
            <p:spPr>
              <a:xfrm>
                <a:off x="8710612" y="8122920"/>
                <a:ext cx="428625" cy="2667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50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5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15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sz="1500" dirty="0">
                  <a:solidFill>
                    <a:srgbClr val="111111"/>
                  </a:solidFill>
                </a:endParaRPr>
              </a:p>
            </p:txBody>
          </p:sp>
        </mc:Choice>
        <mc:Fallback xmlns="">
          <p:sp>
            <p:nvSpPr>
              <p:cNvPr id="519" name="student-z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612" y="8122920"/>
                <a:ext cx="428625" cy="266700"/>
              </a:xfrm>
              <a:prstGeom prst="rect">
                <a:avLst/>
              </a:prstGeom>
              <a:blipFill rotWithShape="1">
                <a:blip r:embed="rId10"/>
                <a:stretch>
                  <a:fillRect l="-74" r="74" b="-2857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0" name="bar-0"/>
          <p:cNvSpPr>
            <a:spLocks noGrp="1"/>
          </p:cNvSpPr>
          <p:nvPr/>
        </p:nvSpPr>
        <p:spPr>
          <a:xfrm>
            <a:off x="8858250" y="8449151"/>
            <a:ext cx="95250" cy="370999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1" name="final-label"/>
          <p:cNvSpPr>
            <a:spLocks noGrp="1"/>
          </p:cNvSpPr>
          <p:nvPr/>
        </p:nvSpPr>
        <p:spPr>
          <a:xfrm>
            <a:off x="8562975" y="8839200"/>
            <a:ext cx="914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111111"/>
                </a:solidFill>
              </a:defRPr>
            </a:pPr>
            <a:r>
              <a:rPr sz="1125" b="1" i="1" dirty="0">
                <a:solidFill>
                  <a:srgbClr val="111111"/>
                </a:solidFill>
              </a:rPr>
              <a:t>C </a:t>
            </a:r>
            <a:r>
              <a:rPr sz="1125" b="0" dirty="0">
                <a:solidFill>
                  <a:srgbClr val="111111"/>
                </a:solidFill>
              </a:rPr>
              <a:t>classes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10376535" y="4105910"/>
            <a:ext cx="1657350" cy="1075690"/>
            <a:chOff x="16440" y="7260"/>
            <a:chExt cx="2610" cy="1694"/>
          </a:xfrm>
        </p:grpSpPr>
        <p:sp>
          <p:nvSpPr>
            <p:cNvPr id="522" name="loss"/>
            <p:cNvSpPr>
              <a:spLocks noGrp="1"/>
            </p:cNvSpPr>
            <p:nvPr/>
          </p:nvSpPr>
          <p:spPr>
            <a:xfrm>
              <a:off x="16440" y="7260"/>
              <a:ext cx="2610" cy="1695"/>
            </a:xfrm>
            <a:prstGeom prst="roundRect">
              <a:avLst>
                <a:gd name="adj" fmla="val 8850"/>
              </a:avLst>
            </a:prstGeom>
            <a:solidFill>
              <a:srgbClr val="FFF6F6"/>
            </a:solidFill>
            <a:ln w="14288">
              <a:solidFill>
                <a:srgbClr val="E60000"/>
              </a:solidFill>
              <a:prstDash val="solid"/>
            </a:ln>
          </p:spPr>
          <p:txBody>
            <a:bodyPr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3" name="loss equation"/>
                <p:cNvSpPr>
                  <a:spLocks noGrp="1"/>
                </p:cNvSpPr>
                <p:nvPr/>
              </p:nvSpPr>
              <p:spPr>
                <a:xfrm>
                  <a:off x="16634" y="7524"/>
                  <a:ext cx="2340" cy="825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algn="ctr">
                    <a:defRPr sz="1350" b="0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1350" b="1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𝒕𝒐𝒕𝒂</m:t>
                            </m:r>
                            <m: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𝒍</m:t>
                            </m:r>
                          </m:sub>
                        </m:sSub>
                        <m:r>
                          <a:rPr lang="en-US" altLang="zh-CN" sz="1350" b="1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𝑪𝑬</m:t>
                            </m:r>
                          </m:sub>
                        </m:sSub>
                        <m:r>
                          <a:rPr lang="en-US" altLang="zh-CN" sz="1350" b="1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𝑴</m:t>
                            </m:r>
                          </m:sub>
                        </m:sSub>
                        <m:r>
                          <a:rPr lang="en-US" altLang="zh-CN" sz="1350" b="1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350" b="1" i="1" smtClean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350" b="1" i="1" smtClean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</a:rPr>
                                  <m:t>𝝀</m:t>
                                </m:r>
                              </m:e>
                              <m:sub>
                                <m:r>
                                  <a:rPr lang="en-US" altLang="zh-CN" sz="1350" b="1" i="1" smtClean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𝑻𝑺</m:t>
                            </m:r>
                            <m: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</m:oMath>
                    </m:oMathPara>
                  </a14:m>
                  <a:endParaRPr sz="1350" b="1" i="1" dirty="0">
                    <a:solidFill>
                      <a:srgbClr val="111111"/>
                    </a:solidFill>
                  </a:endParaRPr>
                </a:p>
              </p:txBody>
            </p:sp>
          </mc:Choice>
          <mc:Fallback xmlns="">
            <p:sp>
              <p:nvSpPr>
                <p:cNvPr id="523" name="loss equation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34" y="7524"/>
                  <a:ext cx="2340" cy="825"/>
                </a:xfrm>
                <a:prstGeom prst="rect">
                  <a:avLst/>
                </a:prstGeom>
                <a:blipFill rotWithShape="1">
                  <a:blip r:embed="rId11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4" name="anchor"/>
          <p:cNvSpPr>
            <a:spLocks noGrp="1"/>
          </p:cNvSpPr>
          <p:nvPr/>
        </p:nvSpPr>
        <p:spPr>
          <a:xfrm>
            <a:off x="9658350" y="40005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5" name="anchor"/>
          <p:cNvSpPr>
            <a:spLocks noGrp="1"/>
          </p:cNvSpPr>
          <p:nvPr/>
        </p:nvSpPr>
        <p:spPr>
          <a:xfrm>
            <a:off x="11277600" y="4600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7" name="anchor"/>
          <p:cNvSpPr>
            <a:spLocks noGrp="1"/>
          </p:cNvSpPr>
          <p:nvPr/>
        </p:nvSpPr>
        <p:spPr>
          <a:xfrm>
            <a:off x="9363075" y="82772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8" name="anchor"/>
          <p:cNvSpPr>
            <a:spLocks noGrp="1"/>
          </p:cNvSpPr>
          <p:nvPr/>
        </p:nvSpPr>
        <p:spPr>
          <a:xfrm>
            <a:off x="11268075" y="56864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180" name="连接符: 肘形 1179"/>
          <p:cNvCxnSpPr/>
          <p:nvPr/>
        </p:nvCxnSpPr>
        <p:spPr>
          <a:xfrm rot="16200000">
            <a:off x="9409430" y="5913120"/>
            <a:ext cx="2339340" cy="845820"/>
          </a:xfrm>
          <a:prstGeom prst="bentConnector3">
            <a:avLst>
              <a:gd name="adj1" fmla="val -515"/>
            </a:avLst>
          </a:prstGeom>
          <a:ln w="25400">
            <a:solidFill>
              <a:srgbClr val="C00000"/>
            </a:solidFill>
            <a:prstDash val="solid"/>
            <a:tailEnd type="triangle" w="med" len="med"/>
          </a:ln>
        </p:spPr>
      </p:cxnSp>
      <p:sp>
        <p:nvSpPr>
          <p:cNvPr id="530" name="anchor"/>
          <p:cNvSpPr>
            <a:spLocks noGrp="1"/>
          </p:cNvSpPr>
          <p:nvPr/>
        </p:nvSpPr>
        <p:spPr>
          <a:xfrm>
            <a:off x="8886825" y="879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1" name="anchor"/>
          <p:cNvSpPr>
            <a:spLocks noGrp="1"/>
          </p:cNvSpPr>
          <p:nvPr/>
        </p:nvSpPr>
        <p:spPr>
          <a:xfrm>
            <a:off x="11830050" y="56864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183" name="连接符: 肘形 1182"/>
          <p:cNvCxnSpPr/>
          <p:nvPr/>
        </p:nvCxnSpPr>
        <p:spPr>
          <a:xfrm rot="16200000">
            <a:off x="8659495" y="5725160"/>
            <a:ext cx="3435985" cy="2329815"/>
          </a:xfrm>
          <a:prstGeom prst="bentConnector3">
            <a:avLst>
              <a:gd name="adj1" fmla="val 92"/>
            </a:avLst>
          </a:prstGeom>
          <a:ln w="25400">
            <a:solidFill>
              <a:srgbClr val="C00000"/>
            </a:solidFill>
            <a:prstDash val="solid"/>
            <a:tailEnd type="triangle" w="med" len="med"/>
          </a:ln>
        </p:spPr>
      </p:cxnSp>
      <p:sp>
        <p:nvSpPr>
          <p:cNvPr id="533" name="anchor"/>
          <p:cNvSpPr>
            <a:spLocks noGrp="1"/>
          </p:cNvSpPr>
          <p:nvPr/>
        </p:nvSpPr>
        <p:spPr>
          <a:xfrm>
            <a:off x="12087225" y="51720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186" name="直接箭头连接符 1185"/>
          <p:cNvCxnSpPr>
            <a:endCxn id="536" idx="2"/>
          </p:cNvCxnSpPr>
          <p:nvPr/>
        </p:nvCxnSpPr>
        <p:spPr>
          <a:xfrm flipV="1">
            <a:off x="10905490" y="2783205"/>
            <a:ext cx="0" cy="1148080"/>
          </a:xfrm>
          <a:prstGeom prst="straightConnector1">
            <a:avLst/>
          </a:prstGeom>
          <a:ln w="38100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589" name="Legend"/>
          <p:cNvSpPr>
            <a:spLocks noGrp="1"/>
          </p:cNvSpPr>
          <p:nvPr/>
        </p:nvSpPr>
        <p:spPr>
          <a:xfrm>
            <a:off x="11679555" y="6380480"/>
            <a:ext cx="2447291" cy="23348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0" name="anchor"/>
          <p:cNvSpPr>
            <a:spLocks noGrp="1"/>
          </p:cNvSpPr>
          <p:nvPr/>
        </p:nvSpPr>
        <p:spPr>
          <a:xfrm>
            <a:off x="1571625" y="1085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1" name="anchor"/>
          <p:cNvSpPr>
            <a:spLocks noGrp="1"/>
          </p:cNvSpPr>
          <p:nvPr/>
        </p:nvSpPr>
        <p:spPr>
          <a:xfrm>
            <a:off x="2238375" y="1085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3" name="anchor"/>
          <p:cNvSpPr>
            <a:spLocks noGrp="1"/>
          </p:cNvSpPr>
          <p:nvPr/>
        </p:nvSpPr>
        <p:spPr>
          <a:xfrm>
            <a:off x="1485900" y="47148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6" name="anchor"/>
          <p:cNvSpPr>
            <a:spLocks noGrp="1"/>
          </p:cNvSpPr>
          <p:nvPr/>
        </p:nvSpPr>
        <p:spPr>
          <a:xfrm>
            <a:off x="1485900" y="50863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7" name="anchor"/>
          <p:cNvSpPr>
            <a:spLocks noGrp="1"/>
          </p:cNvSpPr>
          <p:nvPr/>
        </p:nvSpPr>
        <p:spPr>
          <a:xfrm>
            <a:off x="1885950" y="77628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9" name="anchor"/>
          <p:cNvSpPr>
            <a:spLocks noGrp="1"/>
          </p:cNvSpPr>
          <p:nvPr/>
        </p:nvSpPr>
        <p:spPr>
          <a:xfrm>
            <a:off x="4371975" y="2619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272" name="直接箭头连接符 1271"/>
          <p:cNvCxnSpPr>
            <a:endCxn id="620" idx="0"/>
          </p:cNvCxnSpPr>
          <p:nvPr/>
        </p:nvCxnSpPr>
        <p:spPr>
          <a:xfrm>
            <a:off x="3800475" y="2638425"/>
            <a:ext cx="0" cy="285750"/>
          </a:xfrm>
          <a:prstGeom prst="straightConnector1">
            <a:avLst/>
          </a:prstGeom>
          <a:ln w="38100">
            <a:solidFill>
              <a:srgbClr val="FF6A00"/>
            </a:solidFill>
            <a:prstDash val="solid"/>
            <a:tailEnd type="triangle" w="med" len="med"/>
          </a:ln>
        </p:spPr>
      </p:cxnSp>
      <p:sp>
        <p:nvSpPr>
          <p:cNvPr id="623" name="anchor"/>
          <p:cNvSpPr>
            <a:spLocks noGrp="1"/>
          </p:cNvSpPr>
          <p:nvPr/>
        </p:nvSpPr>
        <p:spPr>
          <a:xfrm>
            <a:off x="4371975" y="67341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275" name="直接箭头连接符 1274"/>
          <p:cNvCxnSpPr>
            <a:endCxn id="623" idx="0"/>
          </p:cNvCxnSpPr>
          <p:nvPr/>
        </p:nvCxnSpPr>
        <p:spPr>
          <a:xfrm>
            <a:off x="4381500" y="6339840"/>
            <a:ext cx="0" cy="394335"/>
          </a:xfrm>
          <a:prstGeom prst="straightConnector1">
            <a:avLst/>
          </a:prstGeom>
          <a:ln w="38100">
            <a:solidFill>
              <a:srgbClr val="FF6A00"/>
            </a:solidFill>
            <a:prstDash val="solid"/>
            <a:tailEnd type="triangle" w="med" len="med"/>
          </a:ln>
        </p:spPr>
      </p:cxnSp>
      <p:sp>
        <p:nvSpPr>
          <p:cNvPr id="626" name="anchor"/>
          <p:cNvSpPr>
            <a:spLocks noGrp="1"/>
          </p:cNvSpPr>
          <p:nvPr/>
        </p:nvSpPr>
        <p:spPr>
          <a:xfrm>
            <a:off x="7058025" y="46863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8" name="anchor"/>
          <p:cNvSpPr>
            <a:spLocks noGrp="1"/>
          </p:cNvSpPr>
          <p:nvPr/>
        </p:nvSpPr>
        <p:spPr>
          <a:xfrm>
            <a:off x="8362950" y="2143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9" name="anchor"/>
          <p:cNvSpPr>
            <a:spLocks noGrp="1"/>
          </p:cNvSpPr>
          <p:nvPr/>
        </p:nvSpPr>
        <p:spPr>
          <a:xfrm>
            <a:off x="8362950" y="27908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1" name="anchor"/>
          <p:cNvSpPr>
            <a:spLocks noGrp="1"/>
          </p:cNvSpPr>
          <p:nvPr/>
        </p:nvSpPr>
        <p:spPr>
          <a:xfrm>
            <a:off x="8639175" y="2143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2" name="anchor"/>
          <p:cNvSpPr>
            <a:spLocks noGrp="1"/>
          </p:cNvSpPr>
          <p:nvPr/>
        </p:nvSpPr>
        <p:spPr>
          <a:xfrm>
            <a:off x="8639175" y="27908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4" name="anchor"/>
          <p:cNvSpPr>
            <a:spLocks noGrp="1"/>
          </p:cNvSpPr>
          <p:nvPr/>
        </p:nvSpPr>
        <p:spPr>
          <a:xfrm>
            <a:off x="8905875" y="12001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5" name="anchor"/>
          <p:cNvSpPr>
            <a:spLocks noGrp="1"/>
          </p:cNvSpPr>
          <p:nvPr/>
        </p:nvSpPr>
        <p:spPr>
          <a:xfrm>
            <a:off x="9378632" y="206121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287" name="连接符: 肘形 1286"/>
          <p:cNvCxnSpPr/>
          <p:nvPr/>
        </p:nvCxnSpPr>
        <p:spPr>
          <a:xfrm rot="16200000" flipH="1">
            <a:off x="8178232" y="1929832"/>
            <a:ext cx="1597910" cy="211705"/>
          </a:xfrm>
          <a:prstGeom prst="bentConnector3">
            <a:avLst>
              <a:gd name="adj1" fmla="val 405"/>
            </a:avLst>
          </a:prstGeom>
          <a:ln w="25400">
            <a:solidFill>
              <a:srgbClr val="7A35CC"/>
            </a:solidFill>
            <a:prstDash val="dash"/>
            <a:tailEnd type="triangle" w="med" len="med"/>
          </a:ln>
        </p:spPr>
      </p:cxnSp>
      <p:sp>
        <p:nvSpPr>
          <p:cNvPr id="637" name="anchor"/>
          <p:cNvSpPr>
            <a:spLocks noGrp="1"/>
          </p:cNvSpPr>
          <p:nvPr/>
        </p:nvSpPr>
        <p:spPr>
          <a:xfrm>
            <a:off x="9378632" y="206121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8" name="anchor"/>
          <p:cNvSpPr>
            <a:spLocks noGrp="1"/>
          </p:cNvSpPr>
          <p:nvPr/>
        </p:nvSpPr>
        <p:spPr>
          <a:xfrm>
            <a:off x="9648825" y="60960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0" name="anchor"/>
          <p:cNvSpPr>
            <a:spLocks noGrp="1"/>
          </p:cNvSpPr>
          <p:nvPr/>
        </p:nvSpPr>
        <p:spPr>
          <a:xfrm>
            <a:off x="9896475" y="74199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1" name="anchor"/>
          <p:cNvSpPr>
            <a:spLocks noGrp="1"/>
          </p:cNvSpPr>
          <p:nvPr/>
        </p:nvSpPr>
        <p:spPr>
          <a:xfrm>
            <a:off x="9248775" y="66675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3" name="anchor"/>
          <p:cNvSpPr>
            <a:spLocks noGrp="1"/>
          </p:cNvSpPr>
          <p:nvPr/>
        </p:nvSpPr>
        <p:spPr>
          <a:xfrm>
            <a:off x="9163050" y="86963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4" name="anchor"/>
          <p:cNvSpPr>
            <a:spLocks noGrp="1"/>
          </p:cNvSpPr>
          <p:nvPr/>
        </p:nvSpPr>
        <p:spPr>
          <a:xfrm>
            <a:off x="9210675" y="66675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6" name="anchor"/>
          <p:cNvSpPr>
            <a:spLocks noGrp="1"/>
          </p:cNvSpPr>
          <p:nvPr/>
        </p:nvSpPr>
        <p:spPr>
          <a:xfrm>
            <a:off x="7981950" y="77724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7" name="anchor"/>
          <p:cNvSpPr>
            <a:spLocks noGrp="1"/>
          </p:cNvSpPr>
          <p:nvPr/>
        </p:nvSpPr>
        <p:spPr>
          <a:xfrm>
            <a:off x="8334375" y="77724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299" name="直接箭头连接符 1298"/>
          <p:cNvCxnSpPr>
            <a:stCxn id="646" idx="6"/>
            <a:endCxn id="647" idx="2"/>
          </p:cNvCxnSpPr>
          <p:nvPr/>
        </p:nvCxnSpPr>
        <p:spPr>
          <a:xfrm>
            <a:off x="8001000" y="7781925"/>
            <a:ext cx="333375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649" name="anchor"/>
          <p:cNvSpPr>
            <a:spLocks noGrp="1"/>
          </p:cNvSpPr>
          <p:nvPr/>
        </p:nvSpPr>
        <p:spPr>
          <a:xfrm>
            <a:off x="7981950" y="82581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0" name="anchor"/>
          <p:cNvSpPr>
            <a:spLocks noGrp="1"/>
          </p:cNvSpPr>
          <p:nvPr/>
        </p:nvSpPr>
        <p:spPr>
          <a:xfrm>
            <a:off x="8515350" y="82581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302" name="直接箭头连接符 1301"/>
          <p:cNvCxnSpPr>
            <a:stCxn id="649" idx="6"/>
            <a:endCxn id="650" idx="2"/>
          </p:cNvCxnSpPr>
          <p:nvPr/>
        </p:nvCxnSpPr>
        <p:spPr>
          <a:xfrm>
            <a:off x="8001000" y="8267700"/>
            <a:ext cx="51435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12" name="立方体 11"/>
          <p:cNvSpPr/>
          <p:nvPr/>
        </p:nvSpPr>
        <p:spPr>
          <a:xfrm>
            <a:off x="2423160" y="1112520"/>
            <a:ext cx="381000" cy="472440"/>
          </a:xfrm>
          <a:prstGeom prst="cube">
            <a:avLst>
              <a:gd name="adj" fmla="val 60185"/>
            </a:avLst>
          </a:prstGeom>
          <a:solidFill>
            <a:srgbClr val="90B4F3"/>
          </a:solidFill>
          <a:ln>
            <a:solidFill>
              <a:srgbClr val="498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立方体 32"/>
          <p:cNvSpPr/>
          <p:nvPr/>
        </p:nvSpPr>
        <p:spPr>
          <a:xfrm>
            <a:off x="2880360" y="1196340"/>
            <a:ext cx="381000" cy="358140"/>
          </a:xfrm>
          <a:prstGeom prst="cube">
            <a:avLst>
              <a:gd name="adj" fmla="val 47419"/>
            </a:avLst>
          </a:prstGeom>
          <a:solidFill>
            <a:srgbClr val="90B4F3"/>
          </a:solidFill>
          <a:ln>
            <a:solidFill>
              <a:srgbClr val="498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8" name="图片 107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7515" y="2134379"/>
            <a:ext cx="425132" cy="425132"/>
          </a:xfrm>
          <a:prstGeom prst="rect">
            <a:avLst/>
          </a:prstGeom>
        </p:spPr>
      </p:pic>
      <p:grpSp>
        <p:nvGrpSpPr>
          <p:cNvPr id="37" name="组合 36"/>
          <p:cNvGrpSpPr/>
          <p:nvPr/>
        </p:nvGrpSpPr>
        <p:grpSpPr>
          <a:xfrm>
            <a:off x="12458700" y="7611110"/>
            <a:ext cx="1809750" cy="466725"/>
            <a:chOff x="19711" y="13935"/>
            <a:chExt cx="2850" cy="735"/>
          </a:xfrm>
        </p:grpSpPr>
        <p:sp>
          <p:nvSpPr>
            <p:cNvPr id="597" name="leg2"/>
            <p:cNvSpPr>
              <a:spLocks noGrp="1"/>
            </p:cNvSpPr>
            <p:nvPr/>
          </p:nvSpPr>
          <p:spPr>
            <a:xfrm>
              <a:off x="19711" y="13935"/>
              <a:ext cx="285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>
                <a:defRPr sz="975" b="0">
                  <a:solidFill>
                    <a:srgbClr val="111111"/>
                  </a:solidFill>
                </a:defRPr>
              </a:pPr>
              <a:r>
                <a:rPr sz="975" b="0" dirty="0" err="1">
                  <a:solidFill>
                    <a:srgbClr val="111111"/>
                  </a:solidFill>
                  <a:latin typeface="Comic Sans MS" panose="030F0702030302020204" pitchFamily="66" charset="0"/>
                </a:rPr>
                <a:t>MemKD</a:t>
              </a:r>
              <a:r>
                <a:rPr sz="975" b="0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 </a:t>
              </a:r>
              <a:r>
                <a:rPr lang="en-US" sz="975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Smooth L1 Loss</a:t>
              </a:r>
              <a:endParaRPr sz="975" b="0" dirty="0">
                <a:solidFill>
                  <a:srgbClr val="11111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601" name="leg3"/>
            <p:cNvSpPr>
              <a:spLocks noGrp="1"/>
            </p:cNvSpPr>
            <p:nvPr/>
          </p:nvSpPr>
          <p:spPr>
            <a:xfrm>
              <a:off x="19711" y="14340"/>
              <a:ext cx="285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l">
                <a:defRPr sz="975" b="0">
                  <a:solidFill>
                    <a:srgbClr val="111111"/>
                  </a:solidFill>
                </a:defRPr>
              </a:pPr>
              <a:r>
                <a:rPr sz="975" b="0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TS-T </a:t>
              </a:r>
              <a:r>
                <a:rPr lang="en-US" sz="975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KL </a:t>
              </a:r>
              <a:r>
                <a:rPr lang="en-US" altLang="zh-CN" sz="975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divergence</a:t>
              </a:r>
              <a:endParaRPr sz="975" b="0" dirty="0">
                <a:solidFill>
                  <a:srgbClr val="111111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1858625" y="7004050"/>
            <a:ext cx="1980565" cy="1588135"/>
            <a:chOff x="18766" y="12979"/>
            <a:chExt cx="3119" cy="2501"/>
          </a:xfrm>
        </p:grpSpPr>
        <p:sp>
          <p:nvSpPr>
            <p:cNvPr id="590" name="anchor"/>
            <p:cNvSpPr>
              <a:spLocks noGrp="1"/>
            </p:cNvSpPr>
            <p:nvPr/>
          </p:nvSpPr>
          <p:spPr>
            <a:xfrm>
              <a:off x="18766" y="1368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1" name="anchor"/>
            <p:cNvSpPr>
              <a:spLocks noGrp="1"/>
            </p:cNvSpPr>
            <p:nvPr/>
          </p:nvSpPr>
          <p:spPr>
            <a:xfrm>
              <a:off x="19486" y="1368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243" name="直接箭头连接符 1242"/>
            <p:cNvCxnSpPr>
              <a:stCxn id="590" idx="6"/>
              <a:endCxn id="591" idx="2"/>
            </p:cNvCxnSpPr>
            <p:nvPr/>
          </p:nvCxnSpPr>
          <p:spPr>
            <a:xfrm>
              <a:off x="18796" y="13695"/>
              <a:ext cx="690" cy="0"/>
            </a:xfrm>
            <a:prstGeom prst="straightConnector1">
              <a:avLst/>
            </a:prstGeom>
            <a:ln w="18098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593" name="leg1"/>
            <p:cNvSpPr>
              <a:spLocks noGrp="1"/>
            </p:cNvSpPr>
            <p:nvPr/>
          </p:nvSpPr>
          <p:spPr>
            <a:xfrm>
              <a:off x="19687" y="13530"/>
              <a:ext cx="180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l">
                <a:defRPr sz="975" b="0">
                  <a:solidFill>
                    <a:srgbClr val="111111"/>
                  </a:solidFill>
                </a:defRPr>
              </a:pPr>
              <a:r>
                <a:rPr sz="975" b="0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Data flow</a:t>
              </a:r>
            </a:p>
          </p:txBody>
        </p:sp>
        <p:sp>
          <p:nvSpPr>
            <p:cNvPr id="594" name="anchor"/>
            <p:cNvSpPr>
              <a:spLocks noGrp="1"/>
            </p:cNvSpPr>
            <p:nvPr/>
          </p:nvSpPr>
          <p:spPr>
            <a:xfrm>
              <a:off x="18766" y="1408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5" name="anchor"/>
            <p:cNvSpPr>
              <a:spLocks noGrp="1"/>
            </p:cNvSpPr>
            <p:nvPr/>
          </p:nvSpPr>
          <p:spPr>
            <a:xfrm>
              <a:off x="19486" y="1408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247" name="直接箭头连接符 1246"/>
            <p:cNvCxnSpPr>
              <a:stCxn id="594" idx="6"/>
              <a:endCxn id="595" idx="2"/>
            </p:cNvCxnSpPr>
            <p:nvPr/>
          </p:nvCxnSpPr>
          <p:spPr>
            <a:xfrm>
              <a:off x="18796" y="14100"/>
              <a:ext cx="690" cy="0"/>
            </a:xfrm>
            <a:prstGeom prst="straightConnector1">
              <a:avLst/>
            </a:prstGeom>
            <a:ln w="18098">
              <a:solidFill>
                <a:srgbClr val="FF6A00"/>
              </a:solidFill>
              <a:prstDash val="dash"/>
              <a:tailEnd type="triangle" w="med" len="med"/>
            </a:ln>
          </p:spPr>
        </p:cxnSp>
        <p:sp>
          <p:nvSpPr>
            <p:cNvPr id="598" name="anchor"/>
            <p:cNvSpPr>
              <a:spLocks noGrp="1"/>
            </p:cNvSpPr>
            <p:nvPr/>
          </p:nvSpPr>
          <p:spPr>
            <a:xfrm>
              <a:off x="18766" y="1449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9" name="anchor"/>
            <p:cNvSpPr>
              <a:spLocks noGrp="1"/>
            </p:cNvSpPr>
            <p:nvPr/>
          </p:nvSpPr>
          <p:spPr>
            <a:xfrm>
              <a:off x="19486" y="1449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251" name="直接箭头连接符 1250"/>
            <p:cNvCxnSpPr>
              <a:stCxn id="598" idx="6"/>
              <a:endCxn id="599" idx="2"/>
            </p:cNvCxnSpPr>
            <p:nvPr/>
          </p:nvCxnSpPr>
          <p:spPr>
            <a:xfrm>
              <a:off x="18796" y="14505"/>
              <a:ext cx="690" cy="0"/>
            </a:xfrm>
            <a:prstGeom prst="straightConnector1">
              <a:avLst/>
            </a:prstGeom>
            <a:ln w="18098">
              <a:solidFill>
                <a:srgbClr val="7A35CC"/>
              </a:solidFill>
              <a:prstDash val="dash"/>
              <a:tailEnd type="triangle" w="med" len="med"/>
            </a:ln>
          </p:spPr>
        </p:cxnSp>
        <p:sp>
          <p:nvSpPr>
            <p:cNvPr id="602" name="anchor"/>
            <p:cNvSpPr>
              <a:spLocks noGrp="1"/>
            </p:cNvSpPr>
            <p:nvPr/>
          </p:nvSpPr>
          <p:spPr>
            <a:xfrm>
              <a:off x="18766" y="1489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3" name="anchor"/>
            <p:cNvSpPr>
              <a:spLocks noGrp="1"/>
            </p:cNvSpPr>
            <p:nvPr/>
          </p:nvSpPr>
          <p:spPr>
            <a:xfrm>
              <a:off x="19486" y="1489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255" name="直接箭头连接符 1254"/>
            <p:cNvCxnSpPr>
              <a:stCxn id="602" idx="6"/>
              <a:endCxn id="603" idx="2"/>
            </p:cNvCxnSpPr>
            <p:nvPr/>
          </p:nvCxnSpPr>
          <p:spPr>
            <a:xfrm>
              <a:off x="18796" y="14910"/>
              <a:ext cx="690" cy="0"/>
            </a:xfrm>
            <a:prstGeom prst="straightConnector1">
              <a:avLst/>
            </a:prstGeom>
            <a:ln w="18098">
              <a:solidFill>
                <a:srgbClr val="C00000"/>
              </a:solidFill>
              <a:prstDash val="solid"/>
              <a:tailEnd type="triangle" w="med" len="med"/>
            </a:ln>
          </p:spPr>
        </p:cxnSp>
        <p:sp>
          <p:nvSpPr>
            <p:cNvPr id="605" name="leg4"/>
            <p:cNvSpPr>
              <a:spLocks noGrp="1"/>
            </p:cNvSpPr>
            <p:nvPr/>
          </p:nvSpPr>
          <p:spPr>
            <a:xfrm>
              <a:off x="19711" y="14745"/>
              <a:ext cx="2175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l">
                <a:defRPr sz="975" b="0">
                  <a:solidFill>
                    <a:srgbClr val="111111"/>
                  </a:solidFill>
                </a:defRPr>
              </a:pPr>
              <a:r>
                <a:rPr sz="975" b="0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Loss supervision</a:t>
              </a:r>
            </a:p>
          </p:txBody>
        </p:sp>
        <p:sp>
          <p:nvSpPr>
            <p:cNvPr id="606" name="anchor"/>
            <p:cNvSpPr>
              <a:spLocks noGrp="1"/>
            </p:cNvSpPr>
            <p:nvPr/>
          </p:nvSpPr>
          <p:spPr>
            <a:xfrm>
              <a:off x="18766" y="1530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7" name="anchor"/>
            <p:cNvSpPr>
              <a:spLocks noGrp="1"/>
            </p:cNvSpPr>
            <p:nvPr/>
          </p:nvSpPr>
          <p:spPr>
            <a:xfrm>
              <a:off x="19486" y="1530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259" name="直接箭头连接符 1258"/>
            <p:cNvCxnSpPr>
              <a:stCxn id="606" idx="6"/>
              <a:endCxn id="607" idx="2"/>
            </p:cNvCxnSpPr>
            <p:nvPr/>
          </p:nvCxnSpPr>
          <p:spPr>
            <a:xfrm>
              <a:off x="18796" y="15315"/>
              <a:ext cx="690" cy="0"/>
            </a:xfrm>
            <a:prstGeom prst="straightConnector1">
              <a:avLst/>
            </a:prstGeom>
            <a:ln w="18098">
              <a:solidFill>
                <a:srgbClr val="111111"/>
              </a:solidFill>
              <a:prstDash val="solid"/>
              <a:tailEnd type="triangle" w="med" len="med"/>
            </a:ln>
          </p:spPr>
        </p:cxnSp>
        <p:sp>
          <p:nvSpPr>
            <p:cNvPr id="609" name="leg5"/>
            <p:cNvSpPr>
              <a:spLocks noGrp="1"/>
            </p:cNvSpPr>
            <p:nvPr/>
          </p:nvSpPr>
          <p:spPr>
            <a:xfrm>
              <a:off x="19711" y="15150"/>
              <a:ext cx="2175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l">
                <a:defRPr sz="975" b="0">
                  <a:solidFill>
                    <a:srgbClr val="111111"/>
                  </a:solidFill>
                </a:defRPr>
              </a:pPr>
              <a:r>
                <a:rPr sz="975" b="0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Final prediction</a:t>
              </a:r>
            </a:p>
          </p:txBody>
        </p:sp>
        <p:pic>
          <p:nvPicPr>
            <p:cNvPr id="111" name="图片 110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11" y="12979"/>
              <a:ext cx="469" cy="469"/>
            </a:xfrm>
            <a:prstGeom prst="rect">
              <a:avLst/>
            </a:prstGeom>
          </p:spPr>
        </p:pic>
        <p:sp>
          <p:nvSpPr>
            <p:cNvPr id="114" name="leg1"/>
            <p:cNvSpPr>
              <a:spLocks noGrp="1"/>
            </p:cNvSpPr>
            <p:nvPr/>
          </p:nvSpPr>
          <p:spPr>
            <a:xfrm>
              <a:off x="19651" y="13048"/>
              <a:ext cx="180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l">
                <a:defRPr sz="975" b="0">
                  <a:solidFill>
                    <a:srgbClr val="111111"/>
                  </a:solidFill>
                </a:defRPr>
              </a:pPr>
              <a:r>
                <a:rPr lang="en-US" sz="975" b="0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F</a:t>
              </a:r>
              <a:r>
                <a:rPr lang="en-US" altLang="zh-CN" sz="975" b="0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rozen</a:t>
              </a:r>
              <a:endParaRPr sz="975" b="0" dirty="0">
                <a:solidFill>
                  <a:srgbClr val="111111"/>
                </a:solidFill>
                <a:latin typeface="Comic Sans MS" panose="030F0702030302020204" pitchFamily="66" charset="0"/>
              </a:endParaRPr>
            </a:p>
          </p:txBody>
        </p:sp>
      </p:grpSp>
      <p:cxnSp>
        <p:nvCxnSpPr>
          <p:cNvPr id="120" name="直接连接符 119"/>
          <p:cNvCxnSpPr>
            <a:endCxn id="168" idx="0"/>
          </p:cNvCxnSpPr>
          <p:nvPr/>
        </p:nvCxnSpPr>
        <p:spPr>
          <a:xfrm>
            <a:off x="3967163" y="1196340"/>
            <a:ext cx="0" cy="280035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/>
          <p:cNvCxnSpPr/>
          <p:nvPr/>
        </p:nvCxnSpPr>
        <p:spPr>
          <a:xfrm>
            <a:off x="4320223" y="1181100"/>
            <a:ext cx="0" cy="280035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4675823" y="1183640"/>
            <a:ext cx="0" cy="280035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/>
        </p:nvCxnSpPr>
        <p:spPr>
          <a:xfrm>
            <a:off x="5188903" y="1188720"/>
            <a:ext cx="0" cy="280035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4" name="anchor"/>
          <p:cNvSpPr>
            <a:spLocks noGrp="1"/>
          </p:cNvSpPr>
          <p:nvPr/>
        </p:nvSpPr>
        <p:spPr>
          <a:xfrm>
            <a:off x="9318942" y="291846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6" name="Predicted class panel"/>
          <p:cNvSpPr>
            <a:spLocks noGrp="1"/>
          </p:cNvSpPr>
          <p:nvPr/>
        </p:nvSpPr>
        <p:spPr>
          <a:xfrm>
            <a:off x="9291637" y="114300"/>
            <a:ext cx="3227705" cy="2668905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37" name="Pred title"/>
          <p:cNvSpPr>
            <a:spLocks noGrp="1"/>
          </p:cNvSpPr>
          <p:nvPr/>
        </p:nvSpPr>
        <p:spPr>
          <a:xfrm>
            <a:off x="9785032" y="184785"/>
            <a:ext cx="224091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 dirty="0">
                <a:solidFill>
                  <a:srgbClr val="111111"/>
                </a:solidFill>
                <a:latin typeface="Comic Sans MS" panose="030F0702030302020204" pitchFamily="66" charset="0"/>
              </a:rPr>
              <a:t>Predicted class</a:t>
            </a:r>
          </a:p>
        </p:txBody>
      </p:sp>
      <p:sp>
        <p:nvSpPr>
          <p:cNvPr id="541" name="class-Passenger ship"/>
          <p:cNvSpPr>
            <a:spLocks noGrp="1"/>
          </p:cNvSpPr>
          <p:nvPr/>
        </p:nvSpPr>
        <p:spPr>
          <a:xfrm>
            <a:off x="9943147" y="641985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11111"/>
                </a:solidFill>
              </a:defRPr>
            </a:pPr>
            <a:r>
              <a:rPr sz="1050" b="0" dirty="0">
                <a:solidFill>
                  <a:srgbClr val="111111"/>
                </a:solidFill>
                <a:latin typeface="Comic Sans MS" panose="030F0702030302020204" pitchFamily="66" charset="0"/>
              </a:rPr>
              <a:t>Passenger ship</a:t>
            </a:r>
          </a:p>
        </p:txBody>
      </p:sp>
      <p:grpSp>
        <p:nvGrpSpPr>
          <p:cNvPr id="68" name="组合 67"/>
          <p:cNvGrpSpPr/>
          <p:nvPr/>
        </p:nvGrpSpPr>
        <p:grpSpPr>
          <a:xfrm>
            <a:off x="10908982" y="1270000"/>
            <a:ext cx="1657350" cy="285750"/>
            <a:chOff x="16091" y="4620"/>
            <a:chExt cx="2610" cy="450"/>
          </a:xfrm>
        </p:grpSpPr>
        <p:sp>
          <p:nvSpPr>
            <p:cNvPr id="556" name="ship-hull"/>
            <p:cNvSpPr>
              <a:spLocks noGrp="1"/>
            </p:cNvSpPr>
            <p:nvPr/>
          </p:nvSpPr>
          <p:spPr>
            <a:xfrm>
              <a:off x="16121" y="4860"/>
              <a:ext cx="630" cy="120"/>
            </a:xfrm>
            <a:prstGeom prst="parallelogram">
              <a:avLst/>
            </a:prstGeom>
            <a:solidFill>
              <a:srgbClr val="111111"/>
            </a:solidFill>
            <a:ln w="13335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7" name="ship-block"/>
            <p:cNvSpPr>
              <a:spLocks noGrp="1"/>
            </p:cNvSpPr>
            <p:nvPr/>
          </p:nvSpPr>
          <p:spPr>
            <a:xfrm>
              <a:off x="16211" y="4680"/>
              <a:ext cx="105" cy="180"/>
            </a:xfrm>
            <a:prstGeom prst="rect">
              <a:avLst/>
            </a:prstGeom>
            <a:solidFill>
              <a:srgbClr val="111111"/>
            </a:solidFill>
            <a:ln w="13335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8" name="ship-block"/>
            <p:cNvSpPr>
              <a:spLocks noGrp="1"/>
            </p:cNvSpPr>
            <p:nvPr/>
          </p:nvSpPr>
          <p:spPr>
            <a:xfrm>
              <a:off x="16331" y="4620"/>
              <a:ext cx="105" cy="240"/>
            </a:xfrm>
            <a:prstGeom prst="rect">
              <a:avLst/>
            </a:prstGeom>
            <a:solidFill>
              <a:srgbClr val="111111"/>
            </a:solidFill>
            <a:ln w="13335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9" name="ship-block"/>
            <p:cNvSpPr>
              <a:spLocks noGrp="1"/>
            </p:cNvSpPr>
            <p:nvPr/>
          </p:nvSpPr>
          <p:spPr>
            <a:xfrm>
              <a:off x="16451" y="4680"/>
              <a:ext cx="105" cy="180"/>
            </a:xfrm>
            <a:prstGeom prst="rect">
              <a:avLst/>
            </a:prstGeom>
            <a:solidFill>
              <a:srgbClr val="111111"/>
            </a:solidFill>
            <a:ln w="13335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0" name="anchor"/>
            <p:cNvSpPr>
              <a:spLocks noGrp="1"/>
            </p:cNvSpPr>
            <p:nvPr/>
          </p:nvSpPr>
          <p:spPr>
            <a:xfrm>
              <a:off x="16091" y="504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1" name="anchor"/>
            <p:cNvSpPr>
              <a:spLocks noGrp="1"/>
            </p:cNvSpPr>
            <p:nvPr/>
          </p:nvSpPr>
          <p:spPr>
            <a:xfrm>
              <a:off x="16736" y="504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213" name="直接箭头连接符 1212"/>
            <p:cNvCxnSpPr>
              <a:stCxn id="560" idx="6"/>
              <a:endCxn id="561" idx="2"/>
            </p:cNvCxnSpPr>
            <p:nvPr/>
          </p:nvCxnSpPr>
          <p:spPr>
            <a:xfrm>
              <a:off x="16121" y="5055"/>
              <a:ext cx="615" cy="0"/>
            </a:xfrm>
            <a:prstGeom prst="straightConnector1">
              <a:avLst/>
            </a:prstGeom>
            <a:ln w="11430">
              <a:solidFill>
                <a:srgbClr val="111111"/>
              </a:solidFill>
              <a:prstDash val="solid"/>
            </a:ln>
          </p:spPr>
        </p:cxnSp>
        <p:sp>
          <p:nvSpPr>
            <p:cNvPr id="563" name="class-Tugboat"/>
            <p:cNvSpPr>
              <a:spLocks noGrp="1"/>
            </p:cNvSpPr>
            <p:nvPr/>
          </p:nvSpPr>
          <p:spPr>
            <a:xfrm>
              <a:off x="16901" y="4620"/>
              <a:ext cx="180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l">
                <a:defRPr sz="1050" b="0">
                  <a:solidFill>
                    <a:srgbClr val="111111"/>
                  </a:solidFill>
                </a:defRPr>
              </a:pPr>
              <a:r>
                <a:rPr sz="1050" b="0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Tugboat</a:t>
              </a: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3412" y="606425"/>
            <a:ext cx="300990" cy="300990"/>
          </a:xfrm>
          <a:prstGeom prst="rect">
            <a:avLst/>
          </a:prstGeom>
        </p:spPr>
      </p:pic>
      <p:grpSp>
        <p:nvGrpSpPr>
          <p:cNvPr id="59" name="组合 58"/>
          <p:cNvGrpSpPr/>
          <p:nvPr/>
        </p:nvGrpSpPr>
        <p:grpSpPr>
          <a:xfrm>
            <a:off x="10980737" y="590550"/>
            <a:ext cx="1657985" cy="347980"/>
            <a:chOff x="16090" y="1956"/>
            <a:chExt cx="2611" cy="548"/>
          </a:xfrm>
        </p:grpSpPr>
        <p:sp>
          <p:nvSpPr>
            <p:cNvPr id="545" name="class-Tanker"/>
            <p:cNvSpPr>
              <a:spLocks noGrp="1"/>
            </p:cNvSpPr>
            <p:nvPr/>
          </p:nvSpPr>
          <p:spPr>
            <a:xfrm>
              <a:off x="16901" y="2010"/>
              <a:ext cx="180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l">
                <a:defRPr sz="1050" b="0">
                  <a:solidFill>
                    <a:srgbClr val="111111"/>
                  </a:solidFill>
                </a:defRPr>
              </a:pPr>
              <a:r>
                <a:rPr sz="1050" b="0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Tanker</a:t>
              </a: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90" y="1956"/>
              <a:ext cx="551" cy="548"/>
            </a:xfrm>
            <a:prstGeom prst="rect">
              <a:avLst/>
            </a:prstGeom>
          </p:spPr>
        </p:pic>
      </p:grpSp>
      <p:grpSp>
        <p:nvGrpSpPr>
          <p:cNvPr id="65" name="组合 64"/>
          <p:cNvGrpSpPr/>
          <p:nvPr/>
        </p:nvGrpSpPr>
        <p:grpSpPr>
          <a:xfrm>
            <a:off x="9497377" y="1246505"/>
            <a:ext cx="1630680" cy="351155"/>
            <a:chOff x="16133" y="2880"/>
            <a:chExt cx="2568" cy="553"/>
          </a:xfrm>
        </p:grpSpPr>
        <p:sp>
          <p:nvSpPr>
            <p:cNvPr id="551" name="class-Cargo ship"/>
            <p:cNvSpPr>
              <a:spLocks noGrp="1"/>
            </p:cNvSpPr>
            <p:nvPr/>
          </p:nvSpPr>
          <p:spPr>
            <a:xfrm>
              <a:off x="16901" y="2880"/>
              <a:ext cx="180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l">
                <a:defRPr sz="1050" b="0">
                  <a:solidFill>
                    <a:srgbClr val="111111"/>
                  </a:solidFill>
                </a:defRPr>
              </a:pPr>
              <a:r>
                <a:rPr sz="1050" b="0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Cargo ship</a:t>
              </a:r>
            </a:p>
          </p:txBody>
        </p: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33" y="2883"/>
              <a:ext cx="550" cy="550"/>
            </a:xfrm>
            <a:prstGeom prst="rect">
              <a:avLst/>
            </a:prstGeom>
          </p:spPr>
        </p:pic>
      </p:grpSp>
      <p:grpSp>
        <p:nvGrpSpPr>
          <p:cNvPr id="67" name="组合 66"/>
          <p:cNvGrpSpPr/>
          <p:nvPr/>
        </p:nvGrpSpPr>
        <p:grpSpPr>
          <a:xfrm>
            <a:off x="9457372" y="1851660"/>
            <a:ext cx="1764030" cy="388620"/>
            <a:chOff x="15923" y="3674"/>
            <a:chExt cx="2778" cy="612"/>
          </a:xfrm>
        </p:grpSpPr>
        <p:sp>
          <p:nvSpPr>
            <p:cNvPr id="555" name="class-Ro-Ro ship"/>
            <p:cNvSpPr>
              <a:spLocks noGrp="1"/>
            </p:cNvSpPr>
            <p:nvPr/>
          </p:nvSpPr>
          <p:spPr>
            <a:xfrm>
              <a:off x="16901" y="3750"/>
              <a:ext cx="180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l">
                <a:defRPr sz="1050" b="0">
                  <a:solidFill>
                    <a:srgbClr val="111111"/>
                  </a:solidFill>
                </a:defRPr>
              </a:pPr>
              <a:r>
                <a:rPr sz="1050" b="0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Ro-Ro ship</a:t>
              </a:r>
            </a:p>
          </p:txBody>
        </p:sp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23" y="3674"/>
              <a:ext cx="916" cy="613"/>
            </a:xfrm>
            <a:prstGeom prst="rect">
              <a:avLst/>
            </a:prstGeom>
          </p:spPr>
        </p:pic>
      </p:grpSp>
      <p:grpSp>
        <p:nvGrpSpPr>
          <p:cNvPr id="73" name="组合 72"/>
          <p:cNvGrpSpPr/>
          <p:nvPr/>
        </p:nvGrpSpPr>
        <p:grpSpPr>
          <a:xfrm>
            <a:off x="10887392" y="1815465"/>
            <a:ext cx="1771650" cy="445770"/>
            <a:chOff x="16057" y="6267"/>
            <a:chExt cx="2790" cy="702"/>
          </a:xfrm>
        </p:grpSpPr>
        <p:sp>
          <p:nvSpPr>
            <p:cNvPr id="588" name="class-Biological sound"/>
            <p:cNvSpPr>
              <a:spLocks noGrp="1"/>
            </p:cNvSpPr>
            <p:nvPr/>
          </p:nvSpPr>
          <p:spPr>
            <a:xfrm>
              <a:off x="16901" y="6360"/>
              <a:ext cx="1946" cy="36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l">
                <a:defRPr sz="1050" b="0">
                  <a:solidFill>
                    <a:srgbClr val="111111"/>
                  </a:solidFill>
                </a:defRPr>
              </a:pPr>
              <a:r>
                <a:rPr sz="1050" b="0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Biological sound</a:t>
              </a:r>
            </a:p>
          </p:txBody>
        </p:sp>
        <p:pic>
          <p:nvPicPr>
            <p:cNvPr id="164" name="图片 163"/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57" y="6267"/>
              <a:ext cx="702" cy="702"/>
            </a:xfrm>
            <a:prstGeom prst="rect">
              <a:avLst/>
            </a:prstGeom>
          </p:spPr>
        </p:pic>
      </p:grpSp>
      <p:sp>
        <p:nvSpPr>
          <p:cNvPr id="241" name="立方体 240"/>
          <p:cNvSpPr/>
          <p:nvPr/>
        </p:nvSpPr>
        <p:spPr>
          <a:xfrm>
            <a:off x="2257063" y="7863840"/>
            <a:ext cx="381000" cy="506730"/>
          </a:xfrm>
          <a:prstGeom prst="cube">
            <a:avLst>
              <a:gd name="adj" fmla="val 60185"/>
            </a:avLst>
          </a:prstGeom>
          <a:solidFill>
            <a:srgbClr val="A4D197"/>
          </a:solidFill>
          <a:ln>
            <a:solidFill>
              <a:srgbClr val="55A8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4" name="立方体 243"/>
          <p:cNvSpPr/>
          <p:nvPr/>
        </p:nvSpPr>
        <p:spPr>
          <a:xfrm>
            <a:off x="2714263" y="7981950"/>
            <a:ext cx="303257" cy="358140"/>
          </a:xfrm>
          <a:prstGeom prst="cube">
            <a:avLst>
              <a:gd name="adj" fmla="val 47419"/>
            </a:avLst>
          </a:prstGeom>
          <a:solidFill>
            <a:srgbClr val="A4D197"/>
          </a:solidFill>
          <a:ln>
            <a:solidFill>
              <a:srgbClr val="55A8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tr-top"/>
          <p:cNvSpPr>
            <a:spLocks noGrp="1"/>
          </p:cNvSpPr>
          <p:nvPr/>
        </p:nvSpPr>
        <p:spPr>
          <a:xfrm>
            <a:off x="4642485" y="7637145"/>
            <a:ext cx="283845" cy="142875"/>
          </a:xfrm>
          <a:prstGeom prst="rect">
            <a:avLst/>
          </a:prstGeom>
          <a:solidFill>
            <a:srgbClr val="55A83C">
              <a:alpha val="53333"/>
            </a:srgbClr>
          </a:solidFill>
          <a:ln w="1333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2" name="tr-top"/>
          <p:cNvSpPr>
            <a:spLocks noGrp="1"/>
          </p:cNvSpPr>
          <p:nvPr/>
        </p:nvSpPr>
        <p:spPr>
          <a:xfrm>
            <a:off x="3691890" y="8046720"/>
            <a:ext cx="283845" cy="142875"/>
          </a:xfrm>
          <a:prstGeom prst="rect">
            <a:avLst/>
          </a:prstGeom>
          <a:solidFill>
            <a:srgbClr val="55A83C">
              <a:alpha val="53333"/>
            </a:srgbClr>
          </a:solidFill>
          <a:ln w="1333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5" name="tr-top"/>
          <p:cNvSpPr>
            <a:spLocks noGrp="1"/>
          </p:cNvSpPr>
          <p:nvPr/>
        </p:nvSpPr>
        <p:spPr>
          <a:xfrm>
            <a:off x="4634865" y="8031480"/>
            <a:ext cx="283845" cy="142875"/>
          </a:xfrm>
          <a:prstGeom prst="rect">
            <a:avLst/>
          </a:prstGeom>
          <a:solidFill>
            <a:srgbClr val="55A83C">
              <a:alpha val="53333"/>
            </a:srgbClr>
          </a:solidFill>
          <a:ln w="1333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261" name="直接箭头连接符 260"/>
          <p:cNvCxnSpPr/>
          <p:nvPr/>
        </p:nvCxnSpPr>
        <p:spPr>
          <a:xfrm flipH="1">
            <a:off x="3998595" y="7708900"/>
            <a:ext cx="156210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接箭头连接符 263"/>
          <p:cNvCxnSpPr/>
          <p:nvPr/>
        </p:nvCxnSpPr>
        <p:spPr>
          <a:xfrm flipH="1">
            <a:off x="4002405" y="8110855"/>
            <a:ext cx="156210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接箭头连接符 266"/>
          <p:cNvCxnSpPr/>
          <p:nvPr/>
        </p:nvCxnSpPr>
        <p:spPr>
          <a:xfrm>
            <a:off x="4450080" y="7710805"/>
            <a:ext cx="156210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接箭头连接符 269"/>
          <p:cNvCxnSpPr/>
          <p:nvPr/>
        </p:nvCxnSpPr>
        <p:spPr>
          <a:xfrm>
            <a:off x="4438650" y="8112760"/>
            <a:ext cx="156210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teacher dots"/>
          <p:cNvSpPr>
            <a:spLocks noGrp="1"/>
          </p:cNvSpPr>
          <p:nvPr/>
        </p:nvSpPr>
        <p:spPr>
          <a:xfrm>
            <a:off x="4146550" y="752856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 dirty="0">
                <a:solidFill>
                  <a:srgbClr val="111111"/>
                </a:solidFill>
              </a:rPr>
              <a:t>⋯</a:t>
            </a:r>
          </a:p>
        </p:txBody>
      </p:sp>
      <p:sp>
        <p:nvSpPr>
          <p:cNvPr id="276" name="teacher dots"/>
          <p:cNvSpPr>
            <a:spLocks noGrp="1"/>
          </p:cNvSpPr>
          <p:nvPr/>
        </p:nvSpPr>
        <p:spPr>
          <a:xfrm>
            <a:off x="4126230" y="79248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 dirty="0">
                <a:solidFill>
                  <a:srgbClr val="111111"/>
                </a:solidFill>
              </a:rPr>
              <a:t>⋯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200025" y="64135"/>
            <a:ext cx="1314450" cy="2401570"/>
            <a:chOff x="229" y="5388"/>
            <a:chExt cx="2070" cy="3782"/>
          </a:xfrm>
        </p:grpSpPr>
        <p:sp>
          <p:nvSpPr>
            <p:cNvPr id="2" name="Input title"/>
            <p:cNvSpPr>
              <a:spLocks noGrp="1"/>
            </p:cNvSpPr>
            <p:nvPr/>
          </p:nvSpPr>
          <p:spPr>
            <a:xfrm>
              <a:off x="334" y="5388"/>
              <a:ext cx="1890" cy="123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500" b="1">
                  <a:solidFill>
                    <a:srgbClr val="111111"/>
                  </a:solidFill>
                </a:defRPr>
              </a:pPr>
              <a:r>
                <a:rPr lang="zh-CN" altLang="zh-CN" sz="1500" b="1" dirty="0">
                  <a:latin typeface="Comic Sans MS" panose="030F0702030302020204" pitchFamily="66" charset="0"/>
                </a:rPr>
                <a:t>Raw Waveform Input</a:t>
              </a:r>
            </a:p>
          </p:txBody>
        </p:sp>
        <p:sp>
          <p:nvSpPr>
            <p:cNvPr id="6" name="waveform image frame"/>
            <p:cNvSpPr>
              <a:spLocks noGrp="1"/>
            </p:cNvSpPr>
            <p:nvPr/>
          </p:nvSpPr>
          <p:spPr>
            <a:xfrm>
              <a:off x="229" y="6845"/>
              <a:ext cx="2070" cy="2325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3335">
              <a:solidFill>
                <a:srgbClr val="999999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355" name="图片 354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33" y="7276"/>
              <a:ext cx="1463" cy="1463"/>
            </a:xfrm>
            <a:prstGeom prst="rect">
              <a:avLst/>
            </a:prstGeom>
          </p:spPr>
        </p:pic>
      </p:grpSp>
      <p:cxnSp>
        <p:nvCxnSpPr>
          <p:cNvPr id="22" name="直接连接符 21"/>
          <p:cNvCxnSpPr/>
          <p:nvPr/>
        </p:nvCxnSpPr>
        <p:spPr>
          <a:xfrm>
            <a:off x="5445760" y="8336280"/>
            <a:ext cx="500380" cy="0"/>
          </a:xfrm>
          <a:prstGeom prst="line">
            <a:avLst/>
          </a:prstGeom>
          <a:ln>
            <a:solidFill>
              <a:srgbClr val="A4D1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组合 55"/>
          <p:cNvGrpSpPr/>
          <p:nvPr/>
        </p:nvGrpSpPr>
        <p:grpSpPr>
          <a:xfrm>
            <a:off x="5965189" y="8267700"/>
            <a:ext cx="180340" cy="17780"/>
            <a:chOff x="5916930" y="8255000"/>
            <a:chExt cx="180340" cy="17780"/>
          </a:xfrm>
        </p:grpSpPr>
        <p:sp>
          <p:nvSpPr>
            <p:cNvPr id="52" name="椭圆 51"/>
            <p:cNvSpPr/>
            <p:nvPr/>
          </p:nvSpPr>
          <p:spPr>
            <a:xfrm>
              <a:off x="5916930" y="8255000"/>
              <a:ext cx="17780" cy="177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6002655" y="8255000"/>
              <a:ext cx="17780" cy="177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6079490" y="8255000"/>
              <a:ext cx="17780" cy="177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1" name="bar-0"/>
          <p:cNvSpPr>
            <a:spLocks noGrp="1"/>
          </p:cNvSpPr>
          <p:nvPr/>
        </p:nvSpPr>
        <p:spPr>
          <a:xfrm>
            <a:off x="6218555" y="8058150"/>
            <a:ext cx="85725" cy="284797"/>
          </a:xfrm>
          <a:prstGeom prst="rect">
            <a:avLst/>
          </a:prstGeom>
          <a:solidFill>
            <a:srgbClr val="A4D197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bar-1"/>
          <p:cNvSpPr>
            <a:spLocks noGrp="1"/>
          </p:cNvSpPr>
          <p:nvPr/>
        </p:nvSpPr>
        <p:spPr>
          <a:xfrm>
            <a:off x="6353175" y="8199120"/>
            <a:ext cx="85725" cy="144399"/>
          </a:xfrm>
          <a:prstGeom prst="rect">
            <a:avLst/>
          </a:prstGeom>
          <a:solidFill>
            <a:srgbClr val="A4D197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bar-2"/>
          <p:cNvSpPr>
            <a:spLocks noGrp="1"/>
          </p:cNvSpPr>
          <p:nvPr/>
        </p:nvSpPr>
        <p:spPr>
          <a:xfrm>
            <a:off x="6486525" y="7980045"/>
            <a:ext cx="85725" cy="362268"/>
          </a:xfrm>
          <a:prstGeom prst="rect">
            <a:avLst/>
          </a:prstGeom>
          <a:solidFill>
            <a:srgbClr val="A4D197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58" name="直接连接符 57"/>
          <p:cNvCxnSpPr/>
          <p:nvPr/>
        </p:nvCxnSpPr>
        <p:spPr>
          <a:xfrm>
            <a:off x="6152515" y="8343900"/>
            <a:ext cx="500380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>
            <a:stCxn id="474" idx="3"/>
            <a:endCxn id="522" idx="1"/>
          </p:cNvCxnSpPr>
          <p:nvPr/>
        </p:nvCxnSpPr>
        <p:spPr>
          <a:xfrm flipV="1">
            <a:off x="9791866" y="4644390"/>
            <a:ext cx="584835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1" name="组合 70"/>
          <p:cNvGrpSpPr/>
          <p:nvPr/>
        </p:nvGrpSpPr>
        <p:grpSpPr>
          <a:xfrm>
            <a:off x="9451657" y="2299335"/>
            <a:ext cx="1769745" cy="415290"/>
            <a:chOff x="16248" y="5316"/>
            <a:chExt cx="2787" cy="654"/>
          </a:xfrm>
        </p:grpSpPr>
        <p:sp>
          <p:nvSpPr>
            <p:cNvPr id="585" name="class-Background noise"/>
            <p:cNvSpPr>
              <a:spLocks noGrp="1"/>
            </p:cNvSpPr>
            <p:nvPr/>
          </p:nvSpPr>
          <p:spPr>
            <a:xfrm>
              <a:off x="16901" y="5490"/>
              <a:ext cx="2134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l">
                <a:defRPr sz="1050" b="0">
                  <a:solidFill>
                    <a:srgbClr val="111111"/>
                  </a:solidFill>
                </a:defRPr>
              </a:pPr>
              <a:r>
                <a:rPr sz="1050" b="0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Background noise</a:t>
              </a:r>
            </a:p>
          </p:txBody>
        </p:sp>
        <p:pic>
          <p:nvPicPr>
            <p:cNvPr id="70" name="图片 69" descr="噪声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6248" y="5316"/>
              <a:ext cx="654" cy="654"/>
            </a:xfrm>
            <a:prstGeom prst="rect">
              <a:avLst/>
            </a:prstGeom>
          </p:spPr>
        </p:pic>
      </p:grpSp>
      <p:sp>
        <p:nvSpPr>
          <p:cNvPr id="51" name="椭圆 50"/>
          <p:cNvSpPr/>
          <p:nvPr/>
        </p:nvSpPr>
        <p:spPr>
          <a:xfrm>
            <a:off x="11562397" y="2538730"/>
            <a:ext cx="17780" cy="177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/>
          <p:cNvSpPr/>
          <p:nvPr/>
        </p:nvSpPr>
        <p:spPr>
          <a:xfrm>
            <a:off x="11725592" y="2538730"/>
            <a:ext cx="17780" cy="177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椭圆 75"/>
          <p:cNvSpPr/>
          <p:nvPr/>
        </p:nvSpPr>
        <p:spPr>
          <a:xfrm>
            <a:off x="11872277" y="2538730"/>
            <a:ext cx="17780" cy="177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9" name="图片 78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9970" y="9030652"/>
            <a:ext cx="474345" cy="474345"/>
          </a:xfrm>
          <a:prstGeom prst="rect">
            <a:avLst/>
          </a:prstGeom>
        </p:spPr>
      </p:pic>
      <p:pic>
        <p:nvPicPr>
          <p:cNvPr id="83" name="图片 82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4985" y="6531956"/>
            <a:ext cx="298800" cy="298800"/>
          </a:xfrm>
          <a:prstGeom prst="rect">
            <a:avLst/>
          </a:prstGeom>
        </p:spPr>
      </p:pic>
      <p:sp>
        <p:nvSpPr>
          <p:cNvPr id="85" name="leg1"/>
          <p:cNvSpPr>
            <a:spLocks noGrp="1"/>
          </p:cNvSpPr>
          <p:nvPr/>
        </p:nvSpPr>
        <p:spPr>
          <a:xfrm>
            <a:off x="12399380" y="6549101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11111"/>
                </a:solidFill>
              </a:defRPr>
            </a:pPr>
            <a:r>
              <a:rPr lang="en-US" sz="975" dirty="0">
                <a:solidFill>
                  <a:srgbClr val="111111"/>
                </a:solidFill>
                <a:latin typeface="Comic Sans MS" panose="030F0702030302020204" pitchFamily="66" charset="0"/>
              </a:rPr>
              <a:t>T</a:t>
            </a:r>
            <a:r>
              <a:rPr lang="en-US" altLang="zh-CN" sz="975" dirty="0">
                <a:solidFill>
                  <a:srgbClr val="111111"/>
                </a:solidFill>
                <a:latin typeface="Comic Sans MS" panose="030F0702030302020204" pitchFamily="66" charset="0"/>
              </a:rPr>
              <a:t>rainable</a:t>
            </a:r>
            <a:endParaRPr sz="975" b="0" dirty="0">
              <a:solidFill>
                <a:srgbClr val="111111"/>
              </a:solidFill>
              <a:latin typeface="Comic Sans MS" panose="030F0702030302020204" pitchFamily="66" charset="0"/>
            </a:endParaRPr>
          </a:p>
        </p:txBody>
      </p:sp>
      <p:cxnSp>
        <p:nvCxnSpPr>
          <p:cNvPr id="94" name="连接符: 肘形 93"/>
          <p:cNvCxnSpPr>
            <a:stCxn id="6" idx="2"/>
            <a:endCxn id="395" idx="1"/>
          </p:cNvCxnSpPr>
          <p:nvPr/>
        </p:nvCxnSpPr>
        <p:spPr>
          <a:xfrm rot="5400000" flipV="1">
            <a:off x="-1390332" y="4713288"/>
            <a:ext cx="5668645" cy="1173480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连接符: 肘形 103"/>
          <p:cNvCxnSpPr/>
          <p:nvPr/>
        </p:nvCxnSpPr>
        <p:spPr>
          <a:xfrm rot="5400000">
            <a:off x="8806585" y="6699650"/>
            <a:ext cx="636739" cy="1"/>
          </a:xfrm>
          <a:prstGeom prst="bentConnector3">
            <a:avLst>
              <a:gd name="adj1" fmla="val 50000"/>
            </a:avLst>
          </a:prstGeom>
          <a:ln w="25400">
            <a:solidFill>
              <a:srgbClr val="7A35CC"/>
            </a:solidFill>
            <a:prstDash val="dash"/>
            <a:tailEnd type="triangle" w="med" len="med"/>
          </a:ln>
        </p:spPr>
      </p:cxnSp>
      <p:grpSp>
        <p:nvGrpSpPr>
          <p:cNvPr id="27" name="组合 26"/>
          <p:cNvGrpSpPr/>
          <p:nvPr/>
        </p:nvGrpSpPr>
        <p:grpSpPr>
          <a:xfrm>
            <a:off x="1304925" y="2924175"/>
            <a:ext cx="4790440" cy="3625215"/>
            <a:chOff x="2970" y="4635"/>
            <a:chExt cx="7544" cy="5709"/>
          </a:xfrm>
        </p:grpSpPr>
        <p:sp>
          <p:nvSpPr>
            <p:cNvPr id="231" name="MemKD panel"/>
            <p:cNvSpPr>
              <a:spLocks noGrp="1"/>
            </p:cNvSpPr>
            <p:nvPr/>
          </p:nvSpPr>
          <p:spPr>
            <a:xfrm>
              <a:off x="3195" y="4635"/>
              <a:ext cx="7319" cy="5709"/>
            </a:xfrm>
            <a:prstGeom prst="roundRect">
              <a:avLst>
                <a:gd name="adj" fmla="val 3933"/>
              </a:avLst>
            </a:prstGeom>
            <a:solidFill>
              <a:srgbClr val="FFFDF9"/>
            </a:solidFill>
            <a:ln w="13335">
              <a:solidFill>
                <a:srgbClr val="FF6A00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MemKD title"/>
            <p:cNvSpPr>
              <a:spLocks noGrp="1"/>
            </p:cNvSpPr>
            <p:nvPr/>
          </p:nvSpPr>
          <p:spPr>
            <a:xfrm>
              <a:off x="6180" y="4815"/>
              <a:ext cx="1650" cy="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800" b="1">
                  <a:solidFill>
                    <a:srgbClr val="FF6A00"/>
                  </a:solidFill>
                </a:defRPr>
              </a:pPr>
              <a:r>
                <a:rPr sz="1800" b="1" dirty="0" err="1">
                  <a:solidFill>
                    <a:srgbClr val="FF6A00"/>
                  </a:solidFill>
                  <a:latin typeface="Comic Sans MS" panose="030F0702030302020204" pitchFamily="66" charset="0"/>
                </a:rPr>
                <a:t>MemKD</a:t>
              </a:r>
              <a:endParaRPr sz="1800" b="1" dirty="0">
                <a:solidFill>
                  <a:srgbClr val="FF6A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35" name="anchor"/>
            <p:cNvSpPr>
              <a:spLocks noGrp="1"/>
            </p:cNvSpPr>
            <p:nvPr/>
          </p:nvSpPr>
          <p:spPr>
            <a:xfrm>
              <a:off x="6900" y="91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" name="legend-teacher"/>
            <p:cNvSpPr>
              <a:spLocks noGrp="1"/>
            </p:cNvSpPr>
            <p:nvPr/>
          </p:nvSpPr>
          <p:spPr>
            <a:xfrm>
              <a:off x="9329" y="4912"/>
              <a:ext cx="120" cy="120"/>
            </a:xfrm>
            <a:prstGeom prst="ellipse">
              <a:avLst/>
            </a:prstGeom>
            <a:solidFill>
              <a:srgbClr val="2F73E8"/>
            </a:solidFill>
            <a:ln w="1333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" name="legend-t"/>
            <p:cNvSpPr>
              <a:spLocks noGrp="1"/>
            </p:cNvSpPr>
            <p:nvPr/>
          </p:nvSpPr>
          <p:spPr>
            <a:xfrm>
              <a:off x="9483" y="4820"/>
              <a:ext cx="929" cy="18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l">
                <a:defRPr sz="675" b="0">
                  <a:solidFill>
                    <a:srgbClr val="111111"/>
                  </a:solidFill>
                </a:defRPr>
              </a:pPr>
              <a:r>
                <a:rPr sz="675" b="0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Teacher</a:t>
              </a:r>
            </a:p>
          </p:txBody>
        </p:sp>
        <p:sp>
          <p:nvSpPr>
            <p:cNvPr id="309" name="legend-student"/>
            <p:cNvSpPr>
              <a:spLocks noGrp="1"/>
            </p:cNvSpPr>
            <p:nvPr/>
          </p:nvSpPr>
          <p:spPr>
            <a:xfrm>
              <a:off x="9333" y="5228"/>
              <a:ext cx="120" cy="120"/>
            </a:xfrm>
            <a:prstGeom prst="ellipse">
              <a:avLst/>
            </a:prstGeom>
            <a:solidFill>
              <a:srgbClr val="55A83C"/>
            </a:solidFill>
            <a:ln w="1333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" name="legend-s"/>
            <p:cNvSpPr>
              <a:spLocks noGrp="1"/>
            </p:cNvSpPr>
            <p:nvPr/>
          </p:nvSpPr>
          <p:spPr>
            <a:xfrm>
              <a:off x="9507" y="5144"/>
              <a:ext cx="881" cy="22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l">
                <a:defRPr sz="675" b="0">
                  <a:solidFill>
                    <a:srgbClr val="111111"/>
                  </a:solidFill>
                </a:defRPr>
              </a:pPr>
              <a:r>
                <a:rPr sz="675" b="0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Student</a:t>
              </a:r>
            </a:p>
          </p:txBody>
        </p:sp>
        <p:sp>
          <p:nvSpPr>
            <p:cNvPr id="393" name="MemKD note"/>
            <p:cNvSpPr>
              <a:spLocks noGrp="1"/>
            </p:cNvSpPr>
            <p:nvPr/>
          </p:nvSpPr>
          <p:spPr>
            <a:xfrm>
              <a:off x="3795" y="8760"/>
              <a:ext cx="6345" cy="1437"/>
            </a:xfrm>
            <a:prstGeom prst="roundRect">
              <a:avLst>
                <a:gd name="adj" fmla="val 1379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3335">
              <a:solidFill>
                <a:srgbClr val="FFD8B8"/>
              </a:solidFill>
              <a:prstDash val="solid"/>
            </a:ln>
          </p:spPr>
          <p:txBody>
            <a:bodyPr/>
            <a:lstStyle/>
            <a:p>
              <a:endParaRPr lang="zh-CN" altLang="en-US" sz="1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4" name="MemKD note text"/>
                <p:cNvSpPr>
                  <a:spLocks noGrp="1"/>
                </p:cNvSpPr>
                <p:nvPr/>
              </p:nvSpPr>
              <p:spPr>
                <a:xfrm>
                  <a:off x="6541" y="9660"/>
                  <a:ext cx="585" cy="270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algn="ctr">
                    <a:defRPr sz="1125" b="1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1" i="1" dirty="0">
                                <a:latin typeface="Cambria Math" panose="02040503050406030204" pitchFamily="18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1800" b="1" i="1" dirty="0">
                                <a:latin typeface="DejaVu Math TeX Gyre" panose="02000503000000000000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  <m:t>𝑳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800" b="1" i="1" dirty="0">
                                <a:latin typeface="Cambria Math" panose="02040503050406030204" pitchFamily="18" charset="0"/>
                                <a:ea typeface="儷宋 Pro" panose="02020300000000000000" charset="-120"/>
                                <a:cs typeface="DejaVu Math TeX Gyre" panose="02000503000000000000" charset="0"/>
                                <a:sym typeface="+mn-ea"/>
                              </a:rPr>
                              <m:t>M</m:t>
                            </m:r>
                          </m:sub>
                        </m:sSub>
                      </m:oMath>
                    </m:oMathPara>
                  </a14:m>
                  <a:endParaRPr sz="1800" b="1" dirty="0">
                    <a:solidFill>
                      <a:srgbClr val="111111"/>
                    </a:solidFill>
                  </a:endParaRPr>
                </a:p>
              </p:txBody>
            </p:sp>
          </mc:Choice>
          <mc:Fallback xmlns="">
            <p:sp>
              <p:nvSpPr>
                <p:cNvPr id="394" name="MemKD note text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1" y="9660"/>
                  <a:ext cx="585" cy="270"/>
                </a:xfrm>
                <a:prstGeom prst="rect">
                  <a:avLst/>
                </a:prstGeom>
                <a:blipFill rotWithShape="1">
                  <a:blip r:embed="rId23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4" name="anchor"/>
            <p:cNvSpPr>
              <a:spLocks noGrp="1"/>
            </p:cNvSpPr>
            <p:nvPr/>
          </p:nvSpPr>
          <p:spPr>
            <a:xfrm>
              <a:off x="2970" y="742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0" name="anchor"/>
            <p:cNvSpPr>
              <a:spLocks noGrp="1"/>
            </p:cNvSpPr>
            <p:nvPr/>
          </p:nvSpPr>
          <p:spPr>
            <a:xfrm>
              <a:off x="6885" y="463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2" name="anchor"/>
            <p:cNvSpPr>
              <a:spLocks noGrp="1"/>
            </p:cNvSpPr>
            <p:nvPr/>
          </p:nvSpPr>
          <p:spPr>
            <a:xfrm>
              <a:off x="6885" y="997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3272" y="5271"/>
              <a:ext cx="7126" cy="3435"/>
              <a:chOff x="3630" y="5449"/>
              <a:chExt cx="7126" cy="3435"/>
            </a:xfrm>
          </p:grpSpPr>
          <p:sp>
            <p:nvSpPr>
              <p:cNvPr id="234" name="anchor"/>
              <p:cNvSpPr>
                <a:spLocks noGrp="1"/>
              </p:cNvSpPr>
              <p:nvPr/>
            </p:nvSpPr>
            <p:spPr>
              <a:xfrm>
                <a:off x="6900" y="571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887" name="直接箭头连接符 886"/>
              <p:cNvCxnSpPr/>
              <p:nvPr/>
            </p:nvCxnSpPr>
            <p:spPr>
              <a:xfrm>
                <a:off x="7153" y="5644"/>
                <a:ext cx="0" cy="3118"/>
              </a:xfrm>
              <a:prstGeom prst="straightConnector1">
                <a:avLst/>
              </a:prstGeom>
              <a:ln w="9525">
                <a:solidFill>
                  <a:srgbClr val="FF6A00"/>
                </a:solidFill>
                <a:prstDash val="dash"/>
              </a:ln>
            </p:spPr>
          </p:cxnSp>
          <p:sp>
            <p:nvSpPr>
              <p:cNvPr id="238" name="mini-title-(a)"/>
              <p:cNvSpPr>
                <a:spLocks noGrp="1"/>
              </p:cNvSpPr>
              <p:nvPr/>
            </p:nvSpPr>
            <p:spPr>
              <a:xfrm>
                <a:off x="3825" y="5700"/>
                <a:ext cx="2910" cy="87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1125" b="1">
                    <a:solidFill>
                      <a:srgbClr val="111111"/>
                    </a:solidFill>
                  </a:defRPr>
                </a:pPr>
                <a:r>
                  <a:rPr sz="1125" b="1" dirty="0">
                    <a:solidFill>
                      <a:srgbClr val="111111"/>
                    </a:solidFill>
                    <a:latin typeface="Comic Sans MS" panose="030F0702030302020204" pitchFamily="66" charset="0"/>
                  </a:rPr>
                  <a:t>(a) Short-term memory</a:t>
                </a:r>
              </a:p>
              <a:p>
                <a:pPr algn="ctr">
                  <a:defRPr sz="1125" b="1">
                    <a:solidFill>
                      <a:srgbClr val="111111"/>
                    </a:solidFill>
                  </a:defRPr>
                </a:pPr>
                <a:r>
                  <a:rPr sz="1125" b="1" dirty="0">
                    <a:solidFill>
                      <a:srgbClr val="111111"/>
                    </a:solidFill>
                    <a:latin typeface="Comic Sans MS" panose="030F0702030302020204" pitchFamily="66" charset="0"/>
                  </a:rPr>
                  <a:t>discrepancy (z = 1)</a:t>
                </a:r>
              </a:p>
            </p:txBody>
          </p:sp>
          <p:sp>
            <p:nvSpPr>
              <p:cNvPr id="317" name="mini-title-(b)"/>
              <p:cNvSpPr>
                <a:spLocks noGrp="1"/>
              </p:cNvSpPr>
              <p:nvPr/>
            </p:nvSpPr>
            <p:spPr>
              <a:xfrm>
                <a:off x="7274" y="5449"/>
                <a:ext cx="3121" cy="87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1125" b="1">
                    <a:solidFill>
                      <a:srgbClr val="111111"/>
                    </a:solidFill>
                  </a:defRPr>
                </a:pPr>
                <a:r>
                  <a:rPr sz="1125" b="1" dirty="0">
                    <a:solidFill>
                      <a:srgbClr val="111111"/>
                    </a:solidFill>
                    <a:latin typeface="Comic Sans MS" panose="030F0702030302020204" pitchFamily="66" charset="0"/>
                  </a:rPr>
                  <a:t>(b) Long-term memory</a:t>
                </a:r>
              </a:p>
              <a:p>
                <a:pPr algn="ctr">
                  <a:defRPr sz="1125" b="1">
                    <a:solidFill>
                      <a:srgbClr val="111111"/>
                    </a:solidFill>
                  </a:defRPr>
                </a:pPr>
                <a:r>
                  <a:rPr sz="1125" b="1" dirty="0">
                    <a:solidFill>
                      <a:srgbClr val="111111"/>
                    </a:solidFill>
                    <a:latin typeface="Comic Sans MS" panose="030F0702030302020204" pitchFamily="66" charset="0"/>
                  </a:rPr>
                  <a:t>discrepancy</a:t>
                </a:r>
              </a:p>
              <a:p>
                <a:pPr algn="ctr">
                  <a:defRPr sz="1125" b="1">
                    <a:solidFill>
                      <a:srgbClr val="111111"/>
                    </a:solidFill>
                  </a:defRPr>
                </a:pPr>
                <a:r>
                  <a:rPr sz="1125" b="1" dirty="0">
                    <a:solidFill>
                      <a:srgbClr val="111111"/>
                    </a:solidFill>
                    <a:latin typeface="Comic Sans MS" panose="030F0702030302020204" pitchFamily="66" charset="0"/>
                  </a:rPr>
                  <a:t>(z ~ U(2, floor(T/2)))</a:t>
                </a:r>
              </a:p>
            </p:txBody>
          </p:sp>
          <p:sp>
            <p:nvSpPr>
              <p:cNvPr id="318" name="anchor"/>
              <p:cNvSpPr>
                <a:spLocks noGrp="1"/>
              </p:cNvSpPr>
              <p:nvPr/>
            </p:nvSpPr>
            <p:spPr>
              <a:xfrm>
                <a:off x="7575" y="676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9" name="anchor"/>
              <p:cNvSpPr>
                <a:spLocks noGrp="1"/>
              </p:cNvSpPr>
              <p:nvPr/>
            </p:nvSpPr>
            <p:spPr>
              <a:xfrm>
                <a:off x="7575" y="864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1" name="anchor"/>
              <p:cNvSpPr>
                <a:spLocks noGrp="1"/>
              </p:cNvSpPr>
              <p:nvPr/>
            </p:nvSpPr>
            <p:spPr>
              <a:xfrm>
                <a:off x="7575" y="864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2" name="anchor"/>
              <p:cNvSpPr>
                <a:spLocks noGrp="1"/>
              </p:cNvSpPr>
              <p:nvPr/>
            </p:nvSpPr>
            <p:spPr>
              <a:xfrm>
                <a:off x="9795" y="864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8" name="组合 37"/>
              <p:cNvGrpSpPr/>
              <p:nvPr/>
            </p:nvGrpSpPr>
            <p:grpSpPr>
              <a:xfrm>
                <a:off x="7623" y="7065"/>
                <a:ext cx="2640" cy="1095"/>
                <a:chOff x="7830" y="7050"/>
                <a:chExt cx="2640" cy="1095"/>
              </a:xfrm>
            </p:grpSpPr>
            <p:sp>
              <p:nvSpPr>
                <p:cNvPr id="326" name="anchor"/>
                <p:cNvSpPr>
                  <a:spLocks noGrp="1"/>
                </p:cNvSpPr>
                <p:nvPr/>
              </p:nvSpPr>
              <p:spPr>
                <a:xfrm>
                  <a:off x="7875" y="733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7" name="anchor"/>
                <p:cNvSpPr>
                  <a:spLocks noGrp="1"/>
                </p:cNvSpPr>
                <p:nvPr/>
              </p:nvSpPr>
              <p:spPr>
                <a:xfrm>
                  <a:off x="8355" y="727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cxnSp>
              <p:nvCxnSpPr>
                <p:cNvPr id="979" name="直接箭头连接符 978"/>
                <p:cNvCxnSpPr>
                  <a:stCxn id="326" idx="6"/>
                  <a:endCxn id="327" idx="2"/>
                </p:cNvCxnSpPr>
                <p:nvPr/>
              </p:nvCxnSpPr>
              <p:spPr>
                <a:xfrm flipV="1">
                  <a:off x="7905" y="7290"/>
                  <a:ext cx="450" cy="60"/>
                </a:xfrm>
                <a:prstGeom prst="straightConnector1">
                  <a:avLst/>
                </a:prstGeom>
                <a:ln w="13335">
                  <a:solidFill>
                    <a:srgbClr val="2F73E8"/>
                  </a:solidFill>
                  <a:prstDash val="solid"/>
                </a:ln>
              </p:spPr>
            </p:cxnSp>
            <p:sp>
              <p:nvSpPr>
                <p:cNvPr id="329" name="anchor"/>
                <p:cNvSpPr>
                  <a:spLocks noGrp="1"/>
                </p:cNvSpPr>
                <p:nvPr/>
              </p:nvSpPr>
              <p:spPr>
                <a:xfrm>
                  <a:off x="7875" y="799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0" name="anchor"/>
                <p:cNvSpPr>
                  <a:spLocks noGrp="1"/>
                </p:cNvSpPr>
                <p:nvPr/>
              </p:nvSpPr>
              <p:spPr>
                <a:xfrm>
                  <a:off x="8355" y="8070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cxnSp>
              <p:nvCxnSpPr>
                <p:cNvPr id="982" name="直接箭头连接符 981"/>
                <p:cNvCxnSpPr>
                  <a:stCxn id="329" idx="6"/>
                  <a:endCxn id="330" idx="2"/>
                </p:cNvCxnSpPr>
                <p:nvPr/>
              </p:nvCxnSpPr>
              <p:spPr>
                <a:xfrm>
                  <a:off x="7905" y="8010"/>
                  <a:ext cx="450" cy="75"/>
                </a:xfrm>
                <a:prstGeom prst="straightConnector1">
                  <a:avLst/>
                </a:prstGeom>
                <a:ln w="13335">
                  <a:solidFill>
                    <a:srgbClr val="188326"/>
                  </a:solidFill>
                  <a:prstDash val="solid"/>
                </a:ln>
              </p:spPr>
            </p:cxnSp>
            <p:sp>
              <p:nvSpPr>
                <p:cNvPr id="332" name="anchor"/>
                <p:cNvSpPr>
                  <a:spLocks noGrp="1"/>
                </p:cNvSpPr>
                <p:nvPr/>
              </p:nvSpPr>
              <p:spPr>
                <a:xfrm>
                  <a:off x="8355" y="727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3" name="anchor"/>
                <p:cNvSpPr>
                  <a:spLocks noGrp="1"/>
                </p:cNvSpPr>
                <p:nvPr/>
              </p:nvSpPr>
              <p:spPr>
                <a:xfrm>
                  <a:off x="8835" y="718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cxnSp>
              <p:nvCxnSpPr>
                <p:cNvPr id="985" name="直接箭头连接符 984"/>
                <p:cNvCxnSpPr>
                  <a:stCxn id="332" idx="6"/>
                  <a:endCxn id="333" idx="2"/>
                </p:cNvCxnSpPr>
                <p:nvPr/>
              </p:nvCxnSpPr>
              <p:spPr>
                <a:xfrm flipV="1">
                  <a:off x="8385" y="7200"/>
                  <a:ext cx="450" cy="90"/>
                </a:xfrm>
                <a:prstGeom prst="straightConnector1">
                  <a:avLst/>
                </a:prstGeom>
                <a:ln w="13335">
                  <a:solidFill>
                    <a:srgbClr val="2F73E8"/>
                  </a:solidFill>
                  <a:prstDash val="solid"/>
                </a:ln>
              </p:spPr>
            </p:cxnSp>
            <p:sp>
              <p:nvSpPr>
                <p:cNvPr id="335" name="anchor"/>
                <p:cNvSpPr>
                  <a:spLocks noGrp="1"/>
                </p:cNvSpPr>
                <p:nvPr/>
              </p:nvSpPr>
              <p:spPr>
                <a:xfrm>
                  <a:off x="8355" y="8070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6" name="anchor"/>
                <p:cNvSpPr>
                  <a:spLocks noGrp="1"/>
                </p:cNvSpPr>
                <p:nvPr/>
              </p:nvSpPr>
              <p:spPr>
                <a:xfrm>
                  <a:off x="8835" y="802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cxnSp>
              <p:nvCxnSpPr>
                <p:cNvPr id="988" name="直接箭头连接符 987"/>
                <p:cNvCxnSpPr>
                  <a:stCxn id="335" idx="6"/>
                  <a:endCxn id="336" idx="2"/>
                </p:cNvCxnSpPr>
                <p:nvPr/>
              </p:nvCxnSpPr>
              <p:spPr>
                <a:xfrm flipV="1">
                  <a:off x="8385" y="8040"/>
                  <a:ext cx="450" cy="45"/>
                </a:xfrm>
                <a:prstGeom prst="straightConnector1">
                  <a:avLst/>
                </a:prstGeom>
                <a:ln w="13335">
                  <a:solidFill>
                    <a:srgbClr val="188326"/>
                  </a:solidFill>
                  <a:prstDash val="solid"/>
                </a:ln>
              </p:spPr>
            </p:cxnSp>
            <p:sp>
              <p:nvSpPr>
                <p:cNvPr id="338" name="anchor"/>
                <p:cNvSpPr>
                  <a:spLocks noGrp="1"/>
                </p:cNvSpPr>
                <p:nvPr/>
              </p:nvSpPr>
              <p:spPr>
                <a:xfrm>
                  <a:off x="8835" y="718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9" name="anchor"/>
                <p:cNvSpPr>
                  <a:spLocks noGrp="1"/>
                </p:cNvSpPr>
                <p:nvPr/>
              </p:nvSpPr>
              <p:spPr>
                <a:xfrm>
                  <a:off x="9315" y="718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cxnSp>
              <p:nvCxnSpPr>
                <p:cNvPr id="991" name="直接箭头连接符 990"/>
                <p:cNvCxnSpPr>
                  <a:stCxn id="338" idx="6"/>
                  <a:endCxn id="339" idx="2"/>
                </p:cNvCxnSpPr>
                <p:nvPr/>
              </p:nvCxnSpPr>
              <p:spPr>
                <a:xfrm>
                  <a:off x="8865" y="7200"/>
                  <a:ext cx="450" cy="0"/>
                </a:xfrm>
                <a:prstGeom prst="straightConnector1">
                  <a:avLst/>
                </a:prstGeom>
                <a:ln w="13335">
                  <a:solidFill>
                    <a:srgbClr val="2F73E8"/>
                  </a:solidFill>
                  <a:prstDash val="solid"/>
                </a:ln>
              </p:spPr>
            </p:cxnSp>
            <p:sp>
              <p:nvSpPr>
                <p:cNvPr id="341" name="anchor"/>
                <p:cNvSpPr>
                  <a:spLocks noGrp="1"/>
                </p:cNvSpPr>
                <p:nvPr/>
              </p:nvSpPr>
              <p:spPr>
                <a:xfrm>
                  <a:off x="8835" y="802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2" name="anchor"/>
                <p:cNvSpPr>
                  <a:spLocks noGrp="1"/>
                </p:cNvSpPr>
                <p:nvPr/>
              </p:nvSpPr>
              <p:spPr>
                <a:xfrm>
                  <a:off x="9315" y="793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cxnSp>
              <p:nvCxnSpPr>
                <p:cNvPr id="994" name="直接箭头连接符 993"/>
                <p:cNvCxnSpPr>
                  <a:stCxn id="341" idx="6"/>
                  <a:endCxn id="342" idx="2"/>
                </p:cNvCxnSpPr>
                <p:nvPr/>
              </p:nvCxnSpPr>
              <p:spPr>
                <a:xfrm flipV="1">
                  <a:off x="8865" y="7950"/>
                  <a:ext cx="450" cy="90"/>
                </a:xfrm>
                <a:prstGeom prst="straightConnector1">
                  <a:avLst/>
                </a:prstGeom>
                <a:ln w="13335">
                  <a:solidFill>
                    <a:srgbClr val="188326"/>
                  </a:solidFill>
                  <a:prstDash val="solid"/>
                </a:ln>
              </p:spPr>
            </p:cxnSp>
            <p:sp>
              <p:nvSpPr>
                <p:cNvPr id="344" name="anchor"/>
                <p:cNvSpPr>
                  <a:spLocks noGrp="1"/>
                </p:cNvSpPr>
                <p:nvPr/>
              </p:nvSpPr>
              <p:spPr>
                <a:xfrm>
                  <a:off x="9315" y="718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5" name="anchor"/>
                <p:cNvSpPr>
                  <a:spLocks noGrp="1"/>
                </p:cNvSpPr>
                <p:nvPr/>
              </p:nvSpPr>
              <p:spPr>
                <a:xfrm>
                  <a:off x="9825" y="709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cxnSp>
              <p:nvCxnSpPr>
                <p:cNvPr id="997" name="直接箭头连接符 996"/>
                <p:cNvCxnSpPr>
                  <a:stCxn id="344" idx="6"/>
                  <a:endCxn id="345" idx="2"/>
                </p:cNvCxnSpPr>
                <p:nvPr/>
              </p:nvCxnSpPr>
              <p:spPr>
                <a:xfrm flipV="1">
                  <a:off x="9345" y="7110"/>
                  <a:ext cx="480" cy="90"/>
                </a:xfrm>
                <a:prstGeom prst="straightConnector1">
                  <a:avLst/>
                </a:prstGeom>
                <a:ln w="13335">
                  <a:solidFill>
                    <a:srgbClr val="2F73E8"/>
                  </a:solidFill>
                  <a:prstDash val="solid"/>
                </a:ln>
              </p:spPr>
            </p:cxnSp>
            <p:sp>
              <p:nvSpPr>
                <p:cNvPr id="347" name="anchor"/>
                <p:cNvSpPr>
                  <a:spLocks noGrp="1"/>
                </p:cNvSpPr>
                <p:nvPr/>
              </p:nvSpPr>
              <p:spPr>
                <a:xfrm>
                  <a:off x="9315" y="793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" name="anchor"/>
                <p:cNvSpPr>
                  <a:spLocks noGrp="1"/>
                </p:cNvSpPr>
                <p:nvPr/>
              </p:nvSpPr>
              <p:spPr>
                <a:xfrm>
                  <a:off x="9825" y="778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cxnSp>
              <p:nvCxnSpPr>
                <p:cNvPr id="1000" name="直接箭头连接符 999"/>
                <p:cNvCxnSpPr>
                  <a:stCxn id="347" idx="6"/>
                  <a:endCxn id="348" idx="2"/>
                </p:cNvCxnSpPr>
                <p:nvPr/>
              </p:nvCxnSpPr>
              <p:spPr>
                <a:xfrm flipV="1">
                  <a:off x="9345" y="7800"/>
                  <a:ext cx="480" cy="150"/>
                </a:xfrm>
                <a:prstGeom prst="straightConnector1">
                  <a:avLst/>
                </a:prstGeom>
                <a:ln w="13335">
                  <a:solidFill>
                    <a:srgbClr val="188326"/>
                  </a:solidFill>
                  <a:prstDash val="solid"/>
                </a:ln>
              </p:spPr>
            </p:cxnSp>
            <p:sp>
              <p:nvSpPr>
                <p:cNvPr id="350" name="anchor"/>
                <p:cNvSpPr>
                  <a:spLocks noGrp="1"/>
                </p:cNvSpPr>
                <p:nvPr/>
              </p:nvSpPr>
              <p:spPr>
                <a:xfrm>
                  <a:off x="9825" y="709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1" name="anchor"/>
                <p:cNvSpPr>
                  <a:spLocks noGrp="1"/>
                </p:cNvSpPr>
                <p:nvPr/>
              </p:nvSpPr>
              <p:spPr>
                <a:xfrm>
                  <a:off x="10305" y="718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cxnSp>
              <p:nvCxnSpPr>
                <p:cNvPr id="1003" name="直接箭头连接符 1002"/>
                <p:cNvCxnSpPr>
                  <a:stCxn id="350" idx="6"/>
                  <a:endCxn id="351" idx="2"/>
                </p:cNvCxnSpPr>
                <p:nvPr/>
              </p:nvCxnSpPr>
              <p:spPr>
                <a:xfrm>
                  <a:off x="9855" y="7110"/>
                  <a:ext cx="450" cy="90"/>
                </a:xfrm>
                <a:prstGeom prst="straightConnector1">
                  <a:avLst/>
                </a:prstGeom>
                <a:ln w="13335">
                  <a:solidFill>
                    <a:srgbClr val="2F73E8"/>
                  </a:solidFill>
                  <a:prstDash val="solid"/>
                </a:ln>
              </p:spPr>
            </p:cxnSp>
            <p:sp>
              <p:nvSpPr>
                <p:cNvPr id="353" name="anchor"/>
                <p:cNvSpPr>
                  <a:spLocks noGrp="1"/>
                </p:cNvSpPr>
                <p:nvPr/>
              </p:nvSpPr>
              <p:spPr>
                <a:xfrm>
                  <a:off x="9825" y="778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4" name="anchor"/>
                <p:cNvSpPr>
                  <a:spLocks noGrp="1"/>
                </p:cNvSpPr>
                <p:nvPr/>
              </p:nvSpPr>
              <p:spPr>
                <a:xfrm>
                  <a:off x="10305" y="769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cxnSp>
              <p:nvCxnSpPr>
                <p:cNvPr id="1006" name="直接箭头连接符 1005"/>
                <p:cNvCxnSpPr>
                  <a:stCxn id="353" idx="6"/>
                  <a:endCxn id="354" idx="2"/>
                </p:cNvCxnSpPr>
                <p:nvPr/>
              </p:nvCxnSpPr>
              <p:spPr>
                <a:xfrm flipV="1">
                  <a:off x="9855" y="7710"/>
                  <a:ext cx="450" cy="90"/>
                </a:xfrm>
                <a:prstGeom prst="straightConnector1">
                  <a:avLst/>
                </a:prstGeom>
                <a:ln w="13335">
                  <a:solidFill>
                    <a:srgbClr val="188326"/>
                  </a:solidFill>
                  <a:prstDash val="solid"/>
                </a:ln>
              </p:spPr>
            </p:cxnSp>
            <p:sp>
              <p:nvSpPr>
                <p:cNvPr id="356" name="teacher-point"/>
                <p:cNvSpPr>
                  <a:spLocks noGrp="1"/>
                </p:cNvSpPr>
                <p:nvPr/>
              </p:nvSpPr>
              <p:spPr>
                <a:xfrm>
                  <a:off x="7830" y="7290"/>
                  <a:ext cx="120" cy="120"/>
                </a:xfrm>
                <a:prstGeom prst="ellipse">
                  <a:avLst/>
                </a:prstGeom>
                <a:solidFill>
                  <a:srgbClr val="9DBCF7"/>
                </a:solidFill>
                <a:ln w="9525">
                  <a:solidFill>
                    <a:srgbClr val="2F73E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7" name="student-point"/>
                <p:cNvSpPr>
                  <a:spLocks noGrp="1"/>
                </p:cNvSpPr>
                <p:nvPr/>
              </p:nvSpPr>
              <p:spPr>
                <a:xfrm>
                  <a:off x="7830" y="7950"/>
                  <a:ext cx="120" cy="120"/>
                </a:xfrm>
                <a:prstGeom prst="ellipse">
                  <a:avLst/>
                </a:prstGeom>
                <a:solidFill>
                  <a:srgbClr val="61C15D"/>
                </a:solidFill>
                <a:ln w="9525">
                  <a:solidFill>
                    <a:srgbClr val="188326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" name="anchor"/>
                <p:cNvSpPr>
                  <a:spLocks noGrp="1"/>
                </p:cNvSpPr>
                <p:nvPr/>
              </p:nvSpPr>
              <p:spPr>
                <a:xfrm>
                  <a:off x="7875" y="739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9" name="anchor"/>
                <p:cNvSpPr>
                  <a:spLocks noGrp="1"/>
                </p:cNvSpPr>
                <p:nvPr/>
              </p:nvSpPr>
              <p:spPr>
                <a:xfrm>
                  <a:off x="7875" y="793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1" name="teacher-point"/>
                <p:cNvSpPr>
                  <a:spLocks noGrp="1"/>
                </p:cNvSpPr>
                <p:nvPr/>
              </p:nvSpPr>
              <p:spPr>
                <a:xfrm>
                  <a:off x="8310" y="7230"/>
                  <a:ext cx="120" cy="120"/>
                </a:xfrm>
                <a:prstGeom prst="ellipse">
                  <a:avLst/>
                </a:prstGeom>
                <a:solidFill>
                  <a:srgbClr val="9DBCF7"/>
                </a:solidFill>
                <a:ln w="9525">
                  <a:solidFill>
                    <a:srgbClr val="2F73E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2" name="student-point"/>
                <p:cNvSpPr>
                  <a:spLocks noGrp="1"/>
                </p:cNvSpPr>
                <p:nvPr/>
              </p:nvSpPr>
              <p:spPr>
                <a:xfrm>
                  <a:off x="8310" y="8025"/>
                  <a:ext cx="120" cy="120"/>
                </a:xfrm>
                <a:prstGeom prst="ellipse">
                  <a:avLst/>
                </a:prstGeom>
                <a:solidFill>
                  <a:srgbClr val="61C15D"/>
                </a:solidFill>
                <a:ln w="9525">
                  <a:solidFill>
                    <a:srgbClr val="188326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3" name="anchor"/>
                <p:cNvSpPr>
                  <a:spLocks noGrp="1"/>
                </p:cNvSpPr>
                <p:nvPr/>
              </p:nvSpPr>
              <p:spPr>
                <a:xfrm>
                  <a:off x="8355" y="733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4" name="anchor"/>
                <p:cNvSpPr>
                  <a:spLocks noGrp="1"/>
                </p:cNvSpPr>
                <p:nvPr/>
              </p:nvSpPr>
              <p:spPr>
                <a:xfrm>
                  <a:off x="8355" y="8010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6" name="teacher-point"/>
                <p:cNvSpPr>
                  <a:spLocks noGrp="1"/>
                </p:cNvSpPr>
                <p:nvPr/>
              </p:nvSpPr>
              <p:spPr>
                <a:xfrm>
                  <a:off x="8790" y="7140"/>
                  <a:ext cx="120" cy="120"/>
                </a:xfrm>
                <a:prstGeom prst="ellipse">
                  <a:avLst/>
                </a:prstGeom>
                <a:solidFill>
                  <a:srgbClr val="9DBCF7"/>
                </a:solidFill>
                <a:ln w="9525">
                  <a:solidFill>
                    <a:srgbClr val="2F73E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7" name="student-point"/>
                <p:cNvSpPr>
                  <a:spLocks noGrp="1"/>
                </p:cNvSpPr>
                <p:nvPr/>
              </p:nvSpPr>
              <p:spPr>
                <a:xfrm>
                  <a:off x="8790" y="7980"/>
                  <a:ext cx="120" cy="120"/>
                </a:xfrm>
                <a:prstGeom prst="ellipse">
                  <a:avLst/>
                </a:prstGeom>
                <a:solidFill>
                  <a:srgbClr val="61C15D"/>
                </a:solidFill>
                <a:ln w="9525">
                  <a:solidFill>
                    <a:srgbClr val="188326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8" name="anchor"/>
                <p:cNvSpPr>
                  <a:spLocks noGrp="1"/>
                </p:cNvSpPr>
                <p:nvPr/>
              </p:nvSpPr>
              <p:spPr>
                <a:xfrm>
                  <a:off x="8835" y="724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" name="anchor"/>
                <p:cNvSpPr>
                  <a:spLocks noGrp="1"/>
                </p:cNvSpPr>
                <p:nvPr/>
              </p:nvSpPr>
              <p:spPr>
                <a:xfrm>
                  <a:off x="8835" y="796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1" name="teacher-point"/>
                <p:cNvSpPr>
                  <a:spLocks noGrp="1"/>
                </p:cNvSpPr>
                <p:nvPr/>
              </p:nvSpPr>
              <p:spPr>
                <a:xfrm>
                  <a:off x="9270" y="7140"/>
                  <a:ext cx="120" cy="120"/>
                </a:xfrm>
                <a:prstGeom prst="ellipse">
                  <a:avLst/>
                </a:prstGeom>
                <a:solidFill>
                  <a:srgbClr val="9DBCF7"/>
                </a:solidFill>
                <a:ln w="9525">
                  <a:solidFill>
                    <a:srgbClr val="2F73E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2" name="student-point"/>
                <p:cNvSpPr>
                  <a:spLocks noGrp="1"/>
                </p:cNvSpPr>
                <p:nvPr/>
              </p:nvSpPr>
              <p:spPr>
                <a:xfrm>
                  <a:off x="9270" y="7890"/>
                  <a:ext cx="120" cy="120"/>
                </a:xfrm>
                <a:prstGeom prst="ellipse">
                  <a:avLst/>
                </a:prstGeom>
                <a:solidFill>
                  <a:srgbClr val="61C15D"/>
                </a:solidFill>
                <a:ln w="9525">
                  <a:solidFill>
                    <a:srgbClr val="188326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3" name="anchor"/>
                <p:cNvSpPr>
                  <a:spLocks noGrp="1"/>
                </p:cNvSpPr>
                <p:nvPr/>
              </p:nvSpPr>
              <p:spPr>
                <a:xfrm>
                  <a:off x="9315" y="724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4" name="anchor"/>
                <p:cNvSpPr>
                  <a:spLocks noGrp="1"/>
                </p:cNvSpPr>
                <p:nvPr/>
              </p:nvSpPr>
              <p:spPr>
                <a:xfrm>
                  <a:off x="9315" y="787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6" name="teacher-point"/>
                <p:cNvSpPr>
                  <a:spLocks noGrp="1"/>
                </p:cNvSpPr>
                <p:nvPr/>
              </p:nvSpPr>
              <p:spPr>
                <a:xfrm>
                  <a:off x="9780" y="7050"/>
                  <a:ext cx="120" cy="120"/>
                </a:xfrm>
                <a:prstGeom prst="ellipse">
                  <a:avLst/>
                </a:prstGeom>
                <a:solidFill>
                  <a:srgbClr val="9DBCF7"/>
                </a:solidFill>
                <a:ln w="9525">
                  <a:solidFill>
                    <a:srgbClr val="2F73E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7" name="student-point"/>
                <p:cNvSpPr>
                  <a:spLocks noGrp="1"/>
                </p:cNvSpPr>
                <p:nvPr/>
              </p:nvSpPr>
              <p:spPr>
                <a:xfrm>
                  <a:off x="9780" y="7740"/>
                  <a:ext cx="120" cy="120"/>
                </a:xfrm>
                <a:prstGeom prst="ellipse">
                  <a:avLst/>
                </a:prstGeom>
                <a:solidFill>
                  <a:srgbClr val="61C15D"/>
                </a:solidFill>
                <a:ln w="9525">
                  <a:solidFill>
                    <a:srgbClr val="188326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8" name="anchor"/>
                <p:cNvSpPr>
                  <a:spLocks noGrp="1"/>
                </p:cNvSpPr>
                <p:nvPr/>
              </p:nvSpPr>
              <p:spPr>
                <a:xfrm>
                  <a:off x="9825" y="715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" name="anchor"/>
                <p:cNvSpPr>
                  <a:spLocks noGrp="1"/>
                </p:cNvSpPr>
                <p:nvPr/>
              </p:nvSpPr>
              <p:spPr>
                <a:xfrm>
                  <a:off x="9825" y="772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1" name="teacher-point"/>
                <p:cNvSpPr>
                  <a:spLocks noGrp="1"/>
                </p:cNvSpPr>
                <p:nvPr/>
              </p:nvSpPr>
              <p:spPr>
                <a:xfrm>
                  <a:off x="10260" y="7140"/>
                  <a:ext cx="120" cy="120"/>
                </a:xfrm>
                <a:prstGeom prst="ellipse">
                  <a:avLst/>
                </a:prstGeom>
                <a:solidFill>
                  <a:srgbClr val="9DBCF7"/>
                </a:solidFill>
                <a:ln w="9525">
                  <a:solidFill>
                    <a:srgbClr val="2F73E8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2" name="student-point"/>
                <p:cNvSpPr>
                  <a:spLocks noGrp="1"/>
                </p:cNvSpPr>
                <p:nvPr/>
              </p:nvSpPr>
              <p:spPr>
                <a:xfrm>
                  <a:off x="10260" y="7650"/>
                  <a:ext cx="120" cy="120"/>
                </a:xfrm>
                <a:prstGeom prst="ellipse">
                  <a:avLst/>
                </a:prstGeom>
                <a:solidFill>
                  <a:srgbClr val="61C15D"/>
                </a:solidFill>
                <a:ln w="9525">
                  <a:solidFill>
                    <a:srgbClr val="188326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3" name="anchor"/>
                <p:cNvSpPr>
                  <a:spLocks noGrp="1"/>
                </p:cNvSpPr>
                <p:nvPr/>
              </p:nvSpPr>
              <p:spPr>
                <a:xfrm>
                  <a:off x="10305" y="724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4" name="anchor"/>
                <p:cNvSpPr>
                  <a:spLocks noGrp="1"/>
                </p:cNvSpPr>
                <p:nvPr/>
              </p:nvSpPr>
              <p:spPr>
                <a:xfrm>
                  <a:off x="10305" y="7635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5" name="anchor"/>
                <p:cNvSpPr>
                  <a:spLocks noGrp="1"/>
                </p:cNvSpPr>
                <p:nvPr/>
              </p:nvSpPr>
              <p:spPr>
                <a:xfrm>
                  <a:off x="10440" y="7380"/>
                  <a:ext cx="30" cy="30"/>
                </a:xfrm>
                <a:prstGeom prst="ellipse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3630" y="6384"/>
                <a:ext cx="7126" cy="2500"/>
                <a:chOff x="3630" y="6384"/>
                <a:chExt cx="7126" cy="2500"/>
              </a:xfrm>
            </p:grpSpPr>
            <p:sp>
              <p:nvSpPr>
                <p:cNvPr id="246" name="time-axis"/>
                <p:cNvSpPr>
                  <a:spLocks noGrp="1"/>
                </p:cNvSpPr>
                <p:nvPr/>
              </p:nvSpPr>
              <p:spPr>
                <a:xfrm>
                  <a:off x="10173" y="8404"/>
                  <a:ext cx="583" cy="351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algn="ctr">
                    <a:defRPr sz="675" b="0">
                      <a:solidFill>
                        <a:srgbClr val="111111"/>
                      </a:solidFill>
                    </a:defRPr>
                  </a:pPr>
                  <a:r>
                    <a:rPr sz="675" b="0" dirty="0">
                      <a:solidFill>
                        <a:srgbClr val="111111"/>
                      </a:solidFill>
                    </a:rPr>
                    <a:t>time</a:t>
                  </a:r>
                </a:p>
              </p:txBody>
            </p:sp>
            <p:grpSp>
              <p:nvGrpSpPr>
                <p:cNvPr id="17" name="组合 16"/>
                <p:cNvGrpSpPr/>
                <p:nvPr/>
              </p:nvGrpSpPr>
              <p:grpSpPr>
                <a:xfrm>
                  <a:off x="3630" y="6384"/>
                  <a:ext cx="3276" cy="2500"/>
                  <a:chOff x="3630" y="6384"/>
                  <a:chExt cx="3276" cy="2500"/>
                </a:xfrm>
              </p:grpSpPr>
              <p:grpSp>
                <p:nvGrpSpPr>
                  <p:cNvPr id="5" name="组合 4"/>
                  <p:cNvGrpSpPr/>
                  <p:nvPr/>
                </p:nvGrpSpPr>
                <p:grpSpPr>
                  <a:xfrm>
                    <a:off x="3630" y="6384"/>
                    <a:ext cx="3276" cy="2500"/>
                    <a:chOff x="3630" y="6384"/>
                    <a:chExt cx="3276" cy="2500"/>
                  </a:xfrm>
                </p:grpSpPr>
                <p:sp>
                  <p:nvSpPr>
                    <p:cNvPr id="315" name="xlab"/>
                    <p:cNvSpPr>
                      <a:spLocks noGrp="1"/>
                    </p:cNvSpPr>
                    <p:nvPr/>
                  </p:nvSpPr>
                  <p:spPr>
                    <a:xfrm>
                      <a:off x="6405" y="8647"/>
                      <a:ext cx="375" cy="225"/>
                    </a:xfrm>
                    <a:prstGeom prst="rect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pPr algn="ctr">
                        <a:defRPr sz="900" b="1">
                          <a:solidFill>
                            <a:srgbClr val="111111"/>
                          </a:solidFill>
                        </a:defRPr>
                      </a:pPr>
                      <a:r>
                        <a:rPr sz="900" b="1">
                          <a:solidFill>
                            <a:srgbClr val="111111"/>
                          </a:solidFill>
                        </a:rPr>
                        <a:t>T</a:t>
                      </a:r>
                    </a:p>
                  </p:txBody>
                </p:sp>
                <p:grpSp>
                  <p:nvGrpSpPr>
                    <p:cNvPr id="3" name="组合 2"/>
                    <p:cNvGrpSpPr/>
                    <p:nvPr/>
                  </p:nvGrpSpPr>
                  <p:grpSpPr>
                    <a:xfrm>
                      <a:off x="3630" y="6384"/>
                      <a:ext cx="3276" cy="2500"/>
                      <a:chOff x="3945" y="6339"/>
                      <a:chExt cx="3276" cy="2500"/>
                    </a:xfrm>
                  </p:grpSpPr>
                  <p:sp>
                    <p:nvSpPr>
                      <p:cNvPr id="239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170" y="676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40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170" y="8640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42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170" y="8640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43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480" y="8640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45" name="feature-space"/>
                      <p:cNvSpPr>
                        <a:spLocks noGrp="1"/>
                      </p:cNvSpPr>
                      <p:nvPr/>
                    </p:nvSpPr>
                    <p:spPr>
                      <a:xfrm>
                        <a:off x="3945" y="6339"/>
                        <a:ext cx="870" cy="570"/>
                      </a:xfrm>
                      <a:prstGeom prst="rect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algn="l">
                          <a:defRPr sz="675" b="0">
                            <a:solidFill>
                              <a:srgbClr val="111111"/>
                            </a:solidFill>
                          </a:defRPr>
                        </a:pPr>
                        <a:r>
                          <a:rPr sz="675" b="0" dirty="0">
                            <a:solidFill>
                              <a:srgbClr val="111111"/>
                            </a:solidFill>
                            <a:latin typeface="Comic Sans MS" panose="030F0702030302020204" pitchFamily="66" charset="0"/>
                          </a:rPr>
                          <a:t>feature</a:t>
                        </a:r>
                      </a:p>
                      <a:p>
                        <a:pPr algn="l">
                          <a:defRPr sz="675" b="0">
                            <a:solidFill>
                              <a:srgbClr val="111111"/>
                            </a:solidFill>
                          </a:defRPr>
                        </a:pPr>
                        <a:r>
                          <a:rPr sz="675" b="0" dirty="0">
                            <a:solidFill>
                              <a:srgbClr val="111111"/>
                            </a:solidFill>
                            <a:latin typeface="Comic Sans MS" panose="030F0702030302020204" pitchFamily="66" charset="0"/>
                          </a:rPr>
                          <a:t>space</a:t>
                        </a:r>
                      </a:p>
                    </p:txBody>
                  </p:sp>
                  <p:sp>
                    <p:nvSpPr>
                      <p:cNvPr id="247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470" y="751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48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950" y="700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cxnSp>
                    <p:nvCxnSpPr>
                      <p:cNvPr id="900" name="直接箭头连接符 899"/>
                      <p:cNvCxnSpPr>
                        <a:stCxn id="247" idx="7"/>
                        <a:endCxn id="248" idx="3"/>
                      </p:cNvCxnSpPr>
                      <p:nvPr/>
                    </p:nvCxnSpPr>
                    <p:spPr>
                      <a:xfrm flipV="1">
                        <a:off x="4496" y="7031"/>
                        <a:ext cx="459" cy="489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2F73E8"/>
                        </a:solidFill>
                        <a:prstDash val="solid"/>
                      </a:ln>
                    </p:spPr>
                  </p:cxnSp>
                  <p:sp>
                    <p:nvSpPr>
                      <p:cNvPr id="250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470" y="835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51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950" y="796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cxnSp>
                    <p:nvCxnSpPr>
                      <p:cNvPr id="903" name="直接箭头连接符 902"/>
                      <p:cNvCxnSpPr>
                        <a:stCxn id="250" idx="7"/>
                        <a:endCxn id="251" idx="3"/>
                      </p:cNvCxnSpPr>
                      <p:nvPr/>
                    </p:nvCxnSpPr>
                    <p:spPr>
                      <a:xfrm flipV="1">
                        <a:off x="4496" y="7991"/>
                        <a:ext cx="459" cy="369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188326"/>
                        </a:solidFill>
                        <a:prstDash val="solid"/>
                      </a:ln>
                    </p:spPr>
                  </p:cxnSp>
                  <p:sp>
                    <p:nvSpPr>
                      <p:cNvPr id="253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950" y="700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54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430" y="727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cxnSp>
                    <p:nvCxnSpPr>
                      <p:cNvPr id="906" name="直接箭头连接符 905"/>
                      <p:cNvCxnSpPr>
                        <a:stCxn id="253" idx="5"/>
                        <a:endCxn id="254" idx="1"/>
                      </p:cNvCxnSpPr>
                      <p:nvPr/>
                    </p:nvCxnSpPr>
                    <p:spPr>
                      <a:xfrm>
                        <a:off x="4976" y="7031"/>
                        <a:ext cx="459" cy="249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2F73E8"/>
                        </a:solidFill>
                        <a:prstDash val="solid"/>
                      </a:ln>
                    </p:spPr>
                  </p:cxnSp>
                  <p:sp>
                    <p:nvSpPr>
                      <p:cNvPr id="256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950" y="796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57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430" y="793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cxnSp>
                    <p:nvCxnSpPr>
                      <p:cNvPr id="909" name="直接箭头连接符 908"/>
                      <p:cNvCxnSpPr>
                        <a:stCxn id="256" idx="6"/>
                        <a:endCxn id="257" idx="2"/>
                      </p:cNvCxnSpPr>
                      <p:nvPr/>
                    </p:nvCxnSpPr>
                    <p:spPr>
                      <a:xfrm flipV="1">
                        <a:off x="4980" y="7950"/>
                        <a:ext cx="450" cy="30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188326"/>
                        </a:solidFill>
                        <a:prstDash val="solid"/>
                      </a:ln>
                    </p:spPr>
                  </p:cxnSp>
                  <p:sp>
                    <p:nvSpPr>
                      <p:cNvPr id="259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430" y="727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60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910" y="754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cxnSp>
                    <p:nvCxnSpPr>
                      <p:cNvPr id="912" name="直接箭头连接符 911"/>
                      <p:cNvCxnSpPr>
                        <a:stCxn id="259" idx="5"/>
                        <a:endCxn id="260" idx="1"/>
                      </p:cNvCxnSpPr>
                      <p:nvPr/>
                    </p:nvCxnSpPr>
                    <p:spPr>
                      <a:xfrm>
                        <a:off x="5456" y="7301"/>
                        <a:ext cx="459" cy="249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2F73E8"/>
                        </a:solidFill>
                        <a:prstDash val="solid"/>
                      </a:ln>
                    </p:spPr>
                  </p:cxnSp>
                  <p:sp>
                    <p:nvSpPr>
                      <p:cNvPr id="262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430" y="793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63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910" y="817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cxnSp>
                    <p:nvCxnSpPr>
                      <p:cNvPr id="915" name="直接箭头连接符 914"/>
                      <p:cNvCxnSpPr>
                        <a:stCxn id="262" idx="5"/>
                        <a:endCxn id="263" idx="1"/>
                      </p:cNvCxnSpPr>
                      <p:nvPr/>
                    </p:nvCxnSpPr>
                    <p:spPr>
                      <a:xfrm>
                        <a:off x="5456" y="7961"/>
                        <a:ext cx="459" cy="219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188326"/>
                        </a:solidFill>
                        <a:prstDash val="solid"/>
                      </a:ln>
                    </p:spPr>
                  </p:cxnSp>
                  <p:sp>
                    <p:nvSpPr>
                      <p:cNvPr id="265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910" y="754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66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420" y="769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cxnSp>
                    <p:nvCxnSpPr>
                      <p:cNvPr id="918" name="直接箭头连接符 917"/>
                      <p:cNvCxnSpPr>
                        <a:stCxn id="265" idx="6"/>
                        <a:endCxn id="266" idx="2"/>
                      </p:cNvCxnSpPr>
                      <p:nvPr/>
                    </p:nvCxnSpPr>
                    <p:spPr>
                      <a:xfrm>
                        <a:off x="5940" y="7560"/>
                        <a:ext cx="480" cy="150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2F73E8"/>
                        </a:solidFill>
                        <a:prstDash val="solid"/>
                      </a:ln>
                    </p:spPr>
                  </p:cxnSp>
                  <p:sp>
                    <p:nvSpPr>
                      <p:cNvPr id="268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910" y="817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69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420" y="823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cxnSp>
                    <p:nvCxnSpPr>
                      <p:cNvPr id="921" name="直接箭头连接符 920"/>
                      <p:cNvCxnSpPr>
                        <a:stCxn id="268" idx="6"/>
                        <a:endCxn id="269" idx="2"/>
                      </p:cNvCxnSpPr>
                      <p:nvPr/>
                    </p:nvCxnSpPr>
                    <p:spPr>
                      <a:xfrm>
                        <a:off x="5940" y="8190"/>
                        <a:ext cx="480" cy="60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188326"/>
                        </a:solidFill>
                        <a:prstDash val="solid"/>
                      </a:ln>
                    </p:spPr>
                  </p:cxnSp>
                  <p:sp>
                    <p:nvSpPr>
                      <p:cNvPr id="271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420" y="769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72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900" y="775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cxnSp>
                    <p:nvCxnSpPr>
                      <p:cNvPr id="924" name="直接箭头连接符 923"/>
                      <p:cNvCxnSpPr>
                        <a:stCxn id="271" idx="6"/>
                        <a:endCxn id="272" idx="2"/>
                      </p:cNvCxnSpPr>
                      <p:nvPr/>
                    </p:nvCxnSpPr>
                    <p:spPr>
                      <a:xfrm>
                        <a:off x="6450" y="7710"/>
                        <a:ext cx="450" cy="60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2F73E8"/>
                        </a:solidFill>
                        <a:prstDash val="solid"/>
                      </a:ln>
                    </p:spPr>
                  </p:cxnSp>
                  <p:sp>
                    <p:nvSpPr>
                      <p:cNvPr id="274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420" y="823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75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900" y="8250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cxnSp>
                    <p:nvCxnSpPr>
                      <p:cNvPr id="927" name="直接箭头连接符 926"/>
                      <p:cNvCxnSpPr>
                        <a:stCxn id="274" idx="6"/>
                        <a:endCxn id="275" idx="2"/>
                      </p:cNvCxnSpPr>
                      <p:nvPr/>
                    </p:nvCxnSpPr>
                    <p:spPr>
                      <a:xfrm>
                        <a:off x="6450" y="8250"/>
                        <a:ext cx="450" cy="15"/>
                      </a:xfrm>
                      <a:prstGeom prst="straightConnector1">
                        <a:avLst/>
                      </a:prstGeom>
                      <a:ln w="13335">
                        <a:solidFill>
                          <a:srgbClr val="188326"/>
                        </a:solidFill>
                        <a:prstDash val="solid"/>
                      </a:ln>
                    </p:spPr>
                  </p:cxnSp>
                  <p:sp>
                    <p:nvSpPr>
                      <p:cNvPr id="277" name="teacher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4425" y="747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9DBCF7"/>
                      </a:solidFill>
                      <a:ln w="9525">
                        <a:solidFill>
                          <a:srgbClr val="2F73E8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78" name="student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4425" y="831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61C15D"/>
                      </a:solidFill>
                      <a:ln w="9525">
                        <a:solidFill>
                          <a:srgbClr val="188326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79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470" y="757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80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470" y="829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cxnSp>
                    <p:nvCxnSpPr>
                      <p:cNvPr id="932" name="直接箭头连接符 931"/>
                      <p:cNvCxnSpPr>
                        <a:stCxn id="279" idx="4"/>
                        <a:endCxn id="280" idx="0"/>
                      </p:cNvCxnSpPr>
                      <p:nvPr/>
                    </p:nvCxnSpPr>
                    <p:spPr>
                      <a:xfrm>
                        <a:off x="4485" y="7605"/>
                        <a:ext cx="0" cy="690"/>
                      </a:xfrm>
                      <a:prstGeom prst="straightConnector1">
                        <a:avLst/>
                      </a:prstGeom>
                      <a:ln w="10478">
                        <a:solidFill>
                          <a:srgbClr val="FF6A00"/>
                        </a:solidFill>
                        <a:prstDash val="dash"/>
                        <a:tailEnd type="triangle"/>
                      </a:ln>
                    </p:spPr>
                  </p:cxnSp>
                  <p:sp>
                    <p:nvSpPr>
                      <p:cNvPr id="282" name="teacher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4905" y="696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9DBCF7"/>
                      </a:solidFill>
                      <a:ln w="9525">
                        <a:solidFill>
                          <a:srgbClr val="2F73E8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83" name="student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4905" y="792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61C15D"/>
                      </a:solidFill>
                      <a:ln w="9525">
                        <a:solidFill>
                          <a:srgbClr val="188326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84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950" y="706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85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4950" y="790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cxnSp>
                    <p:nvCxnSpPr>
                      <p:cNvPr id="937" name="直接箭头连接符 936"/>
                      <p:cNvCxnSpPr>
                        <a:stCxn id="284" idx="4"/>
                        <a:endCxn id="285" idx="0"/>
                      </p:cNvCxnSpPr>
                      <p:nvPr/>
                    </p:nvCxnSpPr>
                    <p:spPr>
                      <a:xfrm>
                        <a:off x="4965" y="7095"/>
                        <a:ext cx="0" cy="810"/>
                      </a:xfrm>
                      <a:prstGeom prst="straightConnector1">
                        <a:avLst/>
                      </a:prstGeom>
                      <a:ln w="10478">
                        <a:solidFill>
                          <a:srgbClr val="FF6A00"/>
                        </a:solidFill>
                        <a:prstDash val="dash"/>
                        <a:tailEnd type="triangle"/>
                      </a:ln>
                    </p:spPr>
                  </p:cxnSp>
                  <p:sp>
                    <p:nvSpPr>
                      <p:cNvPr id="287" name="teacher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5385" y="723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9DBCF7"/>
                      </a:solidFill>
                      <a:ln w="9525">
                        <a:solidFill>
                          <a:srgbClr val="2F73E8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88" name="student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5385" y="789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61C15D"/>
                      </a:solidFill>
                      <a:ln w="9525">
                        <a:solidFill>
                          <a:srgbClr val="188326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89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430" y="733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90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430" y="787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cxnSp>
                    <p:nvCxnSpPr>
                      <p:cNvPr id="942" name="直接箭头连接符 941"/>
                      <p:cNvCxnSpPr>
                        <a:stCxn id="289" idx="4"/>
                        <a:endCxn id="290" idx="0"/>
                      </p:cNvCxnSpPr>
                      <p:nvPr/>
                    </p:nvCxnSpPr>
                    <p:spPr>
                      <a:xfrm>
                        <a:off x="5445" y="7365"/>
                        <a:ext cx="0" cy="510"/>
                      </a:xfrm>
                      <a:prstGeom prst="straightConnector1">
                        <a:avLst/>
                      </a:prstGeom>
                      <a:ln w="10478">
                        <a:solidFill>
                          <a:srgbClr val="FF6A00"/>
                        </a:solidFill>
                        <a:prstDash val="dash"/>
                        <a:tailEnd type="triangle"/>
                      </a:ln>
                    </p:spPr>
                  </p:cxnSp>
                  <p:sp>
                    <p:nvSpPr>
                      <p:cNvPr id="292" name="teacher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5865" y="750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9DBCF7"/>
                      </a:solidFill>
                      <a:ln w="9525">
                        <a:solidFill>
                          <a:srgbClr val="2F73E8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93" name="student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5865" y="813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61C15D"/>
                      </a:solidFill>
                      <a:ln w="9525">
                        <a:solidFill>
                          <a:srgbClr val="188326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94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910" y="760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95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5910" y="811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cxnSp>
                    <p:nvCxnSpPr>
                      <p:cNvPr id="947" name="直接箭头连接符 946"/>
                      <p:cNvCxnSpPr>
                        <a:stCxn id="294" idx="4"/>
                        <a:endCxn id="295" idx="0"/>
                      </p:cNvCxnSpPr>
                      <p:nvPr/>
                    </p:nvCxnSpPr>
                    <p:spPr>
                      <a:xfrm>
                        <a:off x="5925" y="7635"/>
                        <a:ext cx="0" cy="480"/>
                      </a:xfrm>
                      <a:prstGeom prst="straightConnector1">
                        <a:avLst/>
                      </a:prstGeom>
                      <a:ln w="10478">
                        <a:solidFill>
                          <a:srgbClr val="FF6A00"/>
                        </a:solidFill>
                        <a:prstDash val="dash"/>
                        <a:tailEnd type="triangle"/>
                      </a:ln>
                    </p:spPr>
                  </p:cxnSp>
                  <p:sp>
                    <p:nvSpPr>
                      <p:cNvPr id="297" name="teacher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6375" y="765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9DBCF7"/>
                      </a:solidFill>
                      <a:ln w="9525">
                        <a:solidFill>
                          <a:srgbClr val="2F73E8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98" name="student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6375" y="819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61C15D"/>
                      </a:solidFill>
                      <a:ln w="9525">
                        <a:solidFill>
                          <a:srgbClr val="188326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99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420" y="775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00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420" y="817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cxnSp>
                    <p:nvCxnSpPr>
                      <p:cNvPr id="952" name="直接箭头连接符 951"/>
                      <p:cNvCxnSpPr>
                        <a:stCxn id="299" idx="4"/>
                        <a:endCxn id="300" idx="0"/>
                      </p:cNvCxnSpPr>
                      <p:nvPr/>
                    </p:nvCxnSpPr>
                    <p:spPr>
                      <a:xfrm>
                        <a:off x="6435" y="7785"/>
                        <a:ext cx="0" cy="390"/>
                      </a:xfrm>
                      <a:prstGeom prst="straightConnector1">
                        <a:avLst/>
                      </a:prstGeom>
                      <a:ln w="10478">
                        <a:solidFill>
                          <a:srgbClr val="FF6A00"/>
                        </a:solidFill>
                        <a:prstDash val="dash"/>
                        <a:tailEnd type="triangle"/>
                      </a:ln>
                    </p:spPr>
                  </p:cxnSp>
                  <p:sp>
                    <p:nvSpPr>
                      <p:cNvPr id="302" name="teacher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6855" y="7710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9DBCF7"/>
                      </a:solidFill>
                      <a:ln w="9525">
                        <a:solidFill>
                          <a:srgbClr val="2F73E8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03" name="student-point"/>
                      <p:cNvSpPr>
                        <a:spLocks noGrp="1"/>
                      </p:cNvSpPr>
                      <p:nvPr/>
                    </p:nvSpPr>
                    <p:spPr>
                      <a:xfrm>
                        <a:off x="6855" y="8205"/>
                        <a:ext cx="120" cy="120"/>
                      </a:xfrm>
                      <a:prstGeom prst="ellipse">
                        <a:avLst/>
                      </a:prstGeom>
                      <a:solidFill>
                        <a:srgbClr val="61C15D"/>
                      </a:solidFill>
                      <a:ln w="9525">
                        <a:solidFill>
                          <a:srgbClr val="188326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04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900" y="7815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05" name="anchor"/>
                      <p:cNvSpPr>
                        <a:spLocks noGrp="1"/>
                      </p:cNvSpPr>
                      <p:nvPr/>
                    </p:nvSpPr>
                    <p:spPr>
                      <a:xfrm>
                        <a:off x="6900" y="8190"/>
                        <a:ext cx="30" cy="30"/>
                      </a:xfrm>
                      <a:prstGeom prst="ellipse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cxnSp>
                    <p:nvCxnSpPr>
                      <p:cNvPr id="957" name="直接箭头连接符 956"/>
                      <p:cNvCxnSpPr>
                        <a:stCxn id="304" idx="4"/>
                        <a:endCxn id="305" idx="0"/>
                      </p:cNvCxnSpPr>
                      <p:nvPr/>
                    </p:nvCxnSpPr>
                    <p:spPr>
                      <a:xfrm>
                        <a:off x="6915" y="7845"/>
                        <a:ext cx="0" cy="345"/>
                      </a:xfrm>
                      <a:prstGeom prst="straightConnector1">
                        <a:avLst/>
                      </a:prstGeom>
                      <a:ln w="10478">
                        <a:solidFill>
                          <a:srgbClr val="FF6A00"/>
                        </a:solidFill>
                        <a:prstDash val="dash"/>
                        <a:tailEnd type="triangle"/>
                      </a:ln>
                    </p:spPr>
                  </p:cxnSp>
                  <p:sp>
                    <p:nvSpPr>
                      <p:cNvPr id="311" name="xlab"/>
                      <p:cNvSpPr>
                        <a:spLocks noGrp="1"/>
                      </p:cNvSpPr>
                      <p:nvPr/>
                    </p:nvSpPr>
                    <p:spPr>
                      <a:xfrm>
                        <a:off x="4290" y="8599"/>
                        <a:ext cx="375" cy="230"/>
                      </a:xfrm>
                      <a:prstGeom prst="rect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algn="ctr">
                          <a:defRPr sz="900" b="1">
                            <a:solidFill>
                              <a:srgbClr val="111111"/>
                            </a:solidFill>
                          </a:defRPr>
                        </a:pPr>
                        <a:r>
                          <a:rPr sz="900" b="1">
                            <a:solidFill>
                              <a:srgbClr val="111111"/>
                            </a:solidFill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312" name="xlab"/>
                      <p:cNvSpPr>
                        <a:spLocks noGrp="1"/>
                      </p:cNvSpPr>
                      <p:nvPr/>
                    </p:nvSpPr>
                    <p:spPr>
                      <a:xfrm>
                        <a:off x="4752" y="8589"/>
                        <a:ext cx="375" cy="250"/>
                      </a:xfrm>
                      <a:prstGeom prst="rect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algn="ctr">
                          <a:defRPr sz="900" b="1">
                            <a:solidFill>
                              <a:srgbClr val="111111"/>
                            </a:solidFill>
                          </a:defRPr>
                        </a:pPr>
                        <a:r>
                          <a:rPr sz="900" b="1">
                            <a:solidFill>
                              <a:srgbClr val="111111"/>
                            </a:solidFill>
                          </a:rPr>
                          <a:t>2</a:t>
                        </a:r>
                      </a:p>
                    </p:txBody>
                  </p:sp>
                  <p:sp>
                    <p:nvSpPr>
                      <p:cNvPr id="313" name="xlab"/>
                      <p:cNvSpPr>
                        <a:spLocks noGrp="1"/>
                      </p:cNvSpPr>
                      <p:nvPr/>
                    </p:nvSpPr>
                    <p:spPr>
                      <a:xfrm>
                        <a:off x="5205" y="8602"/>
                        <a:ext cx="375" cy="225"/>
                      </a:xfrm>
                      <a:prstGeom prst="rect">
                        <a:avLst/>
                      </a:prstGeom>
                      <a:noFill/>
                      <a:ln w="0">
                        <a:noFill/>
                        <a:prstDash val="solid"/>
                      </a:ln>
                    </p:spPr>
                    <p:txBody>
                      <a:bodyPr/>
                      <a:lstStyle/>
                      <a:p>
                        <a:pPr algn="ctr">
                          <a:defRPr sz="900" b="1">
                            <a:solidFill>
                              <a:srgbClr val="111111"/>
                            </a:solidFill>
                          </a:defRPr>
                        </a:pPr>
                        <a:r>
                          <a:rPr sz="900" b="1">
                            <a:solidFill>
                              <a:srgbClr val="111111"/>
                            </a:solidFill>
                          </a:rPr>
                          <a:t>3</a:t>
                        </a:r>
                      </a:p>
                    </p:txBody>
                  </p:sp>
                  <p:cxnSp>
                    <p:nvCxnSpPr>
                      <p:cNvPr id="117" name="直接箭头连接符 116"/>
                      <p:cNvCxnSpPr/>
                      <p:nvPr/>
                    </p:nvCxnSpPr>
                    <p:spPr>
                      <a:xfrm flipV="1">
                        <a:off x="4274" y="8517"/>
                        <a:ext cx="2947" cy="0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2" name="直接箭头连接符 131"/>
                      <p:cNvCxnSpPr/>
                      <p:nvPr/>
                    </p:nvCxnSpPr>
                    <p:spPr>
                      <a:xfrm flipV="1">
                        <a:off x="4275" y="6816"/>
                        <a:ext cx="0" cy="1701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13" name="椭圆 12"/>
                  <p:cNvSpPr/>
                  <p:nvPr/>
                </p:nvSpPr>
                <p:spPr>
                  <a:xfrm>
                    <a:off x="5488" y="8822"/>
                    <a:ext cx="28" cy="2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" name="椭圆 13"/>
                  <p:cNvSpPr/>
                  <p:nvPr/>
                </p:nvSpPr>
                <p:spPr>
                  <a:xfrm>
                    <a:off x="5745" y="8822"/>
                    <a:ext cx="28" cy="2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" name="椭圆 15"/>
                  <p:cNvSpPr/>
                  <p:nvPr/>
                </p:nvSpPr>
                <p:spPr>
                  <a:xfrm>
                    <a:off x="5976" y="8822"/>
                    <a:ext cx="28" cy="2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23" name="xlab"/>
              <p:cNvSpPr>
                <a:spLocks noGrp="1"/>
              </p:cNvSpPr>
              <p:nvPr/>
            </p:nvSpPr>
            <p:spPr>
              <a:xfrm>
                <a:off x="9930" y="8638"/>
                <a:ext cx="375" cy="2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900" b="1">
                    <a:solidFill>
                      <a:srgbClr val="111111"/>
                    </a:solidFill>
                  </a:defRPr>
                </a:pPr>
                <a:r>
                  <a:rPr sz="900" b="1">
                    <a:solidFill>
                      <a:srgbClr val="111111"/>
                    </a:solidFill>
                  </a:rPr>
                  <a:t>T</a:t>
                </a:r>
              </a:p>
            </p:txBody>
          </p:sp>
          <p:sp>
            <p:nvSpPr>
              <p:cNvPr id="24" name="feature-space"/>
              <p:cNvSpPr>
                <a:spLocks noGrp="1"/>
              </p:cNvSpPr>
              <p:nvPr/>
            </p:nvSpPr>
            <p:spPr>
              <a:xfrm>
                <a:off x="7110" y="6384"/>
                <a:ext cx="870" cy="57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l">
                  <a:defRPr sz="675" b="0">
                    <a:solidFill>
                      <a:srgbClr val="111111"/>
                    </a:solidFill>
                  </a:defRPr>
                </a:pPr>
                <a:r>
                  <a:rPr sz="675" b="0" dirty="0">
                    <a:solidFill>
                      <a:srgbClr val="111111"/>
                    </a:solidFill>
                    <a:latin typeface="Comic Sans MS" panose="030F0702030302020204" pitchFamily="66" charset="0"/>
                  </a:rPr>
                  <a:t>feature</a:t>
                </a:r>
              </a:p>
              <a:p>
                <a:pPr algn="l">
                  <a:defRPr sz="675" b="0">
                    <a:solidFill>
                      <a:srgbClr val="111111"/>
                    </a:solidFill>
                  </a:defRPr>
                </a:pPr>
                <a:r>
                  <a:rPr sz="675" b="0" dirty="0">
                    <a:solidFill>
                      <a:srgbClr val="111111"/>
                    </a:solidFill>
                    <a:latin typeface="Comic Sans MS" panose="030F0702030302020204" pitchFamily="66" charset="0"/>
                  </a:rPr>
                  <a:t>space</a:t>
                </a:r>
              </a:p>
            </p:txBody>
          </p:sp>
          <p:sp>
            <p:nvSpPr>
              <p:cNvPr id="25" name="xlab"/>
              <p:cNvSpPr>
                <a:spLocks noGrp="1"/>
              </p:cNvSpPr>
              <p:nvPr/>
            </p:nvSpPr>
            <p:spPr>
              <a:xfrm>
                <a:off x="7500" y="8635"/>
                <a:ext cx="375" cy="23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900" b="1">
                    <a:solidFill>
                      <a:srgbClr val="111111"/>
                    </a:solidFill>
                  </a:defRPr>
                </a:pPr>
                <a:r>
                  <a:rPr sz="900" b="1">
                    <a:solidFill>
                      <a:srgbClr val="111111"/>
                    </a:solidFill>
                  </a:rPr>
                  <a:t>1</a:t>
                </a:r>
              </a:p>
            </p:txBody>
          </p:sp>
          <p:sp>
            <p:nvSpPr>
              <p:cNvPr id="26" name="xlab"/>
              <p:cNvSpPr>
                <a:spLocks noGrp="1"/>
              </p:cNvSpPr>
              <p:nvPr/>
            </p:nvSpPr>
            <p:spPr>
              <a:xfrm>
                <a:off x="7962" y="8625"/>
                <a:ext cx="375" cy="2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900" b="1">
                    <a:solidFill>
                      <a:srgbClr val="111111"/>
                    </a:solidFill>
                  </a:defRPr>
                </a:pPr>
                <a:r>
                  <a:rPr sz="900" b="1">
                    <a:solidFill>
                      <a:srgbClr val="111111"/>
                    </a:solidFill>
                  </a:rPr>
                  <a:t>2</a:t>
                </a:r>
              </a:p>
            </p:txBody>
          </p:sp>
          <p:sp>
            <p:nvSpPr>
              <p:cNvPr id="28" name="xlab"/>
              <p:cNvSpPr>
                <a:spLocks noGrp="1"/>
              </p:cNvSpPr>
              <p:nvPr/>
            </p:nvSpPr>
            <p:spPr>
              <a:xfrm>
                <a:off x="8415" y="8638"/>
                <a:ext cx="375" cy="2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900" b="1">
                    <a:solidFill>
                      <a:srgbClr val="111111"/>
                    </a:solidFill>
                  </a:defRPr>
                </a:pPr>
                <a:r>
                  <a:rPr sz="900" b="1">
                    <a:solidFill>
                      <a:srgbClr val="111111"/>
                    </a:solidFill>
                  </a:rPr>
                  <a:t>3</a:t>
                </a:r>
              </a:p>
            </p:txBody>
          </p:sp>
          <p:cxnSp>
            <p:nvCxnSpPr>
              <p:cNvPr id="29" name="直接箭头连接符 28"/>
              <p:cNvCxnSpPr/>
              <p:nvPr/>
            </p:nvCxnSpPr>
            <p:spPr>
              <a:xfrm>
                <a:off x="7484" y="8553"/>
                <a:ext cx="2787" cy="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/>
              <p:cNvCxnSpPr/>
              <p:nvPr/>
            </p:nvCxnSpPr>
            <p:spPr>
              <a:xfrm flipV="1">
                <a:off x="7485" y="6852"/>
                <a:ext cx="0" cy="170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椭圆 31"/>
              <p:cNvSpPr/>
              <p:nvPr/>
            </p:nvSpPr>
            <p:spPr>
              <a:xfrm>
                <a:off x="9013" y="8813"/>
                <a:ext cx="28" cy="2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9270" y="8813"/>
                <a:ext cx="28" cy="2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9501" y="8813"/>
                <a:ext cx="28" cy="2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1" name="曲线连接符 40"/>
            <p:cNvCxnSpPr>
              <a:endCxn id="359" idx="7"/>
            </p:cNvCxnSpPr>
            <p:nvPr/>
          </p:nvCxnSpPr>
          <p:spPr>
            <a:xfrm rot="5400000">
              <a:off x="7276" y="7246"/>
              <a:ext cx="589" cy="469"/>
            </a:xfrm>
            <a:prstGeom prst="curvedConnector3">
              <a:avLst>
                <a:gd name="adj1" fmla="val 49745"/>
              </a:avLst>
            </a:prstGeom>
            <a:ln w="10541" cmpd="sng">
              <a:solidFill>
                <a:srgbClr val="FF6A00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" name="曲线连接符 42"/>
            <p:cNvCxnSpPr>
              <a:stCxn id="376" idx="4"/>
              <a:endCxn id="362" idx="7"/>
            </p:cNvCxnSpPr>
            <p:nvPr/>
          </p:nvCxnSpPr>
          <p:spPr>
            <a:xfrm rot="5400000">
              <a:off x="8125" y="6729"/>
              <a:ext cx="873" cy="1428"/>
            </a:xfrm>
            <a:prstGeom prst="curvedConnector3">
              <a:avLst>
                <a:gd name="adj1" fmla="val 34872"/>
              </a:avLst>
            </a:prstGeom>
            <a:ln w="10541">
              <a:solidFill>
                <a:srgbClr val="FF6A00"/>
              </a:solidFill>
              <a:prstDash val="dash"/>
              <a:bevel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曲线连接符 43"/>
            <p:cNvCxnSpPr>
              <a:stCxn id="376" idx="4"/>
              <a:endCxn id="367" idx="0"/>
            </p:cNvCxnSpPr>
            <p:nvPr/>
          </p:nvCxnSpPr>
          <p:spPr>
            <a:xfrm rot="5400000">
              <a:off x="8375" y="6917"/>
              <a:ext cx="810" cy="990"/>
            </a:xfrm>
            <a:prstGeom prst="curvedConnector3">
              <a:avLst>
                <a:gd name="adj1" fmla="val 50000"/>
              </a:avLst>
            </a:prstGeom>
            <a:ln w="10541">
              <a:solidFill>
                <a:srgbClr val="FF6A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" name="曲线连接符 45"/>
            <p:cNvCxnSpPr>
              <a:stCxn id="381" idx="4"/>
              <a:endCxn id="377" idx="0"/>
            </p:cNvCxnSpPr>
            <p:nvPr/>
          </p:nvCxnSpPr>
          <p:spPr>
            <a:xfrm rot="5400000">
              <a:off x="9275" y="7097"/>
              <a:ext cx="480" cy="480"/>
            </a:xfrm>
            <a:prstGeom prst="curvedConnector3">
              <a:avLst>
                <a:gd name="adj1" fmla="val 50000"/>
              </a:avLst>
            </a:prstGeom>
            <a:ln w="10541">
              <a:solidFill>
                <a:srgbClr val="FF6A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5" name="直接箭头连接符 114"/>
            <p:cNvCxnSpPr/>
            <p:nvPr/>
          </p:nvCxnSpPr>
          <p:spPr>
            <a:xfrm>
              <a:off x="4880" y="8654"/>
              <a:ext cx="0" cy="283"/>
            </a:xfrm>
            <a:prstGeom prst="straightConnector1">
              <a:avLst/>
            </a:prstGeom>
            <a:ln w="10541">
              <a:solidFill>
                <a:srgbClr val="FF6A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箭头连接符 118"/>
            <p:cNvCxnSpPr/>
            <p:nvPr/>
          </p:nvCxnSpPr>
          <p:spPr>
            <a:xfrm>
              <a:off x="8546" y="8654"/>
              <a:ext cx="0" cy="283"/>
            </a:xfrm>
            <a:prstGeom prst="straightConnector1">
              <a:avLst/>
            </a:prstGeom>
            <a:ln w="10541">
              <a:solidFill>
                <a:srgbClr val="FF6A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4" name="组合 133"/>
            <p:cNvGrpSpPr/>
            <p:nvPr/>
          </p:nvGrpSpPr>
          <p:grpSpPr>
            <a:xfrm>
              <a:off x="4554" y="8917"/>
              <a:ext cx="4341" cy="580"/>
              <a:chOff x="2869565" y="5776525"/>
              <a:chExt cx="2756662" cy="36848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8" name="文本框 117"/>
                  <p:cNvSpPr txBox="1"/>
                  <p:nvPr/>
                </p:nvSpPr>
                <p:spPr>
                  <a:xfrm>
                    <a:off x="2869565" y="5776525"/>
                    <a:ext cx="424053" cy="36848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儷宋 Pro" panose="02020300000000000000" charset="-120"/>
                                  <a:cs typeface="DejaVu Math TeX Gyre" panose="02000503000000000000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solidFill>
                                    <a:schemeClr val="tx1"/>
                                  </a:solidFill>
                                  <a:latin typeface="DejaVu Math TeX Gyre" panose="02000503000000000000" charset="0"/>
                                  <a:ea typeface="儷宋 Pro" panose="02020300000000000000" charset="-120"/>
                                  <a:cs typeface="DejaVu Math TeX Gyre" panose="02000503000000000000" charset="0"/>
                                  <a:sym typeface="+mn-ea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i="1" dirty="0">
                                  <a:solidFill>
                                    <a:schemeClr val="tx1"/>
                                  </a:solidFill>
                                  <a:latin typeface="DejaVu Math TeX Gyre" panose="02000503000000000000" charset="0"/>
                                  <a:ea typeface="儷宋 Pro" panose="02020300000000000000" charset="-120"/>
                                  <a:cs typeface="DejaVu Math TeX Gyre" panose="02000503000000000000" charset="0"/>
                                  <a:sym typeface="+mn-ea"/>
                                </a:rPr>
                                <m:t>𝑠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118" name="文本框 1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9565" y="5776525"/>
                    <a:ext cx="424053" cy="368485"/>
                  </a:xfrm>
                  <a:prstGeom prst="rect">
                    <a:avLst/>
                  </a:prstGeom>
                  <a:blipFill rotWithShape="1">
                    <a:blip r:embed="rId2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文本框 120"/>
                  <p:cNvSpPr txBox="1"/>
                  <p:nvPr/>
                </p:nvSpPr>
                <p:spPr>
                  <a:xfrm>
                    <a:off x="5202174" y="5776525"/>
                    <a:ext cx="424053" cy="36848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儷宋 Pro" panose="02020300000000000000" charset="-120"/>
                                  <a:cs typeface="DejaVu Math TeX Gyre" panose="02000503000000000000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solidFill>
                                    <a:schemeClr val="tx1"/>
                                  </a:solidFill>
                                  <a:latin typeface="DejaVu Math TeX Gyre" panose="02000503000000000000" charset="0"/>
                                  <a:ea typeface="儷宋 Pro" panose="02020300000000000000" charset="-120"/>
                                  <a:cs typeface="DejaVu Math TeX Gyre" panose="02000503000000000000" charset="0"/>
                                  <a:sym typeface="+mn-ea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儷宋 Pro" panose="02020300000000000000" charset="-120"/>
                                  <a:cs typeface="DejaVu Math TeX Gyre" panose="02000503000000000000" charset="0"/>
                                  <a:sym typeface="+mn-ea"/>
                                </a:rPr>
                                <m:t>𝑙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i="1" dirty="0"/>
                  </a:p>
                </p:txBody>
              </p:sp>
            </mc:Choice>
            <mc:Fallback xmlns="">
              <p:sp>
                <p:nvSpPr>
                  <p:cNvPr id="121" name="文本框 1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02174" y="5776525"/>
                    <a:ext cx="424053" cy="368485"/>
                  </a:xfrm>
                  <a:prstGeom prst="rect">
                    <a:avLst/>
                  </a:prstGeom>
                  <a:blipFill rotWithShape="1">
                    <a:blip r:embed="rId2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2" name="矩形: 圆角 121"/>
              <p:cNvSpPr/>
              <p:nvPr/>
            </p:nvSpPr>
            <p:spPr>
              <a:xfrm>
                <a:off x="3815842" y="5779770"/>
                <a:ext cx="980063" cy="270510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Comic Sans MS" panose="030F0702030302020204" pitchFamily="66" charset="0"/>
                  </a:rPr>
                  <a:t>Eq.(14)</a:t>
                </a:r>
                <a:endParaRPr lang="zh-CN" altLang="en-US" b="1" dirty="0">
                  <a:latin typeface="Comic Sans MS" panose="030F0702030302020204" pitchFamily="66" charset="0"/>
                </a:endParaRPr>
              </a:p>
            </p:txBody>
          </p:sp>
          <p:cxnSp>
            <p:nvCxnSpPr>
              <p:cNvPr id="127" name="直接箭头连接符 126"/>
              <p:cNvCxnSpPr>
                <a:stCxn id="118" idx="3"/>
                <a:endCxn id="122" idx="1"/>
              </p:cNvCxnSpPr>
              <p:nvPr/>
            </p:nvCxnSpPr>
            <p:spPr>
              <a:xfrm flipV="1">
                <a:off x="3293618" y="5915025"/>
                <a:ext cx="521994" cy="0"/>
              </a:xfrm>
              <a:prstGeom prst="straightConnector1">
                <a:avLst/>
              </a:prstGeom>
              <a:ln w="10541">
                <a:solidFill>
                  <a:srgbClr val="FF6A00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箭头连接符 132"/>
              <p:cNvCxnSpPr>
                <a:stCxn id="121" idx="1"/>
                <a:endCxn id="122" idx="3"/>
              </p:cNvCxnSpPr>
              <p:nvPr/>
            </p:nvCxnSpPr>
            <p:spPr>
              <a:xfrm flipH="1" flipV="1">
                <a:off x="4795755" y="5915025"/>
                <a:ext cx="406419" cy="0"/>
              </a:xfrm>
              <a:prstGeom prst="straightConnector1">
                <a:avLst/>
              </a:prstGeom>
              <a:ln w="10795">
                <a:solidFill>
                  <a:srgbClr val="FF6A00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5" name="直接箭头连接符 134"/>
            <p:cNvCxnSpPr/>
            <p:nvPr/>
          </p:nvCxnSpPr>
          <p:spPr>
            <a:xfrm>
              <a:off x="6821" y="9356"/>
              <a:ext cx="0" cy="283"/>
            </a:xfrm>
            <a:prstGeom prst="straightConnector1">
              <a:avLst/>
            </a:prstGeom>
            <a:ln w="10541">
              <a:solidFill>
                <a:srgbClr val="FF6A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直接箭头连接符 20"/>
          <p:cNvCxnSpPr/>
          <p:nvPr/>
        </p:nvCxnSpPr>
        <p:spPr>
          <a:xfrm>
            <a:off x="1514475" y="1360805"/>
            <a:ext cx="522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M1Nzc1YzNmZmM0NTVmNmUyZTAzYWNkYjJlMTA1MjAifQ=="/>
  <p:tag name="OPCH-69E96082845118F4234D3ED8D5A1F7A8CBF17ACDA7186666DDD4DC2D1FFB5A9B" val="[{&quot;GradientColorId&quot;:&quot;&quot;,&quot;IsFree&quot;:true,&quot;IsGradient&quot;:false,&quot;ImagePath&quot;:&quot;&quot;,&quot;GradientColor&quot;:null,&quot;SimpleColor&quot;:&quot;#000000&quot;}]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190</Words>
  <Application>Microsoft Office PowerPoint</Application>
  <PresentationFormat>自定义</PresentationFormat>
  <Paragraphs>88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Calibri</vt:lpstr>
      <vt:lpstr>Cambria Math</vt:lpstr>
      <vt:lpstr>Comic Sans MS</vt:lpstr>
      <vt:lpstr>DejaVu Math TeX Gyre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洋 岳</cp:lastModifiedBy>
  <cp:revision>55</cp:revision>
  <dcterms:created xsi:type="dcterms:W3CDTF">2026-06-23T16:13:00Z</dcterms:created>
  <dcterms:modified xsi:type="dcterms:W3CDTF">2026-07-05T16:55:32Z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34FF00348255425B94503480173789DE_12</vt:lpwstr>
  </property>
  <property fmtid="{D5CDD505-2E9C-101B-9397-08002B2CF9AE}" pid="3" name="KSOProductBuildVer">
    <vt:lpwstr>2052-12.1.0.23542</vt:lpwstr>
  </property>
</Properties>
</file>