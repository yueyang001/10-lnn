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4201775" cy="10048875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35CC"/>
    <a:srgbClr val="35A446"/>
    <a:srgbClr val="4A83EA"/>
    <a:srgbClr val="EFF9EB"/>
    <a:srgbClr val="55A83C"/>
    <a:srgbClr val="FBFFF8"/>
    <a:srgbClr val="268B34"/>
    <a:srgbClr val="4985EB"/>
    <a:srgbClr val="2F73E8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3686" y="-1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原则是在</a:t>
            </a:r>
            <a:r>
              <a:rPr lang="en-US" altLang="zh-CN"/>
              <a:t>MemKD</a:t>
            </a:r>
            <a:r>
              <a:rPr lang="zh-CN" altLang="en-US"/>
              <a:t>和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4" Type="http://schemas.openxmlformats.org/officeDocument/2006/relationships/notesSlide" Target="../notesSlides/notesSlide1.x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S-T panel"/>
          <p:cNvSpPr>
            <a:spLocks noGrp="1"/>
          </p:cNvSpPr>
          <p:nvPr/>
        </p:nvSpPr>
        <p:spPr>
          <a:xfrm>
            <a:off x="6610350" y="2638425"/>
            <a:ext cx="5313045" cy="2665730"/>
          </a:xfrm>
          <a:custGeom>
            <a:avLst/>
            <a:gdLst>
              <a:gd name="csX0" fmla="*/ 0 w 3427730"/>
              <a:gd name="csY0" fmla="*/ 176425 h 3601085"/>
              <a:gd name="csX1" fmla="*/ 176425 w 3427730"/>
              <a:gd name="csY1" fmla="*/ 0 h 3601085"/>
              <a:gd name="csX2" fmla="*/ 822150 w 3427730"/>
              <a:gd name="csY2" fmla="*/ 0 h 3601085"/>
              <a:gd name="csX3" fmla="*/ 1375628 w 3427730"/>
              <a:gd name="csY3" fmla="*/ 0 h 3601085"/>
              <a:gd name="csX4" fmla="*/ 2021353 w 3427730"/>
              <a:gd name="csY4" fmla="*/ 0 h 3601085"/>
              <a:gd name="csX5" fmla="*/ 2544083 w 3427730"/>
              <a:gd name="csY5" fmla="*/ 0 h 3601085"/>
              <a:gd name="csX6" fmla="*/ 3251305 w 3427730"/>
              <a:gd name="csY6" fmla="*/ 0 h 3601085"/>
              <a:gd name="csX7" fmla="*/ 3427730 w 3427730"/>
              <a:gd name="csY7" fmla="*/ 176425 h 3601085"/>
              <a:gd name="csX8" fmla="*/ 3427730 w 3427730"/>
              <a:gd name="csY8" fmla="*/ 826072 h 3601085"/>
              <a:gd name="csX9" fmla="*/ 3427730 w 3427730"/>
              <a:gd name="csY9" fmla="*/ 1508201 h 3601085"/>
              <a:gd name="csX10" fmla="*/ 3427730 w 3427730"/>
              <a:gd name="csY10" fmla="*/ 2092884 h 3601085"/>
              <a:gd name="csX11" fmla="*/ 3427730 w 3427730"/>
              <a:gd name="csY11" fmla="*/ 2645084 h 3601085"/>
              <a:gd name="csX12" fmla="*/ 3427730 w 3427730"/>
              <a:gd name="csY12" fmla="*/ 3424660 h 3601085"/>
              <a:gd name="csX13" fmla="*/ 3251305 w 3427730"/>
              <a:gd name="csY13" fmla="*/ 3601085 h 3601085"/>
              <a:gd name="csX14" fmla="*/ 2728575 w 3427730"/>
              <a:gd name="csY14" fmla="*/ 3601085 h 3601085"/>
              <a:gd name="csX15" fmla="*/ 2052102 w 3427730"/>
              <a:gd name="csY15" fmla="*/ 3601085 h 3601085"/>
              <a:gd name="csX16" fmla="*/ 1437126 w 3427730"/>
              <a:gd name="csY16" fmla="*/ 3601085 h 3601085"/>
              <a:gd name="csX17" fmla="*/ 760652 w 3427730"/>
              <a:gd name="csY17" fmla="*/ 3601085 h 3601085"/>
              <a:gd name="csX18" fmla="*/ 176425 w 3427730"/>
              <a:gd name="csY18" fmla="*/ 3601085 h 3601085"/>
              <a:gd name="csX19" fmla="*/ 0 w 3427730"/>
              <a:gd name="csY19" fmla="*/ 3424660 h 3601085"/>
              <a:gd name="csX20" fmla="*/ 0 w 3427730"/>
              <a:gd name="csY20" fmla="*/ 2807495 h 3601085"/>
              <a:gd name="csX21" fmla="*/ 0 w 3427730"/>
              <a:gd name="csY21" fmla="*/ 2157848 h 3601085"/>
              <a:gd name="csX22" fmla="*/ 0 w 3427730"/>
              <a:gd name="csY22" fmla="*/ 1605648 h 3601085"/>
              <a:gd name="csX23" fmla="*/ 0 w 3427730"/>
              <a:gd name="csY23" fmla="*/ 891037 h 3601085"/>
              <a:gd name="csX24" fmla="*/ 0 w 3427730"/>
              <a:gd name="csY24" fmla="*/ 176425 h 360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427730" h="3601085" fill="none" extrusionOk="0">
                <a:moveTo>
                  <a:pt x="0" y="176425"/>
                </a:moveTo>
                <a:cubicBezTo>
                  <a:pt x="-9705" y="98472"/>
                  <a:pt x="77217" y="-2350"/>
                  <a:pt x="176425" y="0"/>
                </a:cubicBezTo>
                <a:cubicBezTo>
                  <a:pt x="445777" y="-9315"/>
                  <a:pt x="504345" y="-12736"/>
                  <a:pt x="822150" y="0"/>
                </a:cubicBezTo>
                <a:cubicBezTo>
                  <a:pt x="1139956" y="12736"/>
                  <a:pt x="1108921" y="-16036"/>
                  <a:pt x="1375628" y="0"/>
                </a:cubicBezTo>
                <a:cubicBezTo>
                  <a:pt x="1642335" y="16036"/>
                  <a:pt x="1792498" y="5865"/>
                  <a:pt x="2021353" y="0"/>
                </a:cubicBezTo>
                <a:cubicBezTo>
                  <a:pt x="2250208" y="-5865"/>
                  <a:pt x="2417219" y="26082"/>
                  <a:pt x="2544083" y="0"/>
                </a:cubicBezTo>
                <a:cubicBezTo>
                  <a:pt x="2670947" y="-26082"/>
                  <a:pt x="2939126" y="-12905"/>
                  <a:pt x="3251305" y="0"/>
                </a:cubicBezTo>
                <a:cubicBezTo>
                  <a:pt x="3365678" y="15704"/>
                  <a:pt x="3437680" y="73039"/>
                  <a:pt x="3427730" y="176425"/>
                </a:cubicBezTo>
                <a:cubicBezTo>
                  <a:pt x="3408798" y="364082"/>
                  <a:pt x="3413810" y="573481"/>
                  <a:pt x="3427730" y="826072"/>
                </a:cubicBezTo>
                <a:cubicBezTo>
                  <a:pt x="3441650" y="1078663"/>
                  <a:pt x="3396432" y="1229695"/>
                  <a:pt x="3427730" y="1508201"/>
                </a:cubicBezTo>
                <a:cubicBezTo>
                  <a:pt x="3459028" y="1786707"/>
                  <a:pt x="3404635" y="1942727"/>
                  <a:pt x="3427730" y="2092884"/>
                </a:cubicBezTo>
                <a:cubicBezTo>
                  <a:pt x="3450825" y="2243041"/>
                  <a:pt x="3423134" y="2494381"/>
                  <a:pt x="3427730" y="2645084"/>
                </a:cubicBezTo>
                <a:cubicBezTo>
                  <a:pt x="3432326" y="2795787"/>
                  <a:pt x="3389972" y="3163406"/>
                  <a:pt x="3427730" y="3424660"/>
                </a:cubicBezTo>
                <a:cubicBezTo>
                  <a:pt x="3432314" y="3533302"/>
                  <a:pt x="3362473" y="3614669"/>
                  <a:pt x="3251305" y="3601085"/>
                </a:cubicBezTo>
                <a:cubicBezTo>
                  <a:pt x="3080043" y="3621787"/>
                  <a:pt x="2893152" y="3604818"/>
                  <a:pt x="2728575" y="3601085"/>
                </a:cubicBezTo>
                <a:cubicBezTo>
                  <a:pt x="2563998" y="3597353"/>
                  <a:pt x="2318932" y="3613902"/>
                  <a:pt x="2052102" y="3601085"/>
                </a:cubicBezTo>
                <a:cubicBezTo>
                  <a:pt x="1785272" y="3588268"/>
                  <a:pt x="1584736" y="3579754"/>
                  <a:pt x="1437126" y="3601085"/>
                </a:cubicBezTo>
                <a:cubicBezTo>
                  <a:pt x="1289516" y="3622416"/>
                  <a:pt x="971315" y="3601024"/>
                  <a:pt x="760652" y="3601085"/>
                </a:cubicBezTo>
                <a:cubicBezTo>
                  <a:pt x="549989" y="3601146"/>
                  <a:pt x="414558" y="3573473"/>
                  <a:pt x="176425" y="3601085"/>
                </a:cubicBezTo>
                <a:cubicBezTo>
                  <a:pt x="74355" y="3618052"/>
                  <a:pt x="12310" y="3501365"/>
                  <a:pt x="0" y="3424660"/>
                </a:cubicBezTo>
                <a:cubicBezTo>
                  <a:pt x="30396" y="3176411"/>
                  <a:pt x="-8807" y="3053757"/>
                  <a:pt x="0" y="2807495"/>
                </a:cubicBezTo>
                <a:cubicBezTo>
                  <a:pt x="8807" y="2561233"/>
                  <a:pt x="-29016" y="2382664"/>
                  <a:pt x="0" y="2157848"/>
                </a:cubicBezTo>
                <a:cubicBezTo>
                  <a:pt x="29016" y="1933032"/>
                  <a:pt x="-19109" y="1850922"/>
                  <a:pt x="0" y="1605648"/>
                </a:cubicBezTo>
                <a:cubicBezTo>
                  <a:pt x="19109" y="1360374"/>
                  <a:pt x="12041" y="1136891"/>
                  <a:pt x="0" y="891037"/>
                </a:cubicBezTo>
                <a:cubicBezTo>
                  <a:pt x="-12041" y="645183"/>
                  <a:pt x="-1765" y="346848"/>
                  <a:pt x="0" y="176425"/>
                </a:cubicBezTo>
                <a:close/>
              </a:path>
              <a:path w="3427730" h="3601085" stroke="0" extrusionOk="0">
                <a:moveTo>
                  <a:pt x="0" y="176425"/>
                </a:moveTo>
                <a:cubicBezTo>
                  <a:pt x="-4114" y="76450"/>
                  <a:pt x="68436" y="3961"/>
                  <a:pt x="176425" y="0"/>
                </a:cubicBezTo>
                <a:cubicBezTo>
                  <a:pt x="325325" y="25341"/>
                  <a:pt x="636030" y="-20573"/>
                  <a:pt x="852899" y="0"/>
                </a:cubicBezTo>
                <a:cubicBezTo>
                  <a:pt x="1069768" y="20573"/>
                  <a:pt x="1318236" y="-24698"/>
                  <a:pt x="1437126" y="0"/>
                </a:cubicBezTo>
                <a:cubicBezTo>
                  <a:pt x="1556016" y="24698"/>
                  <a:pt x="1776836" y="-6282"/>
                  <a:pt x="1990604" y="0"/>
                </a:cubicBezTo>
                <a:cubicBezTo>
                  <a:pt x="2204372" y="6282"/>
                  <a:pt x="2461380" y="17986"/>
                  <a:pt x="2636329" y="0"/>
                </a:cubicBezTo>
                <a:cubicBezTo>
                  <a:pt x="2811279" y="-17986"/>
                  <a:pt x="2951390" y="-26307"/>
                  <a:pt x="3251305" y="0"/>
                </a:cubicBezTo>
                <a:cubicBezTo>
                  <a:pt x="3354413" y="-9229"/>
                  <a:pt x="3423078" y="83076"/>
                  <a:pt x="3427730" y="176425"/>
                </a:cubicBezTo>
                <a:cubicBezTo>
                  <a:pt x="3449842" y="427176"/>
                  <a:pt x="3445937" y="582559"/>
                  <a:pt x="3427730" y="826072"/>
                </a:cubicBezTo>
                <a:cubicBezTo>
                  <a:pt x="3409523" y="1069585"/>
                  <a:pt x="3446013" y="1196335"/>
                  <a:pt x="3427730" y="1378272"/>
                </a:cubicBezTo>
                <a:cubicBezTo>
                  <a:pt x="3409447" y="1560209"/>
                  <a:pt x="3419495" y="1810190"/>
                  <a:pt x="3427730" y="2027919"/>
                </a:cubicBezTo>
                <a:cubicBezTo>
                  <a:pt x="3435965" y="2245648"/>
                  <a:pt x="3451679" y="2397067"/>
                  <a:pt x="3427730" y="2677566"/>
                </a:cubicBezTo>
                <a:cubicBezTo>
                  <a:pt x="3403781" y="2958065"/>
                  <a:pt x="3428004" y="3242853"/>
                  <a:pt x="3427730" y="3424660"/>
                </a:cubicBezTo>
                <a:cubicBezTo>
                  <a:pt x="3433895" y="3529648"/>
                  <a:pt x="3361898" y="3589566"/>
                  <a:pt x="3251305" y="3601085"/>
                </a:cubicBezTo>
                <a:cubicBezTo>
                  <a:pt x="3023708" y="3602837"/>
                  <a:pt x="2940796" y="3604160"/>
                  <a:pt x="2636329" y="3601085"/>
                </a:cubicBezTo>
                <a:cubicBezTo>
                  <a:pt x="2331862" y="3598010"/>
                  <a:pt x="2148679" y="3589024"/>
                  <a:pt x="2021353" y="3601085"/>
                </a:cubicBezTo>
                <a:cubicBezTo>
                  <a:pt x="1894027" y="3613146"/>
                  <a:pt x="1595526" y="3586220"/>
                  <a:pt x="1344879" y="3601085"/>
                </a:cubicBezTo>
                <a:cubicBezTo>
                  <a:pt x="1094232" y="3615950"/>
                  <a:pt x="1001191" y="3621659"/>
                  <a:pt x="729903" y="3601085"/>
                </a:cubicBezTo>
                <a:cubicBezTo>
                  <a:pt x="458615" y="3580511"/>
                  <a:pt x="362113" y="3604070"/>
                  <a:pt x="176425" y="3601085"/>
                </a:cubicBezTo>
                <a:cubicBezTo>
                  <a:pt x="71061" y="3601411"/>
                  <a:pt x="11408" y="3501532"/>
                  <a:pt x="0" y="3424660"/>
                </a:cubicBezTo>
                <a:cubicBezTo>
                  <a:pt x="-32790" y="3100514"/>
                  <a:pt x="14367" y="3045018"/>
                  <a:pt x="0" y="2742531"/>
                </a:cubicBezTo>
                <a:cubicBezTo>
                  <a:pt x="-14367" y="2440044"/>
                  <a:pt x="-14749" y="2413088"/>
                  <a:pt x="0" y="2157848"/>
                </a:cubicBezTo>
                <a:cubicBezTo>
                  <a:pt x="14749" y="1902608"/>
                  <a:pt x="-8660" y="1652177"/>
                  <a:pt x="0" y="1508201"/>
                </a:cubicBezTo>
                <a:cubicBezTo>
                  <a:pt x="8660" y="1364225"/>
                  <a:pt x="-16466" y="1163021"/>
                  <a:pt x="0" y="956001"/>
                </a:cubicBezTo>
                <a:cubicBezTo>
                  <a:pt x="16466" y="748981"/>
                  <a:pt x="-26206" y="342959"/>
                  <a:pt x="0" y="176425"/>
                </a:cubicBezTo>
                <a:close/>
              </a:path>
            </a:pathLst>
          </a:custGeom>
          <a:pattFill prst="pct10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5400">
            <a:solidFill>
              <a:srgbClr val="7A35C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540635" y="2045970"/>
            <a:ext cx="4478655" cy="428625"/>
            <a:chOff x="3297" y="3015"/>
            <a:chExt cx="7053" cy="67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7" name="HT"/>
                <p:cNvSpPr>
                  <a:spLocks noGrp="1"/>
                </p:cNvSpPr>
                <p:nvPr/>
              </p:nvSpPr>
              <p:spPr>
                <a:xfrm>
                  <a:off x="3297" y="3015"/>
                  <a:ext cx="675" cy="39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7" name="H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" y="3015"/>
                  <a:ext cx="675" cy="390"/>
                </a:xfrm>
                <a:prstGeom prst="rect">
                  <a:avLst/>
                </a:prstGeom>
                <a:blipFill rotWithShape="1">
                  <a:blip r:embed="rId1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teacher hidden"/>
            <p:cNvSpPr>
              <a:spLocks noGrp="1"/>
            </p:cNvSpPr>
            <p:nvPr/>
          </p:nvSpPr>
          <p:spPr>
            <a:xfrm>
              <a:off x="4140" y="3045"/>
              <a:ext cx="6210" cy="645"/>
            </a:xfrm>
            <a:prstGeom prst="roundRect">
              <a:avLst>
                <a:gd name="adj" fmla="val 13953"/>
              </a:avLst>
            </a:prstGeom>
            <a:solidFill>
              <a:srgbClr val="E9F2FF"/>
            </a:solidFill>
            <a:ln w="9525">
              <a:solidFill>
                <a:srgbClr val="2F73E8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08000" y="200025"/>
            <a:ext cx="1638935" cy="2630170"/>
            <a:chOff x="714" y="5602"/>
            <a:chExt cx="2581" cy="414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714" y="7863"/>
              <a:ext cx="2581" cy="188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500" b="1">
                  <a:solidFill>
                    <a:srgbClr val="111111"/>
                  </a:solidFill>
                </a:defRPr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Raw Waveform Inp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rPr>
                <a:t>ut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cs typeface="Calibri" panose="020F0502020204030204"/>
              </a:endParaRP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714" y="5602"/>
              <a:ext cx="2070" cy="2325"/>
            </a:xfrm>
            <a:custGeom>
              <a:avLst/>
              <a:gdLst>
                <a:gd name="csX0" fmla="*/ 0 w 1314450"/>
                <a:gd name="csY0" fmla="*/ 95245 h 1476375"/>
                <a:gd name="csX1" fmla="*/ 95245 w 1314450"/>
                <a:gd name="csY1" fmla="*/ 0 h 1476375"/>
                <a:gd name="csX2" fmla="*/ 668465 w 1314450"/>
                <a:gd name="csY2" fmla="*/ 0 h 1476375"/>
                <a:gd name="csX3" fmla="*/ 1219205 w 1314450"/>
                <a:gd name="csY3" fmla="*/ 0 h 1476375"/>
                <a:gd name="csX4" fmla="*/ 1314450 w 1314450"/>
                <a:gd name="csY4" fmla="*/ 95245 h 1476375"/>
                <a:gd name="csX5" fmla="*/ 1314450 w 1314450"/>
                <a:gd name="csY5" fmla="*/ 712470 h 1476375"/>
                <a:gd name="csX6" fmla="*/ 1314450 w 1314450"/>
                <a:gd name="csY6" fmla="*/ 1381130 h 1476375"/>
                <a:gd name="csX7" fmla="*/ 1219205 w 1314450"/>
                <a:gd name="csY7" fmla="*/ 1476375 h 1476375"/>
                <a:gd name="csX8" fmla="*/ 645985 w 1314450"/>
                <a:gd name="csY8" fmla="*/ 1476375 h 1476375"/>
                <a:gd name="csX9" fmla="*/ 95245 w 1314450"/>
                <a:gd name="csY9" fmla="*/ 1476375 h 1476375"/>
                <a:gd name="csX10" fmla="*/ 0 w 1314450"/>
                <a:gd name="csY10" fmla="*/ 1381130 h 1476375"/>
                <a:gd name="csX11" fmla="*/ 0 w 1314450"/>
                <a:gd name="csY11" fmla="*/ 725329 h 1476375"/>
                <a:gd name="csX12" fmla="*/ 0 w 1314450"/>
                <a:gd name="csY12" fmla="*/ 95245 h 1476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14450" h="1476375" fill="none" extrusionOk="0">
                  <a:moveTo>
                    <a:pt x="0" y="95245"/>
                  </a:moveTo>
                  <a:cubicBezTo>
                    <a:pt x="-3058" y="43145"/>
                    <a:pt x="40733" y="-1318"/>
                    <a:pt x="95245" y="0"/>
                  </a:cubicBezTo>
                  <a:cubicBezTo>
                    <a:pt x="212142" y="19900"/>
                    <a:pt x="518819" y="-3087"/>
                    <a:pt x="668465" y="0"/>
                  </a:cubicBezTo>
                  <a:cubicBezTo>
                    <a:pt x="818111" y="3087"/>
                    <a:pt x="1024008" y="11205"/>
                    <a:pt x="1219205" y="0"/>
                  </a:cubicBezTo>
                  <a:cubicBezTo>
                    <a:pt x="1267762" y="7233"/>
                    <a:pt x="1323596" y="49439"/>
                    <a:pt x="1314450" y="95245"/>
                  </a:cubicBezTo>
                  <a:cubicBezTo>
                    <a:pt x="1342476" y="403270"/>
                    <a:pt x="1284231" y="462336"/>
                    <a:pt x="1314450" y="712470"/>
                  </a:cubicBezTo>
                  <a:cubicBezTo>
                    <a:pt x="1344669" y="962605"/>
                    <a:pt x="1338816" y="1122446"/>
                    <a:pt x="1314450" y="1381130"/>
                  </a:cubicBezTo>
                  <a:cubicBezTo>
                    <a:pt x="1316199" y="1437194"/>
                    <a:pt x="1262667" y="1481195"/>
                    <a:pt x="1219205" y="1476375"/>
                  </a:cubicBezTo>
                  <a:cubicBezTo>
                    <a:pt x="968480" y="1453494"/>
                    <a:pt x="881870" y="1493178"/>
                    <a:pt x="645985" y="1476375"/>
                  </a:cubicBezTo>
                  <a:cubicBezTo>
                    <a:pt x="410100" y="1459572"/>
                    <a:pt x="239555" y="1452114"/>
                    <a:pt x="95245" y="1476375"/>
                  </a:cubicBezTo>
                  <a:cubicBezTo>
                    <a:pt x="38083" y="1485528"/>
                    <a:pt x="-5724" y="1426138"/>
                    <a:pt x="0" y="1381130"/>
                  </a:cubicBezTo>
                  <a:cubicBezTo>
                    <a:pt x="26020" y="1227904"/>
                    <a:pt x="-26361" y="862478"/>
                    <a:pt x="0" y="725329"/>
                  </a:cubicBezTo>
                  <a:cubicBezTo>
                    <a:pt x="26361" y="588180"/>
                    <a:pt x="5410" y="376424"/>
                    <a:pt x="0" y="95245"/>
                  </a:cubicBezTo>
                  <a:close/>
                </a:path>
                <a:path w="1314450" h="1476375" stroke="0" extrusionOk="0">
                  <a:moveTo>
                    <a:pt x="0" y="95245"/>
                  </a:moveTo>
                  <a:cubicBezTo>
                    <a:pt x="-1099" y="41965"/>
                    <a:pt x="41433" y="454"/>
                    <a:pt x="95245" y="0"/>
                  </a:cubicBezTo>
                  <a:cubicBezTo>
                    <a:pt x="261984" y="-13839"/>
                    <a:pt x="388910" y="-14742"/>
                    <a:pt x="679704" y="0"/>
                  </a:cubicBezTo>
                  <a:cubicBezTo>
                    <a:pt x="970498" y="14742"/>
                    <a:pt x="1078858" y="-3116"/>
                    <a:pt x="1219205" y="0"/>
                  </a:cubicBezTo>
                  <a:cubicBezTo>
                    <a:pt x="1265551" y="-3423"/>
                    <a:pt x="1319691" y="45147"/>
                    <a:pt x="1314450" y="95245"/>
                  </a:cubicBezTo>
                  <a:cubicBezTo>
                    <a:pt x="1300123" y="271300"/>
                    <a:pt x="1322561" y="445064"/>
                    <a:pt x="1314450" y="712470"/>
                  </a:cubicBezTo>
                  <a:cubicBezTo>
                    <a:pt x="1306339" y="979877"/>
                    <a:pt x="1330754" y="1218156"/>
                    <a:pt x="1314450" y="1381130"/>
                  </a:cubicBezTo>
                  <a:cubicBezTo>
                    <a:pt x="1314101" y="1430401"/>
                    <a:pt x="1269195" y="1480005"/>
                    <a:pt x="1219205" y="1476375"/>
                  </a:cubicBezTo>
                  <a:cubicBezTo>
                    <a:pt x="1025268" y="1464596"/>
                    <a:pt x="938239" y="1467613"/>
                    <a:pt x="679704" y="1476375"/>
                  </a:cubicBezTo>
                  <a:cubicBezTo>
                    <a:pt x="421169" y="1485137"/>
                    <a:pt x="316164" y="1503677"/>
                    <a:pt x="95245" y="1476375"/>
                  </a:cubicBezTo>
                  <a:cubicBezTo>
                    <a:pt x="46875" y="1482674"/>
                    <a:pt x="765" y="1441654"/>
                    <a:pt x="0" y="1381130"/>
                  </a:cubicBezTo>
                  <a:cubicBezTo>
                    <a:pt x="11638" y="1126982"/>
                    <a:pt x="15690" y="943851"/>
                    <a:pt x="0" y="776764"/>
                  </a:cubicBezTo>
                  <a:cubicBezTo>
                    <a:pt x="-15690" y="609677"/>
                    <a:pt x="-18168" y="306193"/>
                    <a:pt x="0" y="95245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9" y="5984"/>
              <a:ext cx="1463" cy="1463"/>
            </a:xfrm>
            <a:prstGeom prst="rect">
              <a:avLst/>
            </a:prstGeom>
          </p:spPr>
        </p:pic>
      </p:grpSp>
      <p:cxnSp>
        <p:nvCxnSpPr>
          <p:cNvPr id="21" name="直接箭头连接符 20"/>
          <p:cNvCxnSpPr/>
          <p:nvPr/>
        </p:nvCxnSpPr>
        <p:spPr>
          <a:xfrm>
            <a:off x="1819910" y="101663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4" name="组合 163"/>
          <p:cNvGrpSpPr/>
          <p:nvPr/>
        </p:nvGrpSpPr>
        <p:grpSpPr>
          <a:xfrm>
            <a:off x="746125" y="2514600"/>
            <a:ext cx="5768975" cy="2933700"/>
            <a:chOff x="2055" y="5355"/>
            <a:chExt cx="9085" cy="4620"/>
          </a:xfrm>
        </p:grpSpPr>
        <p:sp>
          <p:nvSpPr>
            <p:cNvPr id="231" name="MemKD panel"/>
            <p:cNvSpPr/>
            <p:nvPr/>
          </p:nvSpPr>
          <p:spPr>
            <a:xfrm>
              <a:off x="2384" y="5416"/>
              <a:ext cx="8756" cy="4193"/>
            </a:xfrm>
            <a:custGeom>
              <a:avLst/>
              <a:gdLst>
                <a:gd name="csX0" fmla="*/ 0 w 4647565"/>
                <a:gd name="csY0" fmla="*/ 142580 h 3625215"/>
                <a:gd name="csX1" fmla="*/ 142580 w 4647565"/>
                <a:gd name="csY1" fmla="*/ 0 h 3625215"/>
                <a:gd name="csX2" fmla="*/ 765781 w 4647565"/>
                <a:gd name="csY2" fmla="*/ 0 h 3625215"/>
                <a:gd name="csX3" fmla="*/ 1301733 w 4647565"/>
                <a:gd name="csY3" fmla="*/ 0 h 3625215"/>
                <a:gd name="csX4" fmla="*/ 1794062 w 4647565"/>
                <a:gd name="csY4" fmla="*/ 0 h 3625215"/>
                <a:gd name="csX5" fmla="*/ 2330015 w 4647565"/>
                <a:gd name="csY5" fmla="*/ 0 h 3625215"/>
                <a:gd name="csX6" fmla="*/ 2996839 w 4647565"/>
                <a:gd name="csY6" fmla="*/ 0 h 3625215"/>
                <a:gd name="csX7" fmla="*/ 3532792 w 4647565"/>
                <a:gd name="csY7" fmla="*/ 0 h 3625215"/>
                <a:gd name="csX8" fmla="*/ 4504985 w 4647565"/>
                <a:gd name="csY8" fmla="*/ 0 h 3625215"/>
                <a:gd name="csX9" fmla="*/ 4647565 w 4647565"/>
                <a:gd name="csY9" fmla="*/ 142580 h 3625215"/>
                <a:gd name="csX10" fmla="*/ 4647565 w 4647565"/>
                <a:gd name="csY10" fmla="*/ 843992 h 3625215"/>
                <a:gd name="csX11" fmla="*/ 4647565 w 4647565"/>
                <a:gd name="csY11" fmla="*/ 1445201 h 3625215"/>
                <a:gd name="csX12" fmla="*/ 4647565 w 4647565"/>
                <a:gd name="csY12" fmla="*/ 2180014 h 3625215"/>
                <a:gd name="csX13" fmla="*/ 4647565 w 4647565"/>
                <a:gd name="csY13" fmla="*/ 2848025 h 3625215"/>
                <a:gd name="csX14" fmla="*/ 4647565 w 4647565"/>
                <a:gd name="csY14" fmla="*/ 3482635 h 3625215"/>
                <a:gd name="csX15" fmla="*/ 4504985 w 4647565"/>
                <a:gd name="csY15" fmla="*/ 3625215 h 3625215"/>
                <a:gd name="csX16" fmla="*/ 3794536 w 4647565"/>
                <a:gd name="csY16" fmla="*/ 3625215 h 3625215"/>
                <a:gd name="csX17" fmla="*/ 3258584 w 4647565"/>
                <a:gd name="csY17" fmla="*/ 3625215 h 3625215"/>
                <a:gd name="csX18" fmla="*/ 2635383 w 4647565"/>
                <a:gd name="csY18" fmla="*/ 3625215 h 3625215"/>
                <a:gd name="csX19" fmla="*/ 2143054 w 4647565"/>
                <a:gd name="csY19" fmla="*/ 3625215 h 3625215"/>
                <a:gd name="csX20" fmla="*/ 1432605 w 4647565"/>
                <a:gd name="csY20" fmla="*/ 3625215 h 3625215"/>
                <a:gd name="csX21" fmla="*/ 809405 w 4647565"/>
                <a:gd name="csY21" fmla="*/ 3625215 h 3625215"/>
                <a:gd name="csX22" fmla="*/ 142580 w 4647565"/>
                <a:gd name="csY22" fmla="*/ 3625215 h 3625215"/>
                <a:gd name="csX23" fmla="*/ 0 w 4647565"/>
                <a:gd name="csY23" fmla="*/ 3482635 h 3625215"/>
                <a:gd name="csX24" fmla="*/ 0 w 4647565"/>
                <a:gd name="csY24" fmla="*/ 2781223 h 3625215"/>
                <a:gd name="csX25" fmla="*/ 0 w 4647565"/>
                <a:gd name="csY25" fmla="*/ 2079812 h 3625215"/>
                <a:gd name="csX26" fmla="*/ 0 w 4647565"/>
                <a:gd name="csY26" fmla="*/ 1345000 h 3625215"/>
                <a:gd name="csX27" fmla="*/ 0 w 4647565"/>
                <a:gd name="csY27" fmla="*/ 142580 h 3625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47565" h="3625215" fill="none" extrusionOk="0">
                  <a:moveTo>
                    <a:pt x="0" y="142580"/>
                  </a:moveTo>
                  <a:cubicBezTo>
                    <a:pt x="-5257" y="80223"/>
                    <a:pt x="61287" y="-8024"/>
                    <a:pt x="142580" y="0"/>
                  </a:cubicBezTo>
                  <a:cubicBezTo>
                    <a:pt x="317576" y="-24160"/>
                    <a:pt x="455241" y="9832"/>
                    <a:pt x="765781" y="0"/>
                  </a:cubicBezTo>
                  <a:cubicBezTo>
                    <a:pt x="1076321" y="-9832"/>
                    <a:pt x="1056203" y="23477"/>
                    <a:pt x="1301733" y="0"/>
                  </a:cubicBezTo>
                  <a:cubicBezTo>
                    <a:pt x="1547263" y="-23477"/>
                    <a:pt x="1681055" y="11749"/>
                    <a:pt x="1794062" y="0"/>
                  </a:cubicBezTo>
                  <a:cubicBezTo>
                    <a:pt x="1907069" y="-11749"/>
                    <a:pt x="2192405" y="-3709"/>
                    <a:pt x="2330015" y="0"/>
                  </a:cubicBezTo>
                  <a:cubicBezTo>
                    <a:pt x="2467625" y="3709"/>
                    <a:pt x="2744632" y="-10756"/>
                    <a:pt x="2996839" y="0"/>
                  </a:cubicBezTo>
                  <a:cubicBezTo>
                    <a:pt x="3249046" y="10756"/>
                    <a:pt x="3299716" y="21484"/>
                    <a:pt x="3532792" y="0"/>
                  </a:cubicBezTo>
                  <a:cubicBezTo>
                    <a:pt x="3765868" y="-21484"/>
                    <a:pt x="4122929" y="-48271"/>
                    <a:pt x="4504985" y="0"/>
                  </a:cubicBezTo>
                  <a:cubicBezTo>
                    <a:pt x="4592244" y="1688"/>
                    <a:pt x="4638160" y="69908"/>
                    <a:pt x="4647565" y="142580"/>
                  </a:cubicBezTo>
                  <a:cubicBezTo>
                    <a:pt x="4622689" y="437056"/>
                    <a:pt x="4635386" y="633268"/>
                    <a:pt x="4647565" y="843992"/>
                  </a:cubicBezTo>
                  <a:cubicBezTo>
                    <a:pt x="4659744" y="1054716"/>
                    <a:pt x="4662974" y="1297996"/>
                    <a:pt x="4647565" y="1445201"/>
                  </a:cubicBezTo>
                  <a:cubicBezTo>
                    <a:pt x="4632156" y="1592406"/>
                    <a:pt x="4658873" y="1905697"/>
                    <a:pt x="4647565" y="2180014"/>
                  </a:cubicBezTo>
                  <a:cubicBezTo>
                    <a:pt x="4636257" y="2454331"/>
                    <a:pt x="4616297" y="2693922"/>
                    <a:pt x="4647565" y="2848025"/>
                  </a:cubicBezTo>
                  <a:cubicBezTo>
                    <a:pt x="4678833" y="3002128"/>
                    <a:pt x="4617446" y="3205598"/>
                    <a:pt x="4647565" y="3482635"/>
                  </a:cubicBezTo>
                  <a:cubicBezTo>
                    <a:pt x="4645675" y="3559217"/>
                    <a:pt x="4586370" y="3622359"/>
                    <a:pt x="4504985" y="3625215"/>
                  </a:cubicBezTo>
                  <a:cubicBezTo>
                    <a:pt x="4262132" y="3637215"/>
                    <a:pt x="4012087" y="3639438"/>
                    <a:pt x="3794536" y="3625215"/>
                  </a:cubicBezTo>
                  <a:cubicBezTo>
                    <a:pt x="3576985" y="3610992"/>
                    <a:pt x="3487447" y="3647010"/>
                    <a:pt x="3258584" y="3625215"/>
                  </a:cubicBezTo>
                  <a:cubicBezTo>
                    <a:pt x="3029721" y="3603420"/>
                    <a:pt x="2851247" y="3650274"/>
                    <a:pt x="2635383" y="3625215"/>
                  </a:cubicBezTo>
                  <a:cubicBezTo>
                    <a:pt x="2419519" y="3600156"/>
                    <a:pt x="2357106" y="3609583"/>
                    <a:pt x="2143054" y="3625215"/>
                  </a:cubicBezTo>
                  <a:cubicBezTo>
                    <a:pt x="1929002" y="3640847"/>
                    <a:pt x="1663387" y="3590237"/>
                    <a:pt x="1432605" y="3625215"/>
                  </a:cubicBezTo>
                  <a:cubicBezTo>
                    <a:pt x="1201823" y="3660193"/>
                    <a:pt x="998673" y="3655125"/>
                    <a:pt x="809405" y="3625215"/>
                  </a:cubicBezTo>
                  <a:cubicBezTo>
                    <a:pt x="620137" y="3595305"/>
                    <a:pt x="452101" y="3593742"/>
                    <a:pt x="142580" y="3625215"/>
                  </a:cubicBezTo>
                  <a:cubicBezTo>
                    <a:pt x="65223" y="3628177"/>
                    <a:pt x="-4351" y="3579176"/>
                    <a:pt x="0" y="3482635"/>
                  </a:cubicBezTo>
                  <a:cubicBezTo>
                    <a:pt x="-16064" y="3241780"/>
                    <a:pt x="-2964" y="3099007"/>
                    <a:pt x="0" y="2781223"/>
                  </a:cubicBezTo>
                  <a:cubicBezTo>
                    <a:pt x="2964" y="2463439"/>
                    <a:pt x="20522" y="2302843"/>
                    <a:pt x="0" y="2079812"/>
                  </a:cubicBezTo>
                  <a:cubicBezTo>
                    <a:pt x="-20522" y="1856781"/>
                    <a:pt x="-26404" y="1508486"/>
                    <a:pt x="0" y="1345000"/>
                  </a:cubicBezTo>
                  <a:cubicBezTo>
                    <a:pt x="26404" y="1181514"/>
                    <a:pt x="8754" y="393849"/>
                    <a:pt x="0" y="142580"/>
                  </a:cubicBezTo>
                  <a:close/>
                </a:path>
                <a:path w="4647565" h="3625215" stroke="0" extrusionOk="0">
                  <a:moveTo>
                    <a:pt x="0" y="142580"/>
                  </a:moveTo>
                  <a:cubicBezTo>
                    <a:pt x="-13113" y="55747"/>
                    <a:pt x="55745" y="3036"/>
                    <a:pt x="142580" y="0"/>
                  </a:cubicBezTo>
                  <a:cubicBezTo>
                    <a:pt x="408546" y="-28904"/>
                    <a:pt x="670720" y="27566"/>
                    <a:pt x="853029" y="0"/>
                  </a:cubicBezTo>
                  <a:cubicBezTo>
                    <a:pt x="1035338" y="-27566"/>
                    <a:pt x="1217293" y="-16743"/>
                    <a:pt x="1432605" y="0"/>
                  </a:cubicBezTo>
                  <a:cubicBezTo>
                    <a:pt x="1647917" y="16743"/>
                    <a:pt x="1778459" y="-16940"/>
                    <a:pt x="1968558" y="0"/>
                  </a:cubicBezTo>
                  <a:cubicBezTo>
                    <a:pt x="2158657" y="16940"/>
                    <a:pt x="2476484" y="-6587"/>
                    <a:pt x="2635383" y="0"/>
                  </a:cubicBezTo>
                  <a:cubicBezTo>
                    <a:pt x="2794282" y="6587"/>
                    <a:pt x="2962141" y="30"/>
                    <a:pt x="3214960" y="0"/>
                  </a:cubicBezTo>
                  <a:cubicBezTo>
                    <a:pt x="3467779" y="-30"/>
                    <a:pt x="3584344" y="28552"/>
                    <a:pt x="3925408" y="0"/>
                  </a:cubicBezTo>
                  <a:cubicBezTo>
                    <a:pt x="4266472" y="-28552"/>
                    <a:pt x="4284370" y="-17307"/>
                    <a:pt x="4504985" y="0"/>
                  </a:cubicBezTo>
                  <a:cubicBezTo>
                    <a:pt x="4573550" y="16841"/>
                    <a:pt x="4645664" y="61630"/>
                    <a:pt x="4647565" y="142580"/>
                  </a:cubicBezTo>
                  <a:cubicBezTo>
                    <a:pt x="4618822" y="307277"/>
                    <a:pt x="4655287" y="453566"/>
                    <a:pt x="4647565" y="743790"/>
                  </a:cubicBezTo>
                  <a:cubicBezTo>
                    <a:pt x="4639844" y="1034014"/>
                    <a:pt x="4636366" y="1221858"/>
                    <a:pt x="4647565" y="1411801"/>
                  </a:cubicBezTo>
                  <a:cubicBezTo>
                    <a:pt x="4658764" y="1601744"/>
                    <a:pt x="4623292" y="1892812"/>
                    <a:pt x="4647565" y="2046411"/>
                  </a:cubicBezTo>
                  <a:cubicBezTo>
                    <a:pt x="4671839" y="2200010"/>
                    <a:pt x="4628319" y="2490449"/>
                    <a:pt x="4647565" y="2781223"/>
                  </a:cubicBezTo>
                  <a:cubicBezTo>
                    <a:pt x="4666811" y="3071997"/>
                    <a:pt x="4615533" y="3205424"/>
                    <a:pt x="4647565" y="3482635"/>
                  </a:cubicBezTo>
                  <a:cubicBezTo>
                    <a:pt x="4639210" y="3562752"/>
                    <a:pt x="4577625" y="3621003"/>
                    <a:pt x="4504985" y="3625215"/>
                  </a:cubicBezTo>
                  <a:cubicBezTo>
                    <a:pt x="4261112" y="3649805"/>
                    <a:pt x="4090112" y="3627809"/>
                    <a:pt x="3838160" y="3625215"/>
                  </a:cubicBezTo>
                  <a:cubicBezTo>
                    <a:pt x="3586208" y="3622621"/>
                    <a:pt x="3359208" y="3600245"/>
                    <a:pt x="3214960" y="3625215"/>
                  </a:cubicBezTo>
                  <a:cubicBezTo>
                    <a:pt x="3070712" y="3650185"/>
                    <a:pt x="2894418" y="3631674"/>
                    <a:pt x="2722631" y="3625215"/>
                  </a:cubicBezTo>
                  <a:cubicBezTo>
                    <a:pt x="2550844" y="3618756"/>
                    <a:pt x="2413683" y="3621630"/>
                    <a:pt x="2186678" y="3625215"/>
                  </a:cubicBezTo>
                  <a:cubicBezTo>
                    <a:pt x="1959673" y="3628800"/>
                    <a:pt x="1829772" y="3659232"/>
                    <a:pt x="1476230" y="3625215"/>
                  </a:cubicBezTo>
                  <a:cubicBezTo>
                    <a:pt x="1122688" y="3591198"/>
                    <a:pt x="1156995" y="3631413"/>
                    <a:pt x="853029" y="3625215"/>
                  </a:cubicBezTo>
                  <a:cubicBezTo>
                    <a:pt x="549063" y="3619017"/>
                    <a:pt x="453221" y="3590757"/>
                    <a:pt x="142580" y="3625215"/>
                  </a:cubicBezTo>
                  <a:cubicBezTo>
                    <a:pt x="63448" y="3614790"/>
                    <a:pt x="15644" y="3564642"/>
                    <a:pt x="0" y="3482635"/>
                  </a:cubicBezTo>
                  <a:cubicBezTo>
                    <a:pt x="-27644" y="3280499"/>
                    <a:pt x="20976" y="3105757"/>
                    <a:pt x="0" y="2814624"/>
                  </a:cubicBezTo>
                  <a:cubicBezTo>
                    <a:pt x="-20976" y="2523491"/>
                    <a:pt x="-24689" y="2292220"/>
                    <a:pt x="0" y="2146613"/>
                  </a:cubicBezTo>
                  <a:cubicBezTo>
                    <a:pt x="24689" y="2001006"/>
                    <a:pt x="5991" y="1790952"/>
                    <a:pt x="0" y="1545403"/>
                  </a:cubicBezTo>
                  <a:cubicBezTo>
                    <a:pt x="-5991" y="1299854"/>
                    <a:pt x="-35067" y="1150075"/>
                    <a:pt x="0" y="843992"/>
                  </a:cubicBezTo>
                  <a:cubicBezTo>
                    <a:pt x="35067" y="537909"/>
                    <a:pt x="7690" y="426275"/>
                    <a:pt x="0" y="142580"/>
                  </a:cubicBezTo>
                  <a:close/>
                </a:path>
              </a:pathLst>
            </a:cu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000" y="9016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1">
                  <a:solidFill>
                    <a:srgbClr val="FF6A00"/>
                  </a:solidFill>
                </a:defRPr>
              </a:pPr>
              <a:r>
                <a:rPr kumimoji="0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MemKD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文本框 117"/>
                <p:cNvSpPr txBox="1"/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18" name="文本框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7" y="7183"/>
                  <a:ext cx="668" cy="66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矩形: 圆角 121"/>
                <p:cNvSpPr/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sz="16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22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2" y="5887"/>
                  <a:ext cx="2907" cy="807"/>
                </a:xfrm>
                <a:prstGeom prst="roundRect">
                  <a:avLst/>
                </a:prstGeom>
                <a:blipFill rotWithShape="1">
                  <a:blip r:embed="rId4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直接箭头连接符 134"/>
            <p:cNvCxnSpPr/>
            <p:nvPr/>
          </p:nvCxnSpPr>
          <p:spPr>
            <a:xfrm rot="16200000">
              <a:off x="4743" y="7303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8160" y="5355"/>
              <a:ext cx="1183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z steps</a:t>
              </a:r>
              <a:endParaRPr lang="en-US" altLang="zh-CN" sz="1200" b="1">
                <a:solidFill>
                  <a:srgbClr val="FF6A00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613" y="8929"/>
              <a:ext cx="3054" cy="725"/>
              <a:chOff x="1323" y="8882"/>
              <a:chExt cx="3054" cy="725"/>
            </a:xfrm>
          </p:grpSpPr>
          <p:pic>
            <p:nvPicPr>
              <p:cNvPr id="3" name="图片 2" descr="骰子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3" y="8933"/>
                <a:ext cx="340" cy="340"/>
              </a:xfrm>
              <a:prstGeom prst="rect">
                <a:avLst/>
              </a:prstGeom>
            </p:spPr>
          </p:pic>
          <p:sp>
            <p:nvSpPr>
              <p:cNvPr id="41" name="文本框 40"/>
              <p:cNvSpPr txBox="1"/>
              <p:nvPr/>
            </p:nvSpPr>
            <p:spPr>
              <a:xfrm>
                <a:off x="1608" y="8882"/>
                <a:ext cx="2769" cy="72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200" b="1">
                    <a:solidFill>
                      <a:srgbClr val="FF6A00"/>
                    </a:solidFill>
                    <a:latin typeface="Comic Sans MS" panose="030F0702030302020204" pitchFamily="66" charset="0"/>
                    <a:ea typeface="微软雅黑" panose="020B0503020204020204" charset="-122"/>
                    <a:cs typeface="Comic Sans MS" panose="030F0702030302020204" pitchFamily="66" charset="0"/>
                  </a:rPr>
                  <a:t>sample z</a:t>
                </a:r>
                <a:endParaRPr lang="en-US" altLang="zh-CN" sz="1200" b="1">
                  <a:solidFill>
                    <a:srgbClr val="FF6A00"/>
                  </a:solidFill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endParaRPr>
              </a:p>
              <a:p>
                <a:pPr algn="l"/>
                <a:endParaRPr lang="en-US" altLang="zh-CN" sz="12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</p:txBody>
          </p:sp>
        </p:grpSp>
        <p:sp>
          <p:nvSpPr>
            <p:cNvPr id="318" name="anchor"/>
            <p:cNvSpPr>
              <a:spLocks noGrp="1"/>
            </p:cNvSpPr>
            <p:nvPr/>
          </p:nvSpPr>
          <p:spPr>
            <a:xfrm>
              <a:off x="7511" y="613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6" name="anchor"/>
            <p:cNvSpPr>
              <a:spLocks noGrp="1"/>
            </p:cNvSpPr>
            <p:nvPr/>
          </p:nvSpPr>
          <p:spPr>
            <a:xfrm>
              <a:off x="7629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7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79" name="直接箭头连接符 978"/>
            <p:cNvCxnSpPr>
              <a:stCxn id="326" idx="6"/>
              <a:endCxn id="327" idx="2"/>
            </p:cNvCxnSpPr>
            <p:nvPr/>
          </p:nvCxnSpPr>
          <p:spPr>
            <a:xfrm flipV="1">
              <a:off x="7667" y="6819"/>
              <a:ext cx="569" cy="76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2" name="anchor"/>
            <p:cNvSpPr>
              <a:spLocks noGrp="1"/>
            </p:cNvSpPr>
            <p:nvPr/>
          </p:nvSpPr>
          <p:spPr>
            <a:xfrm>
              <a:off x="8236" y="680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3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5" name="直接箭头连接符 984"/>
            <p:cNvCxnSpPr>
              <a:stCxn id="332" idx="6"/>
              <a:endCxn id="333" idx="2"/>
            </p:cNvCxnSpPr>
            <p:nvPr/>
          </p:nvCxnSpPr>
          <p:spPr>
            <a:xfrm flipV="1">
              <a:off x="8274" y="6706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38" name="anchor"/>
            <p:cNvSpPr>
              <a:spLocks noGrp="1"/>
            </p:cNvSpPr>
            <p:nvPr/>
          </p:nvSpPr>
          <p:spPr>
            <a:xfrm>
              <a:off x="8842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9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1" name="直接箭头连接符 990"/>
            <p:cNvCxnSpPr>
              <a:stCxn id="338" idx="6"/>
              <a:endCxn id="339" idx="2"/>
            </p:cNvCxnSpPr>
            <p:nvPr/>
          </p:nvCxnSpPr>
          <p:spPr>
            <a:xfrm>
              <a:off x="8880" y="6706"/>
              <a:ext cx="569" cy="0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44" name="anchor"/>
            <p:cNvSpPr>
              <a:spLocks noGrp="1"/>
            </p:cNvSpPr>
            <p:nvPr/>
          </p:nvSpPr>
          <p:spPr>
            <a:xfrm>
              <a:off x="9449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5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0" name="anchor"/>
            <p:cNvSpPr>
              <a:spLocks noGrp="1"/>
            </p:cNvSpPr>
            <p:nvPr/>
          </p:nvSpPr>
          <p:spPr>
            <a:xfrm>
              <a:off x="10094" y="657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1" name="anchor"/>
            <p:cNvSpPr>
              <a:spLocks noGrp="1"/>
            </p:cNvSpPr>
            <p:nvPr/>
          </p:nvSpPr>
          <p:spPr>
            <a:xfrm>
              <a:off x="10700" y="668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3" name="直接箭头连接符 1002"/>
            <p:cNvCxnSpPr>
              <a:stCxn id="350" idx="6"/>
              <a:endCxn id="351" idx="2"/>
            </p:cNvCxnSpPr>
            <p:nvPr/>
          </p:nvCxnSpPr>
          <p:spPr>
            <a:xfrm>
              <a:off x="10132" y="6592"/>
              <a:ext cx="569" cy="114"/>
            </a:xfrm>
            <a:prstGeom prst="straightConnector1">
              <a:avLst/>
            </a:prstGeom>
            <a:ln w="12700">
              <a:solidFill>
                <a:srgbClr val="2F73E8"/>
              </a:solidFill>
              <a:prstDash val="solid"/>
            </a:ln>
          </p:spPr>
        </p:cxnSp>
        <p:sp>
          <p:nvSpPr>
            <p:cNvPr id="356" name="teacher-point"/>
            <p:cNvSpPr>
              <a:spLocks noGrp="1"/>
            </p:cNvSpPr>
            <p:nvPr/>
          </p:nvSpPr>
          <p:spPr>
            <a:xfrm>
              <a:off x="7572" y="6819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8" name="anchor"/>
            <p:cNvSpPr>
              <a:spLocks noGrp="1"/>
            </p:cNvSpPr>
            <p:nvPr/>
          </p:nvSpPr>
          <p:spPr>
            <a:xfrm>
              <a:off x="7629" y="695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1" name="teacher-point"/>
            <p:cNvSpPr>
              <a:spLocks noGrp="1"/>
            </p:cNvSpPr>
            <p:nvPr/>
          </p:nvSpPr>
          <p:spPr>
            <a:xfrm>
              <a:off x="8179" y="6744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3" name="anchor"/>
            <p:cNvSpPr>
              <a:spLocks noGrp="1"/>
            </p:cNvSpPr>
            <p:nvPr/>
          </p:nvSpPr>
          <p:spPr>
            <a:xfrm>
              <a:off x="8236" y="687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6" name="teacher-point"/>
            <p:cNvSpPr>
              <a:spLocks noGrp="1"/>
            </p:cNvSpPr>
            <p:nvPr/>
          </p:nvSpPr>
          <p:spPr>
            <a:xfrm>
              <a:off x="8785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8" name="anchor"/>
            <p:cNvSpPr>
              <a:spLocks noGrp="1"/>
            </p:cNvSpPr>
            <p:nvPr/>
          </p:nvSpPr>
          <p:spPr>
            <a:xfrm>
              <a:off x="8842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1" name="teacher-point"/>
            <p:cNvSpPr>
              <a:spLocks noGrp="1"/>
            </p:cNvSpPr>
            <p:nvPr/>
          </p:nvSpPr>
          <p:spPr>
            <a:xfrm>
              <a:off x="9392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3" name="anchor"/>
            <p:cNvSpPr>
              <a:spLocks noGrp="1"/>
            </p:cNvSpPr>
            <p:nvPr/>
          </p:nvSpPr>
          <p:spPr>
            <a:xfrm>
              <a:off x="9449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6" name="teacher-point"/>
            <p:cNvSpPr>
              <a:spLocks noGrp="1"/>
            </p:cNvSpPr>
            <p:nvPr/>
          </p:nvSpPr>
          <p:spPr>
            <a:xfrm>
              <a:off x="10037" y="6516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8" name="anchor"/>
            <p:cNvSpPr>
              <a:spLocks noGrp="1"/>
            </p:cNvSpPr>
            <p:nvPr/>
          </p:nvSpPr>
          <p:spPr>
            <a:xfrm>
              <a:off x="10094" y="664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1" name="teacher-point"/>
            <p:cNvSpPr>
              <a:spLocks noGrp="1"/>
            </p:cNvSpPr>
            <p:nvPr/>
          </p:nvSpPr>
          <p:spPr>
            <a:xfrm>
              <a:off x="10644" y="6630"/>
              <a:ext cx="152" cy="152"/>
            </a:xfrm>
            <a:prstGeom prst="ellipse">
              <a:avLst/>
            </a:prstGeom>
            <a:solidFill>
              <a:srgbClr val="9DBC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3" name="anchor"/>
            <p:cNvSpPr>
              <a:spLocks noGrp="1"/>
            </p:cNvSpPr>
            <p:nvPr/>
          </p:nvSpPr>
          <p:spPr>
            <a:xfrm>
              <a:off x="10700" y="6762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25" name="anchor"/>
            <p:cNvSpPr>
              <a:spLocks noGrp="1"/>
            </p:cNvSpPr>
            <p:nvPr/>
          </p:nvSpPr>
          <p:spPr>
            <a:xfrm>
              <a:off x="10871" y="693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25" name="直接箭头连接符 124"/>
            <p:cNvCxnSpPr>
              <a:stCxn id="371" idx="6"/>
              <a:endCxn id="376" idx="2"/>
            </p:cNvCxnSpPr>
            <p:nvPr/>
          </p:nvCxnSpPr>
          <p:spPr>
            <a:xfrm flipV="1">
              <a:off x="9544" y="6592"/>
              <a:ext cx="493" cy="114"/>
            </a:xfrm>
            <a:prstGeom prst="straightConnector1">
              <a:avLst/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曲线连接符 128"/>
            <p:cNvCxnSpPr/>
            <p:nvPr/>
          </p:nvCxnSpPr>
          <p:spPr>
            <a:xfrm rot="16200000">
              <a:off x="8729" y="5435"/>
              <a:ext cx="303" cy="2465"/>
            </a:xfrm>
            <a:prstGeom prst="curvedConnector3">
              <a:avLst>
                <a:gd name="adj1" fmla="val 256250"/>
              </a:avLst>
            </a:prstGeom>
            <a:ln w="12700">
              <a:solidFill>
                <a:srgbClr val="4985E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本框 129"/>
                <p:cNvSpPr txBox="1"/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2F73E8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2F73E8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2F73E8"/>
                    </a:solidFill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mc:Choice>
          <mc:Fallback>
            <p:sp>
              <p:nvSpPr>
                <p:cNvPr id="130" name="文本框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4" y="5967"/>
                  <a:ext cx="1093" cy="68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右大括号 137"/>
            <p:cNvSpPr/>
            <p:nvPr/>
          </p:nvSpPr>
          <p:spPr>
            <a:xfrm rot="16200000">
              <a:off x="8754" y="4664"/>
              <a:ext cx="233" cy="2483"/>
            </a:xfrm>
            <a:prstGeom prst="rightBrace">
              <a:avLst/>
            </a:prstGeom>
            <a:ln>
              <a:solidFill>
                <a:srgbClr val="FF6A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箭头连接符 139"/>
            <p:cNvCxnSpPr/>
            <p:nvPr/>
          </p:nvCxnSpPr>
          <p:spPr>
            <a:xfrm>
              <a:off x="8864" y="6842"/>
              <a:ext cx="0" cy="1020"/>
            </a:xfrm>
            <a:prstGeom prst="straightConnector1">
              <a:avLst/>
            </a:prstGeom>
            <a:ln w="10478">
              <a:solidFill>
                <a:srgbClr val="FF6A00"/>
              </a:solidFill>
              <a:prstDash val="dash"/>
              <a:headEnd type="triangle"/>
              <a:tailEnd type="triangle"/>
            </a:ln>
          </p:spPr>
        </p:cxnSp>
        <p:grpSp>
          <p:nvGrpSpPr>
            <p:cNvPr id="71" name="组合 70"/>
            <p:cNvGrpSpPr>
              <a:grpSpLocks noChangeAspect="1"/>
            </p:cNvGrpSpPr>
            <p:nvPr/>
          </p:nvGrpSpPr>
          <p:grpSpPr>
            <a:xfrm>
              <a:off x="2055" y="5472"/>
              <a:ext cx="3960" cy="4503"/>
              <a:chOff x="2055" y="5472"/>
              <a:chExt cx="3960" cy="4503"/>
            </a:xfrm>
          </p:grpSpPr>
          <p:sp>
            <p:nvSpPr>
              <p:cNvPr id="235" name="anchor"/>
              <p:cNvSpPr>
                <a:spLocks noGrp="1"/>
              </p:cNvSpPr>
              <p:nvPr/>
            </p:nvSpPr>
            <p:spPr>
              <a:xfrm>
                <a:off x="5985" y="910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614" name="anchor"/>
              <p:cNvSpPr>
                <a:spLocks noGrp="1"/>
              </p:cNvSpPr>
              <p:nvPr/>
            </p:nvSpPr>
            <p:spPr>
              <a:xfrm>
                <a:off x="2055" y="73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622" name="anchor"/>
              <p:cNvSpPr>
                <a:spLocks noGrp="1"/>
              </p:cNvSpPr>
              <p:nvPr/>
            </p:nvSpPr>
            <p:spPr>
              <a:xfrm>
                <a:off x="5970" y="99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239" name="anchor"/>
              <p:cNvSpPr>
                <a:spLocks noGrp="1"/>
              </p:cNvSpPr>
              <p:nvPr/>
            </p:nvSpPr>
            <p:spPr>
              <a:xfrm>
                <a:off x="2274" y="615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0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2" name="anchor"/>
              <p:cNvSpPr>
                <a:spLocks noGrp="1"/>
              </p:cNvSpPr>
              <p:nvPr/>
            </p:nvSpPr>
            <p:spPr>
              <a:xfrm>
                <a:off x="227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3" name="anchor"/>
              <p:cNvSpPr>
                <a:spLocks noGrp="1"/>
              </p:cNvSpPr>
              <p:nvPr/>
            </p:nvSpPr>
            <p:spPr>
              <a:xfrm>
                <a:off x="5194" y="852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0" name="anchor"/>
              <p:cNvSpPr>
                <a:spLocks noGrp="1"/>
              </p:cNvSpPr>
              <p:nvPr/>
            </p:nvSpPr>
            <p:spPr>
              <a:xfrm>
                <a:off x="2653" y="8164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1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6" name="anchor"/>
              <p:cNvSpPr>
                <a:spLocks noGrp="1"/>
              </p:cNvSpPr>
              <p:nvPr/>
            </p:nvSpPr>
            <p:spPr>
              <a:xfrm>
                <a:off x="3260" y="76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7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2" name="anchor"/>
              <p:cNvSpPr>
                <a:spLocks noGrp="1"/>
              </p:cNvSpPr>
              <p:nvPr/>
            </p:nvSpPr>
            <p:spPr>
              <a:xfrm>
                <a:off x="3866" y="763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3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8" name="anchor"/>
              <p:cNvSpPr>
                <a:spLocks noGrp="1"/>
              </p:cNvSpPr>
              <p:nvPr/>
            </p:nvSpPr>
            <p:spPr>
              <a:xfrm>
                <a:off x="4473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9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4" name="anchor"/>
              <p:cNvSpPr>
                <a:spLocks noGrp="1"/>
              </p:cNvSpPr>
              <p:nvPr/>
            </p:nvSpPr>
            <p:spPr>
              <a:xfrm>
                <a:off x="5118" y="8012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5" name="anchor"/>
              <p:cNvSpPr>
                <a:spLocks noGrp="1"/>
              </p:cNvSpPr>
              <p:nvPr/>
            </p:nvSpPr>
            <p:spPr>
              <a:xfrm>
                <a:off x="5724" y="803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8" name="student-point"/>
              <p:cNvSpPr>
                <a:spLocks noGrp="1"/>
              </p:cNvSpPr>
              <p:nvPr/>
            </p:nvSpPr>
            <p:spPr>
              <a:xfrm>
                <a:off x="2596" y="8107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0" name="anchor"/>
              <p:cNvSpPr>
                <a:spLocks noGrp="1"/>
              </p:cNvSpPr>
              <p:nvPr/>
            </p:nvSpPr>
            <p:spPr>
              <a:xfrm>
                <a:off x="2710" y="8088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3" name="student-point"/>
              <p:cNvSpPr>
                <a:spLocks noGrp="1"/>
              </p:cNvSpPr>
              <p:nvPr/>
            </p:nvSpPr>
            <p:spPr>
              <a:xfrm>
                <a:off x="3203" y="761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5" name="anchor"/>
              <p:cNvSpPr>
                <a:spLocks noGrp="1"/>
              </p:cNvSpPr>
              <p:nvPr/>
            </p:nvSpPr>
            <p:spPr>
              <a:xfrm>
                <a:off x="3260" y="759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8" name="student-point"/>
              <p:cNvSpPr>
                <a:spLocks noGrp="1"/>
              </p:cNvSpPr>
              <p:nvPr/>
            </p:nvSpPr>
            <p:spPr>
              <a:xfrm>
                <a:off x="3810" y="7576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0" name="anchor"/>
              <p:cNvSpPr>
                <a:spLocks noGrp="1"/>
              </p:cNvSpPr>
              <p:nvPr/>
            </p:nvSpPr>
            <p:spPr>
              <a:xfrm>
                <a:off x="3866" y="75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3" name="student-point"/>
              <p:cNvSpPr>
                <a:spLocks noGrp="1"/>
              </p:cNvSpPr>
              <p:nvPr/>
            </p:nvSpPr>
            <p:spPr>
              <a:xfrm>
                <a:off x="4416" y="7880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5" name="anchor"/>
              <p:cNvSpPr>
                <a:spLocks noGrp="1"/>
              </p:cNvSpPr>
              <p:nvPr/>
            </p:nvSpPr>
            <p:spPr>
              <a:xfrm>
                <a:off x="4473" y="786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8" name="student-point"/>
              <p:cNvSpPr>
                <a:spLocks noGrp="1"/>
              </p:cNvSpPr>
              <p:nvPr/>
            </p:nvSpPr>
            <p:spPr>
              <a:xfrm>
                <a:off x="5061" y="7955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0" name="anchor"/>
              <p:cNvSpPr>
                <a:spLocks noGrp="1"/>
              </p:cNvSpPr>
              <p:nvPr/>
            </p:nvSpPr>
            <p:spPr>
              <a:xfrm>
                <a:off x="5118" y="793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3" name="student-point"/>
              <p:cNvSpPr>
                <a:spLocks noGrp="1"/>
              </p:cNvSpPr>
              <p:nvPr/>
            </p:nvSpPr>
            <p:spPr>
              <a:xfrm>
                <a:off x="5667" y="7974"/>
                <a:ext cx="152" cy="152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5" name="anchor"/>
              <p:cNvSpPr>
                <a:spLocks noGrp="1"/>
              </p:cNvSpPr>
              <p:nvPr/>
            </p:nvSpPr>
            <p:spPr>
              <a:xfrm>
                <a:off x="5724" y="795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15" name="xlab"/>
              <p:cNvSpPr>
                <a:spLocks noGrp="1"/>
              </p:cNvSpPr>
              <p:nvPr/>
            </p:nvSpPr>
            <p:spPr>
              <a:xfrm>
                <a:off x="5526" y="8883"/>
                <a:ext cx="474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2" name="xlab"/>
              <p:cNvSpPr>
                <a:spLocks noGrp="1"/>
              </p:cNvSpPr>
              <p:nvPr/>
            </p:nvSpPr>
            <p:spPr>
              <a:xfrm>
                <a:off x="3113" y="8642"/>
                <a:ext cx="474" cy="31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sp>
            <p:nvSpPr>
              <p:cNvPr id="313" name="xlab"/>
              <p:cNvSpPr>
                <a:spLocks noGrp="1"/>
              </p:cNvSpPr>
              <p:nvPr/>
            </p:nvSpPr>
            <p:spPr>
              <a:xfrm>
                <a:off x="3561" y="8742"/>
                <a:ext cx="800" cy="28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00" b="1">
                    <a:solidFill>
                      <a:srgbClr val="111111"/>
                    </a:solidFill>
                  </a:defRPr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omic Sans MS" panose="030F0702030302020204" pitchFamily="66" charset="0"/>
                  </a:rPr>
                  <a:t>t+1</a:t>
                </a: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4525" y="9021"/>
                <a:ext cx="652" cy="35"/>
                <a:chOff x="3108" y="8012"/>
                <a:chExt cx="516" cy="28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108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3365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3596" y="801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omic Sans MS" panose="030F0702030302020204" pitchFamily="66" charset="0"/>
                  </a:endParaRPr>
                </a:p>
              </p:txBody>
            </p:sp>
          </p:grpSp>
          <p:sp>
            <p:nvSpPr>
              <p:cNvPr id="247" name="anchor"/>
              <p:cNvSpPr>
                <a:spLocks noGrp="1"/>
              </p:cNvSpPr>
              <p:nvPr/>
            </p:nvSpPr>
            <p:spPr>
              <a:xfrm>
                <a:off x="2653" y="674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48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3" name="anchor"/>
              <p:cNvSpPr>
                <a:spLocks noGrp="1"/>
              </p:cNvSpPr>
              <p:nvPr/>
            </p:nvSpPr>
            <p:spPr>
              <a:xfrm>
                <a:off x="3260" y="609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4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59" name="anchor"/>
              <p:cNvSpPr>
                <a:spLocks noGrp="1"/>
              </p:cNvSpPr>
              <p:nvPr/>
            </p:nvSpPr>
            <p:spPr>
              <a:xfrm>
                <a:off x="3866" y="6440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0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5" name="anchor"/>
              <p:cNvSpPr>
                <a:spLocks noGrp="1"/>
              </p:cNvSpPr>
              <p:nvPr/>
            </p:nvSpPr>
            <p:spPr>
              <a:xfrm>
                <a:off x="4473" y="678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66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1" name="anchor"/>
              <p:cNvSpPr>
                <a:spLocks noGrp="1"/>
              </p:cNvSpPr>
              <p:nvPr/>
            </p:nvSpPr>
            <p:spPr>
              <a:xfrm>
                <a:off x="5118" y="6971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2" name="anchor"/>
              <p:cNvSpPr>
                <a:spLocks noGrp="1"/>
              </p:cNvSpPr>
              <p:nvPr/>
            </p:nvSpPr>
            <p:spPr>
              <a:xfrm>
                <a:off x="5724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7" name="teacher-point"/>
              <p:cNvSpPr>
                <a:spLocks noGrp="1"/>
              </p:cNvSpPr>
              <p:nvPr/>
            </p:nvSpPr>
            <p:spPr>
              <a:xfrm>
                <a:off x="2596" y="6687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79" name="anchor"/>
              <p:cNvSpPr>
                <a:spLocks noGrp="1"/>
              </p:cNvSpPr>
              <p:nvPr/>
            </p:nvSpPr>
            <p:spPr>
              <a:xfrm>
                <a:off x="2653" y="6819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2" name="teacher-point"/>
              <p:cNvSpPr>
                <a:spLocks noGrp="1"/>
              </p:cNvSpPr>
              <p:nvPr/>
            </p:nvSpPr>
            <p:spPr>
              <a:xfrm>
                <a:off x="3203" y="6042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4" name="anchor"/>
              <p:cNvSpPr>
                <a:spLocks noGrp="1"/>
              </p:cNvSpPr>
              <p:nvPr/>
            </p:nvSpPr>
            <p:spPr>
              <a:xfrm>
                <a:off x="3260" y="6175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7" name="teacher-point"/>
              <p:cNvSpPr>
                <a:spLocks noGrp="1"/>
              </p:cNvSpPr>
              <p:nvPr/>
            </p:nvSpPr>
            <p:spPr>
              <a:xfrm>
                <a:off x="3810" y="6383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89" name="anchor"/>
              <p:cNvSpPr>
                <a:spLocks noGrp="1"/>
              </p:cNvSpPr>
              <p:nvPr/>
            </p:nvSpPr>
            <p:spPr>
              <a:xfrm>
                <a:off x="3866" y="6516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942" name="直接箭头连接符 941"/>
              <p:cNvCxnSpPr/>
              <p:nvPr/>
            </p:nvCxnSpPr>
            <p:spPr>
              <a:xfrm>
                <a:off x="3453" y="6409"/>
                <a:ext cx="0" cy="1075"/>
              </a:xfrm>
              <a:prstGeom prst="straightConnector1">
                <a:avLst/>
              </a:prstGeom>
              <a:ln w="10478">
                <a:solidFill>
                  <a:srgbClr val="FF6A00"/>
                </a:solidFill>
                <a:prstDash val="dash"/>
                <a:headEnd type="triangle"/>
                <a:tailEnd type="triangle"/>
              </a:ln>
            </p:spPr>
          </p:cxnSp>
          <p:sp>
            <p:nvSpPr>
              <p:cNvPr id="292" name="teacher-point"/>
              <p:cNvSpPr>
                <a:spLocks noGrp="1"/>
              </p:cNvSpPr>
              <p:nvPr/>
            </p:nvSpPr>
            <p:spPr>
              <a:xfrm>
                <a:off x="4416" y="672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4" name="anchor"/>
              <p:cNvSpPr>
                <a:spLocks noGrp="1"/>
              </p:cNvSpPr>
              <p:nvPr/>
            </p:nvSpPr>
            <p:spPr>
              <a:xfrm>
                <a:off x="4473" y="685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7" name="teacher-point"/>
              <p:cNvSpPr>
                <a:spLocks noGrp="1"/>
              </p:cNvSpPr>
              <p:nvPr/>
            </p:nvSpPr>
            <p:spPr>
              <a:xfrm>
                <a:off x="5061" y="6914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299" name="anchor"/>
              <p:cNvSpPr>
                <a:spLocks noGrp="1"/>
              </p:cNvSpPr>
              <p:nvPr/>
            </p:nvSpPr>
            <p:spPr>
              <a:xfrm>
                <a:off x="5118" y="7047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2" name="teacher-point"/>
              <p:cNvSpPr>
                <a:spLocks noGrp="1"/>
              </p:cNvSpPr>
              <p:nvPr/>
            </p:nvSpPr>
            <p:spPr>
              <a:xfrm>
                <a:off x="5667" y="6990"/>
                <a:ext cx="152" cy="152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sp>
            <p:nvSpPr>
              <p:cNvPr id="304" name="anchor"/>
              <p:cNvSpPr>
                <a:spLocks noGrp="1"/>
              </p:cNvSpPr>
              <p:nvPr/>
            </p:nvSpPr>
            <p:spPr>
              <a:xfrm>
                <a:off x="5724" y="7123"/>
                <a:ext cx="38" cy="38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omic Sans MS" panose="030F0702030302020204" pitchFamily="66" charset="0"/>
                </a:endParaRPr>
              </a:p>
            </p:txBody>
          </p:sp>
          <p:cxnSp>
            <p:nvCxnSpPr>
              <p:cNvPr id="5" name="直接箭头连接符 4"/>
              <p:cNvCxnSpPr>
                <a:stCxn id="277" idx="7"/>
                <a:endCxn id="282" idx="2"/>
              </p:cNvCxnSpPr>
              <p:nvPr/>
            </p:nvCxnSpPr>
            <p:spPr>
              <a:xfrm flipV="1">
                <a:off x="2725" y="6118"/>
                <a:ext cx="478" cy="591"/>
              </a:xfrm>
              <a:prstGeom prst="straightConnector1">
                <a:avLst/>
              </a:prstGeom>
              <a:ln w="12700">
                <a:solidFill>
                  <a:srgbClr val="2F73E8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>
                <a:stCxn id="282" idx="6"/>
                <a:endCxn id="287" idx="1"/>
              </p:cNvCxnSpPr>
              <p:nvPr/>
            </p:nvCxnSpPr>
            <p:spPr>
              <a:xfrm>
                <a:off x="3355" y="6118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>
                <a:stCxn id="287" idx="6"/>
                <a:endCxn id="292" idx="1"/>
              </p:cNvCxnSpPr>
              <p:nvPr/>
            </p:nvCxnSpPr>
            <p:spPr>
              <a:xfrm>
                <a:off x="3961" y="6459"/>
                <a:ext cx="478" cy="288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292" idx="6"/>
                <a:endCxn id="297" idx="2"/>
              </p:cNvCxnSpPr>
              <p:nvPr/>
            </p:nvCxnSpPr>
            <p:spPr>
              <a:xfrm>
                <a:off x="4568" y="6800"/>
                <a:ext cx="493" cy="190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297" idx="6"/>
                <a:endCxn id="302" idx="2"/>
              </p:cNvCxnSpPr>
              <p:nvPr/>
            </p:nvCxnSpPr>
            <p:spPr>
              <a:xfrm>
                <a:off x="5212" y="6990"/>
                <a:ext cx="455" cy="76"/>
              </a:xfrm>
              <a:prstGeom prst="straightConnector1">
                <a:avLst/>
              </a:prstGeom>
              <a:ln w="12700">
                <a:solidFill>
                  <a:srgbClr val="4985EB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右大括号 60"/>
              <p:cNvSpPr/>
              <p:nvPr/>
            </p:nvSpPr>
            <p:spPr>
              <a:xfrm rot="18180000">
                <a:off x="3610" y="5745"/>
                <a:ext cx="152" cy="670"/>
              </a:xfrm>
              <a:prstGeom prst="rightBrace">
                <a:avLst/>
              </a:prstGeom>
              <a:ln>
                <a:solidFill>
                  <a:srgbClr val="4985EB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2F73E8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2F73E8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2F73E8"/>
                      </a:solidFill>
                      <a:latin typeface="Comic Sans MS" panose="030F0702030302020204" pitchFamily="66" charset="0"/>
                      <a:cs typeface="Comic Sans MS" panose="030F0702030302020204" pitchFamily="66" charset="0"/>
                    </a:endParaRPr>
                  </a:p>
                </p:txBody>
              </p:sp>
            </mc:Choice>
            <mc:Fallback>
              <p:sp>
                <p:nvSpPr>
                  <p:cNvPr id="62" name="文本框 6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03" y="5472"/>
                    <a:ext cx="1115" cy="682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6" name="直接箭头连接符 105"/>
              <p:cNvCxnSpPr>
                <a:stCxn id="278" idx="7"/>
                <a:endCxn id="283" idx="3"/>
              </p:cNvCxnSpPr>
              <p:nvPr/>
            </p:nvCxnSpPr>
            <p:spPr>
              <a:xfrm flipV="1">
                <a:off x="2725" y="7743"/>
                <a:ext cx="500" cy="387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/>
              <p:cNvCxnSpPr>
                <a:stCxn id="283" idx="6"/>
                <a:endCxn id="288" idx="2"/>
              </p:cNvCxnSpPr>
              <p:nvPr/>
            </p:nvCxnSpPr>
            <p:spPr>
              <a:xfrm flipV="1">
                <a:off x="3355" y="7652"/>
                <a:ext cx="455" cy="38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>
                <a:stCxn id="288" idx="6"/>
                <a:endCxn id="293" idx="2"/>
              </p:cNvCxnSpPr>
              <p:nvPr/>
            </p:nvCxnSpPr>
            <p:spPr>
              <a:xfrm>
                <a:off x="3961" y="7652"/>
                <a:ext cx="455" cy="303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stCxn id="293" idx="6"/>
                <a:endCxn id="298" idx="2"/>
              </p:cNvCxnSpPr>
              <p:nvPr/>
            </p:nvCxnSpPr>
            <p:spPr>
              <a:xfrm>
                <a:off x="4568" y="7955"/>
                <a:ext cx="493" cy="76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>
                <a:stCxn id="298" idx="6"/>
                <a:endCxn id="303" idx="2"/>
              </p:cNvCxnSpPr>
              <p:nvPr/>
            </p:nvCxnSpPr>
            <p:spPr>
              <a:xfrm>
                <a:off x="5212" y="8031"/>
                <a:ext cx="455" cy="19"/>
              </a:xfrm>
              <a:prstGeom prst="straightConnector1">
                <a:avLst/>
              </a:prstGeom>
              <a:ln w="12700">
                <a:solidFill>
                  <a:srgbClr val="18832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0" name="左大括号 119"/>
              <p:cNvSpPr/>
              <p:nvPr/>
            </p:nvSpPr>
            <p:spPr>
              <a:xfrm rot="15900000">
                <a:off x="3511" y="7603"/>
                <a:ext cx="181" cy="591"/>
              </a:xfrm>
              <a:prstGeom prst="leftBrace">
                <a:avLst/>
              </a:prstGeom>
              <a:ln>
                <a:solidFill>
                  <a:srgbClr val="188326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188326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3" name="文本框 122"/>
                  <p:cNvSpPr txBox="1"/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t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solidFill>
                                <a:srgbClr val="188326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∆</m:t>
                          </m:r>
                          <m:sSubSup>
                            <m:sSubSupPr>
                              <m:ctrlP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𝑺</m:t>
                              </m:r>
                            </m:sub>
                            <m:sup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>
                                  <a:solidFill>
                                    <a:srgbClr val="188326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lang="en-US" altLang="zh-CN" b="1" i="1">
                      <a:solidFill>
                        <a:srgbClr val="188326"/>
                      </a:solidFill>
                      <a:latin typeface="Cambria Math" panose="02040503050406030204" pitchFamily="18" charset="0"/>
                      <a:ea typeface="MS Mincho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23" name="文本框 1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8" y="7880"/>
                    <a:ext cx="1115" cy="685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5" name="任意形状 244"/>
              <p:cNvSpPr/>
              <p:nvPr/>
            </p:nvSpPr>
            <p:spPr>
              <a:xfrm>
                <a:off x="2836" y="8517"/>
                <a:ext cx="2954" cy="399"/>
              </a:xfrm>
              <a:custGeom>
                <a:avLst/>
                <a:gdLst>
                  <a:gd name="connsiteX0" fmla="*/ 0 w 2954"/>
                  <a:gd name="connsiteY0" fmla="*/ 392 h 399"/>
                  <a:gd name="connsiteX1" fmla="*/ 960 w 2954"/>
                  <a:gd name="connsiteY1" fmla="*/ 5 h 399"/>
                  <a:gd name="connsiteX2" fmla="*/ 2014 w 2954"/>
                  <a:gd name="connsiteY2" fmla="*/ 344 h 399"/>
                  <a:gd name="connsiteX3" fmla="*/ 2954 w 2954"/>
                  <a:gd name="connsiteY3" fmla="*/ 392 h 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4" h="399">
                    <a:moveTo>
                      <a:pt x="0" y="392"/>
                    </a:moveTo>
                    <a:cubicBezTo>
                      <a:pt x="369" y="276"/>
                      <a:pt x="604" y="-43"/>
                      <a:pt x="960" y="5"/>
                    </a:cubicBezTo>
                    <a:cubicBezTo>
                      <a:pt x="1316" y="53"/>
                      <a:pt x="1667" y="272"/>
                      <a:pt x="2014" y="344"/>
                    </a:cubicBezTo>
                    <a:cubicBezTo>
                      <a:pt x="2362" y="417"/>
                      <a:pt x="2772" y="400"/>
                      <a:pt x="2954" y="392"/>
                    </a:cubicBezTo>
                  </a:path>
                </a:pathLst>
              </a:custGeom>
              <a:noFill/>
              <a:ln w="28575">
                <a:solidFill>
                  <a:srgbClr val="FF6A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115" name="直接箭头连接符 114"/>
            <p:cNvCxnSpPr/>
            <p:nvPr/>
          </p:nvCxnSpPr>
          <p:spPr>
            <a:xfrm rot="5400000" flipH="1">
              <a:off x="8592" y="7350"/>
              <a:ext cx="2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1" name="anchor"/>
            <p:cNvSpPr>
              <a:spLocks noGrp="1"/>
            </p:cNvSpPr>
            <p:nvPr/>
          </p:nvSpPr>
          <p:spPr>
            <a:xfrm>
              <a:off x="7511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2" name="anchor"/>
            <p:cNvSpPr>
              <a:spLocks noGrp="1"/>
            </p:cNvSpPr>
            <p:nvPr/>
          </p:nvSpPr>
          <p:spPr>
            <a:xfrm>
              <a:off x="10317" y="8755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9" name="anchor"/>
            <p:cNvSpPr>
              <a:spLocks noGrp="1"/>
            </p:cNvSpPr>
            <p:nvPr/>
          </p:nvSpPr>
          <p:spPr>
            <a:xfrm>
              <a:off x="7629" y="7958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0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2" name="直接箭头连接符 981"/>
            <p:cNvCxnSpPr>
              <a:stCxn id="329" idx="6"/>
              <a:endCxn id="330" idx="2"/>
            </p:cNvCxnSpPr>
            <p:nvPr/>
          </p:nvCxnSpPr>
          <p:spPr>
            <a:xfrm>
              <a:off x="7667" y="7977"/>
              <a:ext cx="569" cy="95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35" name="anchor"/>
            <p:cNvSpPr>
              <a:spLocks noGrp="1"/>
            </p:cNvSpPr>
            <p:nvPr/>
          </p:nvSpPr>
          <p:spPr>
            <a:xfrm>
              <a:off x="8236" y="805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6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88" name="直接箭头连接符 987"/>
            <p:cNvCxnSpPr>
              <a:stCxn id="335" idx="6"/>
              <a:endCxn id="336" idx="2"/>
            </p:cNvCxnSpPr>
            <p:nvPr/>
          </p:nvCxnSpPr>
          <p:spPr>
            <a:xfrm flipV="1">
              <a:off x="8274" y="8015"/>
              <a:ext cx="569" cy="57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1" name="anchor"/>
            <p:cNvSpPr>
              <a:spLocks noGrp="1"/>
            </p:cNvSpPr>
            <p:nvPr/>
          </p:nvSpPr>
          <p:spPr>
            <a:xfrm>
              <a:off x="8842" y="7996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2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994" name="直接箭头连接符 993"/>
            <p:cNvCxnSpPr>
              <a:stCxn id="341" idx="6"/>
              <a:endCxn id="342" idx="2"/>
            </p:cNvCxnSpPr>
            <p:nvPr/>
          </p:nvCxnSpPr>
          <p:spPr>
            <a:xfrm flipV="1">
              <a:off x="8880" y="7902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47" name="anchor"/>
            <p:cNvSpPr>
              <a:spLocks noGrp="1"/>
            </p:cNvSpPr>
            <p:nvPr/>
          </p:nvSpPr>
          <p:spPr>
            <a:xfrm>
              <a:off x="944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8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3" name="anchor"/>
            <p:cNvSpPr>
              <a:spLocks noGrp="1"/>
            </p:cNvSpPr>
            <p:nvPr/>
          </p:nvSpPr>
          <p:spPr>
            <a:xfrm>
              <a:off x="10094" y="769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4" name="anchor"/>
            <p:cNvSpPr>
              <a:spLocks noGrp="1"/>
            </p:cNvSpPr>
            <p:nvPr/>
          </p:nvSpPr>
          <p:spPr>
            <a:xfrm>
              <a:off x="10700" y="7579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006" name="直接箭头连接符 1005"/>
            <p:cNvCxnSpPr>
              <a:stCxn id="353" idx="6"/>
              <a:endCxn id="354" idx="2"/>
            </p:cNvCxnSpPr>
            <p:nvPr/>
          </p:nvCxnSpPr>
          <p:spPr>
            <a:xfrm flipV="1">
              <a:off x="10132" y="7598"/>
              <a:ext cx="569" cy="114"/>
            </a:xfrm>
            <a:prstGeom prst="straightConnector1">
              <a:avLst/>
            </a:prstGeom>
            <a:ln w="12700">
              <a:solidFill>
                <a:srgbClr val="188326"/>
              </a:solidFill>
              <a:prstDash val="solid"/>
            </a:ln>
          </p:spPr>
        </p:cxnSp>
        <p:sp>
          <p:nvSpPr>
            <p:cNvPr id="357" name="student-point"/>
            <p:cNvSpPr>
              <a:spLocks noGrp="1"/>
            </p:cNvSpPr>
            <p:nvPr/>
          </p:nvSpPr>
          <p:spPr>
            <a:xfrm>
              <a:off x="7572" y="790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59" name="anchor"/>
            <p:cNvSpPr>
              <a:spLocks noGrp="1"/>
            </p:cNvSpPr>
            <p:nvPr/>
          </p:nvSpPr>
          <p:spPr>
            <a:xfrm>
              <a:off x="7629" y="788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2" name="student-point"/>
            <p:cNvSpPr>
              <a:spLocks noGrp="1"/>
            </p:cNvSpPr>
            <p:nvPr/>
          </p:nvSpPr>
          <p:spPr>
            <a:xfrm>
              <a:off x="8179" y="799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4" name="anchor"/>
            <p:cNvSpPr>
              <a:spLocks noGrp="1"/>
            </p:cNvSpPr>
            <p:nvPr/>
          </p:nvSpPr>
          <p:spPr>
            <a:xfrm>
              <a:off x="8236" y="797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7" name="student-point"/>
            <p:cNvSpPr>
              <a:spLocks noGrp="1"/>
            </p:cNvSpPr>
            <p:nvPr/>
          </p:nvSpPr>
          <p:spPr>
            <a:xfrm>
              <a:off x="8785" y="7939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69" name="anchor"/>
            <p:cNvSpPr>
              <a:spLocks noGrp="1"/>
            </p:cNvSpPr>
            <p:nvPr/>
          </p:nvSpPr>
          <p:spPr>
            <a:xfrm>
              <a:off x="8842" y="7920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2" name="student-point"/>
            <p:cNvSpPr>
              <a:spLocks noGrp="1"/>
            </p:cNvSpPr>
            <p:nvPr/>
          </p:nvSpPr>
          <p:spPr>
            <a:xfrm>
              <a:off x="9392" y="782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4" name="anchor"/>
            <p:cNvSpPr>
              <a:spLocks noGrp="1"/>
            </p:cNvSpPr>
            <p:nvPr/>
          </p:nvSpPr>
          <p:spPr>
            <a:xfrm>
              <a:off x="9449" y="780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7" name="student-point"/>
            <p:cNvSpPr>
              <a:spLocks noGrp="1"/>
            </p:cNvSpPr>
            <p:nvPr/>
          </p:nvSpPr>
          <p:spPr>
            <a:xfrm>
              <a:off x="10037" y="7636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79" name="anchor"/>
            <p:cNvSpPr>
              <a:spLocks noGrp="1"/>
            </p:cNvSpPr>
            <p:nvPr/>
          </p:nvSpPr>
          <p:spPr>
            <a:xfrm>
              <a:off x="10094" y="7617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2" name="student-point"/>
            <p:cNvSpPr>
              <a:spLocks noGrp="1"/>
            </p:cNvSpPr>
            <p:nvPr/>
          </p:nvSpPr>
          <p:spPr>
            <a:xfrm>
              <a:off x="10644" y="7522"/>
              <a:ext cx="152" cy="152"/>
            </a:xfrm>
            <a:prstGeom prst="ellipse">
              <a:avLst/>
            </a:prstGeom>
            <a:solidFill>
              <a:srgbClr val="61C15D"/>
            </a:solidFill>
            <a:ln w="9525">
              <a:solidFill>
                <a:srgbClr val="1883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84" name="anchor"/>
            <p:cNvSpPr>
              <a:spLocks noGrp="1"/>
            </p:cNvSpPr>
            <p:nvPr/>
          </p:nvSpPr>
          <p:spPr>
            <a:xfrm>
              <a:off x="10700" y="7503"/>
              <a:ext cx="38" cy="38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6" name="xlab"/>
            <p:cNvSpPr>
              <a:spLocks noGrp="1"/>
            </p:cNvSpPr>
            <p:nvPr/>
          </p:nvSpPr>
          <p:spPr>
            <a:xfrm>
              <a:off x="7905" y="8964"/>
              <a:ext cx="763" cy="31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t+1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8" name="xlab"/>
            <p:cNvSpPr>
              <a:spLocks noGrp="1"/>
            </p:cNvSpPr>
            <p:nvPr/>
          </p:nvSpPr>
          <p:spPr>
            <a:xfrm>
              <a:off x="8440" y="9036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t+2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9308" y="9168"/>
              <a:ext cx="651" cy="34"/>
              <a:chOff x="9329" y="8725"/>
              <a:chExt cx="651" cy="34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9329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654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946" y="8725"/>
                <a:ext cx="35" cy="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124" name="xlab"/>
            <p:cNvSpPr>
              <a:spLocks noGrp="1"/>
            </p:cNvSpPr>
            <p:nvPr/>
          </p:nvSpPr>
          <p:spPr>
            <a:xfrm>
              <a:off x="9806" y="8919"/>
              <a:ext cx="838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t+z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cxnSp>
          <p:nvCxnSpPr>
            <p:cNvPr id="128" name="直接箭头连接符 127"/>
            <p:cNvCxnSpPr/>
            <p:nvPr/>
          </p:nvCxnSpPr>
          <p:spPr>
            <a:xfrm flipV="1">
              <a:off x="9550" y="7754"/>
              <a:ext cx="495" cy="126"/>
            </a:xfrm>
            <a:prstGeom prst="straightConnector1">
              <a:avLst/>
            </a:prstGeom>
            <a:ln w="12700"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曲线连接符 130"/>
            <p:cNvCxnSpPr>
              <a:stCxn id="357" idx="4"/>
              <a:endCxn id="377" idx="4"/>
            </p:cNvCxnSpPr>
            <p:nvPr/>
          </p:nvCxnSpPr>
          <p:spPr>
            <a:xfrm rot="5400000" flipH="1" flipV="1">
              <a:off x="8747" y="6688"/>
              <a:ext cx="265" cy="2465"/>
            </a:xfrm>
            <a:prstGeom prst="curvedConnector3">
              <a:avLst>
                <a:gd name="adj1" fmla="val -178571"/>
              </a:avLst>
            </a:prstGeom>
            <a:ln>
              <a:solidFill>
                <a:srgbClr val="18832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solidFill>
                              <a:srgbClr val="188326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rgbClr val="188326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altLang="zh-CN" b="1" i="1">
                    <a:solidFill>
                      <a:srgbClr val="188326"/>
                    </a:solidFill>
                    <a:latin typeface="Cambria Math" panose="02040503050406030204" pitchFamily="18" charset="0"/>
                    <a:ea typeface="MS Mincho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2" y="8053"/>
                  <a:ext cx="1093" cy="685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xlab"/>
            <p:cNvSpPr>
              <a:spLocks noGrp="1"/>
            </p:cNvSpPr>
            <p:nvPr/>
          </p:nvSpPr>
          <p:spPr>
            <a:xfrm>
              <a:off x="7458" y="8694"/>
              <a:ext cx="474" cy="29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23" name="xlab"/>
            <p:cNvSpPr>
              <a:spLocks noGrp="1"/>
            </p:cNvSpPr>
            <p:nvPr/>
          </p:nvSpPr>
          <p:spPr>
            <a:xfrm>
              <a:off x="10560" y="8689"/>
              <a:ext cx="474" cy="2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00" b="1">
                  <a:solidFill>
                    <a:srgbClr val="111111"/>
                  </a:solidFill>
                </a:defRPr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T</a:t>
              </a:r>
              <a:endPara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73" name="任意形状 244"/>
            <p:cNvSpPr/>
            <p:nvPr/>
          </p:nvSpPr>
          <p:spPr>
            <a:xfrm>
              <a:off x="7531" y="8549"/>
              <a:ext cx="3428" cy="467"/>
            </a:xfrm>
            <a:custGeom>
              <a:avLst/>
              <a:gdLst>
                <a:gd name="connsiteX0" fmla="*/ 0 w 3428"/>
                <a:gd name="connsiteY0" fmla="*/ 22 h 466"/>
                <a:gd name="connsiteX1" fmla="*/ 851 w 3428"/>
                <a:gd name="connsiteY1" fmla="*/ 458 h 466"/>
                <a:gd name="connsiteX2" fmla="*/ 2178 w 3428"/>
                <a:gd name="connsiteY2" fmla="*/ 404 h 466"/>
                <a:gd name="connsiteX3" fmla="*/ 3428 w 3428"/>
                <a:gd name="connsiteY3" fmla="*/ 0 h 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8" h="467">
                  <a:moveTo>
                    <a:pt x="0" y="22"/>
                  </a:moveTo>
                  <a:cubicBezTo>
                    <a:pt x="369" y="-94"/>
                    <a:pt x="495" y="410"/>
                    <a:pt x="851" y="458"/>
                  </a:cubicBezTo>
                  <a:cubicBezTo>
                    <a:pt x="1207" y="507"/>
                    <a:pt x="1831" y="332"/>
                    <a:pt x="2178" y="404"/>
                  </a:cubicBezTo>
                  <a:cubicBezTo>
                    <a:pt x="2526" y="478"/>
                    <a:pt x="3246" y="8"/>
                    <a:pt x="3428" y="0"/>
                  </a:cubicBezTo>
                </a:path>
              </a:pathLst>
            </a:custGeom>
            <a:noFill/>
            <a:ln w="28575">
              <a:solidFill>
                <a:srgbClr val="FF6A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文本框 141"/>
                <p:cNvSpPr txBox="1"/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8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142" name="文本框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" y="7209"/>
                  <a:ext cx="668" cy="58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6" name="组合 155"/>
            <p:cNvGrpSpPr/>
            <p:nvPr/>
          </p:nvGrpSpPr>
          <p:grpSpPr>
            <a:xfrm>
              <a:off x="6242" y="6724"/>
              <a:ext cx="1232" cy="843"/>
              <a:chOff x="6231" y="6724"/>
              <a:chExt cx="1232" cy="843"/>
            </a:xfrm>
          </p:grpSpPr>
          <p:pic>
            <p:nvPicPr>
              <p:cNvPr id="146" name="图片 145"/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574" y="6724"/>
                <a:ext cx="548" cy="548"/>
              </a:xfrm>
              <a:prstGeom prst="rect">
                <a:avLst/>
              </a:prstGeom>
            </p:spPr>
          </p:pic>
          <p:sp>
            <p:nvSpPr>
              <p:cNvPr id="147" name="文本框 146"/>
              <p:cNvSpPr txBox="1"/>
              <p:nvPr/>
            </p:nvSpPr>
            <p:spPr>
              <a:xfrm>
                <a:off x="6231" y="7133"/>
                <a:ext cx="1233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4985EB"/>
                    </a:solidFill>
                    <a:latin typeface="Comic Sans MS" panose="030F0702030302020204" pitchFamily="66" charset="0"/>
                  </a:rPr>
                  <a:t>Teacher</a:t>
                </a:r>
                <a:endParaRPr kumimoji="1" lang="en-US" altLang="zh-CN" sz="1200" b="1" dirty="0">
                  <a:solidFill>
                    <a:srgbClr val="4985EB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6255" y="7611"/>
              <a:ext cx="1206" cy="947"/>
              <a:chOff x="1328" y="7862"/>
              <a:chExt cx="1206" cy="947"/>
            </a:xfrm>
          </p:grpSpPr>
          <p:pic>
            <p:nvPicPr>
              <p:cNvPr id="150" name="图片 149"/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508" y="7862"/>
                <a:ext cx="552" cy="552"/>
              </a:xfrm>
              <a:prstGeom prst="rect">
                <a:avLst/>
              </a:prstGeom>
            </p:spPr>
          </p:pic>
          <p:sp>
            <p:nvSpPr>
              <p:cNvPr id="151" name="文本框 150"/>
              <p:cNvSpPr txBox="1"/>
              <p:nvPr/>
            </p:nvSpPr>
            <p:spPr>
              <a:xfrm>
                <a:off x="1328" y="8375"/>
                <a:ext cx="1206" cy="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200" b="1" dirty="0">
                    <a:solidFill>
                      <a:srgbClr val="268B34"/>
                    </a:solidFill>
                    <a:latin typeface="Comic Sans MS" panose="030F0702030302020204" pitchFamily="66" charset="0"/>
                  </a:rPr>
                  <a:t>Student</a:t>
                </a:r>
                <a:endParaRPr kumimoji="1" lang="en-US" altLang="zh-CN" sz="1200" b="1" dirty="0">
                  <a:solidFill>
                    <a:srgbClr val="268B34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7698105" y="2017395"/>
            <a:ext cx="959485" cy="484505"/>
            <a:chOff x="11748" y="1770"/>
            <a:chExt cx="1511" cy="76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zt"/>
                <p:cNvSpPr>
                  <a:spLocks noGrp="1"/>
                </p:cNvSpPr>
                <p:nvPr/>
              </p:nvSpPr>
              <p:spPr>
                <a:xfrm>
                  <a:off x="11748" y="2053"/>
                  <a:ext cx="1511" cy="48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1500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500" b="1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kumimoji="0" lang="en-US" altLang="zh-CN" sz="15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1111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kumimoji="0" lang="en-US" altLang="zh-CN" sz="15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𝑲</m:t>
                            </m:r>
                          </m:sup>
                        </m:sSup>
                      </m:oMath>
                    </m:oMathPara>
                  </a14:m>
                  <a:endParaRPr kumimoji="0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15" name="z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8" y="2053"/>
                  <a:ext cx="1511" cy="480"/>
                </a:xfrm>
                <a:prstGeom prst="rect">
                  <a:avLst/>
                </a:prstGeom>
                <a:blipFill rotWithShape="1">
                  <a:blip r:embed="rId13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组合 67"/>
            <p:cNvGrpSpPr/>
            <p:nvPr/>
          </p:nvGrpSpPr>
          <p:grpSpPr>
            <a:xfrm>
              <a:off x="11917" y="1770"/>
              <a:ext cx="1136" cy="282"/>
              <a:chOff x="11302" y="4436"/>
              <a:chExt cx="1136" cy="282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20" name="anchor"/>
          <p:cNvSpPr>
            <a:spLocks noGrp="1"/>
          </p:cNvSpPr>
          <p:nvPr/>
        </p:nvSpPr>
        <p:spPr>
          <a:xfrm>
            <a:off x="3276600" y="247459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4" name="anchor"/>
          <p:cNvSpPr>
            <a:spLocks noGrp="1"/>
          </p:cNvSpPr>
          <p:nvPr/>
        </p:nvSpPr>
        <p:spPr>
          <a:xfrm>
            <a:off x="3132455" y="269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044055" y="478218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7A35CC"/>
                </a:solidFill>
              </a:defRPr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7A35CC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TS-T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7A35CC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043035" y="4806315"/>
                <a:ext cx="53403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7A35CC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7A35CC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035" y="4806315"/>
                <a:ext cx="534035" cy="36830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直接箭头连接符 176"/>
          <p:cNvCxnSpPr/>
          <p:nvPr/>
        </p:nvCxnSpPr>
        <p:spPr>
          <a:xfrm flipH="1" flipV="1">
            <a:off x="6899275" y="4297680"/>
            <a:ext cx="0" cy="1296035"/>
          </a:xfrm>
          <a:prstGeom prst="straightConnector1">
            <a:avLst/>
          </a:prstGeom>
          <a:ln w="25400">
            <a:solidFill>
              <a:srgbClr val="7A35CC"/>
            </a:solidFill>
            <a:prstDash val="sysDash"/>
            <a:miter lim="800000"/>
            <a:tailEnd type="triangle" w="med" len="med"/>
          </a:ln>
        </p:spPr>
      </p:cxnSp>
      <p:grpSp>
        <p:nvGrpSpPr>
          <p:cNvPr id="19" name="组合 18"/>
          <p:cNvGrpSpPr/>
          <p:nvPr/>
        </p:nvGrpSpPr>
        <p:grpSpPr>
          <a:xfrm>
            <a:off x="6771005" y="2938145"/>
            <a:ext cx="5034915" cy="1897380"/>
            <a:chOff x="10668" y="4373"/>
            <a:chExt cx="7929" cy="2988"/>
          </a:xfrm>
        </p:grpSpPr>
        <p:grpSp>
          <p:nvGrpSpPr>
            <p:cNvPr id="183" name="组合 182"/>
            <p:cNvGrpSpPr/>
            <p:nvPr/>
          </p:nvGrpSpPr>
          <p:grpSpPr>
            <a:xfrm rot="0">
              <a:off x="13377" y="4373"/>
              <a:ext cx="5220" cy="540"/>
              <a:chOff x="12015" y="4905"/>
              <a:chExt cx="5220" cy="54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4" name="Fused TS-T loss variable"/>
                  <p:cNvSpPr>
                    <a:spLocks noGrp="1"/>
                  </p:cNvSpPr>
                  <p:nvPr/>
                </p:nvSpPr>
                <p:spPr>
                  <a:xfrm>
                    <a:off x="12015" y="4905"/>
                    <a:ext cx="123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350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𝑇𝑆</m:t>
                              </m:r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oMath>
                      </m:oMathPara>
                    </a14:m>
                    <a:endParaRPr sz="1600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14" name="Fused TS-T loss variab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15" y="4905"/>
                    <a:ext cx="123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5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5" name="Fusion equals"/>
              <p:cNvSpPr>
                <a:spLocks noGrp="1"/>
              </p:cNvSpPr>
              <p:nvPr/>
            </p:nvSpPr>
            <p:spPr>
              <a:xfrm>
                <a:off x="13275" y="4920"/>
                <a:ext cx="30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defRPr>
                </a:pPr>
                <a:r>
                  <a: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rPr>
                  <a:t>=</a:t>
                </a:r>
                <a:endPara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endParaRPr>
              </a:p>
            </p:txBody>
          </p:sp>
          <p:sp>
            <p:nvSpPr>
              <p:cNvPr id="1316" name="Fusion beta"/>
              <p:cNvSpPr>
                <a:spLocks noGrp="1"/>
              </p:cNvSpPr>
              <p:nvPr/>
            </p:nvSpPr>
            <p:spPr>
              <a:xfrm>
                <a:off x="13575" y="4920"/>
                <a:ext cx="36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0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:r>
                  <a:rPr sz="150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β</a:t>
                </a:r>
                <a:endParaRPr sz="150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7" name="Sequential loss variable top"/>
                  <p:cNvSpPr>
                    <a:spLocks noGrp="1"/>
                  </p:cNvSpPr>
                  <p:nvPr/>
                </p:nvSpPr>
                <p:spPr>
                  <a:xfrm>
                    <a:off x="13965" y="4905"/>
                    <a:ext cx="99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75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275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𝑠𝑒𝑞</m:t>
                              </m:r>
                            </m:sub>
                          </m:sSub>
                        </m:oMath>
                      </m:oMathPara>
                    </a14:m>
                    <a:endParaRPr sz="1275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17" name="Sequential loss variable top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5" y="4905"/>
                    <a:ext cx="99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6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8" name="Fusion plus"/>
              <p:cNvSpPr>
                <a:spLocks noGrp="1"/>
              </p:cNvSpPr>
              <p:nvPr/>
            </p:nvSpPr>
            <p:spPr>
              <a:xfrm>
                <a:off x="14985" y="4920"/>
                <a:ext cx="30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defRPr>
                </a:pPr>
                <a:r>
                  <a:rPr sz="1575" b="1">
                    <a:solidFill>
                      <a:srgbClr val="76206F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</a:rPr>
                  <a:t>+</a:t>
                </a:r>
                <a:endParaRPr sz="1575" b="1">
                  <a:solidFill>
                    <a:srgbClr val="76206F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</a:endParaRPr>
              </a:p>
            </p:txBody>
          </p:sp>
          <p:sp>
            <p:nvSpPr>
              <p:cNvPr id="1319" name="Fusion complement"/>
              <p:cNvSpPr>
                <a:spLocks noGrp="1"/>
              </p:cNvSpPr>
              <p:nvPr/>
            </p:nvSpPr>
            <p:spPr>
              <a:xfrm>
                <a:off x="15285" y="4920"/>
                <a:ext cx="750" cy="51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none" lIns="9525" tIns="9525" rIns="9525" bIns="9525" anchor="ctr">
                <a:normAutofit/>
              </a:bodyPr>
              <a:lstStyle/>
              <a:p>
                <a:pPr algn="ctr">
                  <a:defRPr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defRPr>
                </a:pPr>
                <a:r>
                  <a:rPr lang="en-US"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(</a:t>
                </a:r>
                <a:r>
                  <a:rPr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1−β</a:t>
                </a:r>
                <a:r>
                  <a:rPr lang="en-US" sz="1350" b="1">
                    <a:solidFill>
                      <a:srgbClr val="76206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)</a:t>
                </a:r>
                <a:endParaRPr lang="en-US" sz="1350" b="1">
                  <a:solidFill>
                    <a:srgbClr val="76206F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0" name="Final loss variable top"/>
                  <p:cNvSpPr>
                    <a:spLocks noGrp="1"/>
                  </p:cNvSpPr>
                  <p:nvPr/>
                </p:nvSpPr>
                <p:spPr>
                  <a:xfrm>
                    <a:off x="16065" y="4905"/>
                    <a:ext cx="1170" cy="540"/>
                  </a:xfrm>
                  <a:prstGeom prst="roundRect">
                    <a:avLst>
                      <a:gd name="adj" fmla="val 19444"/>
                    </a:avLst>
                  </a:prstGeom>
                  <a:solidFill>
                    <a:srgbClr val="76206F"/>
                  </a:solid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 wrap="square" lIns="28575" tIns="19050" rIns="28575" bIns="19050" anchor="ctr">
                    <a:normAutofit/>
                  </a:bodyPr>
                  <a:lstStyle/>
                  <a:p>
                    <a:pPr algn="ctr">
                      <a:defRPr sz="1275" b="1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75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275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  <a:cs typeface="Cambria Math" panose="02040503050406030204" pitchFamily="18" charset="0"/>
                                </a:rPr>
                                <m:t>𝒇𝒊𝒏𝒂𝒍</m:t>
                              </m:r>
                            </m:sub>
                          </m:sSub>
                        </m:oMath>
                      </m:oMathPara>
                    </a14:m>
                    <a:endParaRPr sz="1275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endParaRPr>
                  </a:p>
                </p:txBody>
              </p:sp>
            </mc:Choice>
            <mc:Fallback>
              <p:sp>
                <p:nvSpPr>
                  <p:cNvPr id="1320" name="Final loss variable top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65" y="4905"/>
                    <a:ext cx="1170" cy="540"/>
                  </a:xfrm>
                  <a:prstGeom prst="roundRect">
                    <a:avLst>
                      <a:gd name="adj" fmla="val 19444"/>
                    </a:avLst>
                  </a:prstGeom>
                  <a:blipFill rotWithShape="1">
                    <a:blip r:embed="rId17"/>
                  </a:blipFill>
                  <a:ln w="11430">
                    <a:solidFill>
                      <a:srgbClr val="76206F"/>
                    </a:solidFill>
                    <a:prstDash val="solid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矩形: 圆角 14"/>
            <p:cNvSpPr/>
            <p:nvPr/>
          </p:nvSpPr>
          <p:spPr>
            <a:xfrm>
              <a:off x="10668" y="5413"/>
              <a:ext cx="1436" cy="100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Z-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score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8" name="矩形: 圆角 14"/>
            <p:cNvSpPr/>
            <p:nvPr/>
          </p:nvSpPr>
          <p:spPr>
            <a:xfrm>
              <a:off x="11093" y="4424"/>
              <a:ext cx="2101" cy="426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Broadcast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12516" y="561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07" name="Teacher temporal tensor 1 layer 3"/>
                <p:cNvSpPr>
                  <a:spLocks noGrp="1"/>
                </p:cNvSpPr>
                <p:nvPr/>
              </p:nvSpPr>
              <p:spPr>
                <a:xfrm>
                  <a:off x="12308" y="5219"/>
                  <a:ext cx="480" cy="388"/>
                </a:xfrm>
                <a:prstGeom prst="rect">
                  <a:avLst/>
                </a:prstGeom>
                <a:solidFill>
                  <a:srgbClr val="D5E5FF"/>
                </a:solid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45EBE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2107" name="Teacher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8" y="5219"/>
                  <a:ext cx="480" cy="388"/>
                </a:xfrm>
                <a:prstGeom prst="rect">
                  <a:avLst/>
                </a:prstGeom>
                <a:blipFill rotWithShape="1">
                  <a:blip r:embed="rId18"/>
                </a:blip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acher temporal tensor 1 layer 3"/>
                <p:cNvSpPr>
                  <a:spLocks noGrp="1"/>
                </p:cNvSpPr>
                <p:nvPr/>
              </p:nvSpPr>
              <p:spPr>
                <a:xfrm>
                  <a:off x="12897" y="5219"/>
                  <a:ext cx="480" cy="388"/>
                </a:xfrm>
                <a:prstGeom prst="rect">
                  <a:avLst/>
                </a:prstGeom>
                <a:solidFill>
                  <a:srgbClr val="D5E5FF"/>
                </a:solid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45EBE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45EBE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45EBE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2" name="Teacher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" y="5219"/>
                  <a:ext cx="480" cy="388"/>
                </a:xfrm>
                <a:prstGeom prst="rect">
                  <a:avLst/>
                </a:prstGeom>
                <a:blipFill rotWithShape="1">
                  <a:blip r:embed="rId19"/>
                </a:blipFill>
                <a:ln w="12383">
                  <a:solidFill>
                    <a:srgbClr val="4A83EA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Student temporal tensor 1 layer 3"/>
                <p:cNvSpPr>
                  <a:spLocks noGrp="1"/>
                </p:cNvSpPr>
                <p:nvPr/>
              </p:nvSpPr>
              <p:spPr>
                <a:xfrm>
                  <a:off x="12308" y="6556"/>
                  <a:ext cx="480" cy="388"/>
                </a:xfrm>
                <a:prstGeom prst="rect">
                  <a:avLst/>
                </a:prstGeom>
                <a:solidFill>
                  <a:srgbClr val="D6F1DA"/>
                </a:solid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17C30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4" name="Student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8" y="6556"/>
                  <a:ext cx="480" cy="388"/>
                </a:xfrm>
                <a:prstGeom prst="rect">
                  <a:avLst/>
                </a:prstGeom>
                <a:blipFill rotWithShape="1">
                  <a:blip r:embed="rId20"/>
                </a:blip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Student temporal tensor 1 layer 3"/>
                <p:cNvSpPr>
                  <a:spLocks noGrp="1"/>
                </p:cNvSpPr>
                <p:nvPr/>
              </p:nvSpPr>
              <p:spPr>
                <a:xfrm>
                  <a:off x="12897" y="6556"/>
                  <a:ext cx="480" cy="388"/>
                </a:xfrm>
                <a:prstGeom prst="rect">
                  <a:avLst/>
                </a:prstGeom>
                <a:solidFill>
                  <a:srgbClr val="D6F1DA"/>
                </a:solid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 wrap="none" lIns="9525" tIns="9525" rIns="9525" bIns="9525" anchor="ctr">
                  <a:normAutofit/>
                </a:bodyPr>
                <a:lstStyle/>
                <a:p>
                  <a:pPr algn="ctr">
                    <a:defRPr sz="1275" b="1">
                      <a:solidFill>
                        <a:srgbClr val="217C30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sz="1275" b="1" i="1">
                                <a:solidFill>
                                  <a:srgbClr val="217C3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sz="1275" b="1">
                    <a:solidFill>
                      <a:srgbClr val="217C30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76" name="Student temporal tensor 1 layer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7" y="6556"/>
                  <a:ext cx="480" cy="388"/>
                </a:xfrm>
                <a:prstGeom prst="rect">
                  <a:avLst/>
                </a:prstGeom>
                <a:blipFill rotWithShape="1">
                  <a:blip r:embed="rId21"/>
                </a:blipFill>
                <a:ln w="12383">
                  <a:solidFill>
                    <a:srgbClr val="35A446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直接箭头连接符 126"/>
            <p:cNvCxnSpPr/>
            <p:nvPr/>
          </p:nvCxnSpPr>
          <p:spPr>
            <a:xfrm>
              <a:off x="13118" y="565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sp>
          <p:nvSpPr>
            <p:cNvPr id="18" name="右大括号 17"/>
            <p:cNvSpPr/>
            <p:nvPr/>
          </p:nvSpPr>
          <p:spPr>
            <a:xfrm rot="5400000">
              <a:off x="14399" y="5221"/>
              <a:ext cx="335" cy="3945"/>
            </a:xfrm>
            <a:prstGeom prst="rightBrace">
              <a:avLst>
                <a:gd name="adj1" fmla="val 0"/>
                <a:gd name="adj2" fmla="val 50000"/>
              </a:avLst>
            </a:prstGeom>
            <a:ln w="25400">
              <a:solidFill>
                <a:srgbClr val="7A35CC"/>
              </a:solidFill>
              <a:prstDash val="solid"/>
              <a:tailEnd type="none" w="med" len="med"/>
            </a:ln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teacher dots"/>
            <p:cNvSpPr>
              <a:spLocks noGrp="1"/>
            </p:cNvSpPr>
            <p:nvPr/>
          </p:nvSpPr>
          <p:spPr>
            <a:xfrm>
              <a:off x="14357" y="5075"/>
              <a:ext cx="472" cy="44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A83EA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A83EA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45" name="teacher dots"/>
            <p:cNvSpPr>
              <a:spLocks noGrp="1"/>
            </p:cNvSpPr>
            <p:nvPr/>
          </p:nvSpPr>
          <p:spPr>
            <a:xfrm>
              <a:off x="14304" y="6392"/>
              <a:ext cx="525" cy="47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5A446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35A446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cxnSp>
          <p:nvCxnSpPr>
            <p:cNvPr id="148" name="直接箭头连接符 147"/>
            <p:cNvCxnSpPr/>
            <p:nvPr/>
          </p:nvCxnSpPr>
          <p:spPr>
            <a:xfrm>
              <a:off x="13150" y="6098"/>
              <a:ext cx="282" cy="0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  <p:grpSp>
          <p:nvGrpSpPr>
            <p:cNvPr id="281" name="组合 280"/>
            <p:cNvGrpSpPr/>
            <p:nvPr/>
          </p:nvGrpSpPr>
          <p:grpSpPr>
            <a:xfrm rot="0">
              <a:off x="16211" y="5262"/>
              <a:ext cx="587" cy="1682"/>
              <a:chOff x="16810" y="5909"/>
              <a:chExt cx="587" cy="1682"/>
            </a:xfrm>
          </p:grpSpPr>
          <p:grpSp>
            <p:nvGrpSpPr>
              <p:cNvPr id="168" name="组合 167"/>
              <p:cNvGrpSpPr/>
              <p:nvPr/>
            </p:nvGrpSpPr>
            <p:grpSpPr>
              <a:xfrm rot="0">
                <a:off x="16917" y="5909"/>
                <a:ext cx="480" cy="1682"/>
                <a:chOff x="14430" y="6434"/>
                <a:chExt cx="480" cy="1432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21" name="Teacher temporal tensor 3 layer 3"/>
                    <p:cNvSpPr>
                      <a:spLocks noGrp="1"/>
                    </p:cNvSpPr>
                    <p:nvPr/>
                  </p:nvSpPr>
                  <p:spPr>
                    <a:xfrm>
                      <a:off x="14430" y="6434"/>
                      <a:ext cx="480" cy="330"/>
                    </a:xfrm>
                    <a:prstGeom prst="rect">
                      <a:avLst/>
                    </a:prstGeom>
                    <a:solidFill>
                      <a:srgbClr val="D5E5FF"/>
                    </a:solidFill>
                    <a:ln w="12383">
                      <a:solidFill>
                        <a:srgbClr val="4A83EA"/>
                      </a:solidFill>
                      <a:prstDash val="solid"/>
                    </a:ln>
                  </p:spPr>
                  <p:txBody>
                    <a:bodyPr wrap="none" lIns="9525" tIns="9525" rIns="9525" bIns="9525" anchor="ctr">
                      <a:normAutofit/>
                    </a:bodyPr>
                    <a:lstStyle/>
                    <a:p>
                      <a:pPr algn="ctr">
                        <a:defRPr sz="1275" b="1">
                          <a:solidFill>
                            <a:srgbClr val="245EBE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sub>
                              <m:sup>
                                <m:r>
                                  <a:rPr lang="en-US" sz="1275" b="1" i="1">
                                    <a:solidFill>
                                      <a:srgbClr val="245EB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sz="1275" b="1">
                        <a:solidFill>
                          <a:srgbClr val="245EBE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p:txBody>
                </p:sp>
              </mc:Choice>
              <mc:Fallback>
                <p:sp>
                  <p:nvSpPr>
                    <p:cNvPr id="2121" name="Teacher temporal tensor 3 layer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30" y="6434"/>
                      <a:ext cx="480" cy="330"/>
                    </a:xfrm>
                    <a:prstGeom prst="rect">
                      <a:avLst/>
                    </a:prstGeom>
                    <a:blipFill rotWithShape="1">
                      <a:blip r:embed="rId22"/>
                    </a:blipFill>
                    <a:ln w="12383">
                      <a:solidFill>
                        <a:srgbClr val="4A83EA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7" name="Student temporal tensor 1 layer 3"/>
                    <p:cNvSpPr>
                      <a:spLocks noGrp="1"/>
                    </p:cNvSpPr>
                    <p:nvPr/>
                  </p:nvSpPr>
                  <p:spPr>
                    <a:xfrm>
                      <a:off x="14430" y="7536"/>
                      <a:ext cx="480" cy="330"/>
                    </a:xfrm>
                    <a:prstGeom prst="rect">
                      <a:avLst/>
                    </a:prstGeom>
                    <a:solidFill>
                      <a:srgbClr val="D6F1DA"/>
                    </a:solidFill>
                    <a:ln w="12383">
                      <a:solidFill>
                        <a:srgbClr val="35A446"/>
                      </a:solidFill>
                      <a:prstDash val="solid"/>
                    </a:ln>
                  </p:spPr>
                  <p:txBody>
                    <a:bodyPr wrap="none" lIns="9525" tIns="9525" rIns="9525" bIns="9525" anchor="ctr">
                      <a:normAutofit/>
                    </a:bodyPr>
                    <a:lstStyle/>
                    <a:p>
                      <a:pPr algn="ctr">
                        <a:defRPr sz="1275" b="1">
                          <a:solidFill>
                            <a:srgbClr val="217C30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  <m:sup>
                                <m:r>
                                  <a:rPr lang="en-US" sz="1275" b="1" i="1">
                                    <a:solidFill>
                                      <a:srgbClr val="217C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sz="1275" b="1">
                        <a:solidFill>
                          <a:srgbClr val="217C30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endParaRPr>
                    </a:p>
                  </p:txBody>
                </p:sp>
              </mc:Choice>
              <mc:Fallback>
                <p:sp>
                  <p:nvSpPr>
                    <p:cNvPr id="117" name="Student temporal tensor 1 layer 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30" y="7536"/>
                      <a:ext cx="480" cy="330"/>
                    </a:xfrm>
                    <a:prstGeom prst="rect">
                      <a:avLst/>
                    </a:prstGeom>
                    <a:blipFill rotWithShape="1">
                      <a:blip r:embed="rId23"/>
                    </a:blipFill>
                    <a:ln w="12383">
                      <a:solidFill>
                        <a:srgbClr val="35A44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2" name="直接箭头连接符 131"/>
                <p:cNvCxnSpPr/>
                <p:nvPr/>
              </p:nvCxnSpPr>
              <p:spPr>
                <a:xfrm>
                  <a:off x="14650" y="6772"/>
                  <a:ext cx="0" cy="737"/>
                </a:xfrm>
                <a:prstGeom prst="straightConnector1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5240">
                  <a:solidFill>
                    <a:srgbClr val="7A35CC"/>
                  </a:solidFill>
                  <a:prstDash val="dash"/>
                  <a:headEnd type="triangle"/>
                  <a:tailEnd type="triangle" w="med" len="med"/>
                </a:ln>
              </p:spPr>
            </p:cxnSp>
          </p:grpSp>
          <p:cxnSp>
            <p:nvCxnSpPr>
              <p:cNvPr id="169" name="直接箭头连接符 168"/>
              <p:cNvCxnSpPr/>
              <p:nvPr/>
            </p:nvCxnSpPr>
            <p:spPr>
              <a:xfrm flipH="1" flipV="1">
                <a:off x="16810" y="6770"/>
                <a:ext cx="259" cy="11"/>
              </a:xfrm>
              <a:prstGeom prst="straightConnector1">
                <a:avLst/>
              </a:prstGeom>
              <a:ln w="25400">
                <a:solidFill>
                  <a:srgbClr val="7A35CC"/>
                </a:solidFill>
                <a:prstDash val="solid"/>
                <a:tailEnd type="triangle" w="med" len="med"/>
              </a:ln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文本框 169"/>
                <p:cNvSpPr txBox="1"/>
                <p:nvPr/>
              </p:nvSpPr>
              <p:spPr>
                <a:xfrm>
                  <a:off x="13305" y="5643"/>
                  <a:ext cx="2973" cy="87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𝓛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𝒔𝒆𝒒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𝑲𝑳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400" b="1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𝒁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sub>
                                      <m:sup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begChr m:val="‖"/>
                                        <m:endChr m:val=""/>
                                        <m:ctrlPr>
                                          <a:rPr lang="en-US" altLang="zh-CN" sz="1400" b="1" i="1"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𝒁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400" b="1" i="1">
                                                <a:latin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</m:nary>
                          </m:num>
                          <m:den>
                            <m:sSub>
                              <m:sSub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𝑺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400" b="1"/>
                </a:p>
              </p:txBody>
            </p:sp>
          </mc:Choice>
          <mc:Fallback>
            <p:sp>
              <p:nvSpPr>
                <p:cNvPr id="170" name="文本框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05" y="5643"/>
                  <a:ext cx="2973" cy="877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3" name="直接箭头连接符 172"/>
            <p:cNvCxnSpPr>
              <a:stCxn id="69" idx="0"/>
            </p:cNvCxnSpPr>
            <p:nvPr/>
          </p:nvCxnSpPr>
          <p:spPr>
            <a:xfrm flipV="1">
              <a:off x="11386" y="4841"/>
              <a:ext cx="9" cy="572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miter lim="800000"/>
              <a:tailEnd type="triangle" w="med" len="med"/>
            </a:ln>
          </p:spPr>
        </p:cxnSp>
        <p:cxnSp>
          <p:nvCxnSpPr>
            <p:cNvPr id="174" name="直接箭头连接符 173"/>
            <p:cNvCxnSpPr/>
            <p:nvPr/>
          </p:nvCxnSpPr>
          <p:spPr>
            <a:xfrm flipH="1">
              <a:off x="13137" y="4865"/>
              <a:ext cx="0" cy="283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arrow" w="med" len="med"/>
            </a:ln>
          </p:spPr>
        </p:cxnSp>
        <p:cxnSp>
          <p:nvCxnSpPr>
            <p:cNvPr id="180" name="肘形连接符 179"/>
            <p:cNvCxnSpPr>
              <a:stCxn id="69" idx="2"/>
            </p:cNvCxnSpPr>
            <p:nvPr/>
          </p:nvCxnSpPr>
          <p:spPr>
            <a:xfrm rot="5400000" flipV="1">
              <a:off x="11695" y="6105"/>
              <a:ext cx="210" cy="828"/>
            </a:xfrm>
            <a:prstGeom prst="bentConnector2">
              <a:avLst/>
            </a:prstGeom>
            <a:ln w="25400">
              <a:solidFill>
                <a:srgbClr val="7A35CC"/>
              </a:solidFill>
              <a:prstDash val="sysDash"/>
              <a:tailEnd type="triangle" w="med" len="med"/>
            </a:ln>
          </p:spPr>
        </p:cxnSp>
        <p:grpSp>
          <p:nvGrpSpPr>
            <p:cNvPr id="189" name="组合 188"/>
            <p:cNvGrpSpPr/>
            <p:nvPr/>
          </p:nvGrpSpPr>
          <p:grpSpPr>
            <a:xfrm rot="0">
              <a:off x="17033" y="6913"/>
              <a:ext cx="1136" cy="282"/>
              <a:chOff x="11302" y="4436"/>
              <a:chExt cx="1136" cy="282"/>
            </a:xfrm>
            <a:solidFill>
              <a:srgbClr val="A4D197"/>
            </a:solidFill>
          </p:grpSpPr>
          <p:sp>
            <p:nvSpPr>
              <p:cNvPr id="192" name="矩形 191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grpFill/>
              <a:ln>
                <a:solidFill>
                  <a:srgbClr val="55A83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 rot="0">
              <a:off x="17032" y="5324"/>
              <a:ext cx="1136" cy="282"/>
              <a:chOff x="11302" y="4436"/>
              <a:chExt cx="1136" cy="282"/>
            </a:xfrm>
          </p:grpSpPr>
          <p:sp>
            <p:nvSpPr>
              <p:cNvPr id="216" name="矩形 215"/>
              <p:cNvSpPr/>
              <p:nvPr/>
            </p:nvSpPr>
            <p:spPr>
              <a:xfrm>
                <a:off x="11302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11590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11873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12156" y="4436"/>
                <a:ext cx="283" cy="283"/>
              </a:xfrm>
              <a:prstGeom prst="rect">
                <a:avLst/>
              </a:prstGeom>
              <a:solidFill>
                <a:srgbClr val="2F73E8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37" name="直接箭头连接符 236"/>
            <p:cNvCxnSpPr/>
            <p:nvPr/>
          </p:nvCxnSpPr>
          <p:spPr>
            <a:xfrm>
              <a:off x="17604" y="5799"/>
              <a:ext cx="0" cy="866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5240">
              <a:solidFill>
                <a:srgbClr val="7A35CC"/>
              </a:solidFill>
              <a:prstDash val="dash"/>
              <a:headEnd type="triangle"/>
              <a:tailEnd type="triangle" w="med" len="med"/>
            </a:ln>
          </p:spPr>
        </p:cxnSp>
        <p:cxnSp>
          <p:nvCxnSpPr>
            <p:cNvPr id="249" name="直接连接符 248"/>
            <p:cNvCxnSpPr/>
            <p:nvPr/>
          </p:nvCxnSpPr>
          <p:spPr>
            <a:xfrm>
              <a:off x="17785" y="6211"/>
              <a:ext cx="576" cy="0"/>
            </a:xfrm>
            <a:prstGeom prst="line">
              <a:avLst/>
            </a:prstGeom>
            <a:ln w="25400">
              <a:solidFill>
                <a:srgbClr val="7A35CC"/>
              </a:solidFill>
              <a:prstDash val="solid"/>
              <a:miter lim="800000"/>
              <a:tailEnd type="none" w="med" len="med"/>
            </a:ln>
          </p:spPr>
        </p:cxnSp>
        <p:cxnSp>
          <p:nvCxnSpPr>
            <p:cNvPr id="252" name="直接箭头连接符 251"/>
            <p:cNvCxnSpPr/>
            <p:nvPr/>
          </p:nvCxnSpPr>
          <p:spPr>
            <a:xfrm flipH="1" flipV="1">
              <a:off x="18361" y="4947"/>
              <a:ext cx="0" cy="1280"/>
            </a:xfrm>
            <a:prstGeom prst="straightConnector1">
              <a:avLst/>
            </a:prstGeom>
            <a:ln w="25400">
              <a:solidFill>
                <a:srgbClr val="7A35CC"/>
              </a:solidFill>
              <a:prstDash val="solid"/>
              <a:tailEnd type="triangle" w="med" len="med"/>
            </a:ln>
          </p:spPr>
        </p:cxnSp>
      </p:grpSp>
      <p:cxnSp>
        <p:nvCxnSpPr>
          <p:cNvPr id="264" name="直接连接符 263"/>
          <p:cNvCxnSpPr/>
          <p:nvPr/>
        </p:nvCxnSpPr>
        <p:spPr>
          <a:xfrm flipH="1">
            <a:off x="826770" y="2334095"/>
            <a:ext cx="2540" cy="4925060"/>
          </a:xfrm>
          <a:prstGeom prst="line">
            <a:avLst/>
          </a:prstGeom>
          <a:ln w="25400">
            <a:solidFill>
              <a:schemeClr val="tx1"/>
            </a:solidFill>
            <a:prstDash val="solid"/>
            <a:tailEnd type="none" w="med" len="med"/>
          </a:ln>
        </p:spPr>
      </p:cxnSp>
      <p:cxnSp>
        <p:nvCxnSpPr>
          <p:cNvPr id="267" name="直接箭头连接符 266"/>
          <p:cNvCxnSpPr/>
          <p:nvPr/>
        </p:nvCxnSpPr>
        <p:spPr>
          <a:xfrm>
            <a:off x="835515" y="7240300"/>
            <a:ext cx="548640" cy="0"/>
          </a:xfrm>
          <a:prstGeom prst="straightConnector1">
            <a:avLst/>
          </a:prstGeom>
          <a:ln w="25400">
            <a:solidFill>
              <a:schemeClr val="tx1"/>
            </a:solidFill>
            <a:prstDash val="solid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080375" y="6924675"/>
                <a:ext cx="995680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kumimoji="0" lang="en-US" altLang="zh-CN" sz="1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kumimoji="0" lang="en-US" altLang="zh-CN" sz="1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𝑲</m:t>
                          </m:r>
                        </m:sup>
                      </m:sSup>
                    </m:oMath>
                  </m:oMathPara>
                </a14:m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375" y="6924675"/>
                <a:ext cx="995680" cy="266700"/>
              </a:xfrm>
              <a:prstGeom prst="rect">
                <a:avLst/>
              </a:prstGeom>
              <a:blipFill rotWithShape="1">
                <a:blip r:embed="rId25"/>
                <a:stretch>
                  <a:fillRect b="-1833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00810" y="6198870"/>
            <a:ext cx="6650355" cy="1516380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650355" h="1583055" fill="none" extrusionOk="0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 stroke="0" extrusionOk="0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7205980"/>
            <a:ext cx="431800" cy="431800"/>
          </a:xfrm>
          <a:prstGeom prst="rect">
            <a:avLst/>
          </a:prstGeom>
        </p:spPr>
      </p:pic>
      <p:sp>
        <p:nvSpPr>
          <p:cNvPr id="396" name="Student title"/>
          <p:cNvSpPr>
            <a:spLocks noGrp="1"/>
          </p:cNvSpPr>
          <p:nvPr/>
        </p:nvSpPr>
        <p:spPr>
          <a:xfrm>
            <a:off x="2707005" y="7318375"/>
            <a:ext cx="3996690" cy="397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188326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Student: lightweight LNN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188326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HS"/>
              <p:cNvSpPr>
                <a:spLocks noGrp="1"/>
              </p:cNvSpPr>
              <p:nvPr/>
            </p:nvSpPr>
            <p:spPr>
              <a:xfrm>
                <a:off x="1446530" y="5547995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2000" b="1" i="1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60" name="H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530" y="5547995"/>
                <a:ext cx="428625" cy="247650"/>
              </a:xfrm>
              <a:prstGeom prst="rect">
                <a:avLst/>
              </a:prstGeom>
              <a:blipFill rotWithShape="1">
                <a:blip r:embed="rId27"/>
                <a:stretch>
                  <a:fillRect b="-4153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student hidden"/>
          <p:cNvSpPr>
            <a:spLocks noGrp="1"/>
          </p:cNvSpPr>
          <p:nvPr/>
        </p:nvSpPr>
        <p:spPr>
          <a:xfrm>
            <a:off x="1962150" y="556006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16217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16217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282892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282892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349567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349567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16242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162425" y="566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kumimoji="0" sz="975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4991100" y="563626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5610225" y="565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oken-label-0"/>
              <p:cNvSpPr>
                <a:spLocks noGrp="1"/>
              </p:cNvSpPr>
              <p:nvPr/>
            </p:nvSpPr>
            <p:spPr>
              <a:xfrm>
                <a:off x="5610225" y="5664835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kumimoji="0" lang="en-US" sz="975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/>
                              <a:cs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472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5" y="5664835"/>
                <a:ext cx="304800" cy="209550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0" name="anchor"/>
          <p:cNvSpPr>
            <a:spLocks noGrp="1"/>
          </p:cNvSpPr>
          <p:nvPr/>
        </p:nvSpPr>
        <p:spPr>
          <a:xfrm>
            <a:off x="8783955" y="76098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23" name="anchor"/>
          <p:cNvSpPr>
            <a:spLocks noGrp="1"/>
          </p:cNvSpPr>
          <p:nvPr/>
        </p:nvSpPr>
        <p:spPr>
          <a:xfrm>
            <a:off x="4269105" y="55524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5" name="直接箭头连接符 1274"/>
          <p:cNvCxnSpPr/>
          <p:nvPr/>
        </p:nvCxnSpPr>
        <p:spPr>
          <a:xfrm flipV="1">
            <a:off x="2973705" y="5237480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grpSp>
        <p:nvGrpSpPr>
          <p:cNvPr id="44" name="组合 43"/>
          <p:cNvGrpSpPr/>
          <p:nvPr/>
        </p:nvGrpSpPr>
        <p:grpSpPr>
          <a:xfrm>
            <a:off x="8558530" y="169545"/>
            <a:ext cx="3406182" cy="2419055"/>
            <a:chOff x="15771" y="8619"/>
            <a:chExt cx="3614" cy="3810"/>
          </a:xfrm>
        </p:grpSpPr>
        <p:sp>
          <p:nvSpPr>
            <p:cNvPr id="589" name="Legend"/>
            <p:cNvSpPr>
              <a:spLocks noGrp="1"/>
            </p:cNvSpPr>
            <p:nvPr/>
          </p:nvSpPr>
          <p:spPr>
            <a:xfrm>
              <a:off x="15771" y="8619"/>
              <a:ext cx="3530" cy="3693"/>
            </a:xfrm>
            <a:prstGeom prst="roundRect">
              <a:avLst>
                <a:gd name="adj" fmla="val 8000"/>
              </a:avLst>
            </a:prstGeom>
            <a:pattFill prst="pct10">
              <a:fgClr>
                <a:schemeClr val="bg2">
                  <a:lumMod val="90000"/>
                </a:schemeClr>
              </a:fgClr>
              <a:bgClr>
                <a:schemeClr val="bg1"/>
              </a:bgClr>
            </a:pattFill>
            <a:ln w="11430">
              <a:solidFill>
                <a:srgbClr val="777777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86" name="组合 85"/>
            <p:cNvGrpSpPr/>
            <p:nvPr/>
          </p:nvGrpSpPr>
          <p:grpSpPr>
            <a:xfrm rot="0">
              <a:off x="15876" y="11649"/>
              <a:ext cx="3509" cy="780"/>
              <a:chOff x="18002" y="12265"/>
              <a:chExt cx="3509" cy="653"/>
            </a:xfrm>
          </p:grpSpPr>
          <p:sp>
            <p:nvSpPr>
              <p:cNvPr id="601" name="leg3"/>
              <p:cNvSpPr>
                <a:spLocks noGrp="1"/>
              </p:cNvSpPr>
              <p:nvPr/>
            </p:nvSpPr>
            <p:spPr>
              <a:xfrm>
                <a:off x="18793" y="12265"/>
                <a:ext cx="2718" cy="65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TS-T </a:t>
                </a: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KL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divergence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1251" name="直接箭头连接符 1250"/>
              <p:cNvCxnSpPr/>
              <p:nvPr/>
            </p:nvCxnSpPr>
            <p:spPr>
              <a:xfrm>
                <a:off x="18002" y="12529"/>
                <a:ext cx="690" cy="0"/>
              </a:xfrm>
              <a:prstGeom prst="straightConnector1">
                <a:avLst/>
              </a:prstGeom>
              <a:ln w="18098">
                <a:solidFill>
                  <a:srgbClr val="7A35CC"/>
                </a:solidFill>
                <a:prstDash val="dash"/>
                <a:headEnd type="triangle"/>
                <a:tailEnd type="triangle" w="med" len="med"/>
              </a:ln>
            </p:spPr>
          </p:cxnSp>
        </p:grpSp>
        <p:grpSp>
          <p:nvGrpSpPr>
            <p:cNvPr id="77" name="组合 76"/>
            <p:cNvGrpSpPr/>
            <p:nvPr/>
          </p:nvGrpSpPr>
          <p:grpSpPr>
            <a:xfrm rot="0">
              <a:off x="15876" y="9494"/>
              <a:ext cx="2179" cy="589"/>
              <a:chOff x="18209" y="10938"/>
              <a:chExt cx="2179" cy="493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209" y="10962"/>
                <a:ext cx="469" cy="469"/>
              </a:xfrm>
              <a:prstGeom prst="rect">
                <a:avLst/>
              </a:prstGeom>
            </p:spPr>
          </p:pic>
          <p:sp>
            <p:nvSpPr>
              <p:cNvPr id="114" name="leg1"/>
              <p:cNvSpPr>
                <a:spLocks noGrp="1"/>
              </p:cNvSpPr>
              <p:nvPr/>
            </p:nvSpPr>
            <p:spPr>
              <a:xfrm>
                <a:off x="18815" y="10938"/>
                <a:ext cx="1573" cy="358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rozen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 rot="0">
              <a:off x="15823" y="8718"/>
              <a:ext cx="2516" cy="566"/>
              <a:chOff x="18147" y="10266"/>
              <a:chExt cx="2516" cy="474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47" y="10269"/>
                <a:ext cx="471" cy="471"/>
              </a:xfrm>
              <a:prstGeom prst="rect">
                <a:avLst/>
              </a:prstGeom>
            </p:spPr>
          </p:pic>
          <p:sp>
            <p:nvSpPr>
              <p:cNvPr id="85" name="leg1"/>
              <p:cNvSpPr>
                <a:spLocks noGrp="1"/>
              </p:cNvSpPr>
              <p:nvPr/>
            </p:nvSpPr>
            <p:spPr>
              <a:xfrm>
                <a:off x="18737" y="10266"/>
                <a:ext cx="1926" cy="442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rainable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 rot="0">
              <a:off x="15792" y="10223"/>
              <a:ext cx="3508" cy="1270"/>
              <a:chOff x="17936" y="9854"/>
              <a:chExt cx="3508" cy="1064"/>
            </a:xfrm>
          </p:grpSpPr>
          <p:sp>
            <p:nvSpPr>
              <p:cNvPr id="81" name="leg2"/>
              <p:cNvSpPr>
                <a:spLocks noGrp="1"/>
              </p:cNvSpPr>
              <p:nvPr/>
            </p:nvSpPr>
            <p:spPr>
              <a:xfrm>
                <a:off x="18701" y="9854"/>
                <a:ext cx="2743" cy="106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0">
                    <a:solidFill>
                      <a:srgbClr val="111111"/>
                    </a:solidFill>
                  </a:defRPr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</a:rPr>
                  <a:t>MemKD Smooth L1 Loss</a:t>
                </a:r>
                <a:endPara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endParaRPr>
              </a:p>
            </p:txBody>
          </p:sp>
          <p:cxnSp>
            <p:nvCxnSpPr>
              <p:cNvPr id="82" name="直接箭头连接符 81"/>
              <p:cNvCxnSpPr/>
              <p:nvPr/>
            </p:nvCxnSpPr>
            <p:spPr>
              <a:xfrm>
                <a:off x="17936" y="10098"/>
                <a:ext cx="690" cy="0"/>
              </a:xfrm>
              <a:prstGeom prst="straightConnector1">
                <a:avLst/>
              </a:prstGeom>
              <a:ln w="18098">
                <a:solidFill>
                  <a:srgbClr val="FF6A00"/>
                </a:solidFill>
                <a:prstDash val="dash"/>
                <a:headEnd type="triangle"/>
                <a:tailEnd type="triangle" w="med" len="med"/>
              </a:ln>
            </p:spPr>
          </p:cxnSp>
        </p:grpSp>
        <p:sp>
          <p:nvSpPr>
            <p:cNvPr id="527" name="anchor"/>
            <p:cNvSpPr>
              <a:spLocks noGrp="1"/>
            </p:cNvSpPr>
            <p:nvPr/>
          </p:nvSpPr>
          <p:spPr>
            <a:xfrm>
              <a:off x="16315" y="11799"/>
              <a:ext cx="30" cy="36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643" name="anchor"/>
            <p:cNvSpPr>
              <a:spLocks noGrp="1"/>
            </p:cNvSpPr>
            <p:nvPr/>
          </p:nvSpPr>
          <p:spPr>
            <a:xfrm>
              <a:off x="16285" y="11993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650" name="anchor"/>
          <p:cNvSpPr>
            <a:spLocks noGrp="1"/>
          </p:cNvSpPr>
          <p:nvPr/>
        </p:nvSpPr>
        <p:spPr>
          <a:xfrm>
            <a:off x="8412480" y="707644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7" name="module-1D CNN&#10;encoder"/>
          <p:cNvSpPr>
            <a:spLocks noGrp="1"/>
          </p:cNvSpPr>
          <p:nvPr/>
        </p:nvSpPr>
        <p:spPr>
          <a:xfrm>
            <a:off x="1784985" y="6372225"/>
            <a:ext cx="1057275" cy="120015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8" name="module-title-1D CNN&#10;encoder"/>
          <p:cNvSpPr>
            <a:spLocks noGrp="1"/>
          </p:cNvSpPr>
          <p:nvPr/>
        </p:nvSpPr>
        <p:spPr>
          <a:xfrm>
            <a:off x="1677670" y="6372225"/>
            <a:ext cx="1150620" cy="490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1D CNN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encoder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402" name="anchor"/>
          <p:cNvSpPr>
            <a:spLocks noGrp="1"/>
          </p:cNvSpPr>
          <p:nvPr/>
        </p:nvSpPr>
        <p:spPr>
          <a:xfrm>
            <a:off x="2251710" y="71056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3" name="anchor"/>
          <p:cNvSpPr>
            <a:spLocks noGrp="1"/>
          </p:cNvSpPr>
          <p:nvPr/>
        </p:nvSpPr>
        <p:spPr>
          <a:xfrm>
            <a:off x="2394585" y="6991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5" name="anchor"/>
          <p:cNvSpPr>
            <a:spLocks noGrp="1"/>
          </p:cNvSpPr>
          <p:nvPr/>
        </p:nvSpPr>
        <p:spPr>
          <a:xfrm>
            <a:off x="2451735" y="7134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6" name="anchor"/>
          <p:cNvSpPr>
            <a:spLocks noGrp="1"/>
          </p:cNvSpPr>
          <p:nvPr/>
        </p:nvSpPr>
        <p:spPr>
          <a:xfrm>
            <a:off x="2613660" y="7019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5" name="module-Classifier"/>
          <p:cNvSpPr>
            <a:spLocks noGrp="1"/>
          </p:cNvSpPr>
          <p:nvPr/>
        </p:nvSpPr>
        <p:spPr>
          <a:xfrm>
            <a:off x="6642735" y="6372225"/>
            <a:ext cx="1019175" cy="120015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6" name="module-title-Classifier"/>
          <p:cNvSpPr>
            <a:spLocks noGrp="1"/>
          </p:cNvSpPr>
          <p:nvPr/>
        </p:nvSpPr>
        <p:spPr>
          <a:xfrm>
            <a:off x="6572250" y="6372225"/>
            <a:ext cx="1156335" cy="2292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rPr>
              <a:t>Classifier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omic Sans MS" panose="030F0702030302020204" pitchFamily="66" charset="0"/>
            </a:endParaRPr>
          </a:p>
        </p:txBody>
      </p:sp>
      <p:sp>
        <p:nvSpPr>
          <p:cNvPr id="447" name="bar-0"/>
          <p:cNvSpPr>
            <a:spLocks noGrp="1"/>
          </p:cNvSpPr>
          <p:nvPr/>
        </p:nvSpPr>
        <p:spPr>
          <a:xfrm>
            <a:off x="6771005" y="7135495"/>
            <a:ext cx="85725" cy="19304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8" name="bar-1"/>
          <p:cNvSpPr>
            <a:spLocks noGrp="1"/>
          </p:cNvSpPr>
          <p:nvPr/>
        </p:nvSpPr>
        <p:spPr>
          <a:xfrm>
            <a:off x="6971030" y="6986270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9" name="bar-2"/>
          <p:cNvSpPr>
            <a:spLocks noGrp="1"/>
          </p:cNvSpPr>
          <p:nvPr/>
        </p:nvSpPr>
        <p:spPr>
          <a:xfrm>
            <a:off x="7171055" y="6804025"/>
            <a:ext cx="85725" cy="52514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0" name="bar-3"/>
          <p:cNvSpPr>
            <a:spLocks noGrp="1"/>
          </p:cNvSpPr>
          <p:nvPr/>
        </p:nvSpPr>
        <p:spPr>
          <a:xfrm>
            <a:off x="7371080" y="6986270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51" name="anchor"/>
          <p:cNvSpPr>
            <a:spLocks noGrp="1"/>
          </p:cNvSpPr>
          <p:nvPr/>
        </p:nvSpPr>
        <p:spPr>
          <a:xfrm>
            <a:off x="2842260" y="6915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04" name="直接箭头连接符 1103"/>
          <p:cNvCxnSpPr>
            <a:stCxn id="451" idx="6"/>
            <a:endCxn id="452" idx="2"/>
          </p:cNvCxnSpPr>
          <p:nvPr/>
        </p:nvCxnSpPr>
        <p:spPr>
          <a:xfrm>
            <a:off x="2861310" y="6924675"/>
            <a:ext cx="2095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107" name="直接箭头连接符 1106"/>
          <p:cNvCxnSpPr>
            <a:stCxn id="454" idx="6"/>
            <a:endCxn id="455" idx="2"/>
          </p:cNvCxnSpPr>
          <p:nvPr/>
        </p:nvCxnSpPr>
        <p:spPr>
          <a:xfrm>
            <a:off x="4823460" y="6924675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/>
          <p:cNvSpPr>
            <a:spLocks noGrp="1"/>
          </p:cNvSpPr>
          <p:nvPr/>
        </p:nvSpPr>
        <p:spPr>
          <a:xfrm>
            <a:off x="6633210" y="6915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110" name="直接箭头连接符 1109"/>
          <p:cNvCxnSpPr>
            <a:stCxn id="457" idx="6"/>
            <a:endCxn id="458" idx="2"/>
          </p:cNvCxnSpPr>
          <p:nvPr/>
        </p:nvCxnSpPr>
        <p:spPr>
          <a:xfrm>
            <a:off x="6433185" y="6924675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/>
          <p:cNvSpPr>
            <a:spLocks noGrp="1"/>
          </p:cNvSpPr>
          <p:nvPr/>
        </p:nvSpPr>
        <p:spPr>
          <a:xfrm>
            <a:off x="1556385" y="68961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6" name="anchor"/>
          <p:cNvSpPr>
            <a:spLocks noGrp="1"/>
          </p:cNvSpPr>
          <p:nvPr/>
        </p:nvSpPr>
        <p:spPr>
          <a:xfrm>
            <a:off x="7652385" y="69056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7" name="anchor"/>
          <p:cNvSpPr>
            <a:spLocks noGrp="1"/>
          </p:cNvSpPr>
          <p:nvPr/>
        </p:nvSpPr>
        <p:spPr>
          <a:xfrm>
            <a:off x="8004810" y="69056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9" name="anchor"/>
          <p:cNvSpPr>
            <a:spLocks noGrp="1"/>
          </p:cNvSpPr>
          <p:nvPr/>
        </p:nvSpPr>
        <p:spPr>
          <a:xfrm>
            <a:off x="7652385" y="7391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302" name="直接箭头连接符 1301"/>
          <p:cNvCxnSpPr>
            <a:stCxn id="649" idx="6"/>
            <a:endCxn id="650" idx="2"/>
          </p:cNvCxnSpPr>
          <p:nvPr/>
        </p:nvCxnSpPr>
        <p:spPr>
          <a:xfrm>
            <a:off x="7671435" y="7400925"/>
            <a:ext cx="5143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/>
          <p:cNvSpPr/>
          <p:nvPr/>
        </p:nvSpPr>
        <p:spPr>
          <a:xfrm>
            <a:off x="1927225" y="6997065"/>
            <a:ext cx="381000" cy="506730"/>
          </a:xfrm>
          <a:prstGeom prst="cube">
            <a:avLst>
              <a:gd name="adj" fmla="val 60185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4" name="立方体 243"/>
          <p:cNvSpPr/>
          <p:nvPr/>
        </p:nvSpPr>
        <p:spPr>
          <a:xfrm>
            <a:off x="2384425" y="7115175"/>
            <a:ext cx="303530" cy="358140"/>
          </a:xfrm>
          <a:prstGeom prst="cube">
            <a:avLst>
              <a:gd name="adj" fmla="val 47419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2" name="组合 41"/>
          <p:cNvGrpSpPr/>
          <p:nvPr/>
        </p:nvGrpSpPr>
        <p:grpSpPr>
          <a:xfrm rot="0">
            <a:off x="3070860" y="6696075"/>
            <a:ext cx="1752600" cy="542925"/>
            <a:chOff x="5355" y="11910"/>
            <a:chExt cx="2760" cy="855"/>
          </a:xfrm>
        </p:grpSpPr>
        <p:sp>
          <p:nvSpPr>
            <p:cNvPr id="408" name="module-BPCSCfC"/>
            <p:cNvSpPr>
              <a:spLocks noGrp="1"/>
            </p:cNvSpPr>
            <p:nvPr/>
          </p:nvSpPr>
          <p:spPr>
            <a:xfrm>
              <a:off x="5370" y="11910"/>
              <a:ext cx="2715" cy="693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09" name="module-title-BPCSCfC"/>
            <p:cNvSpPr>
              <a:spLocks noGrp="1"/>
            </p:cNvSpPr>
            <p:nvPr/>
          </p:nvSpPr>
          <p:spPr>
            <a:xfrm>
              <a:off x="5862" y="12077"/>
              <a:ext cx="1731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BPCSCfC</a:t>
              </a: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19" name="anchor"/>
            <p:cNvSpPr>
              <a:spLocks noGrp="1"/>
            </p:cNvSpPr>
            <p:nvPr/>
          </p:nvSpPr>
          <p:spPr>
            <a:xfrm>
              <a:off x="588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0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2" name="anchor"/>
            <p:cNvSpPr>
              <a:spLocks noGrp="1"/>
            </p:cNvSpPr>
            <p:nvPr/>
          </p:nvSpPr>
          <p:spPr>
            <a:xfrm>
              <a:off x="6450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3" name="anchor"/>
            <p:cNvSpPr>
              <a:spLocks noGrp="1"/>
            </p:cNvSpPr>
            <p:nvPr/>
          </p:nvSpPr>
          <p:spPr>
            <a:xfrm>
              <a:off x="588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6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8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29" name="anchor"/>
            <p:cNvSpPr>
              <a:spLocks noGrp="1"/>
            </p:cNvSpPr>
            <p:nvPr/>
          </p:nvSpPr>
          <p:spPr>
            <a:xfrm>
              <a:off x="6450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1" name="anchor"/>
            <p:cNvSpPr>
              <a:spLocks noGrp="1"/>
            </p:cNvSpPr>
            <p:nvPr/>
          </p:nvSpPr>
          <p:spPr>
            <a:xfrm>
              <a:off x="700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2" name="anchor"/>
            <p:cNvSpPr>
              <a:spLocks noGrp="1"/>
            </p:cNvSpPr>
            <p:nvPr/>
          </p:nvSpPr>
          <p:spPr>
            <a:xfrm>
              <a:off x="781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4" name="anchor"/>
            <p:cNvSpPr>
              <a:spLocks noGrp="1"/>
            </p:cNvSpPr>
            <p:nvPr/>
          </p:nvSpPr>
          <p:spPr>
            <a:xfrm>
              <a:off x="7815" y="1227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5" name="anchor"/>
            <p:cNvSpPr>
              <a:spLocks noGrp="1"/>
            </p:cNvSpPr>
            <p:nvPr/>
          </p:nvSpPr>
          <p:spPr>
            <a:xfrm>
              <a:off x="7005" y="127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2" name="anchor"/>
            <p:cNvSpPr>
              <a:spLocks noGrp="1"/>
            </p:cNvSpPr>
            <p:nvPr/>
          </p:nvSpPr>
          <p:spPr>
            <a:xfrm>
              <a:off x="535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4" name="anchor"/>
            <p:cNvSpPr>
              <a:spLocks noGrp="1"/>
            </p:cNvSpPr>
            <p:nvPr/>
          </p:nvSpPr>
          <p:spPr>
            <a:xfrm>
              <a:off x="8085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 rot="0">
            <a:off x="5023485" y="6685915"/>
            <a:ext cx="1409700" cy="467360"/>
            <a:chOff x="8430" y="11894"/>
            <a:chExt cx="2220" cy="736"/>
          </a:xfrm>
        </p:grpSpPr>
        <p:sp>
          <p:nvSpPr>
            <p:cNvPr id="438" name="module-DRASP"/>
            <p:cNvSpPr>
              <a:spLocks noGrp="1"/>
            </p:cNvSpPr>
            <p:nvPr/>
          </p:nvSpPr>
          <p:spPr>
            <a:xfrm>
              <a:off x="8460" y="11894"/>
              <a:ext cx="2175" cy="736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39" name="module-title-DRASP"/>
            <p:cNvSpPr>
              <a:spLocks noGrp="1"/>
            </p:cNvSpPr>
            <p:nvPr/>
          </p:nvSpPr>
          <p:spPr>
            <a:xfrm>
              <a:off x="8535" y="12077"/>
              <a:ext cx="1995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omic Sans MS" panose="030F0702030302020204" pitchFamily="66" charset="0"/>
                </a:rPr>
                <a:t>DRASP</a:t>
              </a:r>
              <a:endPara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omic Sans MS" panose="030F0702030302020204" pitchFamily="66" charset="0"/>
              </a:endParaRPr>
            </a:p>
          </p:txBody>
        </p:sp>
        <p:sp>
          <p:nvSpPr>
            <p:cNvPr id="455" name="anchor"/>
            <p:cNvSpPr>
              <a:spLocks noGrp="1"/>
            </p:cNvSpPr>
            <p:nvPr/>
          </p:nvSpPr>
          <p:spPr>
            <a:xfrm>
              <a:off x="843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457" name="anchor"/>
            <p:cNvSpPr>
              <a:spLocks noGrp="1"/>
            </p:cNvSpPr>
            <p:nvPr/>
          </p:nvSpPr>
          <p:spPr>
            <a:xfrm>
              <a:off x="10620" y="1225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89" name="直接连接符 88"/>
          <p:cNvCxnSpPr/>
          <p:nvPr/>
        </p:nvCxnSpPr>
        <p:spPr>
          <a:xfrm flipV="1">
            <a:off x="2961640" y="600075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肘形连接符 136"/>
          <p:cNvCxnSpPr/>
          <p:nvPr/>
        </p:nvCxnSpPr>
        <p:spPr>
          <a:xfrm rot="16200000" flipV="1">
            <a:off x="6129020" y="6409690"/>
            <a:ext cx="800100" cy="3175"/>
          </a:xfrm>
          <a:prstGeom prst="bentConnector3">
            <a:avLst>
              <a:gd name="adj1" fmla="val 499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6652260" y="5874385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zh-CN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kumimoji="0" sz="1500" b="1" i="1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260" y="5874385"/>
                <a:ext cx="428625" cy="28575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823087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41375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8593455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8773160" y="7324725"/>
            <a:ext cx="179705" cy="179705"/>
          </a:xfrm>
          <a:prstGeom prst="rect">
            <a:avLst/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6235700" y="5552440"/>
            <a:ext cx="1518285" cy="254000"/>
            <a:chOff x="10663" y="8787"/>
            <a:chExt cx="2391" cy="400"/>
          </a:xfrm>
        </p:grpSpPr>
        <p:sp>
          <p:nvSpPr>
            <p:cNvPr id="286" name="Student temporal tensor 1 layer 3"/>
            <p:cNvSpPr>
              <a:spLocks noGrp="1"/>
            </p:cNvSpPr>
            <p:nvPr/>
          </p:nvSpPr>
          <p:spPr>
            <a:xfrm>
              <a:off x="10663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91" name="Student temporal tensor 1 layer 3"/>
            <p:cNvSpPr>
              <a:spLocks noGrp="1"/>
            </p:cNvSpPr>
            <p:nvPr/>
          </p:nvSpPr>
          <p:spPr>
            <a:xfrm>
              <a:off x="1112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1" name="Student temporal tensor 1 layer 3"/>
            <p:cNvSpPr>
              <a:spLocks noGrp="1"/>
            </p:cNvSpPr>
            <p:nvPr/>
          </p:nvSpPr>
          <p:spPr>
            <a:xfrm>
              <a:off x="1160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6" name="Student temporal tensor 1 layer 3"/>
            <p:cNvSpPr>
              <a:spLocks noGrp="1"/>
            </p:cNvSpPr>
            <p:nvPr/>
          </p:nvSpPr>
          <p:spPr>
            <a:xfrm>
              <a:off x="12088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7" name="Student temporal tensor 1 layer 3"/>
            <p:cNvSpPr>
              <a:spLocks noGrp="1"/>
            </p:cNvSpPr>
            <p:nvPr/>
          </p:nvSpPr>
          <p:spPr>
            <a:xfrm>
              <a:off x="12574" y="8799"/>
              <a:ext cx="480" cy="388"/>
            </a:xfrm>
            <a:prstGeom prst="rect">
              <a:avLst/>
            </a:prstGeom>
            <a:solidFill>
              <a:srgbClr val="D6F1DA"/>
            </a:solidFill>
            <a:ln w="12383">
              <a:solidFill>
                <a:srgbClr val="35A446"/>
              </a:solidFill>
              <a:prstDash val="solid"/>
            </a:ln>
          </p:spPr>
          <p:txBody>
            <a:bodyPr wrap="none" lIns="9525" tIns="9525" rIns="9525" bIns="9525" anchor="ctr">
              <a:normAutofit/>
            </a:bodyPr>
            <a:lstStyle/>
            <a:p>
              <a:pPr algn="ctr">
                <a:defRPr sz="1275" b="1">
                  <a:solidFill>
                    <a:srgbClr val="217C3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defRPr>
              </a:pPr>
              <a:endParaRPr sz="1275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308" name="student dots"/>
            <p:cNvSpPr>
              <a:spLocks noGrp="1"/>
            </p:cNvSpPr>
            <p:nvPr/>
          </p:nvSpPr>
          <p:spPr>
            <a:xfrm>
              <a:off x="12180" y="8787"/>
              <a:ext cx="394" cy="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  <p:sp>
        <p:nvSpPr>
          <p:cNvPr id="314" name="class-Cargo ship"/>
          <p:cNvSpPr>
            <a:spLocks noGrp="1"/>
          </p:cNvSpPr>
          <p:nvPr/>
        </p:nvSpPr>
        <p:spPr>
          <a:xfrm>
            <a:off x="9228455" y="7434580"/>
            <a:ext cx="821690" cy="28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rPr>
              <a:t>Predicted Class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omic Sans MS" panose="030F0702030302020204" pitchFamily="66" charset="0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16" name="图片 315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445" y="6888480"/>
            <a:ext cx="521970" cy="521970"/>
          </a:xfrm>
          <a:prstGeom prst="rect">
            <a:avLst/>
          </a:prstGeom>
        </p:spPr>
      </p:pic>
      <p:cxnSp>
        <p:nvCxnSpPr>
          <p:cNvPr id="320" name="直接箭头连接符 319"/>
          <p:cNvCxnSpPr/>
          <p:nvPr/>
        </p:nvCxnSpPr>
        <p:spPr>
          <a:xfrm flipV="1">
            <a:off x="8952865" y="7410450"/>
            <a:ext cx="294005" cy="11430"/>
          </a:xfrm>
          <a:prstGeom prst="straightConnector1">
            <a:avLst/>
          </a:prstGeom>
          <a:ln w="25400">
            <a:solidFill>
              <a:srgbClr val="002060"/>
            </a:solidFill>
            <a:prstDash val="solid"/>
            <a:tailEnd type="triangle" w="med" len="med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9383395" y="58743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9659620" y="58743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8811895" y="5950585"/>
            <a:ext cx="718185" cy="179070"/>
            <a:chOff x="14159" y="9371"/>
            <a:chExt cx="1131" cy="282"/>
          </a:xfrm>
        </p:grpSpPr>
        <p:sp>
          <p:nvSpPr>
            <p:cNvPr id="324" name="矩形 323"/>
            <p:cNvSpPr/>
            <p:nvPr/>
          </p:nvSpPr>
          <p:spPr>
            <a:xfrm>
              <a:off x="14159" y="9371"/>
              <a:ext cx="283" cy="283"/>
            </a:xfrm>
            <a:prstGeom prst="rect">
              <a:avLst/>
            </a:prstGeom>
            <a:solidFill>
              <a:srgbClr val="C00000"/>
            </a:solidFill>
            <a:ln w="13335">
              <a:solidFill>
                <a:schemeClr val="tx1"/>
              </a:solidFill>
              <a:prstDash val="solid"/>
            </a:ln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28" name="矩形 327"/>
            <p:cNvSpPr/>
            <p:nvPr/>
          </p:nvSpPr>
          <p:spPr>
            <a:xfrm>
              <a:off x="14442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1" name="矩形 330"/>
            <p:cNvSpPr/>
            <p:nvPr/>
          </p:nvSpPr>
          <p:spPr>
            <a:xfrm>
              <a:off x="15008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4" name="矩形 333"/>
            <p:cNvSpPr/>
            <p:nvPr/>
          </p:nvSpPr>
          <p:spPr>
            <a:xfrm>
              <a:off x="14725" y="9371"/>
              <a:ext cx="283" cy="283"/>
            </a:xfrm>
            <a:prstGeom prst="rect">
              <a:avLst/>
            </a:prstGeom>
            <a:noFill/>
            <a:ln w="13335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0000"/>
                  </a:solidFill>
                </a14:hiddenFill>
              </a:ext>
            </a:extLst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7997190" y="5502910"/>
            <a:ext cx="1836420" cy="715010"/>
            <a:chOff x="13293" y="8696"/>
            <a:chExt cx="2892" cy="1126"/>
          </a:xfrm>
        </p:grpSpPr>
        <p:sp>
          <p:nvSpPr>
            <p:cNvPr id="323" name="圆角矩形 322"/>
            <p:cNvSpPr/>
            <p:nvPr/>
          </p:nvSpPr>
          <p:spPr>
            <a:xfrm>
              <a:off x="13293" y="8696"/>
              <a:ext cx="2862" cy="1127"/>
            </a:xfrm>
            <a:prstGeom prst="roundRect">
              <a:avLst/>
            </a:prstGeom>
            <a:noFill/>
            <a:ln w="13335">
              <a:solidFill>
                <a:srgbClr val="C00000"/>
              </a:solidFill>
              <a:prstDash val="dash"/>
            </a:ln>
          </p:spPr>
          <p:txBody>
            <a:bodyPr/>
            <a:p>
              <a:pPr marL="0" marR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13305" y="8704"/>
              <a:ext cx="2880" cy="483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400" b="1">
                  <a:latin typeface="Comic Sans MS" panose="030F0702030302020204" pitchFamily="66" charset="0"/>
                  <a:ea typeface="微软雅黑" panose="020B0503020204020204" charset="-122"/>
                  <a:cs typeface="Comic Sans MS" panose="030F0702030302020204" pitchFamily="66" charset="0"/>
                </a:rPr>
                <a:t>Ground Truth label</a:t>
              </a:r>
              <a:endParaRPr lang="en-US" altLang="zh-CN" sz="1400" b="1"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</a:endParaRPr>
            </a:p>
          </p:txBody>
        </p:sp>
      </p:grpSp>
      <p:cxnSp>
        <p:nvCxnSpPr>
          <p:cNvPr id="346" name="直接箭头连接符 345"/>
          <p:cNvCxnSpPr>
            <a:stCxn id="323" idx="2"/>
          </p:cNvCxnSpPr>
          <p:nvPr/>
        </p:nvCxnSpPr>
        <p:spPr>
          <a:xfrm>
            <a:off x="8905875" y="6218555"/>
            <a:ext cx="6350" cy="262255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p:cxnSp>
        <p:nvCxnSpPr>
          <p:cNvPr id="349" name="直接箭头连接符 348"/>
          <p:cNvCxnSpPr>
            <a:stCxn id="519" idx="0"/>
          </p:cNvCxnSpPr>
          <p:nvPr/>
        </p:nvCxnSpPr>
        <p:spPr>
          <a:xfrm flipV="1">
            <a:off x="8578215" y="6680200"/>
            <a:ext cx="224790" cy="244475"/>
          </a:xfrm>
          <a:prstGeom prst="straightConnector1">
            <a:avLst/>
          </a:prstGeom>
          <a:ln w="22225">
            <a:solidFill>
              <a:srgbClr val="C00000"/>
            </a:solidFill>
            <a:prstDash val="solid"/>
            <a:miter lim="800000"/>
            <a:tailEnd type="triangl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本框 351"/>
              <p:cNvSpPr txBox="1"/>
              <p:nvPr/>
            </p:nvSpPr>
            <p:spPr>
              <a:xfrm>
                <a:off x="8763635" y="6480810"/>
                <a:ext cx="40005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1111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</m:oMath>
                  </m:oMathPara>
                </a14:m>
                <a:endParaRPr kumimoji="0" lang="en-US" altLang="zh-CN" sz="2000" b="1" i="1" u="none" strike="noStrike" kern="1200" cap="none" spc="0" normalizeH="0" baseline="0" noProof="0" smtClean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2" name="文本框 3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635" y="6480810"/>
                <a:ext cx="400050" cy="398780"/>
              </a:xfrm>
              <a:prstGeom prst="rect">
                <a:avLst/>
              </a:prstGeom>
              <a:blipFill rotWithShape="1">
                <a:blip r:embed="rId33"/>
                <a:stretch>
                  <a:fillRect r="-20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9767570" y="5448300"/>
            <a:ext cx="2156393" cy="2327275"/>
            <a:chOff x="14025" y="181"/>
            <a:chExt cx="3396" cy="3665"/>
          </a:xfrm>
        </p:grpSpPr>
        <p:sp>
          <p:nvSpPr>
            <p:cNvPr id="634" name="anchor"/>
            <p:cNvSpPr>
              <a:spLocks noGrp="1"/>
            </p:cNvSpPr>
            <p:nvPr/>
          </p:nvSpPr>
          <p:spPr>
            <a:xfrm>
              <a:off x="14025" y="189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grpSp>
          <p:nvGrpSpPr>
            <p:cNvPr id="186" name="组合 185"/>
            <p:cNvGrpSpPr/>
            <p:nvPr/>
          </p:nvGrpSpPr>
          <p:grpSpPr>
            <a:xfrm>
              <a:off x="14331" y="181"/>
              <a:ext cx="3089" cy="3665"/>
              <a:chOff x="14631" y="1904"/>
              <a:chExt cx="2493" cy="2045"/>
            </a:xfrm>
          </p:grpSpPr>
          <p:sp>
            <p:nvSpPr>
              <p:cNvPr id="522" name="loss"/>
              <p:cNvSpPr>
                <a:spLocks noGrp="1"/>
              </p:cNvSpPr>
              <p:nvPr/>
            </p:nvSpPr>
            <p:spPr>
              <a:xfrm>
                <a:off x="14631" y="1904"/>
                <a:ext cx="2493" cy="2045"/>
              </a:xfrm>
              <a:custGeom>
                <a:avLst/>
                <a:gdLst>
                  <a:gd name="csX0" fmla="*/ 0 w 1657350"/>
                  <a:gd name="csY0" fmla="*/ 102279 h 1155700"/>
                  <a:gd name="csX1" fmla="*/ 102279 w 1657350"/>
                  <a:gd name="csY1" fmla="*/ 0 h 1155700"/>
                  <a:gd name="csX2" fmla="*/ 601071 w 1657350"/>
                  <a:gd name="csY2" fmla="*/ 0 h 1155700"/>
                  <a:gd name="csX3" fmla="*/ 1056279 w 1657350"/>
                  <a:gd name="csY3" fmla="*/ 0 h 1155700"/>
                  <a:gd name="csX4" fmla="*/ 1555071 w 1657350"/>
                  <a:gd name="csY4" fmla="*/ 0 h 1155700"/>
                  <a:gd name="csX5" fmla="*/ 1657350 w 1657350"/>
                  <a:gd name="csY5" fmla="*/ 102279 h 1155700"/>
                  <a:gd name="csX6" fmla="*/ 1657350 w 1657350"/>
                  <a:gd name="csY6" fmla="*/ 558827 h 1155700"/>
                  <a:gd name="csX7" fmla="*/ 1657350 w 1657350"/>
                  <a:gd name="csY7" fmla="*/ 1053421 h 1155700"/>
                  <a:gd name="csX8" fmla="*/ 1555071 w 1657350"/>
                  <a:gd name="csY8" fmla="*/ 1155700 h 1155700"/>
                  <a:gd name="csX9" fmla="*/ 1041751 w 1657350"/>
                  <a:gd name="csY9" fmla="*/ 1155700 h 1155700"/>
                  <a:gd name="csX10" fmla="*/ 542959 w 1657350"/>
                  <a:gd name="csY10" fmla="*/ 1155700 h 1155700"/>
                  <a:gd name="csX11" fmla="*/ 102279 w 1657350"/>
                  <a:gd name="csY11" fmla="*/ 1155700 h 1155700"/>
                  <a:gd name="csX12" fmla="*/ 0 w 1657350"/>
                  <a:gd name="csY12" fmla="*/ 1053421 h 1155700"/>
                  <a:gd name="csX13" fmla="*/ 0 w 1657350"/>
                  <a:gd name="csY13" fmla="*/ 577850 h 1155700"/>
                  <a:gd name="csX14" fmla="*/ 0 w 1657350"/>
                  <a:gd name="csY14" fmla="*/ 102279 h 1155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657350" h="1155700" fill="none" extrusionOk="0">
                    <a:moveTo>
                      <a:pt x="0" y="102279"/>
                    </a:moveTo>
                    <a:cubicBezTo>
                      <a:pt x="-5204" y="35185"/>
                      <a:pt x="45959" y="-2257"/>
                      <a:pt x="102279" y="0"/>
                    </a:cubicBezTo>
                    <a:cubicBezTo>
                      <a:pt x="304020" y="13055"/>
                      <a:pt x="386704" y="-12001"/>
                      <a:pt x="601071" y="0"/>
                    </a:cubicBezTo>
                    <a:cubicBezTo>
                      <a:pt x="815438" y="12001"/>
                      <a:pt x="844931" y="-6527"/>
                      <a:pt x="1056279" y="0"/>
                    </a:cubicBezTo>
                    <a:cubicBezTo>
                      <a:pt x="1267627" y="6527"/>
                      <a:pt x="1425664" y="16735"/>
                      <a:pt x="1555071" y="0"/>
                    </a:cubicBezTo>
                    <a:cubicBezTo>
                      <a:pt x="1615094" y="-748"/>
                      <a:pt x="1658326" y="55060"/>
                      <a:pt x="1657350" y="102279"/>
                    </a:cubicBezTo>
                    <a:cubicBezTo>
                      <a:pt x="1667711" y="276571"/>
                      <a:pt x="1651553" y="416038"/>
                      <a:pt x="1657350" y="558827"/>
                    </a:cubicBezTo>
                    <a:cubicBezTo>
                      <a:pt x="1663147" y="701616"/>
                      <a:pt x="1654890" y="831885"/>
                      <a:pt x="1657350" y="1053421"/>
                    </a:cubicBezTo>
                    <a:cubicBezTo>
                      <a:pt x="1659994" y="1101776"/>
                      <a:pt x="1613122" y="1157391"/>
                      <a:pt x="1555071" y="1155700"/>
                    </a:cubicBezTo>
                    <a:cubicBezTo>
                      <a:pt x="1303222" y="1151101"/>
                      <a:pt x="1209543" y="1160429"/>
                      <a:pt x="1041751" y="1155700"/>
                    </a:cubicBezTo>
                    <a:cubicBezTo>
                      <a:pt x="873959" y="1150971"/>
                      <a:pt x="665865" y="1154475"/>
                      <a:pt x="542959" y="1155700"/>
                    </a:cubicBezTo>
                    <a:cubicBezTo>
                      <a:pt x="420053" y="1156925"/>
                      <a:pt x="278583" y="1143518"/>
                      <a:pt x="102279" y="1155700"/>
                    </a:cubicBezTo>
                    <a:cubicBezTo>
                      <a:pt x="41612" y="1168731"/>
                      <a:pt x="-3504" y="1098874"/>
                      <a:pt x="0" y="1053421"/>
                    </a:cubicBezTo>
                    <a:cubicBezTo>
                      <a:pt x="18729" y="867212"/>
                      <a:pt x="-4507" y="686474"/>
                      <a:pt x="0" y="577850"/>
                    </a:cubicBezTo>
                    <a:cubicBezTo>
                      <a:pt x="4507" y="469226"/>
                      <a:pt x="16964" y="241845"/>
                      <a:pt x="0" y="102279"/>
                    </a:cubicBezTo>
                    <a:close/>
                  </a:path>
                  <a:path w="1657350" h="1155700" stroke="0" extrusionOk="0">
                    <a:moveTo>
                      <a:pt x="0" y="102279"/>
                    </a:moveTo>
                    <a:cubicBezTo>
                      <a:pt x="-10777" y="39145"/>
                      <a:pt x="34370" y="4287"/>
                      <a:pt x="102279" y="0"/>
                    </a:cubicBezTo>
                    <a:cubicBezTo>
                      <a:pt x="246129" y="-20315"/>
                      <a:pt x="500598" y="-16605"/>
                      <a:pt x="615599" y="0"/>
                    </a:cubicBezTo>
                    <a:cubicBezTo>
                      <a:pt x="730600" y="16605"/>
                      <a:pt x="863804" y="14696"/>
                      <a:pt x="1085335" y="0"/>
                    </a:cubicBezTo>
                    <a:cubicBezTo>
                      <a:pt x="1306866" y="-14696"/>
                      <a:pt x="1440881" y="-4024"/>
                      <a:pt x="1555071" y="0"/>
                    </a:cubicBezTo>
                    <a:cubicBezTo>
                      <a:pt x="1610791" y="-2470"/>
                      <a:pt x="1660394" y="34529"/>
                      <a:pt x="1657350" y="102279"/>
                    </a:cubicBezTo>
                    <a:cubicBezTo>
                      <a:pt x="1635750" y="226616"/>
                      <a:pt x="1677404" y="445846"/>
                      <a:pt x="1657350" y="558827"/>
                    </a:cubicBezTo>
                    <a:cubicBezTo>
                      <a:pt x="1637296" y="671808"/>
                      <a:pt x="1645855" y="841176"/>
                      <a:pt x="1657350" y="1053421"/>
                    </a:cubicBezTo>
                    <a:cubicBezTo>
                      <a:pt x="1653215" y="1116748"/>
                      <a:pt x="1603325" y="1146151"/>
                      <a:pt x="1555071" y="1155700"/>
                    </a:cubicBezTo>
                    <a:cubicBezTo>
                      <a:pt x="1452605" y="1139714"/>
                      <a:pt x="1260909" y="1140226"/>
                      <a:pt x="1099863" y="1155700"/>
                    </a:cubicBezTo>
                    <a:cubicBezTo>
                      <a:pt x="938817" y="1171174"/>
                      <a:pt x="718673" y="1170466"/>
                      <a:pt x="615599" y="1155700"/>
                    </a:cubicBezTo>
                    <a:cubicBezTo>
                      <a:pt x="512525" y="1140934"/>
                      <a:pt x="207863" y="1170176"/>
                      <a:pt x="102279" y="1155700"/>
                    </a:cubicBezTo>
                    <a:cubicBezTo>
                      <a:pt x="54191" y="1165989"/>
                      <a:pt x="3630" y="1106730"/>
                      <a:pt x="0" y="1053421"/>
                    </a:cubicBezTo>
                    <a:cubicBezTo>
                      <a:pt x="1347" y="851741"/>
                      <a:pt x="-12747" y="706086"/>
                      <a:pt x="0" y="577850"/>
                    </a:cubicBezTo>
                    <a:cubicBezTo>
                      <a:pt x="12747" y="449614"/>
                      <a:pt x="9420" y="254191"/>
                      <a:pt x="0" y="102279"/>
                    </a:cubicBezTo>
                    <a:close/>
                  </a:path>
                </a:pathLst>
              </a:custGeom>
              <a:solidFill>
                <a:srgbClr val="FFF6F6"/>
              </a:solidFill>
              <a:ln w="14288">
                <a:solidFill>
                  <a:srgbClr val="E60000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cs typeface="Calibri" panose="020F0502020204030204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14742" y="1952"/>
                    <a:ext cx="2272" cy="349"/>
                  </a:xfrm>
                  <a:prstGeom prst="rect">
                    <a:avLst/>
                  </a:prstGeom>
                </p:spPr>
                <p:txBody>
                  <a:bodyPr wrap="square">
                    <a:noAutofit/>
                    <a:extLst>
                      <a:ext uri="{4A0BC546-FE56-4ADE-93B0-CB8AF2F6F144}">
                        <wpsdc:textFrameExt xmlns:wpsdc="http://www.wps.cn/officeDocument/2022/drawingmlCustomData" type="text"/>
                      </a:ext>
                    </a:extLst>
                  </a:bodyPr>
                  <a:lstStyle/>
                  <a:p>
                    <a:pPr algn="l"/>
                    <a:r>
                      <a:rPr lang="en-US" altLang="zh-CN" sz="1600" b="1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mic Sans MS" panose="030F0702030302020204" pitchFamily="66" charset="0"/>
                        <a:cs typeface="Calibri" panose="020F0502020204030204"/>
                        <a:sym typeface="+mn-ea"/>
                      </a:rPr>
                      <a:t>Total loss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kumimoji="0" lang="en-US" altLang="zh-CN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a14:m>
                    <a:endParaRPr kumimoji="0" lang="en-US" altLang="zh-CN" sz="1600" b="1" i="1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11111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</a:endParaRPr>
                  </a:p>
                  <a:p>
                    <a:pPr algn="l"/>
                    <a:endParaRPr lang="zh-CN" altLang="en-US" sz="1600" b="1">
                      <a:latin typeface="Arial" panose="020B0604020202020204" pitchFamily="34" charset="0"/>
                      <a:ea typeface="微软雅黑" panose="020B0503020204020204" charset="-122"/>
                    </a:endParaRPr>
                  </a:p>
                </p:txBody>
              </p:sp>
            </mc:Choice>
            <mc:Fallback>
              <p:sp>
                <p:nvSpPr>
                  <p:cNvPr id="38" name="文本框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742" y="1952"/>
                    <a:ext cx="2272" cy="349"/>
                  </a:xfrm>
                  <a:prstGeom prst="rect">
                    <a:avLst/>
                  </a:prstGeom>
                  <a:blipFill rotWithShape="1">
                    <a:blip r:embed="rId3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used TS-T loss variable"/>
                <p:cNvSpPr>
                  <a:spLocks noGrp="1"/>
                </p:cNvSpPr>
                <p:nvPr/>
              </p:nvSpPr>
              <p:spPr>
                <a:xfrm>
                  <a:off x="16181" y="3037"/>
                  <a:ext cx="989" cy="720"/>
                </a:xfrm>
                <a:prstGeom prst="roundRect">
                  <a:avLst>
                    <a:gd name="adj" fmla="val 19444"/>
                  </a:avLst>
                </a:prstGeom>
                <a:solidFill>
                  <a:srgbClr val="76206F"/>
                </a:solid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 wrap="square" lIns="28575" tIns="19050" rIns="28575" bIns="19050" anchor="ctr">
                  <a:normAutofit/>
                </a:bodyPr>
                <a:lstStyle/>
                <a:p>
                  <a:pPr algn="ctr">
                    <a:defRPr sz="1350" b="1">
                      <a:solidFill>
                        <a:srgbClr val="FFFFFF"/>
                      </a:solidFill>
                      <a:latin typeface="Cambria Math" panose="02040503050406030204"/>
                      <a:ea typeface="Cambria Math" panose="02040503050406030204"/>
                      <a:cs typeface="Cambria Math" panose="02040503050406030204"/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600" b="1">
                    <a:solidFill>
                      <a:srgbClr val="FFFFFF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endParaRPr>
                </a:p>
              </p:txBody>
            </p:sp>
          </mc:Choice>
          <mc:Fallback>
            <p:sp>
              <p:nvSpPr>
                <p:cNvPr id="29" name="Fused TS-T loss variab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1" y="3037"/>
                  <a:ext cx="989" cy="720"/>
                </a:xfrm>
                <a:prstGeom prst="roundRect">
                  <a:avLst>
                    <a:gd name="adj" fmla="val 19444"/>
                  </a:avLst>
                </a:prstGeom>
                <a:blipFill rotWithShape="1">
                  <a:blip r:embed="rId35"/>
                </a:blipFill>
                <a:ln w="11430">
                  <a:solidFill>
                    <a:srgbClr val="76206F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0" name="矩形: 圆角 121"/>
                <p:cNvSpPr/>
                <p:nvPr/>
              </p:nvSpPr>
              <p:spPr>
                <a:xfrm>
                  <a:off x="15373" y="2040"/>
                  <a:ext cx="1201" cy="807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omic Sans MS" panose="030F0702030302020204" pitchFamily="66" charset="0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360" name="矩形: 圆角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3" y="2040"/>
                  <a:ext cx="1201" cy="807"/>
                </a:xfrm>
                <a:prstGeom prst="roundRect">
                  <a:avLst/>
                </a:prstGeom>
                <a:blipFill rotWithShape="1">
                  <a:blip r:embed="rId36"/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5" name="圆角矩形 364"/>
                <p:cNvSpPr/>
                <p:nvPr/>
              </p:nvSpPr>
              <p:spPr>
                <a:xfrm>
                  <a:off x="14960" y="902"/>
                  <a:ext cx="1440" cy="800"/>
                </a:xfrm>
                <a:prstGeom prst="roundRect">
                  <a:avLst/>
                </a:prstGeom>
                <a:solidFill>
                  <a:srgbClr val="C00000"/>
                </a:solidFill>
                <a:ln w="13335">
                  <a:solidFill>
                    <a:srgbClr val="C00000"/>
                  </a:solidFill>
                  <a:prstDash val="solid"/>
                </a:ln>
              </p:spPr>
              <p:txBody>
                <a:bodyPr/>
                <a:p>
                  <a:pPr marL="0" marR="0" indent="0" algn="l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kumimoji="0" lang="en-US" altLang="zh-CN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1800" b="1" i="1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65" name="圆角矩形 3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60" y="902"/>
                  <a:ext cx="1440" cy="800"/>
                </a:xfrm>
                <a:prstGeom prst="roundRect">
                  <a:avLst/>
                </a:prstGeom>
                <a:blipFill rotWithShape="1">
                  <a:blip r:embed="rId37"/>
                </a:blipFill>
                <a:ln w="13335">
                  <a:solidFill>
                    <a:srgbClr val="C0000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5" name="文本框 374"/>
                <p:cNvSpPr txBox="1"/>
                <p:nvPr/>
              </p:nvSpPr>
              <p:spPr>
                <a:xfrm>
                  <a:off x="14552" y="2129"/>
                  <a:ext cx="921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zh-CN" altLang="en-US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kumimoji="0" lang="en-US" altLang="zh-CN" sz="2000" b="1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75" name="文本框 3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52" y="2129"/>
                  <a:ext cx="921" cy="628"/>
                </a:xfrm>
                <a:prstGeom prst="rect">
                  <a:avLst/>
                </a:prstGeom>
                <a:blipFill rotWithShape="1">
                  <a:blip r:embed="rId3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0" name="文本框 379"/>
                <p:cNvSpPr txBox="1"/>
                <p:nvPr/>
              </p:nvSpPr>
              <p:spPr>
                <a:xfrm>
                  <a:off x="14322" y="3019"/>
                  <a:ext cx="2010" cy="6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zh-CN" sz="20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zh-CN" altLang="en-US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kumimoji="0" lang="en-US" altLang="zh-CN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1111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kumimoji="0" lang="en-US" altLang="zh-CN" sz="2000" b="1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80" name="文本框 3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22" y="3019"/>
                  <a:ext cx="2010" cy="628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组合 53"/>
          <p:cNvGrpSpPr/>
          <p:nvPr/>
        </p:nvGrpSpPr>
        <p:grpSpPr>
          <a:xfrm>
            <a:off x="2270760" y="200025"/>
            <a:ext cx="5984875" cy="2179320"/>
            <a:chOff x="3035" y="108"/>
            <a:chExt cx="9425" cy="3432"/>
          </a:xfrm>
        </p:grpSpPr>
        <p:sp>
          <p:nvSpPr>
            <p:cNvPr id="152" name="Teacher panel"/>
            <p:cNvSpPr>
              <a:spLocks noGrp="1"/>
            </p:cNvSpPr>
            <p:nvPr/>
          </p:nvSpPr>
          <p:spPr>
            <a:xfrm>
              <a:off x="3195" y="180"/>
              <a:ext cx="8910" cy="2600"/>
            </a:xfrm>
            <a:custGeom>
              <a:avLst/>
              <a:gdLst>
                <a:gd name="csX0" fmla="*/ 0 w 5215255"/>
                <a:gd name="csY0" fmla="*/ 87222 h 1651000"/>
                <a:gd name="csX1" fmla="*/ 87222 w 5215255"/>
                <a:gd name="csY1" fmla="*/ 0 h 1651000"/>
                <a:gd name="csX2" fmla="*/ 666915 w 5215255"/>
                <a:gd name="csY2" fmla="*/ 0 h 1651000"/>
                <a:gd name="csX3" fmla="*/ 1145792 w 5215255"/>
                <a:gd name="csY3" fmla="*/ 0 h 1651000"/>
                <a:gd name="csX4" fmla="*/ 1826302 w 5215255"/>
                <a:gd name="csY4" fmla="*/ 0 h 1651000"/>
                <a:gd name="csX5" fmla="*/ 2355587 w 5215255"/>
                <a:gd name="csY5" fmla="*/ 0 h 1651000"/>
                <a:gd name="csX6" fmla="*/ 2834464 w 5215255"/>
                <a:gd name="csY6" fmla="*/ 0 h 1651000"/>
                <a:gd name="csX7" fmla="*/ 3363749 w 5215255"/>
                <a:gd name="csY7" fmla="*/ 0 h 1651000"/>
                <a:gd name="csX8" fmla="*/ 4044259 w 5215255"/>
                <a:gd name="csY8" fmla="*/ 0 h 1651000"/>
                <a:gd name="csX9" fmla="*/ 4573544 w 5215255"/>
                <a:gd name="csY9" fmla="*/ 0 h 1651000"/>
                <a:gd name="csX10" fmla="*/ 5128033 w 5215255"/>
                <a:gd name="csY10" fmla="*/ 0 h 1651000"/>
                <a:gd name="csX11" fmla="*/ 5215255 w 5215255"/>
                <a:gd name="csY11" fmla="*/ 87222 h 1651000"/>
                <a:gd name="csX12" fmla="*/ 5215255 w 5215255"/>
                <a:gd name="csY12" fmla="*/ 594173 h 1651000"/>
                <a:gd name="csX13" fmla="*/ 5215255 w 5215255"/>
                <a:gd name="csY13" fmla="*/ 1056827 h 1651000"/>
                <a:gd name="csX14" fmla="*/ 5215255 w 5215255"/>
                <a:gd name="csY14" fmla="*/ 1563778 h 1651000"/>
                <a:gd name="csX15" fmla="*/ 5128033 w 5215255"/>
                <a:gd name="csY15" fmla="*/ 1651000 h 1651000"/>
                <a:gd name="csX16" fmla="*/ 4649156 w 5215255"/>
                <a:gd name="csY16" fmla="*/ 1651000 h 1651000"/>
                <a:gd name="csX17" fmla="*/ 4069463 w 5215255"/>
                <a:gd name="csY17" fmla="*/ 1651000 h 1651000"/>
                <a:gd name="csX18" fmla="*/ 3388953 w 5215255"/>
                <a:gd name="csY18" fmla="*/ 1651000 h 1651000"/>
                <a:gd name="csX19" fmla="*/ 2859668 w 5215255"/>
                <a:gd name="csY19" fmla="*/ 1651000 h 1651000"/>
                <a:gd name="csX20" fmla="*/ 2229567 w 5215255"/>
                <a:gd name="csY20" fmla="*/ 1651000 h 1651000"/>
                <a:gd name="csX21" fmla="*/ 1750690 w 5215255"/>
                <a:gd name="csY21" fmla="*/ 1651000 h 1651000"/>
                <a:gd name="csX22" fmla="*/ 1019772 w 5215255"/>
                <a:gd name="csY22" fmla="*/ 1651000 h 1651000"/>
                <a:gd name="csX23" fmla="*/ 87222 w 5215255"/>
                <a:gd name="csY23" fmla="*/ 1651000 h 1651000"/>
                <a:gd name="csX24" fmla="*/ 0 w 5215255"/>
                <a:gd name="csY24" fmla="*/ 1563778 h 1651000"/>
                <a:gd name="csX25" fmla="*/ 0 w 5215255"/>
                <a:gd name="csY25" fmla="*/ 1071593 h 1651000"/>
                <a:gd name="csX26" fmla="*/ 0 w 5215255"/>
                <a:gd name="csY26" fmla="*/ 579407 h 1651000"/>
                <a:gd name="csX27" fmla="*/ 0 w 5215255"/>
                <a:gd name="csY27" fmla="*/ 87222 h 1651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215255" h="1651000" fill="none" extrusionOk="0">
                  <a:moveTo>
                    <a:pt x="0" y="87222"/>
                  </a:moveTo>
                  <a:cubicBezTo>
                    <a:pt x="-348" y="31835"/>
                    <a:pt x="48766" y="6120"/>
                    <a:pt x="87222" y="0"/>
                  </a:cubicBezTo>
                  <a:cubicBezTo>
                    <a:pt x="219344" y="-19475"/>
                    <a:pt x="516872" y="3078"/>
                    <a:pt x="666915" y="0"/>
                  </a:cubicBezTo>
                  <a:cubicBezTo>
                    <a:pt x="816958" y="-3078"/>
                    <a:pt x="949497" y="11849"/>
                    <a:pt x="1145792" y="0"/>
                  </a:cubicBezTo>
                  <a:cubicBezTo>
                    <a:pt x="1342087" y="-11849"/>
                    <a:pt x="1533473" y="17626"/>
                    <a:pt x="1826302" y="0"/>
                  </a:cubicBezTo>
                  <a:cubicBezTo>
                    <a:pt x="2119131" y="-17626"/>
                    <a:pt x="2226742" y="-4384"/>
                    <a:pt x="2355587" y="0"/>
                  </a:cubicBezTo>
                  <a:cubicBezTo>
                    <a:pt x="2484432" y="4384"/>
                    <a:pt x="2620557" y="-6446"/>
                    <a:pt x="2834464" y="0"/>
                  </a:cubicBezTo>
                  <a:cubicBezTo>
                    <a:pt x="3048371" y="6446"/>
                    <a:pt x="3163223" y="5595"/>
                    <a:pt x="3363749" y="0"/>
                  </a:cubicBezTo>
                  <a:cubicBezTo>
                    <a:pt x="3564275" y="-5595"/>
                    <a:pt x="3748597" y="29995"/>
                    <a:pt x="4044259" y="0"/>
                  </a:cubicBezTo>
                  <a:cubicBezTo>
                    <a:pt x="4339921" y="-29995"/>
                    <a:pt x="4348515" y="-3114"/>
                    <a:pt x="4573544" y="0"/>
                  </a:cubicBezTo>
                  <a:cubicBezTo>
                    <a:pt x="4798573" y="3114"/>
                    <a:pt x="4997988" y="19105"/>
                    <a:pt x="5128033" y="0"/>
                  </a:cubicBezTo>
                  <a:cubicBezTo>
                    <a:pt x="5186862" y="2113"/>
                    <a:pt x="5211734" y="41325"/>
                    <a:pt x="5215255" y="87222"/>
                  </a:cubicBezTo>
                  <a:cubicBezTo>
                    <a:pt x="5215952" y="197890"/>
                    <a:pt x="5196838" y="481441"/>
                    <a:pt x="5215255" y="594173"/>
                  </a:cubicBezTo>
                  <a:cubicBezTo>
                    <a:pt x="5233672" y="706905"/>
                    <a:pt x="5221423" y="882662"/>
                    <a:pt x="5215255" y="1056827"/>
                  </a:cubicBezTo>
                  <a:cubicBezTo>
                    <a:pt x="5209087" y="1230992"/>
                    <a:pt x="5200999" y="1330290"/>
                    <a:pt x="5215255" y="1563778"/>
                  </a:cubicBezTo>
                  <a:cubicBezTo>
                    <a:pt x="5211387" y="1605039"/>
                    <a:pt x="5173194" y="1652399"/>
                    <a:pt x="5128033" y="1651000"/>
                  </a:cubicBezTo>
                  <a:cubicBezTo>
                    <a:pt x="4993040" y="1673204"/>
                    <a:pt x="4854154" y="1640656"/>
                    <a:pt x="4649156" y="1651000"/>
                  </a:cubicBezTo>
                  <a:cubicBezTo>
                    <a:pt x="4444158" y="1661344"/>
                    <a:pt x="4299961" y="1675904"/>
                    <a:pt x="4069463" y="1651000"/>
                  </a:cubicBezTo>
                  <a:cubicBezTo>
                    <a:pt x="3838965" y="1626096"/>
                    <a:pt x="3570126" y="1647770"/>
                    <a:pt x="3388953" y="1651000"/>
                  </a:cubicBezTo>
                  <a:cubicBezTo>
                    <a:pt x="3207780" y="1654231"/>
                    <a:pt x="2994305" y="1649606"/>
                    <a:pt x="2859668" y="1651000"/>
                  </a:cubicBezTo>
                  <a:cubicBezTo>
                    <a:pt x="2725032" y="1652394"/>
                    <a:pt x="2520404" y="1678532"/>
                    <a:pt x="2229567" y="1651000"/>
                  </a:cubicBezTo>
                  <a:cubicBezTo>
                    <a:pt x="1938730" y="1623468"/>
                    <a:pt x="1910377" y="1635317"/>
                    <a:pt x="1750690" y="1651000"/>
                  </a:cubicBezTo>
                  <a:cubicBezTo>
                    <a:pt x="1591003" y="1666683"/>
                    <a:pt x="1226053" y="1646688"/>
                    <a:pt x="1019772" y="1651000"/>
                  </a:cubicBezTo>
                  <a:cubicBezTo>
                    <a:pt x="813491" y="1655312"/>
                    <a:pt x="468755" y="1636778"/>
                    <a:pt x="87222" y="1651000"/>
                  </a:cubicBezTo>
                  <a:cubicBezTo>
                    <a:pt x="40689" y="1644660"/>
                    <a:pt x="2975" y="1600776"/>
                    <a:pt x="0" y="1563778"/>
                  </a:cubicBezTo>
                  <a:cubicBezTo>
                    <a:pt x="21172" y="1376235"/>
                    <a:pt x="-4497" y="1301134"/>
                    <a:pt x="0" y="1071593"/>
                  </a:cubicBezTo>
                  <a:cubicBezTo>
                    <a:pt x="4497" y="842053"/>
                    <a:pt x="-13182" y="785780"/>
                    <a:pt x="0" y="579407"/>
                  </a:cubicBezTo>
                  <a:cubicBezTo>
                    <a:pt x="13182" y="373034"/>
                    <a:pt x="-5582" y="270388"/>
                    <a:pt x="0" y="87222"/>
                  </a:cubicBezTo>
                  <a:close/>
                </a:path>
                <a:path w="5215255" h="1651000" stroke="0" extrusionOk="0">
                  <a:moveTo>
                    <a:pt x="0" y="87222"/>
                  </a:moveTo>
                  <a:cubicBezTo>
                    <a:pt x="-5292" y="35787"/>
                    <a:pt x="31588" y="2801"/>
                    <a:pt x="87222" y="0"/>
                  </a:cubicBezTo>
                  <a:cubicBezTo>
                    <a:pt x="297401" y="-9109"/>
                    <a:pt x="666877" y="3859"/>
                    <a:pt x="818140" y="0"/>
                  </a:cubicBezTo>
                  <a:cubicBezTo>
                    <a:pt x="969403" y="-3859"/>
                    <a:pt x="1192771" y="15059"/>
                    <a:pt x="1397833" y="0"/>
                  </a:cubicBezTo>
                  <a:cubicBezTo>
                    <a:pt x="1602895" y="-15059"/>
                    <a:pt x="1713593" y="8112"/>
                    <a:pt x="1927118" y="0"/>
                  </a:cubicBezTo>
                  <a:cubicBezTo>
                    <a:pt x="2140643" y="-8112"/>
                    <a:pt x="2361292" y="12628"/>
                    <a:pt x="2607628" y="0"/>
                  </a:cubicBezTo>
                  <a:cubicBezTo>
                    <a:pt x="2853964" y="-12628"/>
                    <a:pt x="3044152" y="2543"/>
                    <a:pt x="3187321" y="0"/>
                  </a:cubicBezTo>
                  <a:cubicBezTo>
                    <a:pt x="3330490" y="-2543"/>
                    <a:pt x="3722040" y="4353"/>
                    <a:pt x="3918238" y="0"/>
                  </a:cubicBezTo>
                  <a:cubicBezTo>
                    <a:pt x="4114436" y="-4353"/>
                    <a:pt x="4305001" y="-7587"/>
                    <a:pt x="4447524" y="0"/>
                  </a:cubicBezTo>
                  <a:cubicBezTo>
                    <a:pt x="4590047" y="7587"/>
                    <a:pt x="4958273" y="-5095"/>
                    <a:pt x="5128033" y="0"/>
                  </a:cubicBezTo>
                  <a:cubicBezTo>
                    <a:pt x="5182843" y="1596"/>
                    <a:pt x="5206660" y="37661"/>
                    <a:pt x="5215255" y="87222"/>
                  </a:cubicBezTo>
                  <a:cubicBezTo>
                    <a:pt x="5239566" y="267237"/>
                    <a:pt x="5207796" y="409408"/>
                    <a:pt x="5215255" y="579407"/>
                  </a:cubicBezTo>
                  <a:cubicBezTo>
                    <a:pt x="5222714" y="749406"/>
                    <a:pt x="5224116" y="907381"/>
                    <a:pt x="5215255" y="1056827"/>
                  </a:cubicBezTo>
                  <a:cubicBezTo>
                    <a:pt x="5206394" y="1206273"/>
                    <a:pt x="5198872" y="1381030"/>
                    <a:pt x="5215255" y="1563778"/>
                  </a:cubicBezTo>
                  <a:cubicBezTo>
                    <a:pt x="5222730" y="1602669"/>
                    <a:pt x="5165829" y="1646989"/>
                    <a:pt x="5128033" y="1651000"/>
                  </a:cubicBezTo>
                  <a:cubicBezTo>
                    <a:pt x="4979641" y="1628568"/>
                    <a:pt x="4637271" y="1660044"/>
                    <a:pt x="4497932" y="1651000"/>
                  </a:cubicBezTo>
                  <a:cubicBezTo>
                    <a:pt x="4358593" y="1641956"/>
                    <a:pt x="4099037" y="1619522"/>
                    <a:pt x="3767014" y="1651000"/>
                  </a:cubicBezTo>
                  <a:cubicBezTo>
                    <a:pt x="3434991" y="1682478"/>
                    <a:pt x="3323615" y="1679928"/>
                    <a:pt x="3136913" y="1651000"/>
                  </a:cubicBezTo>
                  <a:cubicBezTo>
                    <a:pt x="2950211" y="1622072"/>
                    <a:pt x="2770734" y="1650149"/>
                    <a:pt x="2658036" y="1651000"/>
                  </a:cubicBezTo>
                  <a:cubicBezTo>
                    <a:pt x="2545338" y="1651851"/>
                    <a:pt x="2382607" y="1625923"/>
                    <a:pt x="2128750" y="1651000"/>
                  </a:cubicBezTo>
                  <a:cubicBezTo>
                    <a:pt x="1874893" y="1676077"/>
                    <a:pt x="1653138" y="1683895"/>
                    <a:pt x="1397833" y="1651000"/>
                  </a:cubicBezTo>
                  <a:cubicBezTo>
                    <a:pt x="1142528" y="1618105"/>
                    <a:pt x="1037284" y="1648344"/>
                    <a:pt x="767731" y="1651000"/>
                  </a:cubicBezTo>
                  <a:cubicBezTo>
                    <a:pt x="498178" y="1653656"/>
                    <a:pt x="286330" y="1677069"/>
                    <a:pt x="87222" y="1651000"/>
                  </a:cubicBezTo>
                  <a:cubicBezTo>
                    <a:pt x="38782" y="1643751"/>
                    <a:pt x="11706" y="1614390"/>
                    <a:pt x="0" y="1563778"/>
                  </a:cubicBezTo>
                  <a:cubicBezTo>
                    <a:pt x="18886" y="1458745"/>
                    <a:pt x="10895" y="1230740"/>
                    <a:pt x="0" y="1071593"/>
                  </a:cubicBezTo>
                  <a:cubicBezTo>
                    <a:pt x="-10895" y="912446"/>
                    <a:pt x="13298" y="738236"/>
                    <a:pt x="0" y="579407"/>
                  </a:cubicBezTo>
                  <a:cubicBezTo>
                    <a:pt x="-13298" y="420578"/>
                    <a:pt x="-1561" y="187395"/>
                    <a:pt x="0" y="87222"/>
                  </a:cubicBezTo>
                  <a:close/>
                </a:path>
              </a:pathLst>
            </a:custGeom>
            <a:solidFill>
              <a:srgbClr val="F8FBFF"/>
            </a:solidFill>
            <a:ln w="12383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53" name="Teacher title"/>
            <p:cNvSpPr>
              <a:spLocks noGrp="1"/>
            </p:cNvSpPr>
            <p:nvPr/>
          </p:nvSpPr>
          <p:spPr>
            <a:xfrm>
              <a:off x="3035" y="108"/>
              <a:ext cx="7983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0646AD"/>
                  </a:solidFill>
                </a:defRPr>
              </a:pPr>
              <a:r>
                <a:rPr kumimoji="0" sz="2300" b="1" i="0" u="none" strike="noStrike" kern="1200" cap="none" spc="0" normalizeH="0" baseline="0" noProof="0" dirty="0">
                  <a:ln>
                    <a:noFill/>
                  </a:ln>
                  <a:solidFill>
                    <a:srgbClr val="0646AD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Teacher: pretrained wav2vec 2.0</a:t>
              </a:r>
              <a:endPara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0646AD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4" name="module-CNN&#10;encoder"/>
            <p:cNvSpPr>
              <a:spLocks noGrp="1"/>
            </p:cNvSpPr>
            <p:nvPr/>
          </p:nvSpPr>
          <p:spPr>
            <a:xfrm>
              <a:off x="3540" y="825"/>
              <a:ext cx="1785" cy="181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55" name="module-title-CNN&#10;encoder"/>
            <p:cNvSpPr>
              <a:spLocks noGrp="1"/>
            </p:cNvSpPr>
            <p:nvPr/>
          </p:nvSpPr>
          <p:spPr>
            <a:xfrm>
              <a:off x="3630" y="825"/>
              <a:ext cx="1605" cy="79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CNN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encoder</a:t>
              </a:r>
              <a:endPara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9" name="anchor"/>
            <p:cNvSpPr>
              <a:spLocks noGrp="1"/>
            </p:cNvSpPr>
            <p:nvPr/>
          </p:nvSpPr>
          <p:spPr>
            <a:xfrm>
              <a:off x="4275" y="213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60" name="anchor"/>
            <p:cNvSpPr>
              <a:spLocks noGrp="1"/>
            </p:cNvSpPr>
            <p:nvPr/>
          </p:nvSpPr>
          <p:spPr>
            <a:xfrm>
              <a:off x="4500" y="195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62" name="anchor"/>
            <p:cNvSpPr>
              <a:spLocks noGrp="1"/>
            </p:cNvSpPr>
            <p:nvPr/>
          </p:nvSpPr>
          <p:spPr>
            <a:xfrm>
              <a:off x="4590" y="21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63" name="anchor"/>
            <p:cNvSpPr>
              <a:spLocks noGrp="1"/>
            </p:cNvSpPr>
            <p:nvPr/>
          </p:nvSpPr>
          <p:spPr>
            <a:xfrm>
              <a:off x="4845" y="19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65" name="module-Transformer"/>
            <p:cNvSpPr>
              <a:spLocks noGrp="1"/>
            </p:cNvSpPr>
            <p:nvPr/>
          </p:nvSpPr>
          <p:spPr>
            <a:xfrm>
              <a:off x="5715" y="825"/>
              <a:ext cx="3565" cy="181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66" name="module-title-Transformer"/>
            <p:cNvSpPr>
              <a:spLocks noGrp="1"/>
            </p:cNvSpPr>
            <p:nvPr/>
          </p:nvSpPr>
          <p:spPr>
            <a:xfrm>
              <a:off x="6193" y="881"/>
              <a:ext cx="2610" cy="7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Transformer</a:t>
              </a:r>
              <a:r>
                <a:rPr kumimoji="0" lang="en-US" sz="14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 layer</a:t>
              </a:r>
              <a:endPara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67" name="tr-top"/>
            <p:cNvSpPr>
              <a:spLocks noGrp="1"/>
            </p:cNvSpPr>
            <p:nvPr/>
          </p:nvSpPr>
          <p:spPr>
            <a:xfrm>
              <a:off x="6275" y="1635"/>
              <a:ext cx="225" cy="734"/>
            </a:xfrm>
            <a:prstGeom prst="rect">
              <a:avLst/>
            </a:prstGeom>
            <a:solidFill>
              <a:srgbClr val="2F73E8">
                <a:alpha val="53333"/>
              </a:srgbClr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76" name="anchor"/>
            <p:cNvSpPr>
              <a:spLocks noGrp="1"/>
            </p:cNvSpPr>
            <p:nvPr/>
          </p:nvSpPr>
          <p:spPr>
            <a:xfrm>
              <a:off x="6795" y="23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78" name="anchor"/>
            <p:cNvSpPr>
              <a:spLocks noGrp="1"/>
            </p:cNvSpPr>
            <p:nvPr/>
          </p:nvSpPr>
          <p:spPr>
            <a:xfrm>
              <a:off x="6795" y="18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79" name="anchor"/>
            <p:cNvSpPr>
              <a:spLocks noGrp="1"/>
            </p:cNvSpPr>
            <p:nvPr/>
          </p:nvSpPr>
          <p:spPr>
            <a:xfrm>
              <a:off x="6225" y="23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81" name="anchor"/>
            <p:cNvSpPr>
              <a:spLocks noGrp="1"/>
            </p:cNvSpPr>
            <p:nvPr/>
          </p:nvSpPr>
          <p:spPr>
            <a:xfrm>
              <a:off x="6795" y="18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82" name="anchor"/>
            <p:cNvSpPr>
              <a:spLocks noGrp="1"/>
            </p:cNvSpPr>
            <p:nvPr/>
          </p:nvSpPr>
          <p:spPr>
            <a:xfrm>
              <a:off x="7350" y="23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84" name="anchor"/>
            <p:cNvSpPr>
              <a:spLocks noGrp="1"/>
            </p:cNvSpPr>
            <p:nvPr/>
          </p:nvSpPr>
          <p:spPr>
            <a:xfrm>
              <a:off x="7350" y="18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87" name="anchor"/>
            <p:cNvSpPr>
              <a:spLocks noGrp="1"/>
            </p:cNvSpPr>
            <p:nvPr/>
          </p:nvSpPr>
          <p:spPr>
            <a:xfrm>
              <a:off x="7350" y="18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88" name="anchor"/>
            <p:cNvSpPr>
              <a:spLocks noGrp="1"/>
            </p:cNvSpPr>
            <p:nvPr/>
          </p:nvSpPr>
          <p:spPr>
            <a:xfrm>
              <a:off x="8160" y="23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0" name="anchor"/>
            <p:cNvSpPr>
              <a:spLocks noGrp="1"/>
            </p:cNvSpPr>
            <p:nvPr/>
          </p:nvSpPr>
          <p:spPr>
            <a:xfrm>
              <a:off x="8160" y="184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1" name="anchor"/>
            <p:cNvSpPr>
              <a:spLocks noGrp="1"/>
            </p:cNvSpPr>
            <p:nvPr/>
          </p:nvSpPr>
          <p:spPr>
            <a:xfrm>
              <a:off x="7350" y="23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3" name="ellipsis"/>
            <p:cNvSpPr>
              <a:spLocks noGrp="1"/>
            </p:cNvSpPr>
            <p:nvPr/>
          </p:nvSpPr>
          <p:spPr>
            <a:xfrm>
              <a:off x="7631" y="1787"/>
              <a:ext cx="549" cy="46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275" b="0">
                  <a:solidFill>
                    <a:srgbClr val="111111"/>
                  </a:solidFill>
                </a:defRPr>
              </a:pPr>
              <a:r>
                <a:rPr kumimoji="0" sz="12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.</a:t>
              </a:r>
              <a:r>
                <a:rPr kumimoji="0" lang="en-US" altLang="zh-CN" sz="12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.</a:t>
              </a:r>
              <a:r>
                <a:rPr kumimoji="0" sz="1275" b="0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.</a:t>
              </a:r>
              <a:endParaRPr kumimoji="0" sz="1275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94" name="module-Classifier"/>
            <p:cNvSpPr>
              <a:spLocks noGrp="1"/>
            </p:cNvSpPr>
            <p:nvPr/>
          </p:nvSpPr>
          <p:spPr>
            <a:xfrm>
              <a:off x="9764" y="825"/>
              <a:ext cx="1950" cy="181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95" name="module-title-Classifier"/>
            <p:cNvSpPr>
              <a:spLocks noGrp="1"/>
            </p:cNvSpPr>
            <p:nvPr/>
          </p:nvSpPr>
          <p:spPr>
            <a:xfrm>
              <a:off x="9916" y="975"/>
              <a:ext cx="1770" cy="36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425" b="1">
                  <a:solidFill>
                    <a:srgbClr val="111111"/>
                  </a:solidFill>
                </a:defRPr>
              </a:pPr>
              <a:r>
                <a:rPr kumimoji="0" sz="1425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</a:rPr>
                <a:t>Classifier</a:t>
              </a:r>
              <a:endPara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pitchFamily="66" charset="0"/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0240" y="1635"/>
              <a:ext cx="1079" cy="826"/>
              <a:chOff x="9318" y="1607"/>
              <a:chExt cx="1079" cy="826"/>
            </a:xfrm>
          </p:grpSpPr>
          <p:sp>
            <p:nvSpPr>
              <p:cNvPr id="196" name="bar-0"/>
              <p:cNvSpPr>
                <a:spLocks noGrp="1"/>
              </p:cNvSpPr>
              <p:nvPr/>
            </p:nvSpPr>
            <p:spPr>
              <a:xfrm>
                <a:off x="9318" y="2129"/>
                <a:ext cx="135" cy="304"/>
              </a:xfrm>
              <a:prstGeom prst="rect">
                <a:avLst/>
              </a:prstGeom>
              <a:solidFill>
                <a:srgbClr val="2F73E8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97" name="bar-1"/>
              <p:cNvSpPr>
                <a:spLocks noGrp="1"/>
              </p:cNvSpPr>
              <p:nvPr/>
            </p:nvSpPr>
            <p:spPr>
              <a:xfrm>
                <a:off x="9633" y="1894"/>
                <a:ext cx="135" cy="539"/>
              </a:xfrm>
              <a:prstGeom prst="rect">
                <a:avLst/>
              </a:prstGeom>
              <a:solidFill>
                <a:srgbClr val="2F73E8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98" name="bar-2"/>
              <p:cNvSpPr>
                <a:spLocks noGrp="1"/>
              </p:cNvSpPr>
              <p:nvPr/>
            </p:nvSpPr>
            <p:spPr>
              <a:xfrm>
                <a:off x="9948" y="1607"/>
                <a:ext cx="135" cy="827"/>
              </a:xfrm>
              <a:prstGeom prst="rect">
                <a:avLst/>
              </a:prstGeom>
              <a:solidFill>
                <a:srgbClr val="2F73E8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199" name="bar-3"/>
              <p:cNvSpPr>
                <a:spLocks noGrp="1"/>
              </p:cNvSpPr>
              <p:nvPr/>
            </p:nvSpPr>
            <p:spPr>
              <a:xfrm>
                <a:off x="10263" y="1894"/>
                <a:ext cx="135" cy="539"/>
              </a:xfrm>
              <a:prstGeom prst="rect">
                <a:avLst/>
              </a:prstGeom>
              <a:solidFill>
                <a:srgbClr val="2F73E8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200" name="anchor"/>
            <p:cNvSpPr>
              <a:spLocks noGrp="1"/>
            </p:cNvSpPr>
            <p:nvPr/>
          </p:nvSpPr>
          <p:spPr>
            <a:xfrm>
              <a:off x="5325" y="1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1" name="anchor"/>
            <p:cNvSpPr>
              <a:spLocks noGrp="1"/>
            </p:cNvSpPr>
            <p:nvPr/>
          </p:nvSpPr>
          <p:spPr>
            <a:xfrm>
              <a:off x="5715" y="1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53" name="直接箭头连接符 852"/>
            <p:cNvCxnSpPr>
              <a:stCxn id="200" idx="6"/>
              <a:endCxn id="201" idx="2"/>
            </p:cNvCxnSpPr>
            <p:nvPr/>
          </p:nvCxnSpPr>
          <p:spPr>
            <a:xfrm>
              <a:off x="5355" y="1740"/>
              <a:ext cx="36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03" name="anchor"/>
            <p:cNvSpPr>
              <a:spLocks noGrp="1"/>
            </p:cNvSpPr>
            <p:nvPr/>
          </p:nvSpPr>
          <p:spPr>
            <a:xfrm>
              <a:off x="8505" y="1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4" name="anchor"/>
            <p:cNvSpPr>
              <a:spLocks noGrp="1"/>
            </p:cNvSpPr>
            <p:nvPr/>
          </p:nvSpPr>
          <p:spPr>
            <a:xfrm>
              <a:off x="8895" y="17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856" name="直接箭头连接符 855"/>
            <p:cNvCxnSpPr/>
            <p:nvPr/>
          </p:nvCxnSpPr>
          <p:spPr>
            <a:xfrm>
              <a:off x="9375" y="1755"/>
              <a:ext cx="360" cy="0"/>
            </a:xfrm>
            <a:prstGeom prst="straightConnector1">
              <a:avLst/>
            </a:prstGeom>
            <a:ln w="20955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206" name="anchor"/>
            <p:cNvSpPr>
              <a:spLocks noGrp="1"/>
            </p:cNvSpPr>
            <p:nvPr/>
          </p:nvSpPr>
          <p:spPr>
            <a:xfrm>
              <a:off x="10860" y="19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07" name="anchor"/>
            <p:cNvSpPr>
              <a:spLocks noGrp="1"/>
            </p:cNvSpPr>
            <p:nvPr/>
          </p:nvSpPr>
          <p:spPr>
            <a:xfrm>
              <a:off x="11745" y="190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19" name="token-0"/>
            <p:cNvSpPr>
              <a:spLocks noGrp="1"/>
            </p:cNvSpPr>
            <p:nvPr/>
          </p:nvSpPr>
          <p:spPr>
            <a:xfrm>
              <a:off x="4365" y="3195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0" name="token-label-0"/>
            <p:cNvSpPr>
              <a:spLocks noGrp="1"/>
            </p:cNvSpPr>
            <p:nvPr/>
          </p:nvSpPr>
          <p:spPr>
            <a:xfrm>
              <a:off x="4365" y="3210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1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1" name="token-1"/>
            <p:cNvSpPr>
              <a:spLocks noGrp="1"/>
            </p:cNvSpPr>
            <p:nvPr/>
          </p:nvSpPr>
          <p:spPr>
            <a:xfrm>
              <a:off x="5385" y="3195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2" name="token-label-1"/>
            <p:cNvSpPr>
              <a:spLocks noGrp="1"/>
            </p:cNvSpPr>
            <p:nvPr/>
          </p:nvSpPr>
          <p:spPr>
            <a:xfrm>
              <a:off x="5385" y="3210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2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3" name="token-2"/>
            <p:cNvSpPr>
              <a:spLocks noGrp="1"/>
            </p:cNvSpPr>
            <p:nvPr/>
          </p:nvSpPr>
          <p:spPr>
            <a:xfrm>
              <a:off x="6405" y="3195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4" name="token-label-2"/>
            <p:cNvSpPr>
              <a:spLocks noGrp="1"/>
            </p:cNvSpPr>
            <p:nvPr/>
          </p:nvSpPr>
          <p:spPr>
            <a:xfrm>
              <a:off x="6405" y="3210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3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5" name="token-3"/>
            <p:cNvSpPr>
              <a:spLocks noGrp="1"/>
            </p:cNvSpPr>
            <p:nvPr/>
          </p:nvSpPr>
          <p:spPr>
            <a:xfrm>
              <a:off x="7425" y="3195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226" name="token-label-3"/>
            <p:cNvSpPr>
              <a:spLocks noGrp="1"/>
            </p:cNvSpPr>
            <p:nvPr/>
          </p:nvSpPr>
          <p:spPr>
            <a:xfrm>
              <a:off x="7425" y="3210"/>
              <a:ext cx="48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975" b="1">
                  <a:solidFill>
                    <a:srgbClr val="111111"/>
                  </a:solidFill>
                </a:defRPr>
              </a:pPr>
              <a:r>
                <a:rPr kumimoji="0" sz="975" b="1" i="0" u="none" strike="noStrike" kern="1200" cap="none" spc="0" normalizeH="0" baseline="0" noProof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·</a:t>
              </a:r>
              <a:endPara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7" name="teacher dots"/>
            <p:cNvSpPr>
              <a:spLocks noGrp="1"/>
            </p:cNvSpPr>
            <p:nvPr/>
          </p:nvSpPr>
          <p:spPr>
            <a:xfrm>
              <a:off x="8610" y="3165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50" b="1">
                  <a:solidFill>
                    <a:srgbClr val="111111"/>
                  </a:solidFill>
                </a:defRPr>
              </a:pPr>
              <a:r>
                <a:rPr kumimoji="0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/>
                  <a:cs typeface="Calibri" panose="020F0502020204030204"/>
                </a:rPr>
                <a:t>⋯</a:t>
              </a:r>
              <a:endPara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28" name="token-0"/>
            <p:cNvSpPr>
              <a:spLocks noGrp="1"/>
            </p:cNvSpPr>
            <p:nvPr/>
          </p:nvSpPr>
          <p:spPr>
            <a:xfrm>
              <a:off x="9780" y="3195"/>
              <a:ext cx="480" cy="345"/>
            </a:xfrm>
            <a:prstGeom prst="roundRect">
              <a:avLst>
                <a:gd name="adj" fmla="val 17391"/>
              </a:avLst>
            </a:prstGeom>
            <a:solidFill>
              <a:srgbClr val="72A7F7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9" name="token-label-0"/>
                <p:cNvSpPr>
                  <a:spLocks noGrp="1"/>
                </p:cNvSpPr>
                <p:nvPr/>
              </p:nvSpPr>
              <p:spPr>
                <a:xfrm>
                  <a:off x="9780" y="3210"/>
                  <a:ext cx="480" cy="33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 sz="97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kumimoji="0" lang="en-US" altLang="zh-CN" sz="975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1111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kumimoji="0" sz="97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11111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/>
                    <a:cs typeface="Calibri" panose="020F0502020204030204"/>
                  </a:endParaRPr>
                </a:p>
              </p:txBody>
            </p:sp>
          </mc:Choice>
          <mc:Fallback>
            <p:sp>
              <p:nvSpPr>
                <p:cNvPr id="229" name="token-label-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0" y="3210"/>
                  <a:ext cx="480" cy="330"/>
                </a:xfrm>
                <a:prstGeom prst="rect">
                  <a:avLst/>
                </a:prstGeom>
                <a:blipFill rotWithShape="1">
                  <a:blip r:embed="rId40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1" name="anchor"/>
            <p:cNvSpPr>
              <a:spLocks noGrp="1"/>
            </p:cNvSpPr>
            <p:nvPr/>
          </p:nvSpPr>
          <p:spPr>
            <a:xfrm>
              <a:off x="3525" y="171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12" name="立方体 11"/>
            <p:cNvSpPr/>
            <p:nvPr/>
          </p:nvSpPr>
          <p:spPr>
            <a:xfrm>
              <a:off x="3816" y="1752"/>
              <a:ext cx="600" cy="744"/>
            </a:xfrm>
            <a:prstGeom prst="cube">
              <a:avLst>
                <a:gd name="adj" fmla="val 60185"/>
              </a:avLst>
            </a:prstGeom>
            <a:solidFill>
              <a:srgbClr val="90B4F3"/>
            </a:solidFill>
            <a:ln>
              <a:solidFill>
                <a:srgbClr val="4985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33" name="立方体 32"/>
            <p:cNvSpPr/>
            <p:nvPr/>
          </p:nvSpPr>
          <p:spPr>
            <a:xfrm>
              <a:off x="4536" y="1884"/>
              <a:ext cx="600" cy="564"/>
            </a:xfrm>
            <a:prstGeom prst="cube">
              <a:avLst>
                <a:gd name="adj" fmla="val 47419"/>
              </a:avLst>
            </a:prstGeom>
            <a:solidFill>
              <a:srgbClr val="90B4F3"/>
            </a:solidFill>
            <a:ln>
              <a:solidFill>
                <a:srgbClr val="4985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pic>
          <p:nvPicPr>
            <p:cNvPr id="108" name="图片 107"/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95" y="209"/>
              <a:ext cx="669" cy="669"/>
            </a:xfrm>
            <a:prstGeom prst="rect">
              <a:avLst/>
            </a:prstGeom>
          </p:spPr>
        </p:pic>
        <p:cxnSp>
          <p:nvCxnSpPr>
            <p:cNvPr id="60" name="直接连接符 59"/>
            <p:cNvCxnSpPr/>
            <p:nvPr/>
          </p:nvCxnSpPr>
          <p:spPr>
            <a:xfrm>
              <a:off x="5511" y="1860"/>
              <a:ext cx="0" cy="1185"/>
            </a:xfrm>
            <a:prstGeom prst="line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r-top"/>
            <p:cNvSpPr>
              <a:spLocks noGrp="1"/>
            </p:cNvSpPr>
            <p:nvPr/>
          </p:nvSpPr>
          <p:spPr>
            <a:xfrm>
              <a:off x="6848" y="1635"/>
              <a:ext cx="225" cy="734"/>
            </a:xfrm>
            <a:prstGeom prst="rect">
              <a:avLst/>
            </a:prstGeom>
            <a:solidFill>
              <a:srgbClr val="2F73E8">
                <a:alpha val="53333"/>
              </a:srgbClr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5" name="tr-top"/>
            <p:cNvSpPr>
              <a:spLocks noGrp="1"/>
            </p:cNvSpPr>
            <p:nvPr/>
          </p:nvSpPr>
          <p:spPr>
            <a:xfrm>
              <a:off x="7400" y="1635"/>
              <a:ext cx="225" cy="734"/>
            </a:xfrm>
            <a:prstGeom prst="rect">
              <a:avLst/>
            </a:prstGeom>
            <a:solidFill>
              <a:srgbClr val="2F73E8">
                <a:alpha val="53333"/>
              </a:srgbClr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6" name="tr-top"/>
            <p:cNvSpPr>
              <a:spLocks noGrp="1"/>
            </p:cNvSpPr>
            <p:nvPr/>
          </p:nvSpPr>
          <p:spPr>
            <a:xfrm>
              <a:off x="8210" y="1635"/>
              <a:ext cx="225" cy="734"/>
            </a:xfrm>
            <a:prstGeom prst="rect">
              <a:avLst/>
            </a:prstGeom>
            <a:solidFill>
              <a:srgbClr val="2F73E8">
                <a:alpha val="53333"/>
              </a:srgbClr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cs typeface="Calibri" panose="020F0502020204030204"/>
              </a:endParaRPr>
            </a:p>
          </p:txBody>
        </p:sp>
        <p:cxnSp>
          <p:nvCxnSpPr>
            <p:cNvPr id="43" name="肘形连接符 42"/>
            <p:cNvCxnSpPr>
              <a:stCxn id="194" idx="3"/>
            </p:cNvCxnSpPr>
            <p:nvPr/>
          </p:nvCxnSpPr>
          <p:spPr>
            <a:xfrm>
              <a:off x="11714" y="1733"/>
              <a:ext cx="746" cy="1219"/>
            </a:xfrm>
            <a:prstGeom prst="bentConnector2">
              <a:avLst/>
            </a:prstGeom>
            <a:ln w="25400">
              <a:solidFill>
                <a:schemeClr val="tx1"/>
              </a:solidFill>
              <a:prstDash val="solid"/>
              <a:tailEnd type="triangle" w="med" len="med"/>
            </a:ln>
          </p:spPr>
        </p:cxnSp>
      </p:grpSp>
      <p:sp>
        <p:nvSpPr>
          <p:cNvPr id="50" name="加号 49"/>
          <p:cNvSpPr/>
          <p:nvPr/>
        </p:nvSpPr>
        <p:spPr>
          <a:xfrm>
            <a:off x="10687050" y="6414135"/>
            <a:ext cx="180000" cy="180000"/>
          </a:xfrm>
          <a:prstGeom prst="mathPlus">
            <a:avLst/>
          </a:prstGeom>
          <a:solidFill>
            <a:schemeClr val="tx1"/>
          </a:solidFill>
          <a:ln w="13335">
            <a:solidFill>
              <a:schemeClr val="tx1"/>
            </a:solidFill>
            <a:prstDash val="dash"/>
          </a:ln>
        </p:spPr>
        <p:txBody>
          <a:bodyPr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272" name="直接箭头连接符 1271"/>
          <p:cNvCxnSpPr/>
          <p:nvPr/>
        </p:nvCxnSpPr>
        <p:spPr>
          <a:xfrm>
            <a:off x="4298950" y="2413635"/>
            <a:ext cx="0" cy="216000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78" name="加号 77"/>
          <p:cNvSpPr/>
          <p:nvPr/>
        </p:nvSpPr>
        <p:spPr>
          <a:xfrm>
            <a:off x="10636250" y="7141210"/>
            <a:ext cx="180000" cy="180000"/>
          </a:xfrm>
          <a:prstGeom prst="mathPlus">
            <a:avLst/>
          </a:prstGeom>
          <a:solidFill>
            <a:schemeClr val="tx1"/>
          </a:solidFill>
          <a:ln w="13335">
            <a:solidFill>
              <a:schemeClr val="tx1"/>
            </a:solidFill>
            <a:prstDash val="dash"/>
          </a:ln>
        </p:spPr>
        <p:txBody>
          <a:bodyPr/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5" name="图片 14" descr="骰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950" y="1598295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本框 102"/>
              <p:cNvSpPr txBox="1"/>
              <p:nvPr/>
            </p:nvSpPr>
            <p:spPr>
              <a:xfrm>
                <a:off x="9344660" y="1501140"/>
                <a:ext cx="3089275" cy="20955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r>
                  <a:rPr lang="en-US" sz="1600" b="1" i="1" noProof="0" dirty="0">
                    <a:ln>
                      <a:noFill/>
                    </a:ln>
                    <a:solidFill>
                      <a:srgbClr val="FF6A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  <a:sym typeface="+mn-ea"/>
                  </a:rPr>
                  <a:t>Random Long-Term </a:t>
                </a:r>
                <a:endParaRPr lang="en-US" sz="16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  <a:p>
                <a:r>
                  <a:rPr sz="1600" b="1" i="1" noProof="0" dirty="0">
                    <a:ln>
                      <a:noFill/>
                    </a:ln>
                    <a:solidFill>
                      <a:srgbClr val="FF6A00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Calibri" panose="020F0502020204030204"/>
                    <a:cs typeface="Calibri" panose="020F0502020204030204"/>
                    <a:sym typeface="+mn-ea"/>
                  </a:rPr>
                  <a:t>z</a:t>
                </a:r>
                <a14:m>
                  <m:oMath xmlns:m="http://schemas.openxmlformats.org/officeDocument/2006/math">
                    <m:r>
                      <a:rPr lang="en-US" sz="1600" b="1" i="1" noProof="0" dirty="0">
                        <a:ln>
                          <a:noFill/>
                        </a:ln>
                        <a:solidFill>
                          <a:srgbClr val="FF6A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/>
                        <a:cs typeface="Cambria Math" panose="02040503050406030204" pitchFamily="18" charset="0"/>
                        <a:sym typeface="+mn-ea"/>
                      </a:rPr>
                      <m:t>~</m:t>
                    </m:r>
                    <m:r>
                      <a:rPr lang="en-US" sz="1600" b="1" i="1" noProof="0" dirty="0">
                        <a:ln>
                          <a:noFill/>
                        </a:ln>
                        <a:solidFill>
                          <a:srgbClr val="FF6A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/>
                        <a:cs typeface="Cambria Math" panose="02040503050406030204" pitchFamily="18" charset="0"/>
                        <a:sym typeface="+mn-ea"/>
                      </a:rPr>
                      <m:t>𝑼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sz="16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  <m:t>𝟐</m:t>
                        </m:r>
                        <m:r>
                          <a:rPr lang="en-US" sz="1600" b="1" i="1" noProof="0" dirty="0">
                            <a:ln>
                              <a:noFill/>
                            </a:ln>
                            <a:solidFill>
                              <a:srgbClr val="FF6A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/>
                            <a:cs typeface="Cambria Math" panose="02040503050406030204" pitchFamily="18" charset="0"/>
                            <a:sym typeface="+mn-ea"/>
                          </a:rPr>
                          <m:t>,⋯,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sz="16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𝑻</m:t>
                            </m:r>
                            <m:r>
                              <a:rPr lang="en-US" sz="16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/</m:t>
                            </m:r>
                            <m:r>
                              <a:rPr lang="en-US" sz="1600" b="1" i="1" noProof="0" dirty="0">
                                <a:ln>
                                  <a:noFill/>
                                </a:ln>
                                <a:solidFill>
                                  <a:srgbClr val="FF6A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/>
                                <a:cs typeface="Cambria Math" panose="02040503050406030204" pitchFamily="18" charset="0"/>
                                <a:sym typeface="+mn-ea"/>
                              </a:rPr>
                              <m:t>𝟐</m:t>
                            </m:r>
                          </m:e>
                        </m:d>
                      </m:e>
                    </m:d>
                  </m:oMath>
                </a14:m>
                <a:endParaRPr lang="zh-CN" altLang="en-US" sz="1600" b="1" i="1" noProof="0" dirty="0">
                  <a:ln>
                    <a:noFill/>
                  </a:ln>
                  <a:solidFill>
                    <a:srgbClr val="FF6A00"/>
                  </a:solidFill>
                  <a:effectLst/>
                  <a:uLnTx/>
                  <a:uFillTx/>
                  <a:latin typeface="Comic Sans MS" panose="030F0702030302020204" pitchFamily="66" charset="0"/>
                  <a:ea typeface="Calibri" panose="020F0502020204030204"/>
                  <a:cs typeface="Calibri" panose="020F0502020204030204"/>
                  <a:sym typeface="+mn-ea"/>
                </a:endParaRPr>
              </a:p>
            </p:txBody>
          </p:sp>
        </mc:Choice>
        <mc:Fallback>
          <p:sp>
            <p:nvSpPr>
              <p:cNvPr id="103" name="文本框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660" y="1501140"/>
                <a:ext cx="3089275" cy="209550"/>
              </a:xfrm>
              <a:prstGeom prst="rect">
                <a:avLst/>
              </a:prstGeom>
              <a:blipFill rotWithShape="1">
                <a:blip r:embed="rId42"/>
                <a:stretch>
                  <a:fillRect b="-15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pattFill prst="ltUpDiag">
          <a:fgClr>
            <a:schemeClr val="accent5">
              <a:lumMod val="20000"/>
              <a:lumOff val="80000"/>
            </a:schemeClr>
          </a:fgClr>
          <a:bgClr>
            <a:schemeClr val="bg1"/>
          </a:bgClr>
        </a:pattFill>
        <a:ln w="13335">
          <a:solidFill>
            <a:srgbClr val="7A35CC"/>
          </a:solidFill>
          <a:prstDash val="dash"/>
        </a:ln>
      </a:spPr>
      <a:bodyPr/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srgbClr val="000000"/>
            </a:solidFill>
            <a:effectLst/>
            <a:uLnTx/>
            <a:uFillTx/>
            <a:latin typeface="Calibri" panose="020F0502020204030204"/>
            <a:cs typeface="Calibri" panose="020F0502020204030204"/>
          </a:defRPr>
        </a:defPPr>
      </a:lstStyle>
    </a:spDef>
    <a:lnDef>
      <a:spPr>
        <a:ln w="25400">
          <a:solidFill>
            <a:srgbClr val="7A35CC"/>
          </a:solidFill>
          <a:prstDash val="solid"/>
          <a:tailEnd type="triangle" w="med" len="me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WPS 演示</Application>
  <PresentationFormat>自定义</PresentationFormat>
  <Paragraphs>171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Cambria Math</vt:lpstr>
      <vt:lpstr>Comic Sans MS</vt:lpstr>
      <vt:lpstr>儷宋 Pro</vt:lpstr>
      <vt:lpstr>DejaVu Math TeX Gyre</vt:lpstr>
      <vt:lpstr>微软雅黑</vt:lpstr>
      <vt:lpstr>MS Mincho</vt:lpstr>
      <vt:lpstr>Cambria Math</vt:lpstr>
      <vt:lpstr>Comic Sans MS</vt:lpstr>
      <vt:lpstr>Arial Unicode MS</vt:lpstr>
      <vt:lpstr>Segoe Print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130</cp:revision>
  <dcterms:created xsi:type="dcterms:W3CDTF">2026-06-23T16:13:00Z</dcterms:created>
  <dcterms:modified xsi:type="dcterms:W3CDTF">2026-07-18T17:18:05Z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00867F35127047E9BC4B154D592656B2_13</vt:lpwstr>
  </property>
  <property fmtid="{D5CDD505-2E9C-101B-9397-08002B2CF9AE}" pid="3" name="KSOProductBuildVer">
    <vt:lpwstr>2052-12.1.0.16388</vt:lpwstr>
  </property>
</Properties>
</file>