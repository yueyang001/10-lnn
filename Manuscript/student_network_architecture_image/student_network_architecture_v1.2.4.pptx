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25199975" cy="6858000"/>
  <p:notesSz cx="6858000" cy="9144000"/>
  <p:custDataLst>
    <p:tags r:id="rId8"/>
  </p:custDataLst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4858"/>
    <a:srgbClr val="E85D04"/>
    <a:srgbClr val="156082"/>
    <a:srgbClr val="65C5A8"/>
    <a:srgbClr val="6FC9AD"/>
    <a:srgbClr val="A1356B"/>
    <a:srgbClr val="FFFFFF"/>
    <a:srgbClr val="9F569A"/>
    <a:srgbClr val="9076C1"/>
    <a:srgbClr val="7995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331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4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0" Type="http://schemas.openxmlformats.org/officeDocument/2006/relationships/notesSlide" Target="../notesSlides/notesSlide1.xml"/><Relationship Id="rId6" Type="http://schemas.openxmlformats.org/officeDocument/2006/relationships/tags" Target="../tags/tag5.xml"/><Relationship Id="rId59" Type="http://schemas.openxmlformats.org/officeDocument/2006/relationships/slideLayout" Target="../slideLayouts/slideLayout1.xml"/><Relationship Id="rId58" Type="http://schemas.openxmlformats.org/officeDocument/2006/relationships/image" Target="../media/image14.png"/><Relationship Id="rId57" Type="http://schemas.openxmlformats.org/officeDocument/2006/relationships/image" Target="../media/image13.png"/><Relationship Id="rId56" Type="http://schemas.openxmlformats.org/officeDocument/2006/relationships/image" Target="../media/image12.png"/><Relationship Id="rId55" Type="http://schemas.openxmlformats.org/officeDocument/2006/relationships/image" Target="../media/image11.png"/><Relationship Id="rId54" Type="http://schemas.openxmlformats.org/officeDocument/2006/relationships/image" Target="../media/image10.png"/><Relationship Id="rId53" Type="http://schemas.openxmlformats.org/officeDocument/2006/relationships/image" Target="../media/image9.png"/><Relationship Id="rId52" Type="http://schemas.openxmlformats.org/officeDocument/2006/relationships/image" Target="../media/image8.png"/><Relationship Id="rId51" Type="http://schemas.openxmlformats.org/officeDocument/2006/relationships/image" Target="../media/image7.png"/><Relationship Id="rId50" Type="http://schemas.openxmlformats.org/officeDocument/2006/relationships/image" Target="../media/image6.png"/><Relationship Id="rId5" Type="http://schemas.openxmlformats.org/officeDocument/2006/relationships/tags" Target="../tags/tag4.xml"/><Relationship Id="rId49" Type="http://schemas.openxmlformats.org/officeDocument/2006/relationships/image" Target="../media/image5.png"/><Relationship Id="rId48" Type="http://schemas.openxmlformats.org/officeDocument/2006/relationships/image" Target="../media/image4.png"/><Relationship Id="rId47" Type="http://schemas.openxmlformats.org/officeDocument/2006/relationships/image" Target="../media/image3.png"/><Relationship Id="rId46" Type="http://schemas.openxmlformats.org/officeDocument/2006/relationships/tags" Target="../tags/tag44.xml"/><Relationship Id="rId45" Type="http://schemas.openxmlformats.org/officeDocument/2006/relationships/tags" Target="../tags/tag43.xml"/><Relationship Id="rId44" Type="http://schemas.openxmlformats.org/officeDocument/2006/relationships/image" Target="../media/image2.png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圆角矩形 298"/>
          <p:cNvSpPr/>
          <p:nvPr/>
        </p:nvSpPr>
        <p:spPr>
          <a:xfrm>
            <a:off x="16965930" y="384175"/>
            <a:ext cx="4662805" cy="4403725"/>
          </a:xfrm>
          <a:custGeom>
            <a:avLst/>
            <a:gdLst>
              <a:gd name="csX0" fmla="*/ 0 w 3060883"/>
              <a:gd name="csY0" fmla="*/ 510157 h 4175125"/>
              <a:gd name="csX1" fmla="*/ 510157 w 3060883"/>
              <a:gd name="csY1" fmla="*/ 0 h 4175125"/>
              <a:gd name="csX2" fmla="*/ 1231158 w 3060883"/>
              <a:gd name="csY2" fmla="*/ 0 h 4175125"/>
              <a:gd name="csX3" fmla="*/ 1890942 w 3060883"/>
              <a:gd name="csY3" fmla="*/ 0 h 4175125"/>
              <a:gd name="csX4" fmla="*/ 2550726 w 3060883"/>
              <a:gd name="csY4" fmla="*/ 0 h 4175125"/>
              <a:gd name="csX5" fmla="*/ 3060883 w 3060883"/>
              <a:gd name="csY5" fmla="*/ 510157 h 4175125"/>
              <a:gd name="csX6" fmla="*/ 3060883 w 3060883"/>
              <a:gd name="csY6" fmla="*/ 1078023 h 4175125"/>
              <a:gd name="csX7" fmla="*/ 3060883 w 3060883"/>
              <a:gd name="csY7" fmla="*/ 1645889 h 4175125"/>
              <a:gd name="csX8" fmla="*/ 3060883 w 3060883"/>
              <a:gd name="csY8" fmla="*/ 2339947 h 4175125"/>
              <a:gd name="csX9" fmla="*/ 3060883 w 3060883"/>
              <a:gd name="csY9" fmla="*/ 2876265 h 4175125"/>
              <a:gd name="csX10" fmla="*/ 3060883 w 3060883"/>
              <a:gd name="csY10" fmla="*/ 3664968 h 4175125"/>
              <a:gd name="csX11" fmla="*/ 2550726 w 3060883"/>
              <a:gd name="csY11" fmla="*/ 4175125 h 4175125"/>
              <a:gd name="csX12" fmla="*/ 1931753 w 3060883"/>
              <a:gd name="csY12" fmla="*/ 4175125 h 4175125"/>
              <a:gd name="csX13" fmla="*/ 1210752 w 3060883"/>
              <a:gd name="csY13" fmla="*/ 4175125 h 4175125"/>
              <a:gd name="csX14" fmla="*/ 510157 w 3060883"/>
              <a:gd name="csY14" fmla="*/ 4175125 h 4175125"/>
              <a:gd name="csX15" fmla="*/ 0 w 3060883"/>
              <a:gd name="csY15" fmla="*/ 3664968 h 4175125"/>
              <a:gd name="csX16" fmla="*/ 0 w 3060883"/>
              <a:gd name="csY16" fmla="*/ 3002458 h 4175125"/>
              <a:gd name="csX17" fmla="*/ 0 w 3060883"/>
              <a:gd name="csY17" fmla="*/ 2466140 h 4175125"/>
              <a:gd name="csX18" fmla="*/ 0 w 3060883"/>
              <a:gd name="csY18" fmla="*/ 1898274 h 4175125"/>
              <a:gd name="csX19" fmla="*/ 0 w 3060883"/>
              <a:gd name="csY19" fmla="*/ 1204215 h 4175125"/>
              <a:gd name="csX20" fmla="*/ 0 w 3060883"/>
              <a:gd name="csY20" fmla="*/ 510157 h 417512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3060883" h="4175125" extrusionOk="0">
                <a:moveTo>
                  <a:pt x="0" y="510157"/>
                </a:moveTo>
                <a:cubicBezTo>
                  <a:pt x="-34941" y="206853"/>
                  <a:pt x="194520" y="12718"/>
                  <a:pt x="510157" y="0"/>
                </a:cubicBezTo>
                <a:cubicBezTo>
                  <a:pt x="712320" y="15654"/>
                  <a:pt x="927741" y="26163"/>
                  <a:pt x="1231158" y="0"/>
                </a:cubicBezTo>
                <a:cubicBezTo>
                  <a:pt x="1534575" y="-26163"/>
                  <a:pt x="1717705" y="-7340"/>
                  <a:pt x="1890942" y="0"/>
                </a:cubicBezTo>
                <a:cubicBezTo>
                  <a:pt x="2064179" y="7340"/>
                  <a:pt x="2222092" y="25888"/>
                  <a:pt x="2550726" y="0"/>
                </a:cubicBezTo>
                <a:cubicBezTo>
                  <a:pt x="2825781" y="-21570"/>
                  <a:pt x="3064204" y="216114"/>
                  <a:pt x="3060883" y="510157"/>
                </a:cubicBezTo>
                <a:cubicBezTo>
                  <a:pt x="3076703" y="697532"/>
                  <a:pt x="3078383" y="857811"/>
                  <a:pt x="3060883" y="1078023"/>
                </a:cubicBezTo>
                <a:cubicBezTo>
                  <a:pt x="3043383" y="1298235"/>
                  <a:pt x="3083914" y="1501533"/>
                  <a:pt x="3060883" y="1645889"/>
                </a:cubicBezTo>
                <a:cubicBezTo>
                  <a:pt x="3037852" y="1790245"/>
                  <a:pt x="3079388" y="2015577"/>
                  <a:pt x="3060883" y="2339947"/>
                </a:cubicBezTo>
                <a:cubicBezTo>
                  <a:pt x="3042378" y="2664317"/>
                  <a:pt x="3052091" y="2702925"/>
                  <a:pt x="3060883" y="2876265"/>
                </a:cubicBezTo>
                <a:cubicBezTo>
                  <a:pt x="3069675" y="3049605"/>
                  <a:pt x="3038396" y="3327064"/>
                  <a:pt x="3060883" y="3664968"/>
                </a:cubicBezTo>
                <a:cubicBezTo>
                  <a:pt x="3088612" y="3987997"/>
                  <a:pt x="2834347" y="4194478"/>
                  <a:pt x="2550726" y="4175125"/>
                </a:cubicBezTo>
                <a:cubicBezTo>
                  <a:pt x="2283843" y="4153355"/>
                  <a:pt x="2158987" y="4144763"/>
                  <a:pt x="1931753" y="4175125"/>
                </a:cubicBezTo>
                <a:cubicBezTo>
                  <a:pt x="1704519" y="4205487"/>
                  <a:pt x="1531445" y="4183958"/>
                  <a:pt x="1210752" y="4175125"/>
                </a:cubicBezTo>
                <a:cubicBezTo>
                  <a:pt x="890059" y="4166292"/>
                  <a:pt x="809631" y="4146091"/>
                  <a:pt x="510157" y="4175125"/>
                </a:cubicBezTo>
                <a:cubicBezTo>
                  <a:pt x="207139" y="4155088"/>
                  <a:pt x="-30932" y="3900480"/>
                  <a:pt x="0" y="3664968"/>
                </a:cubicBezTo>
                <a:cubicBezTo>
                  <a:pt x="6417" y="3494494"/>
                  <a:pt x="-1534" y="3252211"/>
                  <a:pt x="0" y="3002458"/>
                </a:cubicBezTo>
                <a:cubicBezTo>
                  <a:pt x="1534" y="2752705"/>
                  <a:pt x="-12983" y="2606772"/>
                  <a:pt x="0" y="2466140"/>
                </a:cubicBezTo>
                <a:cubicBezTo>
                  <a:pt x="12983" y="2325508"/>
                  <a:pt x="15967" y="2153683"/>
                  <a:pt x="0" y="1898274"/>
                </a:cubicBezTo>
                <a:cubicBezTo>
                  <a:pt x="-15967" y="1642865"/>
                  <a:pt x="4713" y="1427698"/>
                  <a:pt x="0" y="1204215"/>
                </a:cubicBezTo>
                <a:cubicBezTo>
                  <a:pt x="-4713" y="980732"/>
                  <a:pt x="-17279" y="773324"/>
                  <a:pt x="0" y="510157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3" name="组合 212"/>
          <p:cNvGrpSpPr/>
          <p:nvPr/>
        </p:nvGrpSpPr>
        <p:grpSpPr>
          <a:xfrm>
            <a:off x="8218327" y="5534660"/>
            <a:ext cx="1295400" cy="1062355"/>
            <a:chOff x="1055" y="2261"/>
            <a:chExt cx="2040" cy="1673"/>
          </a:xfrm>
        </p:grpSpPr>
        <p:sp>
          <p:nvSpPr>
            <p:cNvPr id="214" name="圆角矩形 213"/>
            <p:cNvSpPr>
              <a:spLocks noGrp="1"/>
            </p:cNvSpPr>
            <p:nvPr/>
          </p:nvSpPr>
          <p:spPr>
            <a:xfrm>
              <a:off x="1055" y="2261"/>
              <a:ext cx="2040" cy="1561"/>
            </a:xfrm>
            <a:prstGeom prst="roundRect">
              <a:avLst>
                <a:gd name="adj" fmla="val 10526"/>
              </a:avLst>
            </a:prstGeom>
            <a:solidFill>
              <a:srgbClr val="FFFFFF"/>
            </a:solidFill>
            <a:ln w="15240">
              <a:solidFill>
                <a:srgbClr val="10B981"/>
              </a:solidFill>
              <a:prstDash val="solid"/>
            </a:ln>
          </p:spPr>
          <p:txBody>
            <a:bodyPr/>
            <a:lstStyle/>
            <a:p>
              <a:pPr algn="ctr">
                <a:defRPr sz="1350" b="1">
                  <a:solidFill>
                    <a:srgbClr val="113B2A"/>
                  </a:solidFill>
                </a:defRPr>
              </a:pPr>
              <a:r>
                <a:rPr sz="160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Raw</a:t>
              </a:r>
              <a:r>
                <a:rPr lang="en-US" sz="1600" b="1">
                  <a:solidFill>
                    <a:srgbClr val="113B2A"/>
                  </a:solidFill>
                  <a:latin typeface="Comic Sans MS" panose="030F0702030302020204" charset="0"/>
                  <a:cs typeface="Comic Sans MS" panose="030F0702030302020204" charset="0"/>
                </a:rPr>
                <a:t> Waveform</a:t>
              </a:r>
              <a:endParaRPr sz="160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  <a:p>
              <a:pPr algn="ctr">
                <a:defRPr sz="1350" b="1">
                  <a:solidFill>
                    <a:srgbClr val="113B2A"/>
                  </a:solidFill>
                </a:defRPr>
              </a:pPr>
              <a:endParaRPr sz="1600" b="1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pic>
          <p:nvPicPr>
            <p:cNvPr id="215" name="图片 21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69" y="2929"/>
              <a:ext cx="1463" cy="1005"/>
            </a:xfrm>
            <a:prstGeom prst="rect">
              <a:avLst/>
            </a:prstGeom>
          </p:spPr>
        </p:pic>
      </p:grpSp>
      <p:sp>
        <p:nvSpPr>
          <p:cNvPr id="273" name="圆角矩形 272"/>
          <p:cNvSpPr/>
          <p:nvPr/>
        </p:nvSpPr>
        <p:spPr>
          <a:xfrm>
            <a:off x="9663442" y="476885"/>
            <a:ext cx="6685280" cy="5382651"/>
          </a:xfrm>
          <a:custGeom>
            <a:avLst/>
            <a:gdLst>
              <a:gd name="csX0" fmla="*/ 0 w 3831590"/>
              <a:gd name="csY0" fmla="*/ 638611 h 5888355"/>
              <a:gd name="csX1" fmla="*/ 638611 w 3831590"/>
              <a:gd name="csY1" fmla="*/ 0 h 5888355"/>
              <a:gd name="csX2" fmla="*/ 1328290 w 3831590"/>
              <a:gd name="csY2" fmla="*/ 0 h 5888355"/>
              <a:gd name="csX3" fmla="*/ 1941339 w 3831590"/>
              <a:gd name="csY3" fmla="*/ 0 h 5888355"/>
              <a:gd name="csX4" fmla="*/ 2528843 w 3831590"/>
              <a:gd name="csY4" fmla="*/ 0 h 5888355"/>
              <a:gd name="csX5" fmla="*/ 3192979 w 3831590"/>
              <a:gd name="csY5" fmla="*/ 0 h 5888355"/>
              <a:gd name="csX6" fmla="*/ 3831590 w 3831590"/>
              <a:gd name="csY6" fmla="*/ 638611 h 5888355"/>
              <a:gd name="csX7" fmla="*/ 3831590 w 3831590"/>
              <a:gd name="csY7" fmla="*/ 1297344 h 5888355"/>
              <a:gd name="csX8" fmla="*/ 3831590 w 3831590"/>
              <a:gd name="csY8" fmla="*/ 2048300 h 5888355"/>
              <a:gd name="csX9" fmla="*/ 3831590 w 3831590"/>
              <a:gd name="csY9" fmla="*/ 2568700 h 5888355"/>
              <a:gd name="csX10" fmla="*/ 3831590 w 3831590"/>
              <a:gd name="csY10" fmla="*/ 3227433 h 5888355"/>
              <a:gd name="csX11" fmla="*/ 3831590 w 3831590"/>
              <a:gd name="csY11" fmla="*/ 3886166 h 5888355"/>
              <a:gd name="csX12" fmla="*/ 3831590 w 3831590"/>
              <a:gd name="csY12" fmla="*/ 4498788 h 5888355"/>
              <a:gd name="csX13" fmla="*/ 3831590 w 3831590"/>
              <a:gd name="csY13" fmla="*/ 5249744 h 5888355"/>
              <a:gd name="csX14" fmla="*/ 3192979 w 3831590"/>
              <a:gd name="csY14" fmla="*/ 5888355 h 5888355"/>
              <a:gd name="csX15" fmla="*/ 2554387 w 3831590"/>
              <a:gd name="csY15" fmla="*/ 5888355 h 5888355"/>
              <a:gd name="csX16" fmla="*/ 1864708 w 3831590"/>
              <a:gd name="csY16" fmla="*/ 5888355 h 5888355"/>
              <a:gd name="csX17" fmla="*/ 1226116 w 3831590"/>
              <a:gd name="csY17" fmla="*/ 5888355 h 5888355"/>
              <a:gd name="csX18" fmla="*/ 638611 w 3831590"/>
              <a:gd name="csY18" fmla="*/ 5888355 h 5888355"/>
              <a:gd name="csX19" fmla="*/ 0 w 3831590"/>
              <a:gd name="csY19" fmla="*/ 5249744 h 5888355"/>
              <a:gd name="csX20" fmla="*/ 0 w 3831590"/>
              <a:gd name="csY20" fmla="*/ 4544899 h 5888355"/>
              <a:gd name="csX21" fmla="*/ 0 w 3831590"/>
              <a:gd name="csY21" fmla="*/ 3978389 h 5888355"/>
              <a:gd name="csX22" fmla="*/ 0 w 3831590"/>
              <a:gd name="csY22" fmla="*/ 3319655 h 5888355"/>
              <a:gd name="csX23" fmla="*/ 0 w 3831590"/>
              <a:gd name="csY23" fmla="*/ 2799256 h 5888355"/>
              <a:gd name="csX24" fmla="*/ 0 w 3831590"/>
              <a:gd name="csY24" fmla="*/ 2278857 h 5888355"/>
              <a:gd name="csX25" fmla="*/ 0 w 3831590"/>
              <a:gd name="csY25" fmla="*/ 1620124 h 5888355"/>
              <a:gd name="csX26" fmla="*/ 0 w 3831590"/>
              <a:gd name="csY26" fmla="*/ 638611 h 588835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831590" h="5888355" extrusionOk="0">
                <a:moveTo>
                  <a:pt x="0" y="638611"/>
                </a:moveTo>
                <a:cubicBezTo>
                  <a:pt x="-51663" y="254049"/>
                  <a:pt x="218565" y="25278"/>
                  <a:pt x="638611" y="0"/>
                </a:cubicBezTo>
                <a:cubicBezTo>
                  <a:pt x="868773" y="28820"/>
                  <a:pt x="1071988" y="-26586"/>
                  <a:pt x="1328290" y="0"/>
                </a:cubicBezTo>
                <a:cubicBezTo>
                  <a:pt x="1584592" y="26586"/>
                  <a:pt x="1695329" y="1530"/>
                  <a:pt x="1941339" y="0"/>
                </a:cubicBezTo>
                <a:cubicBezTo>
                  <a:pt x="2187349" y="-1530"/>
                  <a:pt x="2349772" y="-12815"/>
                  <a:pt x="2528843" y="0"/>
                </a:cubicBezTo>
                <a:cubicBezTo>
                  <a:pt x="2707914" y="12815"/>
                  <a:pt x="2962722" y="32311"/>
                  <a:pt x="3192979" y="0"/>
                </a:cubicBezTo>
                <a:cubicBezTo>
                  <a:pt x="3556809" y="-22915"/>
                  <a:pt x="3793987" y="280158"/>
                  <a:pt x="3831590" y="638611"/>
                </a:cubicBezTo>
                <a:cubicBezTo>
                  <a:pt x="3819437" y="951065"/>
                  <a:pt x="3851680" y="1093479"/>
                  <a:pt x="3831590" y="1297344"/>
                </a:cubicBezTo>
                <a:cubicBezTo>
                  <a:pt x="3811500" y="1501209"/>
                  <a:pt x="3800198" y="1789414"/>
                  <a:pt x="3831590" y="2048300"/>
                </a:cubicBezTo>
                <a:cubicBezTo>
                  <a:pt x="3862982" y="2307186"/>
                  <a:pt x="3826503" y="2333970"/>
                  <a:pt x="3831590" y="2568700"/>
                </a:cubicBezTo>
                <a:cubicBezTo>
                  <a:pt x="3836677" y="2803430"/>
                  <a:pt x="3841198" y="2994282"/>
                  <a:pt x="3831590" y="3227433"/>
                </a:cubicBezTo>
                <a:cubicBezTo>
                  <a:pt x="3821982" y="3460584"/>
                  <a:pt x="3817901" y="3622947"/>
                  <a:pt x="3831590" y="3886166"/>
                </a:cubicBezTo>
                <a:cubicBezTo>
                  <a:pt x="3845279" y="4149385"/>
                  <a:pt x="3842561" y="4333306"/>
                  <a:pt x="3831590" y="4498788"/>
                </a:cubicBezTo>
                <a:cubicBezTo>
                  <a:pt x="3820619" y="4664270"/>
                  <a:pt x="3847484" y="4992123"/>
                  <a:pt x="3831590" y="5249744"/>
                </a:cubicBezTo>
                <a:cubicBezTo>
                  <a:pt x="3877396" y="5545575"/>
                  <a:pt x="3484935" y="5864875"/>
                  <a:pt x="3192979" y="5888355"/>
                </a:cubicBezTo>
                <a:cubicBezTo>
                  <a:pt x="2874649" y="5867594"/>
                  <a:pt x="2812068" y="5893526"/>
                  <a:pt x="2554387" y="5888355"/>
                </a:cubicBezTo>
                <a:cubicBezTo>
                  <a:pt x="2296706" y="5883184"/>
                  <a:pt x="2144120" y="5875141"/>
                  <a:pt x="1864708" y="5888355"/>
                </a:cubicBezTo>
                <a:cubicBezTo>
                  <a:pt x="1585296" y="5901569"/>
                  <a:pt x="1448723" y="5877739"/>
                  <a:pt x="1226116" y="5888355"/>
                </a:cubicBezTo>
                <a:cubicBezTo>
                  <a:pt x="1003509" y="5898971"/>
                  <a:pt x="778918" y="5860713"/>
                  <a:pt x="638611" y="5888355"/>
                </a:cubicBezTo>
                <a:cubicBezTo>
                  <a:pt x="242491" y="5890143"/>
                  <a:pt x="32342" y="5544137"/>
                  <a:pt x="0" y="5249744"/>
                </a:cubicBezTo>
                <a:cubicBezTo>
                  <a:pt x="-20236" y="4992887"/>
                  <a:pt x="23680" y="4878763"/>
                  <a:pt x="0" y="4544899"/>
                </a:cubicBezTo>
                <a:cubicBezTo>
                  <a:pt x="-23680" y="4211036"/>
                  <a:pt x="4433" y="4164259"/>
                  <a:pt x="0" y="3978389"/>
                </a:cubicBezTo>
                <a:cubicBezTo>
                  <a:pt x="-4433" y="3792519"/>
                  <a:pt x="31472" y="3538848"/>
                  <a:pt x="0" y="3319655"/>
                </a:cubicBezTo>
                <a:cubicBezTo>
                  <a:pt x="-31472" y="3100462"/>
                  <a:pt x="-7217" y="2930079"/>
                  <a:pt x="0" y="2799256"/>
                </a:cubicBezTo>
                <a:cubicBezTo>
                  <a:pt x="7217" y="2668433"/>
                  <a:pt x="1059" y="2535592"/>
                  <a:pt x="0" y="2278857"/>
                </a:cubicBezTo>
                <a:cubicBezTo>
                  <a:pt x="-1059" y="2022122"/>
                  <a:pt x="-23122" y="1827857"/>
                  <a:pt x="0" y="1620124"/>
                </a:cubicBezTo>
                <a:cubicBezTo>
                  <a:pt x="23122" y="1412391"/>
                  <a:pt x="-35486" y="1121813"/>
                  <a:pt x="0" y="638611"/>
                </a:cubicBezTo>
                <a:close/>
              </a:path>
            </a:pathLst>
          </a:custGeom>
          <a:noFill/>
          <a:ln w="25400">
            <a:solidFill>
              <a:schemeClr val="accent6">
                <a:lumMod val="75000"/>
              </a:schemeClr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6">
                    <a:lumMod val="75000"/>
                  </a:schemeClr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3" name="直接箭头连接符 292"/>
          <p:cNvCxnSpPr/>
          <p:nvPr/>
        </p:nvCxnSpPr>
        <p:spPr>
          <a:xfrm flipH="1">
            <a:off x="7930672" y="3507996"/>
            <a:ext cx="3175" cy="556260"/>
          </a:xfrm>
          <a:prstGeom prst="straightConnector1">
            <a:avLst/>
          </a:prstGeom>
          <a:ln>
            <a:solidFill>
              <a:srgbClr val="18B76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94" name="文本框 293"/>
          <p:cNvSpPr txBox="1"/>
          <p:nvPr>
            <p:custDataLst>
              <p:tags r:id="rId2"/>
            </p:custDataLst>
          </p:nvPr>
        </p:nvSpPr>
        <p:spPr>
          <a:xfrm>
            <a:off x="7645557" y="4050030"/>
            <a:ext cx="461645" cy="22225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solidFill>
                  <a:srgbClr val="18B760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time</a:t>
            </a:r>
            <a:endParaRPr lang="en-US" altLang="zh-CN" sz="1000" b="1">
              <a:solidFill>
                <a:srgbClr val="18B760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300" name="圆角矩形 299"/>
          <p:cNvSpPr>
            <a:spLocks noGrp="1"/>
          </p:cNvSpPr>
          <p:nvPr/>
        </p:nvSpPr>
        <p:spPr>
          <a:xfrm>
            <a:off x="19600067" y="4988560"/>
            <a:ext cx="1257300" cy="514350"/>
          </a:xfrm>
          <a:prstGeom prst="roundRect">
            <a:avLst>
              <a:gd name="adj" fmla="val 14815"/>
            </a:avLst>
          </a:prstGeom>
          <a:solidFill>
            <a:srgbClr val="047857"/>
          </a:solidFill>
          <a:ln w="15240">
            <a:solidFill>
              <a:srgbClr val="047857"/>
            </a:solidFill>
            <a:prstDash val="solid"/>
          </a:ln>
        </p:spPr>
        <p:txBody>
          <a:bodyPr anchor="ctr" anchorCtr="0"/>
          <a:lstStyle/>
          <a:p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  <a:latin typeface="Comic Sans MS" panose="030F0702030302020204" charset="0"/>
                <a:cs typeface="Comic Sans MS" panose="030F0702030302020204" charset="0"/>
              </a:rPr>
              <a:t>Classifier</a:t>
            </a:r>
            <a:endParaRPr sz="1350" b="1">
              <a:solidFill>
                <a:srgbClr val="FFFFFF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336" name="直接箭头连接符 335"/>
          <p:cNvCxnSpPr/>
          <p:nvPr/>
        </p:nvCxnSpPr>
        <p:spPr>
          <a:xfrm flipV="1">
            <a:off x="8818402" y="5102225"/>
            <a:ext cx="0" cy="4324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7" name="圆角矩形 336"/>
          <p:cNvSpPr>
            <a:spLocks noGrp="1"/>
          </p:cNvSpPr>
          <p:nvPr/>
        </p:nvSpPr>
        <p:spPr>
          <a:xfrm>
            <a:off x="8218327" y="4572000"/>
            <a:ext cx="1200150" cy="53022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5240">
            <a:solidFill>
              <a:srgbClr val="10B981"/>
            </a:solidFill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CNN</a:t>
            </a:r>
            <a:endParaRPr lang="en-US"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r>
              <a:rPr lang="en-US" sz="1350" b="1" dirty="0">
                <a:solidFill>
                  <a:srgbClr val="113B2A"/>
                </a:solidFill>
                <a:latin typeface="Comic Sans MS" panose="030F0702030302020204" charset="0"/>
                <a:cs typeface="Comic Sans MS" panose="030F0702030302020204" charset="0"/>
              </a:rPr>
              <a:t>encoder</a:t>
            </a: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350" b="1">
                <a:solidFill>
                  <a:srgbClr val="113B2A"/>
                </a:solidFill>
              </a:defRPr>
            </a:pPr>
            <a:endParaRPr sz="1350" b="1" dirty="0">
              <a:solidFill>
                <a:srgbClr val="113B2A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17478532" y="6068695"/>
            <a:ext cx="379349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47857"/>
                </a:solidFill>
              </a:defRPr>
            </a:pPr>
            <a:r>
              <a:rPr lang="en-US" sz="1800" b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(c)Student Model based on LNN</a:t>
            </a:r>
            <a:endParaRPr lang="en-US" sz="1800" b="1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238367" y="476885"/>
            <a:ext cx="1535430" cy="3613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BPCSCFC</a:t>
            </a:r>
            <a:endParaRPr lang="en-US" altLang="zh-CN" sz="2000" b="1" dirty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zh-CN" altLang="en-US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18686463" y="476885"/>
            <a:ext cx="1221740" cy="3092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2000" b="1" dirty="0">
                <a:solidFill>
                  <a:srgbClr val="047857"/>
                </a:solidFill>
                <a:latin typeface="Comic Sans MS" panose="030F0702030302020204" charset="0"/>
                <a:cs typeface="Comic Sans MS" panose="030F0702030302020204" charset="0"/>
              </a:rPr>
              <a:t>DRASP</a:t>
            </a:r>
            <a:endParaRPr lang="en-US" altLang="zh-CN" sz="2000" b="1" dirty="0">
              <a:solidFill>
                <a:srgbClr val="047857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endParaRPr lang="zh-CN" altLang="en-US" sz="2000" dirty="0"/>
          </a:p>
        </p:txBody>
      </p:sp>
      <p:grpSp>
        <p:nvGrpSpPr>
          <p:cNvPr id="29" name="组合 28"/>
          <p:cNvGrpSpPr/>
          <p:nvPr/>
        </p:nvGrpSpPr>
        <p:grpSpPr>
          <a:xfrm>
            <a:off x="3793502" y="3351530"/>
            <a:ext cx="3400428" cy="3331845"/>
            <a:chOff x="5215" y="441"/>
            <a:chExt cx="5884" cy="5247"/>
          </a:xfrm>
        </p:grpSpPr>
        <p:grpSp>
          <p:nvGrpSpPr>
            <p:cNvPr id="184" name="组合 183"/>
            <p:cNvGrpSpPr/>
            <p:nvPr/>
          </p:nvGrpSpPr>
          <p:grpSpPr>
            <a:xfrm>
              <a:off x="5215" y="441"/>
              <a:ext cx="5884" cy="5247"/>
              <a:chOff x="3363" y="1011"/>
              <a:chExt cx="5884" cy="5247"/>
            </a:xfrm>
          </p:grpSpPr>
          <p:sp>
            <p:nvSpPr>
              <p:cNvPr id="186" name="圆角矩形 97"/>
              <p:cNvSpPr>
                <a:spLocks noGrp="1"/>
              </p:cNvSpPr>
              <p:nvPr/>
            </p:nvSpPr>
            <p:spPr>
              <a:xfrm>
                <a:off x="3363" y="1780"/>
                <a:ext cx="5884" cy="4478"/>
              </a:xfrm>
              <a:custGeom>
                <a:avLst/>
                <a:gdLst>
                  <a:gd name="csX0" fmla="*/ 0 w 10000"/>
                  <a:gd name="csY0" fmla="*/ 569 h 10000"/>
                  <a:gd name="csX1" fmla="*/ 364 w 10000"/>
                  <a:gd name="csY1" fmla="*/ 0 h 10000"/>
                  <a:gd name="csX2" fmla="*/ 9636 w 10000"/>
                  <a:gd name="csY2" fmla="*/ 0 h 10000"/>
                  <a:gd name="csX3" fmla="*/ 10000 w 10000"/>
                  <a:gd name="csY3" fmla="*/ 569 h 10000"/>
                  <a:gd name="csX4" fmla="*/ 10000 w 10000"/>
                  <a:gd name="csY4" fmla="*/ 9431 h 10000"/>
                  <a:gd name="csX5" fmla="*/ 9636 w 10000"/>
                  <a:gd name="csY5" fmla="*/ 10000 h 10000"/>
                  <a:gd name="csX6" fmla="*/ 364 w 10000"/>
                  <a:gd name="csY6" fmla="*/ 10000 h 10000"/>
                  <a:gd name="csX7" fmla="*/ 0 w 10000"/>
                  <a:gd name="csY7" fmla="*/ 9431 h 10000"/>
                  <a:gd name="csX8" fmla="*/ 0 w 10000"/>
                  <a:gd name="csY8" fmla="*/ 569 h 100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00" h="10000" fill="none" extrusionOk="0">
                    <a:moveTo>
                      <a:pt x="0" y="569"/>
                    </a:moveTo>
                    <a:cubicBezTo>
                      <a:pt x="15" y="278"/>
                      <a:pt x="168" y="48"/>
                      <a:pt x="364" y="0"/>
                    </a:cubicBezTo>
                    <a:cubicBezTo>
                      <a:pt x="4976" y="85"/>
                      <a:pt x="6979" y="-128"/>
                      <a:pt x="9636" y="0"/>
                    </a:cubicBezTo>
                    <a:cubicBezTo>
                      <a:pt x="9868" y="-38"/>
                      <a:pt x="9967" y="242"/>
                      <a:pt x="10000" y="569"/>
                    </a:cubicBezTo>
                    <a:cubicBezTo>
                      <a:pt x="9908" y="2925"/>
                      <a:pt x="10239" y="6826"/>
                      <a:pt x="10000" y="9431"/>
                    </a:cubicBezTo>
                    <a:cubicBezTo>
                      <a:pt x="9979" y="9702"/>
                      <a:pt x="9839" y="9972"/>
                      <a:pt x="9636" y="10000"/>
                    </a:cubicBezTo>
                    <a:cubicBezTo>
                      <a:pt x="6365" y="9708"/>
                      <a:pt x="2772" y="9664"/>
                      <a:pt x="364" y="10000"/>
                    </a:cubicBezTo>
                    <a:cubicBezTo>
                      <a:pt x="116" y="10002"/>
                      <a:pt x="33" y="9686"/>
                      <a:pt x="0" y="9431"/>
                    </a:cubicBezTo>
                    <a:cubicBezTo>
                      <a:pt x="13" y="7438"/>
                      <a:pt x="171" y="2858"/>
                      <a:pt x="0" y="569"/>
                    </a:cubicBezTo>
                    <a:close/>
                  </a:path>
                  <a:path w="10000" h="10000" stroke="0" extrusionOk="0">
                    <a:moveTo>
                      <a:pt x="0" y="569"/>
                    </a:moveTo>
                    <a:cubicBezTo>
                      <a:pt x="-7" y="250"/>
                      <a:pt x="129" y="13"/>
                      <a:pt x="364" y="0"/>
                    </a:cubicBezTo>
                    <a:cubicBezTo>
                      <a:pt x="3953" y="-71"/>
                      <a:pt x="6087" y="-273"/>
                      <a:pt x="9636" y="0"/>
                    </a:cubicBezTo>
                    <a:cubicBezTo>
                      <a:pt x="9796" y="-31"/>
                      <a:pt x="9984" y="287"/>
                      <a:pt x="10000" y="569"/>
                    </a:cubicBezTo>
                    <a:cubicBezTo>
                      <a:pt x="10326" y="3697"/>
                      <a:pt x="10190" y="5062"/>
                      <a:pt x="10000" y="9431"/>
                    </a:cubicBezTo>
                    <a:cubicBezTo>
                      <a:pt x="10015" y="9713"/>
                      <a:pt x="9807" y="9995"/>
                      <a:pt x="9636" y="10000"/>
                    </a:cubicBezTo>
                    <a:cubicBezTo>
                      <a:pt x="6828" y="10191"/>
                      <a:pt x="2479" y="10453"/>
                      <a:pt x="364" y="10000"/>
                    </a:cubicBezTo>
                    <a:cubicBezTo>
                      <a:pt x="150" y="10021"/>
                      <a:pt x="-36" y="9703"/>
                      <a:pt x="0" y="9431"/>
                    </a:cubicBezTo>
                    <a:cubicBezTo>
                      <a:pt x="244" y="6696"/>
                      <a:pt x="-115" y="4121"/>
                      <a:pt x="0" y="569"/>
                    </a:cubicBezTo>
                    <a:close/>
                  </a:path>
                </a:pathLst>
              </a:custGeom>
              <a:solidFill>
                <a:srgbClr val="ECFDF5"/>
              </a:solidFill>
              <a:ln w="13335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 dirty="0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210" name="矩形 209"/>
              <p:cNvSpPr>
                <a:spLocks noGrp="1"/>
              </p:cNvSpPr>
              <p:nvPr/>
            </p:nvSpPr>
            <p:spPr>
              <a:xfrm>
                <a:off x="3415" y="1011"/>
                <a:ext cx="5671" cy="675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125" b="1">
                    <a:solidFill>
                      <a:srgbClr val="047857"/>
                    </a:solidFill>
                  </a:defRPr>
                </a:pPr>
                <a:r>
                  <a:rPr lang="en-US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(b)</a:t>
                </a:r>
                <a:r>
                  <a:rPr sz="1800" b="1" dirty="0" err="1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AutoNCP</a:t>
                </a:r>
                <a:r>
                  <a:rPr lang="en-US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 </a:t>
                </a:r>
                <a:r>
                  <a:rPr lang="en-US" altLang="zh-CN" sz="1800" b="1" dirty="0">
                    <a:solidFill>
                      <a:schemeClr val="tx1"/>
                    </a:solidFill>
                    <a:latin typeface="Comic Sans MS" panose="030F0702030302020204" charset="0"/>
                    <a:cs typeface="Comic Sans MS" panose="030F0702030302020204" charset="0"/>
                  </a:rPr>
                  <a:t>Sparse Wiring</a:t>
                </a:r>
                <a:endParaRPr lang="en-US" altLang="zh-CN" sz="1800" b="1" dirty="0">
                  <a:solidFill>
                    <a:schemeClr val="tx1"/>
                  </a:solidFill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226" name="组合 225"/>
            <p:cNvGrpSpPr/>
            <p:nvPr>
              <p:custDataLst>
                <p:tags r:id="rId3"/>
              </p:custDataLst>
            </p:nvPr>
          </p:nvGrpSpPr>
          <p:grpSpPr>
            <a:xfrm>
              <a:off x="6855" y="1318"/>
              <a:ext cx="855" cy="3916"/>
              <a:chOff x="694" y="1318"/>
              <a:chExt cx="855" cy="3916"/>
            </a:xfrm>
          </p:grpSpPr>
          <p:grpSp>
            <p:nvGrpSpPr>
              <p:cNvPr id="227" name="组合 226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28" name="圆角矩形 227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9" name="任意多边形 106"/>
                <p:cNvSpPr>
                  <a:spLocks noGrp="1"/>
                </p:cNvSpPr>
                <p:nvPr>
                  <p:custDataLst>
                    <p:tags r:id="rId5"/>
                  </p:custDataLst>
                </p:nvPr>
              </p:nvSpPr>
              <p:spPr>
                <a:xfrm>
                  <a:off x="1063" y="2916"/>
                  <a:ext cx="0" cy="737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32" name="椭圆 231"/>
                <p:cNvSpPr>
                  <a:spLocks noGrp="1"/>
                </p:cNvSpPr>
                <p:nvPr>
                  <p:custDataLst>
                    <p:tags r:id="rId6"/>
                  </p:custDataLst>
                </p:nvPr>
              </p:nvSpPr>
              <p:spPr>
                <a:xfrm>
                  <a:off x="985" y="1649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33" name="文本框 232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94" y="4606"/>
                <a:ext cx="855" cy="628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Inter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25" name="组合 224"/>
            <p:cNvGrpSpPr/>
            <p:nvPr>
              <p:custDataLst>
                <p:tags r:id="rId8"/>
              </p:custDataLst>
            </p:nvPr>
          </p:nvGrpSpPr>
          <p:grpSpPr>
            <a:xfrm>
              <a:off x="5267" y="1318"/>
              <a:ext cx="960" cy="3738"/>
              <a:chOff x="694" y="1318"/>
              <a:chExt cx="960" cy="3738"/>
            </a:xfrm>
          </p:grpSpPr>
          <p:grpSp>
            <p:nvGrpSpPr>
              <p:cNvPr id="224" name="组合 223"/>
              <p:cNvGrpSpPr/>
              <p:nvPr/>
            </p:nvGrpSpPr>
            <p:grpSpPr>
              <a:xfrm>
                <a:off x="755" y="1318"/>
                <a:ext cx="794" cy="3738"/>
                <a:chOff x="755" y="1318"/>
                <a:chExt cx="794" cy="3738"/>
              </a:xfrm>
            </p:grpSpPr>
            <p:sp>
              <p:nvSpPr>
                <p:cNvPr id="219" name="圆角矩形 21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6" name="任意多边形 106"/>
                <p:cNvSpPr>
                  <a:spLocks noGrp="1"/>
                </p:cNvSpPr>
                <p:nvPr>
                  <p:custDataLst>
                    <p:tags r:id="rId10"/>
                  </p:custDataLst>
                </p:nvPr>
              </p:nvSpPr>
              <p:spPr>
                <a:xfrm>
                  <a:off x="1063" y="2916"/>
                  <a:ext cx="0" cy="9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18" name="椭圆 217"/>
                <p:cNvSpPr>
                  <a:spLocks noGrp="1"/>
                </p:cNvSpPr>
                <p:nvPr>
                  <p:custDataLst>
                    <p:tags r:id="rId11"/>
                  </p:custDataLst>
                </p:nvPr>
              </p:nvSpPr>
              <p:spPr>
                <a:xfrm>
                  <a:off x="928" y="4266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20" name="椭圆 219"/>
                <p:cNvSpPr>
                  <a:spLocks noGrp="1"/>
                </p:cNvSpPr>
                <p:nvPr>
                  <p:custDataLst>
                    <p:tags r:id="rId12"/>
                  </p:custDataLst>
                </p:nvPr>
              </p:nvSpPr>
              <p:spPr>
                <a:xfrm>
                  <a:off x="939" y="2225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  <p:sp>
              <p:nvSpPr>
                <p:cNvPr id="221" name="椭圆 220"/>
                <p:cNvSpPr>
                  <a:spLocks noGrp="1"/>
                </p:cNvSpPr>
                <p:nvPr>
                  <p:custDataLst>
                    <p:tags r:id="rId13"/>
                  </p:custDataLst>
                </p:nvPr>
              </p:nvSpPr>
              <p:spPr>
                <a:xfrm>
                  <a:off x="939" y="1658"/>
                  <a:ext cx="270" cy="270"/>
                </a:xfrm>
                <a:prstGeom prst="ellipse">
                  <a:avLst/>
                </a:prstGeom>
                <a:solidFill>
                  <a:srgbClr val="34D399"/>
                </a:solidFill>
                <a:ln w="11430">
                  <a:solidFill>
                    <a:srgbClr val="00B050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22" name="文本框 221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694" y="4606"/>
                <a:ext cx="960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Input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34" name="组合 233"/>
            <p:cNvGrpSpPr/>
            <p:nvPr/>
          </p:nvGrpSpPr>
          <p:grpSpPr>
            <a:xfrm>
              <a:off x="8390" y="1319"/>
              <a:ext cx="1291" cy="3739"/>
              <a:chOff x="596" y="1318"/>
              <a:chExt cx="1291" cy="3739"/>
            </a:xfrm>
          </p:grpSpPr>
          <p:grpSp>
            <p:nvGrpSpPr>
              <p:cNvPr id="235" name="组合 234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36" name="圆角矩形 235"/>
                <p:cNvSpPr/>
                <p:nvPr/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7" name="任意多边形 106"/>
                <p:cNvSpPr>
                  <a:spLocks noGrp="1"/>
                </p:cNvSpPr>
                <p:nvPr/>
              </p:nvSpPr>
              <p:spPr>
                <a:xfrm>
                  <a:off x="1063" y="2647"/>
                  <a:ext cx="0" cy="99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41" name="文本框 240"/>
              <p:cNvSpPr txBox="1"/>
              <p:nvPr/>
            </p:nvSpPr>
            <p:spPr>
              <a:xfrm>
                <a:off x="596" y="4606"/>
                <a:ext cx="1291" cy="362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9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Command</a:t>
                </a:r>
                <a:endParaRPr lang="en-US" altLang="zh-CN" sz="9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grpSp>
          <p:nvGrpSpPr>
            <p:cNvPr id="250" name="组合 249"/>
            <p:cNvGrpSpPr/>
            <p:nvPr>
              <p:custDataLst>
                <p:tags r:id="rId15"/>
              </p:custDataLst>
            </p:nvPr>
          </p:nvGrpSpPr>
          <p:grpSpPr>
            <a:xfrm>
              <a:off x="9965" y="1318"/>
              <a:ext cx="973" cy="3739"/>
              <a:chOff x="694" y="1318"/>
              <a:chExt cx="973" cy="3739"/>
            </a:xfrm>
          </p:grpSpPr>
          <p:grpSp>
            <p:nvGrpSpPr>
              <p:cNvPr id="251" name="组合 250"/>
              <p:cNvGrpSpPr/>
              <p:nvPr/>
            </p:nvGrpSpPr>
            <p:grpSpPr>
              <a:xfrm>
                <a:off x="755" y="1318"/>
                <a:ext cx="794" cy="3739"/>
                <a:chOff x="755" y="1318"/>
                <a:chExt cx="794" cy="3739"/>
              </a:xfrm>
            </p:grpSpPr>
            <p:sp>
              <p:nvSpPr>
                <p:cNvPr id="252" name="圆角矩形 251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755" y="1318"/>
                  <a:ext cx="794" cy="3739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>
                  <a:solidFill>
                    <a:schemeClr val="accent6">
                      <a:lumMod val="20000"/>
                      <a:lumOff val="8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3" name="任意多边形 106"/>
                <p:cNvSpPr>
                  <a:spLocks noGrp="1"/>
                </p:cNvSpPr>
                <p:nvPr>
                  <p:custDataLst>
                    <p:tags r:id="rId17"/>
                  </p:custDataLst>
                </p:nvPr>
              </p:nvSpPr>
              <p:spPr>
                <a:xfrm>
                  <a:off x="1063" y="2916"/>
                  <a:ext cx="0" cy="76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7625" h="628650">
                      <a:moveTo>
                        <a:pt x="0" y="0"/>
                      </a:moveTo>
                      <a:lnTo>
                        <a:pt x="47625" y="628650"/>
                      </a:lnTo>
                    </a:path>
                  </a:pathLst>
                </a:custGeom>
                <a:noFill/>
                <a:ln w="19050">
                  <a:solidFill>
                    <a:srgbClr val="00B050"/>
                  </a:solidFill>
                  <a:prstDash val="sysDot"/>
                </a:ln>
              </p:spPr>
              <p:txBody>
                <a:bodyPr/>
                <a:lstStyle/>
                <a:p>
                  <a:endParaRPr lang="zh-CN" altLang="en-US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p:grpSp>
          <p:sp>
            <p:nvSpPr>
              <p:cNvPr id="257" name="文本框 256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694" y="4606"/>
                <a:ext cx="973" cy="386"/>
              </a:xfrm>
              <a:prstGeom prst="rect">
                <a:avLst/>
              </a:prstGeom>
            </p:spPr>
            <p:txBody>
              <a:bodyPr wrap="square">
                <a:spAutoFit/>
                <a:extLst>
                  <a:ext uri="{4A0BC546-FE56-4ADE-93B0-CB8AF2F6F144}">
                    <wpsdc:textFrameExt xmlns:wpsdc="http://www.wps.cn/officeDocument/2022/drawingmlCustomData" type="text"/>
                  </a:ext>
                </a:extLst>
              </a:bodyPr>
              <a:lstStyle/>
              <a:p>
                <a:pPr algn="l"/>
                <a:r>
                  <a:rPr lang="en-US" altLang="zh-CN" sz="1000">
                    <a:latin typeface="Comic Sans MS" panose="030F0702030302020204" charset="0"/>
                    <a:ea typeface="微软雅黑" panose="020B0503020204020204" charset="-122"/>
                    <a:cs typeface="Comic Sans MS" panose="030F0702030302020204" charset="0"/>
                  </a:rPr>
                  <a:t>Motor</a:t>
                </a:r>
                <a:endParaRPr lang="en-US" altLang="zh-CN" sz="10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endParaRPr>
              </a:p>
            </p:txBody>
          </p:sp>
        </p:grpSp>
        <p:cxnSp>
          <p:nvCxnSpPr>
            <p:cNvPr id="274" name="直接箭头连接符 273"/>
            <p:cNvCxnSpPr>
              <a:stCxn id="221" idx="6"/>
              <a:endCxn id="232" idx="2"/>
            </p:cNvCxnSpPr>
            <p:nvPr/>
          </p:nvCxnSpPr>
          <p:spPr>
            <a:xfrm flipV="1">
              <a:off x="5782" y="1784"/>
              <a:ext cx="1364" cy="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5" name="直接箭头连接符 274"/>
            <p:cNvCxnSpPr>
              <a:stCxn id="221" idx="5"/>
              <a:endCxn id="272" idx="2"/>
            </p:cNvCxnSpPr>
            <p:nvPr/>
          </p:nvCxnSpPr>
          <p:spPr>
            <a:xfrm>
              <a:off x="5742" y="1888"/>
              <a:ext cx="1368" cy="206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6" name="直接箭头连接符 275"/>
            <p:cNvCxnSpPr>
              <a:stCxn id="220" idx="6"/>
              <a:endCxn id="231" idx="2"/>
            </p:cNvCxnSpPr>
            <p:nvPr/>
          </p:nvCxnSpPr>
          <p:spPr>
            <a:xfrm>
              <a:off x="5782" y="2360"/>
              <a:ext cx="1318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8" name="直接箭头连接符 277"/>
            <p:cNvCxnSpPr>
              <a:stCxn id="218" idx="6"/>
              <a:endCxn id="230" idx="2"/>
            </p:cNvCxnSpPr>
            <p:nvPr/>
          </p:nvCxnSpPr>
          <p:spPr>
            <a:xfrm>
              <a:off x="5771" y="4401"/>
              <a:ext cx="132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79" name="直接箭头连接符 278"/>
            <p:cNvCxnSpPr>
              <a:stCxn id="272" idx="6"/>
              <a:endCxn id="240" idx="2"/>
            </p:cNvCxnSpPr>
            <p:nvPr/>
          </p:nvCxnSpPr>
          <p:spPr>
            <a:xfrm flipV="1">
              <a:off x="7380" y="1794"/>
              <a:ext cx="1353" cy="21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3" name="直接箭头连接符 282"/>
            <p:cNvCxnSpPr>
              <a:stCxn id="272" idx="6"/>
              <a:endCxn id="238" idx="2"/>
            </p:cNvCxnSpPr>
            <p:nvPr/>
          </p:nvCxnSpPr>
          <p:spPr>
            <a:xfrm>
              <a:off x="7380" y="3948"/>
              <a:ext cx="1342" cy="4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7" name="直接箭头连接符 286"/>
            <p:cNvCxnSpPr>
              <a:stCxn id="239" idx="6"/>
              <a:endCxn id="255" idx="2"/>
            </p:cNvCxnSpPr>
            <p:nvPr/>
          </p:nvCxnSpPr>
          <p:spPr>
            <a:xfrm flipV="1">
              <a:off x="9003" y="2360"/>
              <a:ext cx="1207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8" name="直接箭头连接符 287"/>
            <p:cNvCxnSpPr>
              <a:stCxn id="239" idx="5"/>
              <a:endCxn id="167" idx="1"/>
            </p:cNvCxnSpPr>
            <p:nvPr/>
          </p:nvCxnSpPr>
          <p:spPr>
            <a:xfrm>
              <a:off x="8963" y="2456"/>
              <a:ext cx="1296" cy="193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89" name="直接箭头连接符 288"/>
            <p:cNvCxnSpPr>
              <a:stCxn id="238" idx="6"/>
              <a:endCxn id="286" idx="2"/>
            </p:cNvCxnSpPr>
            <p:nvPr/>
          </p:nvCxnSpPr>
          <p:spPr>
            <a:xfrm flipV="1">
              <a:off x="8992" y="3948"/>
              <a:ext cx="1234" cy="45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91" name="文本框 290"/>
            <p:cNvSpPr txBox="1"/>
            <p:nvPr>
              <p:custDataLst>
                <p:tags r:id="rId19"/>
              </p:custDataLst>
            </p:nvPr>
          </p:nvSpPr>
          <p:spPr>
            <a:xfrm>
              <a:off x="8390" y="3501"/>
              <a:ext cx="1519" cy="628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>
                  <a:solidFill>
                    <a:schemeClr val="accent2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recurrent synapses</a:t>
              </a:r>
              <a:endParaRPr lang="en-US" altLang="zh-CN" sz="1000">
                <a:solidFill>
                  <a:schemeClr val="accent2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  <p:cxnSp>
          <p:nvCxnSpPr>
            <p:cNvPr id="5" name="直接箭头连接符 4"/>
            <p:cNvCxnSpPr>
              <a:stCxn id="232" idx="6"/>
              <a:endCxn id="239" idx="2"/>
            </p:cNvCxnSpPr>
            <p:nvPr/>
          </p:nvCxnSpPr>
          <p:spPr>
            <a:xfrm>
              <a:off x="7416" y="1784"/>
              <a:ext cx="1317" cy="577"/>
            </a:xfrm>
            <a:prstGeom prst="straightConnector1">
              <a:avLst/>
            </a:prstGeom>
            <a:ln w="19050"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椭圆 134"/>
            <p:cNvSpPr>
              <a:spLocks noGrp="1"/>
            </p:cNvSpPr>
            <p:nvPr>
              <p:custDataLst>
                <p:tags r:id="rId20"/>
              </p:custDataLst>
            </p:nvPr>
          </p:nvSpPr>
          <p:spPr>
            <a:xfrm>
              <a:off x="7224" y="1727"/>
              <a:ext cx="113" cy="113"/>
            </a:xfrm>
            <a:prstGeom prst="ellipse">
              <a:avLst/>
            </a:prstGeom>
            <a:solidFill>
              <a:schemeClr val="accent6">
                <a:lumMod val="50000"/>
              </a:schemeClr>
            </a:solidFill>
            <a:ln w="11430">
              <a:solidFill>
                <a:schemeClr val="accent6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zh-CN" altLang="en-US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  <p:grpSp>
          <p:nvGrpSpPr>
            <p:cNvPr id="141" name="组合 140"/>
            <p:cNvGrpSpPr/>
            <p:nvPr/>
          </p:nvGrpSpPr>
          <p:grpSpPr>
            <a:xfrm>
              <a:off x="7109" y="3829"/>
              <a:ext cx="270" cy="270"/>
              <a:chOff x="3449" y="367"/>
              <a:chExt cx="270" cy="270"/>
            </a:xfrm>
          </p:grpSpPr>
          <p:sp>
            <p:nvSpPr>
              <p:cNvPr id="139" name="椭圆 138"/>
              <p:cNvSpPr>
                <a:spLocks noGrp="1"/>
              </p:cNvSpPr>
              <p:nvPr>
                <p:custDataLst>
                  <p:tags r:id="rId21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0" name="椭圆 139"/>
              <p:cNvSpPr>
                <a:spLocks noGrp="1"/>
              </p:cNvSpPr>
              <p:nvPr>
                <p:custDataLst>
                  <p:tags r:id="rId22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2" name="组合 141"/>
            <p:cNvGrpSpPr/>
            <p:nvPr/>
          </p:nvGrpSpPr>
          <p:grpSpPr>
            <a:xfrm>
              <a:off x="7109" y="2224"/>
              <a:ext cx="270" cy="270"/>
              <a:chOff x="3449" y="367"/>
              <a:chExt cx="270" cy="270"/>
            </a:xfrm>
          </p:grpSpPr>
          <p:sp>
            <p:nvSpPr>
              <p:cNvPr id="143" name="椭圆 142"/>
              <p:cNvSpPr>
                <a:spLocks noGrp="1"/>
              </p:cNvSpPr>
              <p:nvPr>
                <p:custDataLst>
                  <p:tags r:id="rId23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4" name="椭圆 143"/>
              <p:cNvSpPr>
                <a:spLocks noGrp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5" name="组合 144"/>
            <p:cNvGrpSpPr/>
            <p:nvPr/>
          </p:nvGrpSpPr>
          <p:grpSpPr>
            <a:xfrm>
              <a:off x="7109" y="4270"/>
              <a:ext cx="270" cy="270"/>
              <a:chOff x="3449" y="367"/>
              <a:chExt cx="270" cy="270"/>
            </a:xfrm>
          </p:grpSpPr>
          <p:sp>
            <p:nvSpPr>
              <p:cNvPr id="146" name="椭圆 145"/>
              <p:cNvSpPr>
                <a:spLocks noGrp="1"/>
              </p:cNvSpPr>
              <p:nvPr>
                <p:custDataLst>
                  <p:tags r:id="rId25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47" name="椭圆 146"/>
              <p:cNvSpPr>
                <a:spLocks noGrp="1"/>
              </p:cNvSpPr>
              <p:nvPr>
                <p:custDataLst>
                  <p:tags r:id="rId26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48" name="组合 147"/>
            <p:cNvGrpSpPr/>
            <p:nvPr/>
          </p:nvGrpSpPr>
          <p:grpSpPr>
            <a:xfrm>
              <a:off x="8722" y="1680"/>
              <a:ext cx="270" cy="270"/>
              <a:chOff x="3449" y="367"/>
              <a:chExt cx="270" cy="270"/>
            </a:xfrm>
          </p:grpSpPr>
          <p:sp>
            <p:nvSpPr>
              <p:cNvPr id="149" name="椭圆 148"/>
              <p:cNvSpPr>
                <a:spLocks noGrp="1"/>
              </p:cNvSpPr>
              <p:nvPr>
                <p:custDataLst>
                  <p:tags r:id="rId27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0" name="椭圆 149"/>
              <p:cNvSpPr>
                <a:spLocks noGrp="1"/>
              </p:cNvSpPr>
              <p:nvPr>
                <p:custDataLst>
                  <p:tags r:id="rId28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54" name="组合 153"/>
            <p:cNvGrpSpPr/>
            <p:nvPr/>
          </p:nvGrpSpPr>
          <p:grpSpPr>
            <a:xfrm>
              <a:off x="8722" y="4270"/>
              <a:ext cx="270" cy="270"/>
              <a:chOff x="3449" y="367"/>
              <a:chExt cx="270" cy="270"/>
            </a:xfrm>
          </p:grpSpPr>
          <p:sp>
            <p:nvSpPr>
              <p:cNvPr id="155" name="椭圆 154"/>
              <p:cNvSpPr>
                <a:spLocks noGrp="1"/>
              </p:cNvSpPr>
              <p:nvPr>
                <p:custDataLst>
                  <p:tags r:id="rId29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6" name="椭圆 155"/>
              <p:cNvSpPr>
                <a:spLocks noGrp="1"/>
              </p:cNvSpPr>
              <p:nvPr>
                <p:custDataLst>
                  <p:tags r:id="rId30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51" name="组合 150"/>
            <p:cNvGrpSpPr/>
            <p:nvPr/>
          </p:nvGrpSpPr>
          <p:grpSpPr>
            <a:xfrm>
              <a:off x="8722" y="2247"/>
              <a:ext cx="270" cy="270"/>
              <a:chOff x="3449" y="367"/>
              <a:chExt cx="270" cy="270"/>
            </a:xfrm>
          </p:grpSpPr>
          <p:sp>
            <p:nvSpPr>
              <p:cNvPr id="152" name="椭圆 151"/>
              <p:cNvSpPr>
                <a:spLocks noGrp="1"/>
              </p:cNvSpPr>
              <p:nvPr>
                <p:custDataLst>
                  <p:tags r:id="rId31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3" name="椭圆 152"/>
              <p:cNvSpPr>
                <a:spLocks noGrp="1"/>
              </p:cNvSpPr>
              <p:nvPr>
                <p:custDataLst>
                  <p:tags r:id="rId32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cxnSp>
          <p:nvCxnSpPr>
            <p:cNvPr id="290" name="曲线连接符 289"/>
            <p:cNvCxnSpPr/>
            <p:nvPr/>
          </p:nvCxnSpPr>
          <p:spPr>
            <a:xfrm flipV="1">
              <a:off x="8163" y="4153"/>
              <a:ext cx="1247" cy="567"/>
            </a:xfrm>
            <a:prstGeom prst="curvedConnector3">
              <a:avLst>
                <a:gd name="adj1" fmla="val 54370"/>
              </a:avLst>
            </a:prstGeom>
            <a:ln>
              <a:solidFill>
                <a:schemeClr val="accent2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157" name="组合 156"/>
            <p:cNvGrpSpPr/>
            <p:nvPr/>
          </p:nvGrpSpPr>
          <p:grpSpPr>
            <a:xfrm>
              <a:off x="10219" y="1648"/>
              <a:ext cx="270" cy="270"/>
              <a:chOff x="3449" y="367"/>
              <a:chExt cx="270" cy="270"/>
            </a:xfrm>
          </p:grpSpPr>
          <p:sp>
            <p:nvSpPr>
              <p:cNvPr id="158" name="椭圆 157"/>
              <p:cNvSpPr>
                <a:spLocks noGrp="1"/>
              </p:cNvSpPr>
              <p:nvPr>
                <p:custDataLst>
                  <p:tags r:id="rId33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59" name="椭圆 158"/>
              <p:cNvSpPr>
                <a:spLocks noGrp="1"/>
              </p:cNvSpPr>
              <p:nvPr>
                <p:custDataLst>
                  <p:tags r:id="rId34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0" name="组合 159"/>
            <p:cNvGrpSpPr/>
            <p:nvPr/>
          </p:nvGrpSpPr>
          <p:grpSpPr>
            <a:xfrm>
              <a:off x="10219" y="2227"/>
              <a:ext cx="270" cy="270"/>
              <a:chOff x="3449" y="367"/>
              <a:chExt cx="270" cy="270"/>
            </a:xfrm>
          </p:grpSpPr>
          <p:sp>
            <p:nvSpPr>
              <p:cNvPr id="161" name="椭圆 160"/>
              <p:cNvSpPr>
                <a:spLocks noGrp="1"/>
              </p:cNvSpPr>
              <p:nvPr>
                <p:custDataLst>
                  <p:tags r:id="rId35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2" name="椭圆 161"/>
              <p:cNvSpPr>
                <a:spLocks noGrp="1"/>
              </p:cNvSpPr>
              <p:nvPr>
                <p:custDataLst>
                  <p:tags r:id="rId36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3" name="组合 162"/>
            <p:cNvGrpSpPr/>
            <p:nvPr/>
          </p:nvGrpSpPr>
          <p:grpSpPr>
            <a:xfrm>
              <a:off x="10219" y="3786"/>
              <a:ext cx="270" cy="270"/>
              <a:chOff x="3449" y="367"/>
              <a:chExt cx="270" cy="270"/>
            </a:xfrm>
          </p:grpSpPr>
          <p:sp>
            <p:nvSpPr>
              <p:cNvPr id="164" name="椭圆 163"/>
              <p:cNvSpPr>
                <a:spLocks noGrp="1"/>
              </p:cNvSpPr>
              <p:nvPr>
                <p:custDataLst>
                  <p:tags r:id="rId37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5" name="椭圆 164"/>
              <p:cNvSpPr>
                <a:spLocks noGrp="1"/>
              </p:cNvSpPr>
              <p:nvPr>
                <p:custDataLst>
                  <p:tags r:id="rId38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grpSp>
          <p:nvGrpSpPr>
            <p:cNvPr id="166" name="组合 165"/>
            <p:cNvGrpSpPr/>
            <p:nvPr/>
          </p:nvGrpSpPr>
          <p:grpSpPr>
            <a:xfrm>
              <a:off x="10219" y="4353"/>
              <a:ext cx="270" cy="270"/>
              <a:chOff x="3449" y="367"/>
              <a:chExt cx="270" cy="270"/>
            </a:xfrm>
          </p:grpSpPr>
          <p:sp>
            <p:nvSpPr>
              <p:cNvPr id="167" name="椭圆 166"/>
              <p:cNvSpPr>
                <a:spLocks noGrp="1"/>
              </p:cNvSpPr>
              <p:nvPr>
                <p:custDataLst>
                  <p:tags r:id="rId39"/>
                </p:custDataLst>
              </p:nvPr>
            </p:nvSpPr>
            <p:spPr>
              <a:xfrm>
                <a:off x="3449" y="367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68" name="椭圆 167"/>
              <p:cNvSpPr>
                <a:spLocks noGrp="1"/>
              </p:cNvSpPr>
              <p:nvPr>
                <p:custDataLst>
                  <p:tags r:id="rId40"/>
                </p:custDataLst>
              </p:nvPr>
            </p:nvSpPr>
            <p:spPr>
              <a:xfrm>
                <a:off x="3528" y="446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</p:grpSp>
      <p:sp>
        <p:nvSpPr>
          <p:cNvPr id="169" name="任意多边形 168"/>
          <p:cNvSpPr/>
          <p:nvPr/>
        </p:nvSpPr>
        <p:spPr>
          <a:xfrm>
            <a:off x="7662910" y="257192"/>
            <a:ext cx="14184842" cy="6426886"/>
          </a:xfrm>
          <a:custGeom>
            <a:avLst/>
            <a:gdLst>
              <a:gd name="connsiteX0" fmla="*/ 2835 w 22338"/>
              <a:gd name="connsiteY0" fmla="*/ 4948 h 10121"/>
              <a:gd name="connsiteX1" fmla="*/ 4105 w 22338"/>
              <a:gd name="connsiteY1" fmla="*/ 16 h 10121"/>
              <a:gd name="connsiteX2" fmla="*/ 6880 w 22338"/>
              <a:gd name="connsiteY2" fmla="*/ 32 h 10121"/>
              <a:gd name="connsiteX3" fmla="*/ 8332 w 22338"/>
              <a:gd name="connsiteY3" fmla="*/ 34 h 10121"/>
              <a:gd name="connsiteX4" fmla="*/ 9622 w 22338"/>
              <a:gd name="connsiteY4" fmla="*/ 35 h 10121"/>
              <a:gd name="connsiteX5" fmla="*/ 11398 w 22338"/>
              <a:gd name="connsiteY5" fmla="*/ 37 h 10121"/>
              <a:gd name="connsiteX6" fmla="*/ 12848 w 22338"/>
              <a:gd name="connsiteY6" fmla="*/ 39 h 10121"/>
              <a:gd name="connsiteX7" fmla="*/ 14785 w 22338"/>
              <a:gd name="connsiteY7" fmla="*/ 41 h 10121"/>
              <a:gd name="connsiteX8" fmla="*/ 16075 w 22338"/>
              <a:gd name="connsiteY8" fmla="*/ 42 h 10121"/>
              <a:gd name="connsiteX9" fmla="*/ 18012 w 22338"/>
              <a:gd name="connsiteY9" fmla="*/ 45 h 10121"/>
              <a:gd name="connsiteX10" fmla="*/ 19140 w 22338"/>
              <a:gd name="connsiteY10" fmla="*/ 46 h 10121"/>
              <a:gd name="connsiteX11" fmla="*/ 21077 w 22338"/>
              <a:gd name="connsiteY11" fmla="*/ 48 h 10121"/>
              <a:gd name="connsiteX12" fmla="*/ 22192 w 22338"/>
              <a:gd name="connsiteY12" fmla="*/ 1739 h 10121"/>
              <a:gd name="connsiteX13" fmla="*/ 22137 w 22338"/>
              <a:gd name="connsiteY13" fmla="*/ 8503 h 10121"/>
              <a:gd name="connsiteX14" fmla="*/ 21175 w 22338"/>
              <a:gd name="connsiteY14" fmla="*/ 10067 h 10121"/>
              <a:gd name="connsiteX15" fmla="*/ 20010 w 22338"/>
              <a:gd name="connsiteY15" fmla="*/ 10069 h 10121"/>
              <a:gd name="connsiteX16" fmla="*/ 18434 w 22338"/>
              <a:gd name="connsiteY16" fmla="*/ 10072 h 10121"/>
              <a:gd name="connsiteX17" fmla="*/ 17063 w 22338"/>
              <a:gd name="connsiteY17" fmla="*/ 10074 h 10121"/>
              <a:gd name="connsiteX18" fmla="*/ 16101 w 22338"/>
              <a:gd name="connsiteY18" fmla="*/ 10076 h 10121"/>
              <a:gd name="connsiteX19" fmla="*/ 14936 w 22338"/>
              <a:gd name="connsiteY19" fmla="*/ 10078 h 10121"/>
              <a:gd name="connsiteX20" fmla="*/ 13770 w 22338"/>
              <a:gd name="connsiteY20" fmla="*/ 10080 h 10121"/>
              <a:gd name="connsiteX21" fmla="*/ 12400 w 22338"/>
              <a:gd name="connsiteY21" fmla="*/ 10082 h 10121"/>
              <a:gd name="connsiteX22" fmla="*/ 10415 w 22338"/>
              <a:gd name="connsiteY22" fmla="*/ 10086 h 10121"/>
              <a:gd name="connsiteX23" fmla="*/ 8840 w 22338"/>
              <a:gd name="connsiteY23" fmla="*/ 10089 h 10121"/>
              <a:gd name="connsiteX24" fmla="*/ 7468 w 22338"/>
              <a:gd name="connsiteY24" fmla="*/ 10091 h 10121"/>
              <a:gd name="connsiteX25" fmla="*/ 6508 w 22338"/>
              <a:gd name="connsiteY25" fmla="*/ 10093 h 10121"/>
              <a:gd name="connsiteX26" fmla="*/ 5546 w 22338"/>
              <a:gd name="connsiteY26" fmla="*/ 10094 h 10121"/>
              <a:gd name="connsiteX27" fmla="*/ 3767 w 22338"/>
              <a:gd name="connsiteY27" fmla="*/ 10098 h 10121"/>
              <a:gd name="connsiteX28" fmla="*/ 2601 w 22338"/>
              <a:gd name="connsiteY28" fmla="*/ 10100 h 10121"/>
              <a:gd name="connsiteX29" fmla="*/ 694 w 22338"/>
              <a:gd name="connsiteY29" fmla="*/ 10103 h 10121"/>
              <a:gd name="connsiteX30" fmla="*/ 182 w 22338"/>
              <a:gd name="connsiteY30" fmla="*/ 4827 h 10121"/>
              <a:gd name="connsiteX31" fmla="*/ 969 w 22338"/>
              <a:gd name="connsiteY31" fmla="*/ 4890 h 10121"/>
              <a:gd name="connsiteX32" fmla="*/ 2394 w 22338"/>
              <a:gd name="connsiteY32" fmla="*/ 4896 h 10121"/>
              <a:gd name="connsiteX33" fmla="*/ 2835 w 22338"/>
              <a:gd name="connsiteY33" fmla="*/ 4948 h 101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22338" h="10121" extrusionOk="0">
                <a:moveTo>
                  <a:pt x="2835" y="4948"/>
                </a:moveTo>
                <a:cubicBezTo>
                  <a:pt x="2630" y="3935"/>
                  <a:pt x="2602" y="49"/>
                  <a:pt x="4105" y="16"/>
                </a:cubicBezTo>
                <a:cubicBezTo>
                  <a:pt x="4896" y="50"/>
                  <a:pt x="6274" y="44"/>
                  <a:pt x="6880" y="32"/>
                </a:cubicBezTo>
                <a:cubicBezTo>
                  <a:pt x="7486" y="21"/>
                  <a:pt x="7779" y="79"/>
                  <a:pt x="8332" y="34"/>
                </a:cubicBezTo>
                <a:cubicBezTo>
                  <a:pt x="8885" y="-12"/>
                  <a:pt x="9102" y="72"/>
                  <a:pt x="9622" y="35"/>
                </a:cubicBezTo>
                <a:cubicBezTo>
                  <a:pt x="10143" y="-1"/>
                  <a:pt x="10916" y="-22"/>
                  <a:pt x="11398" y="37"/>
                </a:cubicBezTo>
                <a:cubicBezTo>
                  <a:pt x="11877" y="96"/>
                  <a:pt x="12305" y="69"/>
                  <a:pt x="12848" y="39"/>
                </a:cubicBezTo>
                <a:cubicBezTo>
                  <a:pt x="13393" y="8"/>
                  <a:pt x="14250" y="73"/>
                  <a:pt x="14785" y="41"/>
                </a:cubicBezTo>
                <a:cubicBezTo>
                  <a:pt x="15319" y="9"/>
                  <a:pt x="15551" y="8"/>
                  <a:pt x="16075" y="42"/>
                </a:cubicBezTo>
                <a:cubicBezTo>
                  <a:pt x="16600" y="77"/>
                  <a:pt x="17463" y="17"/>
                  <a:pt x="18012" y="45"/>
                </a:cubicBezTo>
                <a:cubicBezTo>
                  <a:pt x="18561" y="72"/>
                  <a:pt x="18696" y="36"/>
                  <a:pt x="19140" y="46"/>
                </a:cubicBezTo>
                <a:cubicBezTo>
                  <a:pt x="19584" y="55"/>
                  <a:pt x="20588" y="44"/>
                  <a:pt x="21077" y="48"/>
                </a:cubicBezTo>
                <a:cubicBezTo>
                  <a:pt x="22567" y="167"/>
                  <a:pt x="22203" y="894"/>
                  <a:pt x="22192" y="1739"/>
                </a:cubicBezTo>
                <a:cubicBezTo>
                  <a:pt x="22382" y="4185"/>
                  <a:pt x="22409" y="6482"/>
                  <a:pt x="22137" y="8503"/>
                </a:cubicBezTo>
                <a:cubicBezTo>
                  <a:pt x="22283" y="9343"/>
                  <a:pt x="22592" y="9918"/>
                  <a:pt x="21175" y="10067"/>
                </a:cubicBezTo>
                <a:lnTo>
                  <a:pt x="20010" y="10069"/>
                </a:lnTo>
                <a:cubicBezTo>
                  <a:pt x="19715" y="10080"/>
                  <a:pt x="18873" y="10039"/>
                  <a:pt x="18434" y="10072"/>
                </a:cubicBezTo>
                <a:cubicBezTo>
                  <a:pt x="17995" y="10105"/>
                  <a:pt x="17598" y="10110"/>
                  <a:pt x="17063" y="10074"/>
                </a:cubicBezTo>
                <a:cubicBezTo>
                  <a:pt x="16527" y="10039"/>
                  <a:pt x="16568" y="10101"/>
                  <a:pt x="16101" y="10076"/>
                </a:cubicBezTo>
                <a:cubicBezTo>
                  <a:pt x="15636" y="10051"/>
                  <a:pt x="15367" y="10095"/>
                  <a:pt x="14936" y="10078"/>
                </a:cubicBezTo>
                <a:cubicBezTo>
                  <a:pt x="14507" y="10061"/>
                  <a:pt x="14287" y="10102"/>
                  <a:pt x="13770" y="10080"/>
                </a:cubicBezTo>
                <a:cubicBezTo>
                  <a:pt x="13252" y="10058"/>
                  <a:pt x="12938" y="10122"/>
                  <a:pt x="12400" y="10082"/>
                </a:cubicBezTo>
                <a:cubicBezTo>
                  <a:pt x="11862" y="10043"/>
                  <a:pt x="11102" y="10129"/>
                  <a:pt x="10415" y="10086"/>
                </a:cubicBezTo>
                <a:cubicBezTo>
                  <a:pt x="9727" y="10042"/>
                  <a:pt x="9224" y="10045"/>
                  <a:pt x="8840" y="10089"/>
                </a:cubicBezTo>
                <a:cubicBezTo>
                  <a:pt x="8455" y="10132"/>
                  <a:pt x="8075" y="10094"/>
                  <a:pt x="7468" y="10091"/>
                </a:cubicBezTo>
                <a:cubicBezTo>
                  <a:pt x="6861" y="10088"/>
                  <a:pt x="6900" y="10123"/>
                  <a:pt x="6508" y="10093"/>
                </a:cubicBezTo>
                <a:cubicBezTo>
                  <a:pt x="6116" y="10062"/>
                  <a:pt x="5885" y="10121"/>
                  <a:pt x="5546" y="10094"/>
                </a:cubicBezTo>
                <a:cubicBezTo>
                  <a:pt x="5207" y="10068"/>
                  <a:pt x="4452" y="10096"/>
                  <a:pt x="3767" y="10098"/>
                </a:cubicBezTo>
                <a:cubicBezTo>
                  <a:pt x="3080" y="10099"/>
                  <a:pt x="3041" y="10123"/>
                  <a:pt x="2601" y="10100"/>
                </a:cubicBezTo>
                <a:cubicBezTo>
                  <a:pt x="2160" y="10076"/>
                  <a:pt x="1493" y="10155"/>
                  <a:pt x="694" y="10103"/>
                </a:cubicBezTo>
                <a:cubicBezTo>
                  <a:pt x="-415" y="10249"/>
                  <a:pt x="122" y="5740"/>
                  <a:pt x="182" y="4827"/>
                </a:cubicBezTo>
                <a:cubicBezTo>
                  <a:pt x="534" y="4841"/>
                  <a:pt x="577" y="4866"/>
                  <a:pt x="969" y="4890"/>
                </a:cubicBezTo>
                <a:cubicBezTo>
                  <a:pt x="1361" y="4915"/>
                  <a:pt x="2083" y="4886"/>
                  <a:pt x="2394" y="4896"/>
                </a:cubicBezTo>
                <a:cubicBezTo>
                  <a:pt x="2705" y="4906"/>
                  <a:pt x="2129" y="4913"/>
                  <a:pt x="2835" y="4948"/>
                </a:cubicBezTo>
                <a:close/>
              </a:path>
            </a:pathLst>
          </a:custGeom>
          <a:noFill/>
          <a:ln w="25400">
            <a:solidFill>
              <a:schemeClr val="accent3">
                <a:lumMod val="75000"/>
              </a:schemeClr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8724422" y="4286885"/>
            <a:ext cx="80010" cy="269240"/>
          </a:xfrm>
          <a:prstGeom prst="up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上箭头 11"/>
          <p:cNvSpPr/>
          <p:nvPr/>
        </p:nvSpPr>
        <p:spPr>
          <a:xfrm rot="5400000">
            <a:off x="9488522" y="3810440"/>
            <a:ext cx="72000" cy="269240"/>
          </a:xfrm>
          <a:prstGeom prst="up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9763137" y="214630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0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757422" y="229616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1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757422" y="2440305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2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757422" y="2602230"/>
            <a:ext cx="149860" cy="241300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000" b="1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3</a:t>
            </a:r>
            <a:endParaRPr lang="en-US" altLang="zh-CN" sz="1000" b="1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grpSp>
        <p:nvGrpSpPr>
          <p:cNvPr id="59" name="组合 58"/>
          <p:cNvGrpSpPr/>
          <p:nvPr/>
        </p:nvGrpSpPr>
        <p:grpSpPr>
          <a:xfrm>
            <a:off x="10434332" y="3395345"/>
            <a:ext cx="2572385" cy="273685"/>
            <a:chOff x="7279" y="3549"/>
            <a:chExt cx="4051" cy="431"/>
          </a:xfrm>
        </p:grpSpPr>
        <p:cxnSp>
          <p:nvCxnSpPr>
            <p:cNvPr id="39" name="直接箭头连接符 38"/>
            <p:cNvCxnSpPr/>
            <p:nvPr/>
          </p:nvCxnSpPr>
          <p:spPr>
            <a:xfrm>
              <a:off x="7279" y="3726"/>
              <a:ext cx="2837" cy="149"/>
            </a:xfrm>
            <a:prstGeom prst="straightConnector1">
              <a:avLst/>
            </a:prstGeom>
            <a:ln w="19050">
              <a:solidFill>
                <a:srgbClr val="2F4858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7" name="文本框 56"/>
            <p:cNvSpPr txBox="1"/>
            <p:nvPr>
              <p:custDataLst>
                <p:tags r:id="rId41"/>
              </p:custDataLst>
            </p:nvPr>
          </p:nvSpPr>
          <p:spPr>
            <a:xfrm>
              <a:off x="10295" y="3549"/>
              <a:ext cx="1035" cy="431"/>
            </a:xfrm>
            <a:prstGeom prst="rect">
              <a:avLst/>
            </a:prstGeom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400" b="1" dirty="0">
                  <a:solidFill>
                    <a:srgbClr val="2F4858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time</a:t>
              </a:r>
              <a:endParaRPr lang="en-US" altLang="zh-CN" sz="1400" b="1" dirty="0">
                <a:solidFill>
                  <a:srgbClr val="2F4858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193" name="组合 192"/>
          <p:cNvGrpSpPr/>
          <p:nvPr/>
        </p:nvGrpSpPr>
        <p:grpSpPr>
          <a:xfrm>
            <a:off x="9514217" y="1818005"/>
            <a:ext cx="3722370" cy="925830"/>
            <a:chOff x="11377" y="1416"/>
            <a:chExt cx="5862" cy="1458"/>
          </a:xfrm>
        </p:grpSpPr>
        <p:grpSp>
          <p:nvGrpSpPr>
            <p:cNvPr id="22" name="组合 21"/>
            <p:cNvGrpSpPr/>
            <p:nvPr/>
          </p:nvGrpSpPr>
          <p:grpSpPr>
            <a:xfrm>
              <a:off x="11377" y="1616"/>
              <a:ext cx="3462" cy="1078"/>
              <a:chOff x="7610" y="1680"/>
              <a:chExt cx="3462" cy="1750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13" name="矩形 12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5" name="矩形 14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矩形 16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43" name="组合 42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45" name="矩形 44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49" name="矩形 48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50" name="矩形 49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24" name="组合 23"/>
            <p:cNvGrpSpPr/>
            <p:nvPr/>
          </p:nvGrpSpPr>
          <p:grpSpPr>
            <a:xfrm>
              <a:off x="13777" y="1797"/>
              <a:ext cx="2288" cy="1035"/>
              <a:chOff x="5360670" y="1085663"/>
              <a:chExt cx="1453138" cy="1067258"/>
            </a:xfrm>
            <a:scene3d>
              <a:camera prst="isometricOffAxis2Right"/>
              <a:lightRig rig="threePt" dir="t"/>
            </a:scene3d>
          </p:grpSpPr>
          <p:sp>
            <p:nvSpPr>
              <p:cNvPr id="25" name="矩形 24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4D399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矩形 43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6" name="矩形 45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4D399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8" name="矩形 47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51" name="组合 50"/>
            <p:cNvGrpSpPr/>
            <p:nvPr/>
          </p:nvGrpSpPr>
          <p:grpSpPr>
            <a:xfrm>
              <a:off x="14951" y="1840"/>
              <a:ext cx="2288" cy="1035"/>
              <a:chOff x="5360670" y="1085663"/>
              <a:chExt cx="1453138" cy="1067258"/>
            </a:xfrm>
            <a:scene3d>
              <a:camera prst="isometricOffAxis2Right"/>
              <a:lightRig rig="threePt" dir="t"/>
            </a:scene3d>
          </p:grpSpPr>
          <p:sp>
            <p:nvSpPr>
              <p:cNvPr id="52" name="矩形 51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60000"/>
                    <a:lumOff val="4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chemeClr val="accent4">
                    <a:lumMod val="50000"/>
                  </a:schemeClr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cxnSp>
          <p:nvCxnSpPr>
            <p:cNvPr id="130" name="曲线连接符 129"/>
            <p:cNvCxnSpPr/>
            <p:nvPr/>
          </p:nvCxnSpPr>
          <p:spPr>
            <a:xfrm rot="5400000" flipV="1">
              <a:off x="12760" y="1704"/>
              <a:ext cx="711" cy="135"/>
            </a:xfrm>
            <a:prstGeom prst="curvedConnector3">
              <a:avLst>
                <a:gd name="adj1" fmla="val 5007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3" name="曲线连接符 132"/>
            <p:cNvCxnSpPr/>
            <p:nvPr/>
          </p:nvCxnSpPr>
          <p:spPr>
            <a:xfrm rot="5400000" flipV="1">
              <a:off x="13907" y="1769"/>
              <a:ext cx="816" cy="231"/>
            </a:xfrm>
            <a:prstGeom prst="curvedConnector3">
              <a:avLst>
                <a:gd name="adj1" fmla="val 50061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4" name="曲线连接符 133"/>
            <p:cNvCxnSpPr/>
            <p:nvPr/>
          </p:nvCxnSpPr>
          <p:spPr>
            <a:xfrm rot="5400000" flipV="1">
              <a:off x="15185" y="1904"/>
              <a:ext cx="643" cy="154"/>
            </a:xfrm>
            <a:prstGeom prst="curvedConnector3">
              <a:avLst>
                <a:gd name="adj1" fmla="val 50000"/>
              </a:avLst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8" name="左大括号 7"/>
          <p:cNvSpPr/>
          <p:nvPr/>
        </p:nvSpPr>
        <p:spPr>
          <a:xfrm rot="16200000">
            <a:off x="11090287" y="1755140"/>
            <a:ext cx="349250" cy="2454275"/>
          </a:xfrm>
          <a:prstGeom prst="leftBrace">
            <a:avLst>
              <a:gd name="adj1" fmla="val 8333"/>
              <a:gd name="adj2" fmla="val 50025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>
            <p:custDataLst>
              <p:tags r:id="rId42"/>
            </p:custDataLst>
          </p:nvPr>
        </p:nvSpPr>
        <p:spPr>
          <a:xfrm>
            <a:off x="10696587" y="3152140"/>
            <a:ext cx="1136650" cy="273685"/>
          </a:xfrm>
          <a:prstGeom prst="rect">
            <a:avLst/>
          </a:prstGeom>
        </p:spPr>
        <p:txBody>
          <a:bodyPr wrap="square">
            <a:no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4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N windows</a:t>
            </a:r>
            <a:endParaRPr lang="en-US" altLang="zh-CN" sz="1400" b="1" dirty="0">
              <a:solidFill>
                <a:schemeClr val="tx1"/>
              </a:solidFill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grpSp>
        <p:nvGrpSpPr>
          <p:cNvPr id="247" name="组合 246"/>
          <p:cNvGrpSpPr/>
          <p:nvPr/>
        </p:nvGrpSpPr>
        <p:grpSpPr>
          <a:xfrm>
            <a:off x="9645662" y="1504950"/>
            <a:ext cx="1136650" cy="554990"/>
            <a:chOff x="11584" y="3726"/>
            <a:chExt cx="1790" cy="874"/>
          </a:xfrm>
        </p:grpSpPr>
        <p:cxnSp>
          <p:nvCxnSpPr>
            <p:cNvPr id="27" name="直接箭头连接符 26"/>
            <p:cNvCxnSpPr/>
            <p:nvPr/>
          </p:nvCxnSpPr>
          <p:spPr>
            <a:xfrm flipV="1">
              <a:off x="11830" y="4066"/>
              <a:ext cx="870" cy="534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28" name="文本框 27"/>
            <p:cNvSpPr txBox="1"/>
            <p:nvPr>
              <p:custDataLst>
                <p:tags r:id="rId43"/>
              </p:custDataLst>
            </p:nvPr>
          </p:nvSpPr>
          <p:spPr>
            <a:xfrm>
              <a:off x="11584" y="3726"/>
              <a:ext cx="1790" cy="431"/>
            </a:xfrm>
            <a:prstGeom prst="rect">
              <a:avLst/>
            </a:prstGeom>
            <a:scene3d>
              <a:camera prst="orthographicFront">
                <a:rot lat="0" lon="0" rev="1800000"/>
              </a:camera>
              <a:lightRig rig="threePt" dir="t"/>
            </a:scene3d>
          </p:spPr>
          <p:txBody>
            <a:bodyPr wrap="square">
              <a:no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000" b="1" dirty="0">
                  <a:solidFill>
                    <a:schemeClr val="tx1"/>
                  </a:solidFill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W time steps</a:t>
              </a:r>
              <a:endParaRPr lang="en-US" altLang="zh-CN" sz="1000" b="1" dirty="0">
                <a:solidFill>
                  <a:schemeClr val="tx1"/>
                </a:solidFill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176" name="组合 175"/>
          <p:cNvGrpSpPr/>
          <p:nvPr/>
        </p:nvGrpSpPr>
        <p:grpSpPr>
          <a:xfrm>
            <a:off x="14441182" y="4779010"/>
            <a:ext cx="759460" cy="1049655"/>
            <a:chOff x="17727" y="1538"/>
            <a:chExt cx="1196" cy="1653"/>
          </a:xfrm>
        </p:grpSpPr>
        <p:grpSp>
          <p:nvGrpSpPr>
            <p:cNvPr id="177" name="组合 176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78" name="矩形 17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2" name="文本框 181"/>
                <p:cNvSpPr txBox="1"/>
                <p:nvPr/>
              </p:nvSpPr>
              <p:spPr>
                <a:xfrm>
                  <a:off x="17727" y="2611"/>
                  <a:ext cx="119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𝒍𝒐𝒄𝒂𝒍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82" name="文本框 18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727" y="2611"/>
                  <a:ext cx="1196" cy="580"/>
                </a:xfrm>
                <a:prstGeom prst="rect">
                  <a:avLst/>
                </a:prstGeom>
                <a:blipFill rotWithShape="1">
                  <a:blip r:embed="rId4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8" name="组合 257"/>
          <p:cNvGrpSpPr/>
          <p:nvPr/>
        </p:nvGrpSpPr>
        <p:grpSpPr>
          <a:xfrm>
            <a:off x="3894455" y="6259830"/>
            <a:ext cx="3138170" cy="337185"/>
            <a:chOff x="921" y="9952"/>
            <a:chExt cx="4942" cy="531"/>
          </a:xfrm>
        </p:grpSpPr>
        <p:grpSp>
          <p:nvGrpSpPr>
            <p:cNvPr id="188" name="组合 187"/>
            <p:cNvGrpSpPr/>
            <p:nvPr/>
          </p:nvGrpSpPr>
          <p:grpSpPr>
            <a:xfrm>
              <a:off x="921" y="10083"/>
              <a:ext cx="270" cy="270"/>
              <a:chOff x="1336" y="10119"/>
              <a:chExt cx="270" cy="270"/>
            </a:xfrm>
          </p:grpSpPr>
          <p:sp>
            <p:nvSpPr>
              <p:cNvPr id="183" name="椭圆 182"/>
              <p:cNvSpPr>
                <a:spLocks noGrp="1"/>
              </p:cNvSpPr>
              <p:nvPr>
                <p:custDataLst>
                  <p:tags r:id="rId45"/>
                </p:custDataLst>
              </p:nvPr>
            </p:nvSpPr>
            <p:spPr>
              <a:xfrm>
                <a:off x="1336" y="10119"/>
                <a:ext cx="270" cy="270"/>
              </a:xfrm>
              <a:prstGeom prst="ellipse">
                <a:avLst/>
              </a:prstGeom>
              <a:solidFill>
                <a:srgbClr val="34D399"/>
              </a:solidFill>
              <a:ln w="11430">
                <a:solidFill>
                  <a:srgbClr val="00B050"/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  <p:sp>
            <p:nvSpPr>
              <p:cNvPr id="185" name="椭圆 184"/>
              <p:cNvSpPr>
                <a:spLocks noGrp="1"/>
              </p:cNvSpPr>
              <p:nvPr>
                <p:custDataLst>
                  <p:tags r:id="rId46"/>
                </p:custDataLst>
              </p:nvPr>
            </p:nvSpPr>
            <p:spPr>
              <a:xfrm>
                <a:off x="1415" y="10198"/>
                <a:ext cx="113" cy="113"/>
              </a:xfrm>
              <a:prstGeom prst="ellipse">
                <a:avLst/>
              </a:prstGeom>
              <a:solidFill>
                <a:schemeClr val="accent6">
                  <a:lumMod val="50000"/>
                </a:schemeClr>
              </a:solidFill>
              <a:ln w="11430">
                <a:solidFill>
                  <a:schemeClr val="accent6">
                    <a:lumMod val="50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zh-CN" altLang="en-US">
                  <a:latin typeface="Comic Sans MS" panose="030F0702030302020204" charset="0"/>
                  <a:cs typeface="Comic Sans MS" panose="030F0702030302020204" charset="0"/>
                </a:endParaRPr>
              </a:p>
            </p:txBody>
          </p:sp>
        </p:grpSp>
        <p:sp>
          <p:nvSpPr>
            <p:cNvPr id="187" name="文本框 186"/>
            <p:cNvSpPr txBox="1"/>
            <p:nvPr/>
          </p:nvSpPr>
          <p:spPr>
            <a:xfrm>
              <a:off x="1212" y="9952"/>
              <a:ext cx="4651" cy="5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600">
                  <a:latin typeface="Comic Sans MS" panose="030F0702030302020204" charset="0"/>
                  <a:cs typeface="Comic Sans MS" panose="030F0702030302020204" charset="0"/>
                </a:rPr>
                <a:t>CfC-based Liquid Neuron Cell</a:t>
              </a:r>
              <a:endParaRPr lang="en-US" altLang="zh-CN" sz="16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9442462" y="3978910"/>
            <a:ext cx="3722370" cy="799465"/>
            <a:chOff x="7610" y="1680"/>
            <a:chExt cx="5862" cy="2043"/>
          </a:xfrm>
        </p:grpSpPr>
        <p:grpSp>
          <p:nvGrpSpPr>
            <p:cNvPr id="61" name="组合 60"/>
            <p:cNvGrpSpPr/>
            <p:nvPr/>
          </p:nvGrpSpPr>
          <p:grpSpPr>
            <a:xfrm>
              <a:off x="7610" y="1680"/>
              <a:ext cx="3462" cy="1750"/>
              <a:chOff x="7610" y="1680"/>
              <a:chExt cx="3462" cy="1750"/>
            </a:xfrm>
          </p:grpSpPr>
          <p:grpSp>
            <p:nvGrpSpPr>
              <p:cNvPr id="62" name="组合 61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63" name="矩形 62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4" name="矩形 63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67" name="组合 66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68" name="矩形 67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  <p:grpSp>
          <p:nvGrpSpPr>
            <p:cNvPr id="72" name="组合 71"/>
            <p:cNvGrpSpPr/>
            <p:nvPr/>
          </p:nvGrpSpPr>
          <p:grpSpPr>
            <a:xfrm>
              <a:off x="10010" y="1973"/>
              <a:ext cx="3462" cy="1750"/>
              <a:chOff x="7610" y="1680"/>
              <a:chExt cx="3462" cy="1750"/>
            </a:xfrm>
          </p:grpSpPr>
          <p:grpSp>
            <p:nvGrpSpPr>
              <p:cNvPr id="73" name="组合 72"/>
              <p:cNvGrpSpPr/>
              <p:nvPr/>
            </p:nvGrpSpPr>
            <p:grpSpPr>
              <a:xfrm>
                <a:off x="7610" y="168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74" name="矩形 73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rgbClr val="34D399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6"/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78" name="组合 77"/>
              <p:cNvGrpSpPr/>
              <p:nvPr/>
            </p:nvGrpSpPr>
            <p:grpSpPr>
              <a:xfrm>
                <a:off x="8784" y="1750"/>
                <a:ext cx="2288" cy="1681"/>
                <a:chOff x="5360670" y="1085663"/>
                <a:chExt cx="1453138" cy="1067258"/>
              </a:xfrm>
              <a:scene3d>
                <a:camera prst="isometricOffAxis2Right"/>
                <a:lightRig rig="threePt" dir="t"/>
              </a:scene3d>
            </p:grpSpPr>
            <p:sp>
              <p:nvSpPr>
                <p:cNvPr id="79" name="矩形 78"/>
                <p:cNvSpPr/>
                <p:nvPr/>
              </p:nvSpPr>
              <p:spPr>
                <a:xfrm>
                  <a:off x="5360670" y="1085663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80" name="矩形 79"/>
                <p:cNvSpPr/>
                <p:nvPr/>
              </p:nvSpPr>
              <p:spPr>
                <a:xfrm>
                  <a:off x="5360670" y="1347825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1" name="矩形 80"/>
                <p:cNvSpPr/>
                <p:nvPr/>
              </p:nvSpPr>
              <p:spPr>
                <a:xfrm>
                  <a:off x="5360670" y="1617569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60000"/>
                      <a:lumOff val="4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矩形 81"/>
                <p:cNvSpPr/>
                <p:nvPr/>
              </p:nvSpPr>
              <p:spPr>
                <a:xfrm>
                  <a:off x="5360670" y="1889527"/>
                  <a:ext cx="1453138" cy="263394"/>
                </a:xfrm>
                <a:prstGeom prst="rect">
                  <a:avLst/>
                </a:prstGeom>
                <a:noFill/>
                <a:ln>
                  <a:solidFill>
                    <a:schemeClr val="accent4">
                      <a:lumMod val="50000"/>
                    </a:schemeClr>
                  </a:solidFill>
                  <a:prstDash val="soli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</a:extLst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</p:grpSp>
        </p:grpSp>
      </p:grpSp>
      <p:grpSp>
        <p:nvGrpSpPr>
          <p:cNvPr id="41" name="组合 40"/>
          <p:cNvGrpSpPr/>
          <p:nvPr/>
        </p:nvGrpSpPr>
        <p:grpSpPr>
          <a:xfrm>
            <a:off x="14312277" y="3780155"/>
            <a:ext cx="740410" cy="970915"/>
            <a:chOff x="17524" y="1538"/>
            <a:chExt cx="1166" cy="1529"/>
          </a:xfrm>
        </p:grpSpPr>
        <p:grpSp>
          <p:nvGrpSpPr>
            <p:cNvPr id="42" name="组合 41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58" name="矩形 5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5C5A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31" name="矩形 130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0A8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2" name="矩形 131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008C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006F77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7" name="文本框 136"/>
                <p:cNvSpPr txBox="1"/>
                <p:nvPr/>
              </p:nvSpPr>
              <p:spPr>
                <a:xfrm>
                  <a:off x="17524" y="2487"/>
                  <a:ext cx="1166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𝒍𝒐𝒄𝒂𝒍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37" name="文本框 1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487"/>
                  <a:ext cx="1166" cy="580"/>
                </a:xfrm>
                <a:prstGeom prst="rect">
                  <a:avLst/>
                </a:prstGeom>
                <a:blipFill rotWithShape="1">
                  <a:blip r:embed="rId47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89" name="直接箭头连接符 188"/>
          <p:cNvCxnSpPr/>
          <p:nvPr/>
        </p:nvCxnSpPr>
        <p:spPr>
          <a:xfrm flipH="1">
            <a:off x="9757422" y="4202430"/>
            <a:ext cx="5715" cy="584835"/>
          </a:xfrm>
          <a:prstGeom prst="straightConnector1">
            <a:avLst/>
          </a:prstGeom>
          <a:ln>
            <a:solidFill>
              <a:srgbClr val="65C5A8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138" name="组合 137"/>
          <p:cNvGrpSpPr/>
          <p:nvPr/>
        </p:nvGrpSpPr>
        <p:grpSpPr>
          <a:xfrm>
            <a:off x="14312277" y="2620010"/>
            <a:ext cx="888365" cy="1038225"/>
            <a:chOff x="17524" y="1538"/>
            <a:chExt cx="1399" cy="1635"/>
          </a:xfrm>
        </p:grpSpPr>
        <p:grpSp>
          <p:nvGrpSpPr>
            <p:cNvPr id="170" name="组合 169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71" name="矩形 170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995D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9076C1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9F569A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A1356B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5" name="文本框 174"/>
                <p:cNvSpPr txBox="1"/>
                <p:nvPr/>
              </p:nvSpPr>
              <p:spPr>
                <a:xfrm>
                  <a:off x="17524" y="2611"/>
                  <a:ext cx="1399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𝑩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𝒈𝒍𝒐𝒃𝒂𝒍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75" name="文本框 17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399" cy="562"/>
                </a:xfrm>
                <a:prstGeom prst="rect">
                  <a:avLst/>
                </a:prstGeom>
                <a:blipFill rotWithShape="1">
                  <a:blip r:embed="rId4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圆角矩形 35"/>
          <p:cNvSpPr/>
          <p:nvPr/>
        </p:nvSpPr>
        <p:spPr>
          <a:xfrm>
            <a:off x="12988302" y="115633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FG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grpSp>
        <p:nvGrpSpPr>
          <p:cNvPr id="207" name="组合 206"/>
          <p:cNvGrpSpPr/>
          <p:nvPr/>
        </p:nvGrpSpPr>
        <p:grpSpPr>
          <a:xfrm>
            <a:off x="14239875" y="1163320"/>
            <a:ext cx="875665" cy="1038225"/>
            <a:chOff x="17524" y="1538"/>
            <a:chExt cx="1379" cy="1635"/>
          </a:xfrm>
        </p:grpSpPr>
        <p:grpSp>
          <p:nvGrpSpPr>
            <p:cNvPr id="208" name="组合 207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209" name="矩形 208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0B4AF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548F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3" name="文本框 222"/>
                <p:cNvSpPr txBox="1"/>
                <p:nvPr/>
              </p:nvSpPr>
              <p:spPr>
                <a:xfrm>
                  <a:off x="17524" y="2611"/>
                  <a:ext cx="1379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𝒈𝒍𝒐𝒃𝒂𝒍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223" name="文本框 2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524" y="2611"/>
                  <a:ext cx="1379" cy="562"/>
                </a:xfrm>
                <a:prstGeom prst="rect">
                  <a:avLst/>
                </a:prstGeom>
                <a:blipFill rotWithShape="1">
                  <a:blip r:embed="rId49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63" name="组合 262"/>
          <p:cNvGrpSpPr/>
          <p:nvPr/>
        </p:nvGrpSpPr>
        <p:grpSpPr>
          <a:xfrm>
            <a:off x="14222742" y="1239520"/>
            <a:ext cx="315595" cy="462915"/>
            <a:chOff x="18907" y="1952"/>
            <a:chExt cx="497" cy="729"/>
          </a:xfrm>
        </p:grpSpPr>
        <p:cxnSp>
          <p:nvCxnSpPr>
            <p:cNvPr id="230" name="直接箭头连接符 229"/>
            <p:cNvCxnSpPr>
              <a:endCxn id="209" idx="1"/>
            </p:cNvCxnSpPr>
            <p:nvPr/>
          </p:nvCxnSpPr>
          <p:spPr>
            <a:xfrm>
              <a:off x="18938" y="195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1" name="直接箭头连接符 230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8" name="直接箭头连接符 237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239" name="直接箭头连接符 238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cxnSp>
        <p:nvCxnSpPr>
          <p:cNvPr id="260" name="曲线连接符 259"/>
          <p:cNvCxnSpPr>
            <a:endCxn id="36" idx="1"/>
          </p:cNvCxnSpPr>
          <p:nvPr/>
        </p:nvCxnSpPr>
        <p:spPr>
          <a:xfrm rot="16200000">
            <a:off x="12582537" y="1605915"/>
            <a:ext cx="462280" cy="349250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1" name="圆角矩形 260"/>
          <p:cNvSpPr/>
          <p:nvPr/>
        </p:nvSpPr>
        <p:spPr>
          <a:xfrm>
            <a:off x="12988302" y="254952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BG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cxnSp>
        <p:nvCxnSpPr>
          <p:cNvPr id="262" name="曲线连接符 261"/>
          <p:cNvCxnSpPr>
            <a:endCxn id="261" idx="0"/>
          </p:cNvCxnSpPr>
          <p:nvPr/>
        </p:nvCxnSpPr>
        <p:spPr>
          <a:xfrm>
            <a:off x="12849872" y="1988820"/>
            <a:ext cx="755650" cy="560705"/>
          </a:xfrm>
          <a:prstGeom prst="curved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5" name="直接箭头连接符 264"/>
          <p:cNvCxnSpPr/>
          <p:nvPr/>
        </p:nvCxnSpPr>
        <p:spPr>
          <a:xfrm>
            <a:off x="14222742" y="2683510"/>
            <a:ext cx="295910" cy="635"/>
          </a:xfrm>
          <a:prstGeom prst="straightConnector1">
            <a:avLst/>
          </a:prstGeom>
          <a:ln>
            <a:solidFill>
              <a:srgbClr val="7995DD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6" name="直接箭头连接符 265"/>
          <p:cNvCxnSpPr/>
          <p:nvPr/>
        </p:nvCxnSpPr>
        <p:spPr>
          <a:xfrm>
            <a:off x="14228457" y="2819400"/>
            <a:ext cx="295910" cy="635"/>
          </a:xfrm>
          <a:prstGeom prst="straightConnector1">
            <a:avLst/>
          </a:prstGeom>
          <a:ln>
            <a:solidFill>
              <a:srgbClr val="9076C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7" name="直接箭头连接符 266"/>
          <p:cNvCxnSpPr/>
          <p:nvPr/>
        </p:nvCxnSpPr>
        <p:spPr>
          <a:xfrm>
            <a:off x="14228457" y="3007360"/>
            <a:ext cx="295910" cy="635"/>
          </a:xfrm>
          <a:prstGeom prst="straightConnector1">
            <a:avLst/>
          </a:prstGeom>
          <a:ln>
            <a:solidFill>
              <a:srgbClr val="9F569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8" name="直接箭头连接符 267"/>
          <p:cNvCxnSpPr/>
          <p:nvPr/>
        </p:nvCxnSpPr>
        <p:spPr>
          <a:xfrm>
            <a:off x="14228457" y="3152140"/>
            <a:ext cx="295910" cy="635"/>
          </a:xfrm>
          <a:prstGeom prst="straightConnector1">
            <a:avLst/>
          </a:prstGeom>
          <a:ln>
            <a:solidFill>
              <a:srgbClr val="A1356B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72" name="组合 271"/>
          <p:cNvGrpSpPr/>
          <p:nvPr/>
        </p:nvGrpSpPr>
        <p:grpSpPr>
          <a:xfrm rot="1620000">
            <a:off x="13412009" y="2117031"/>
            <a:ext cx="703014" cy="275748"/>
            <a:chOff x="17825" y="3099"/>
            <a:chExt cx="1336" cy="755"/>
          </a:xfrm>
        </p:grpSpPr>
        <p:sp>
          <p:nvSpPr>
            <p:cNvPr id="270" name="上弧形箭头 26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1" name="文本框 270"/>
            <p:cNvSpPr txBox="1"/>
            <p:nvPr/>
          </p:nvSpPr>
          <p:spPr>
            <a:xfrm rot="660000"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grpSp>
        <p:nvGrpSpPr>
          <p:cNvPr id="277" name="组合 276"/>
          <p:cNvGrpSpPr/>
          <p:nvPr/>
        </p:nvGrpSpPr>
        <p:grpSpPr>
          <a:xfrm>
            <a:off x="14228619" y="2326581"/>
            <a:ext cx="703014" cy="275748"/>
            <a:chOff x="17825" y="3099"/>
            <a:chExt cx="1336" cy="755"/>
          </a:xfrm>
        </p:grpSpPr>
        <p:sp>
          <p:nvSpPr>
            <p:cNvPr id="280" name="上弧形箭头 27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sp>
        <p:nvSpPr>
          <p:cNvPr id="282" name="圆角矩形 281"/>
          <p:cNvSpPr/>
          <p:nvPr/>
        </p:nvSpPr>
        <p:spPr>
          <a:xfrm>
            <a:off x="12994017" y="3715385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FL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286" name="圆角矩形 285"/>
          <p:cNvSpPr/>
          <p:nvPr/>
        </p:nvSpPr>
        <p:spPr>
          <a:xfrm>
            <a:off x="12982587" y="4716780"/>
            <a:ext cx="1234440" cy="78613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BL</a:t>
            </a:r>
            <a:endParaRPr lang="en-US" altLang="zh-CN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01" name="任意多边形 300"/>
          <p:cNvSpPr/>
          <p:nvPr/>
        </p:nvSpPr>
        <p:spPr>
          <a:xfrm>
            <a:off x="10489577" y="3702050"/>
            <a:ext cx="2489200" cy="160020"/>
          </a:xfrm>
          <a:custGeom>
            <a:avLst/>
            <a:gdLst>
              <a:gd name="connisteX0" fmla="*/ 0 w 2489200"/>
              <a:gd name="connsiteY0" fmla="*/ 160113 h 160113"/>
              <a:gd name="connisteX1" fmla="*/ 535940 w 2489200"/>
              <a:gd name="connsiteY1" fmla="*/ 93 h 160113"/>
              <a:gd name="connisteX2" fmla="*/ 2489200 w 2489200"/>
              <a:gd name="connsiteY2" fmla="*/ 142333 h 16011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</a:cxnLst>
            <a:rect l="l" t="t" r="r" b="b"/>
            <a:pathLst>
              <a:path w="2489200" h="160113">
                <a:moveTo>
                  <a:pt x="0" y="160113"/>
                </a:moveTo>
                <a:cubicBezTo>
                  <a:pt x="67945" y="125188"/>
                  <a:pt x="38100" y="3903"/>
                  <a:pt x="535940" y="93"/>
                </a:cubicBezTo>
                <a:cubicBezTo>
                  <a:pt x="1033780" y="-3717"/>
                  <a:pt x="2109470" y="110583"/>
                  <a:pt x="2489200" y="142333"/>
                </a:cubicBezTo>
              </a:path>
            </a:pathLst>
          </a:custGeom>
          <a:noFill/>
          <a:ln w="19050" cmpd="sng">
            <a:solidFill>
              <a:srgbClr val="65C5A8"/>
            </a:solidFill>
            <a:prstDash val="solid"/>
            <a:tailEnd type="arrow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02" name="组合 301"/>
          <p:cNvGrpSpPr/>
          <p:nvPr/>
        </p:nvGrpSpPr>
        <p:grpSpPr>
          <a:xfrm>
            <a:off x="14228457" y="3841115"/>
            <a:ext cx="301625" cy="468630"/>
            <a:chOff x="18898" y="1942"/>
            <a:chExt cx="475" cy="738"/>
          </a:xfrm>
        </p:grpSpPr>
        <p:cxnSp>
          <p:nvCxnSpPr>
            <p:cNvPr id="303" name="直接箭头连接符 302"/>
            <p:cNvCxnSpPr/>
            <p:nvPr/>
          </p:nvCxnSpPr>
          <p:spPr>
            <a:xfrm>
              <a:off x="18898" y="194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4" name="直接箭头连接符 303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5" name="直接箭头连接符 304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6" name="直接箭头连接符 305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grpSp>
        <p:nvGrpSpPr>
          <p:cNvPr id="307" name="组合 306"/>
          <p:cNvGrpSpPr/>
          <p:nvPr/>
        </p:nvGrpSpPr>
        <p:grpSpPr>
          <a:xfrm>
            <a:off x="14234172" y="4912995"/>
            <a:ext cx="301625" cy="468630"/>
            <a:chOff x="18898" y="1942"/>
            <a:chExt cx="475" cy="738"/>
          </a:xfrm>
        </p:grpSpPr>
        <p:cxnSp>
          <p:nvCxnSpPr>
            <p:cNvPr id="308" name="直接箭头连接符 307"/>
            <p:cNvCxnSpPr/>
            <p:nvPr/>
          </p:nvCxnSpPr>
          <p:spPr>
            <a:xfrm>
              <a:off x="18898" y="1942"/>
              <a:ext cx="466" cy="1"/>
            </a:xfrm>
            <a:prstGeom prst="straightConnector1">
              <a:avLst/>
            </a:prstGeom>
            <a:ln>
              <a:solidFill>
                <a:srgbClr val="70B4AF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09" name="直接箭头连接符 308"/>
            <p:cNvCxnSpPr/>
            <p:nvPr/>
          </p:nvCxnSpPr>
          <p:spPr>
            <a:xfrm>
              <a:off x="18907" y="2156"/>
              <a:ext cx="466" cy="1"/>
            </a:xfrm>
            <a:prstGeom prst="straightConnector1">
              <a:avLst/>
            </a:prstGeom>
            <a:ln>
              <a:solidFill>
                <a:srgbClr val="518B9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0" name="直接箭头连接符 309"/>
            <p:cNvCxnSpPr/>
            <p:nvPr/>
          </p:nvCxnSpPr>
          <p:spPr>
            <a:xfrm>
              <a:off x="18907" y="2452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11" name="直接箭头连接符 310"/>
            <p:cNvCxnSpPr/>
            <p:nvPr/>
          </p:nvCxnSpPr>
          <p:spPr>
            <a:xfrm>
              <a:off x="18907" y="2680"/>
              <a:ext cx="466" cy="1"/>
            </a:xfrm>
            <a:prstGeom prst="straightConnector1">
              <a:avLst/>
            </a:prstGeom>
            <a:ln>
              <a:solidFill>
                <a:srgbClr val="2F485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314" name="上弧形箭头 313"/>
          <p:cNvSpPr/>
          <p:nvPr/>
        </p:nvSpPr>
        <p:spPr>
          <a:xfrm>
            <a:off x="14203692" y="5504815"/>
            <a:ext cx="280035" cy="188595"/>
          </a:xfrm>
          <a:prstGeom prst="curvedDownArrow">
            <a:avLst/>
          </a:prstGeom>
          <a:noFill/>
          <a:ln>
            <a:solidFill>
              <a:schemeClr val="accent6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5" name="文本框 314"/>
          <p:cNvSpPr txBox="1"/>
          <p:nvPr/>
        </p:nvSpPr>
        <p:spPr>
          <a:xfrm flipH="1">
            <a:off x="13743940" y="5483860"/>
            <a:ext cx="459740" cy="27559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:wpsdc="http://www.wps.cn/officeDocument/2022/drawingmlCustomData" type="text"/>
              </a:ext>
            </a:extLst>
          </a:bodyPr>
          <a:lstStyle/>
          <a:p>
            <a:pPr algn="l"/>
            <a:r>
              <a: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rPr>
              <a:t>flip</a:t>
            </a:r>
            <a:endParaRPr lang="en-US" altLang="zh-CN" sz="1200">
              <a:latin typeface="Comic Sans MS" panose="030F0702030302020204" charset="0"/>
              <a:ea typeface="微软雅黑" panose="020B0503020204020204" charset="-122"/>
              <a:cs typeface="Comic Sans MS" panose="030F0702030302020204" charset="0"/>
            </a:endParaRPr>
          </a:p>
        </p:txBody>
      </p:sp>
      <p:sp>
        <p:nvSpPr>
          <p:cNvPr id="6" name="任意多边形: 形状 5"/>
          <p:cNvSpPr/>
          <p:nvPr/>
        </p:nvSpPr>
        <p:spPr>
          <a:xfrm>
            <a:off x="10499737" y="3886200"/>
            <a:ext cx="45719" cy="1071880"/>
          </a:xfrm>
          <a:custGeom>
            <a:avLst/>
            <a:gdLst>
              <a:gd name="csX0" fmla="*/ 0 w 60960"/>
              <a:gd name="csY0" fmla="*/ 0 h 1242060"/>
              <a:gd name="csX1" fmla="*/ 60960 w 60960"/>
              <a:gd name="csY1" fmla="*/ 1242060 h 124206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60960" h="1242060">
                <a:moveTo>
                  <a:pt x="0" y="0"/>
                </a:moveTo>
                <a:lnTo>
                  <a:pt x="60960" y="1242060"/>
                </a:lnTo>
              </a:path>
            </a:pathLst>
          </a:custGeom>
          <a:noFill/>
          <a:ln>
            <a:solidFill>
              <a:srgbClr val="65C5A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连接符: 曲线 32"/>
          <p:cNvCxnSpPr>
            <a:stCxn id="6" idx="1"/>
            <a:endCxn id="286" idx="1"/>
          </p:cNvCxnSpPr>
          <p:nvPr/>
        </p:nvCxnSpPr>
        <p:spPr>
          <a:xfrm>
            <a:off x="10545456" y="4958080"/>
            <a:ext cx="2437131" cy="151765"/>
          </a:xfrm>
          <a:prstGeom prst="curvedConnector3">
            <a:avLst/>
          </a:prstGeom>
          <a:ln>
            <a:solidFill>
              <a:srgbClr val="65C5A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0" name="组合 39"/>
          <p:cNvGrpSpPr/>
          <p:nvPr/>
        </p:nvGrpSpPr>
        <p:grpSpPr>
          <a:xfrm rot="300000">
            <a:off x="12098345" y="5169603"/>
            <a:ext cx="703014" cy="275748"/>
            <a:chOff x="17825" y="3099"/>
            <a:chExt cx="1336" cy="755"/>
          </a:xfrm>
        </p:grpSpPr>
        <p:sp>
          <p:nvSpPr>
            <p:cNvPr id="56" name="上弧形箭头 269"/>
            <p:cNvSpPr/>
            <p:nvPr/>
          </p:nvSpPr>
          <p:spPr>
            <a:xfrm>
              <a:off x="17825" y="3100"/>
              <a:ext cx="532" cy="516"/>
            </a:xfrm>
            <a:prstGeom prst="curvedDownArrow">
              <a:avLst/>
            </a:prstGeom>
            <a:noFill/>
            <a:ln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文本框 82"/>
            <p:cNvSpPr txBox="1"/>
            <p:nvPr/>
          </p:nvSpPr>
          <p:spPr>
            <a:xfrm rot="120000">
              <a:off x="18287" y="3099"/>
              <a:ext cx="874" cy="755"/>
            </a:xfrm>
            <a:prstGeom prst="rect">
              <a:avLst/>
            </a:prstGeom>
          </p:spPr>
          <p:txBody>
            <a:bodyPr wrap="square">
              <a:spAutoFit/>
              <a:extLst>
                <a:ext uri="{4A0BC546-FE56-4ADE-93B0-CB8AF2F6F144}">
                  <wpsdc:textFrameExt xmlns:wpsdc="http://www.wps.cn/officeDocument/2022/drawingmlCustomData" type="text"/>
                </a:ext>
              </a:extLst>
            </a:bodyPr>
            <a:lstStyle/>
            <a:p>
              <a:pPr algn="l"/>
              <a:r>
                <a:rPr lang="en-US" altLang="zh-CN" sz="1200">
                  <a:latin typeface="Comic Sans MS" panose="030F0702030302020204" charset="0"/>
                  <a:ea typeface="微软雅黑" panose="020B0503020204020204" charset="-122"/>
                  <a:cs typeface="Comic Sans MS" panose="030F0702030302020204" charset="0"/>
                </a:rPr>
                <a:t>flip</a:t>
              </a:r>
              <a:endParaRPr lang="en-US" altLang="zh-CN" sz="1200">
                <a:latin typeface="Comic Sans MS" panose="030F0702030302020204" charset="0"/>
                <a:ea typeface="微软雅黑" panose="020B0503020204020204" charset="-122"/>
                <a:cs typeface="Comic Sans MS" panose="030F0702030302020204" charset="0"/>
              </a:endParaRPr>
            </a:p>
          </p:txBody>
        </p:sp>
      </p:grpSp>
      <p:cxnSp>
        <p:nvCxnSpPr>
          <p:cNvPr id="14" name="肘形连接符 13"/>
          <p:cNvCxnSpPr/>
          <p:nvPr/>
        </p:nvCxnSpPr>
        <p:spPr>
          <a:xfrm rot="5400000" flipV="1">
            <a:off x="14210042" y="2211070"/>
            <a:ext cx="1883410" cy="399415"/>
          </a:xfrm>
          <a:prstGeom prst="bentConnector3">
            <a:avLst>
              <a:gd name="adj1" fmla="val 42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连接符 20"/>
          <p:cNvCxnSpPr/>
          <p:nvPr/>
        </p:nvCxnSpPr>
        <p:spPr>
          <a:xfrm>
            <a:off x="14970772" y="2914650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>
            <a:off x="14970772" y="4093845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14970772" y="5085080"/>
            <a:ext cx="381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连接符 30"/>
          <p:cNvCxnSpPr/>
          <p:nvPr/>
        </p:nvCxnSpPr>
        <p:spPr>
          <a:xfrm flipH="1" flipV="1">
            <a:off x="15348597" y="3669665"/>
            <a:ext cx="3175" cy="14192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96" name="组合 95"/>
          <p:cNvGrpSpPr/>
          <p:nvPr/>
        </p:nvGrpSpPr>
        <p:grpSpPr>
          <a:xfrm>
            <a:off x="4502966" y="1781465"/>
            <a:ext cx="316230" cy="347980"/>
            <a:chOff x="20438" y="5239"/>
            <a:chExt cx="498" cy="548"/>
          </a:xfrm>
        </p:grpSpPr>
        <p:sp>
          <p:nvSpPr>
            <p:cNvPr id="32" name="椭圆 31"/>
            <p:cNvSpPr/>
            <p:nvPr/>
          </p:nvSpPr>
          <p:spPr>
            <a:xfrm>
              <a:off x="20438" y="529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20447" y="5239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84" name="直接箭头连接符 83"/>
          <p:cNvCxnSpPr/>
          <p:nvPr/>
        </p:nvCxnSpPr>
        <p:spPr>
          <a:xfrm flipV="1">
            <a:off x="16201402" y="3496310"/>
            <a:ext cx="386715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86" name="组合 85"/>
          <p:cNvGrpSpPr/>
          <p:nvPr/>
        </p:nvGrpSpPr>
        <p:grpSpPr>
          <a:xfrm>
            <a:off x="16494760" y="3183255"/>
            <a:ext cx="445770" cy="1042670"/>
            <a:chOff x="17847" y="1538"/>
            <a:chExt cx="702" cy="1642"/>
          </a:xfrm>
        </p:grpSpPr>
        <p:grpSp>
          <p:nvGrpSpPr>
            <p:cNvPr id="87" name="组合 86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88" name="矩形 87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70B4AF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89" name="矩形 88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548F9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0" name="矩形 89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矩形 90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2F4858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2" name="文本框 91"/>
                <p:cNvSpPr txBox="1"/>
                <p:nvPr/>
              </p:nvSpPr>
              <p:spPr>
                <a:xfrm>
                  <a:off x="17847" y="2596"/>
                  <a:ext cx="702" cy="584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Sup>
                          <m:sSubSup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𝑺</m:t>
                            </m:r>
                          </m:sub>
                          <m:sup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𝒕</m:t>
                            </m:r>
                          </m:sup>
                        </m:sSubSup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92" name="文本框 9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47" y="2596"/>
                  <a:ext cx="702" cy="584"/>
                </a:xfrm>
                <a:prstGeom prst="rect">
                  <a:avLst/>
                </a:prstGeom>
                <a:blipFill rotWithShape="1">
                  <a:blip r:embed="rId50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93" name="矩形: 圆角 89"/>
          <p:cNvSpPr/>
          <p:nvPr/>
        </p:nvSpPr>
        <p:spPr>
          <a:xfrm>
            <a:off x="15636887" y="3241675"/>
            <a:ext cx="564515" cy="534035"/>
          </a:xfrm>
          <a:prstGeom prst="round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Eq.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ea typeface="Calibri" panose="020F0502020204030204"/>
              <a:cs typeface="Calibri" panose="020F0502020204030204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(3)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cs typeface="Calibri" panose="020F0502020204030204"/>
            </a:endParaRPr>
          </a:p>
        </p:txBody>
      </p:sp>
      <p:cxnSp>
        <p:nvCxnSpPr>
          <p:cNvPr id="94" name="直接连接符 93"/>
          <p:cNvCxnSpPr>
            <a:stCxn id="93" idx="1"/>
          </p:cNvCxnSpPr>
          <p:nvPr/>
        </p:nvCxnSpPr>
        <p:spPr>
          <a:xfrm flipH="1" flipV="1">
            <a:off x="15511157" y="3491230"/>
            <a:ext cx="12573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4" name="组合 3"/>
          <p:cNvGrpSpPr/>
          <p:nvPr/>
        </p:nvGrpSpPr>
        <p:grpSpPr>
          <a:xfrm>
            <a:off x="9832352" y="6185217"/>
            <a:ext cx="1501763" cy="391795"/>
            <a:chOff x="10038092" y="5759450"/>
            <a:chExt cx="1501763" cy="391795"/>
          </a:xfrm>
        </p:grpSpPr>
        <p:grpSp>
          <p:nvGrpSpPr>
            <p:cNvPr id="97" name="组合 96"/>
            <p:cNvGrpSpPr/>
            <p:nvPr/>
          </p:nvGrpSpPr>
          <p:grpSpPr>
            <a:xfrm>
              <a:off x="10038092" y="5759450"/>
              <a:ext cx="310515" cy="334010"/>
              <a:chOff x="20764" y="4808"/>
              <a:chExt cx="489" cy="526"/>
            </a:xfrm>
          </p:grpSpPr>
          <p:sp>
            <p:nvSpPr>
              <p:cNvPr id="98" name="椭圆 97"/>
              <p:cNvSpPr/>
              <p:nvPr/>
            </p:nvSpPr>
            <p:spPr>
              <a:xfrm>
                <a:off x="20764" y="4827"/>
                <a:ext cx="488" cy="488"/>
              </a:xfrm>
              <a:prstGeom prst="ellipse">
                <a:avLst/>
              </a:prstGeom>
              <a:noFill/>
              <a:ln w="28575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9" name="文本框 98"/>
              <p:cNvSpPr txBox="1"/>
              <p:nvPr/>
            </p:nvSpPr>
            <p:spPr>
              <a:xfrm>
                <a:off x="20764" y="4808"/>
                <a:ext cx="489" cy="526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:r>
                  <a:rPr lang="en-US" altLang="zh-CN"/>
                  <a:t>C</a:t>
                </a:r>
                <a:endParaRPr lang="en-US" altLang="zh-CN"/>
              </a:p>
            </p:txBody>
          </p:sp>
        </p:grpSp>
        <p:sp>
          <p:nvSpPr>
            <p:cNvPr id="100" name="文本框 99"/>
            <p:cNvSpPr txBox="1"/>
            <p:nvPr/>
          </p:nvSpPr>
          <p:spPr>
            <a:xfrm>
              <a:off x="10434320" y="5782945"/>
              <a:ext cx="1105535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Comic Sans MS" panose="030F0702030302020204" charset="0"/>
                  <a:cs typeface="Comic Sans MS" panose="030F0702030302020204" charset="0"/>
                </a:rPr>
                <a:t>Concat</a:t>
              </a:r>
              <a:endParaRPr lang="en-US" altLang="zh-CN" dirty="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cxnSp>
        <p:nvCxnSpPr>
          <p:cNvPr id="101" name="直接连接符 100"/>
          <p:cNvCxnSpPr/>
          <p:nvPr/>
        </p:nvCxnSpPr>
        <p:spPr>
          <a:xfrm>
            <a:off x="17209147" y="2110740"/>
            <a:ext cx="2057400" cy="0"/>
          </a:xfrm>
          <a:prstGeom prst="line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ysDash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4" name="矩形 103"/>
          <p:cNvSpPr/>
          <p:nvPr/>
        </p:nvSpPr>
        <p:spPr>
          <a:xfrm rot="16200000">
            <a:off x="18173712" y="1019810"/>
            <a:ext cx="273685" cy="153670"/>
          </a:xfrm>
          <a:prstGeom prst="rect">
            <a:avLst/>
          </a:prstGeom>
          <a:noFill/>
          <a:ln>
            <a:solidFill>
              <a:srgbClr val="70B4A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5" name="矩形 104"/>
          <p:cNvSpPr/>
          <p:nvPr/>
        </p:nvSpPr>
        <p:spPr>
          <a:xfrm rot="16200000">
            <a:off x="18326747" y="1019810"/>
            <a:ext cx="273685" cy="153670"/>
          </a:xfrm>
          <a:prstGeom prst="rect">
            <a:avLst/>
          </a:prstGeom>
          <a:noFill/>
          <a:ln>
            <a:solidFill>
              <a:srgbClr val="548F9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矩形 105"/>
          <p:cNvSpPr/>
          <p:nvPr/>
        </p:nvSpPr>
        <p:spPr>
          <a:xfrm rot="16200000">
            <a:off x="18483592" y="1019810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矩形 106"/>
          <p:cNvSpPr/>
          <p:nvPr/>
        </p:nvSpPr>
        <p:spPr>
          <a:xfrm rot="16200000">
            <a:off x="18886182" y="1018540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0" name="矩形 109"/>
          <p:cNvSpPr/>
          <p:nvPr/>
        </p:nvSpPr>
        <p:spPr>
          <a:xfrm rot="16200000">
            <a:off x="18173712" y="1489075"/>
            <a:ext cx="273685" cy="153670"/>
          </a:xfrm>
          <a:prstGeom prst="rect">
            <a:avLst/>
          </a:prstGeom>
          <a:noFill/>
          <a:ln>
            <a:solidFill>
              <a:srgbClr val="70B4AF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1" name="矩形 110"/>
          <p:cNvSpPr/>
          <p:nvPr/>
        </p:nvSpPr>
        <p:spPr>
          <a:xfrm rot="16200000">
            <a:off x="18326747" y="1489075"/>
            <a:ext cx="273685" cy="153670"/>
          </a:xfrm>
          <a:prstGeom prst="rect">
            <a:avLst/>
          </a:prstGeom>
          <a:noFill/>
          <a:ln>
            <a:solidFill>
              <a:srgbClr val="548F96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/>
          <p:cNvSpPr/>
          <p:nvPr/>
        </p:nvSpPr>
        <p:spPr>
          <a:xfrm rot="16200000">
            <a:off x="18483592" y="1489075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 rot="16200000">
            <a:off x="18886182" y="1489075"/>
            <a:ext cx="273685" cy="153670"/>
          </a:xfrm>
          <a:prstGeom prst="rect">
            <a:avLst/>
          </a:prstGeom>
          <a:noFill/>
          <a:ln>
            <a:solidFill>
              <a:srgbClr val="2F4858"/>
            </a:solidFill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4" name="文本框 113"/>
          <p:cNvSpPr txBox="1"/>
          <p:nvPr/>
        </p:nvSpPr>
        <p:spPr>
          <a:xfrm>
            <a:off x="19058255" y="871855"/>
            <a:ext cx="84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Mean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5" name="文本框 114"/>
          <p:cNvSpPr txBox="1"/>
          <p:nvPr/>
        </p:nvSpPr>
        <p:spPr>
          <a:xfrm>
            <a:off x="19100165" y="1348105"/>
            <a:ext cx="84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>
                <a:latin typeface="Comic Sans MS" panose="030F0702030302020204" charset="0"/>
                <a:cs typeface="Comic Sans MS" panose="030F0702030302020204" charset="0"/>
              </a:rPr>
              <a:t>Std</a:t>
            </a:r>
            <a:endParaRPr lang="en-US" altLang="zh-CN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119" name="矩形: 圆角 89"/>
          <p:cNvSpPr/>
          <p:nvPr/>
        </p:nvSpPr>
        <p:spPr>
          <a:xfrm>
            <a:off x="17265027" y="1085850"/>
            <a:ext cx="776605" cy="534035"/>
          </a:xfrm>
          <a:prstGeom prst="roundRect">
            <a:avLst/>
          </a:prstGeom>
          <a:solidFill>
            <a:srgbClr val="156082"/>
          </a:solidFill>
          <a:ln>
            <a:solidFill>
              <a:srgbClr val="1560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rPr>
              <a:t>global ASP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mic Sans MS" panose="030F0702030302020204" charset="0"/>
              <a:cs typeface="Calibri" panose="020F0502020204030204"/>
            </a:endParaRPr>
          </a:p>
        </p:txBody>
      </p:sp>
      <p:cxnSp>
        <p:nvCxnSpPr>
          <p:cNvPr id="120" name="肘形连接符 119"/>
          <p:cNvCxnSpPr>
            <a:endCxn id="119" idx="1"/>
          </p:cNvCxnSpPr>
          <p:nvPr/>
        </p:nvCxnSpPr>
        <p:spPr>
          <a:xfrm rot="16200000">
            <a:off x="16093452" y="1996440"/>
            <a:ext cx="1814830" cy="52832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1" name="左大括号 120"/>
          <p:cNvSpPr/>
          <p:nvPr/>
        </p:nvSpPr>
        <p:spPr>
          <a:xfrm>
            <a:off x="18082907" y="1051560"/>
            <a:ext cx="121920" cy="60960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3" name="teacher dots"/>
          <p:cNvSpPr>
            <a:spLocks noGrp="1"/>
          </p:cNvSpPr>
          <p:nvPr/>
        </p:nvSpPr>
        <p:spPr>
          <a:xfrm>
            <a:off x="18697587" y="1022985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24" name="teacher dots"/>
          <p:cNvSpPr>
            <a:spLocks noGrp="1"/>
          </p:cNvSpPr>
          <p:nvPr/>
        </p:nvSpPr>
        <p:spPr>
          <a:xfrm>
            <a:off x="18697587" y="1493520"/>
            <a:ext cx="333375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1">
                <a:solidFill>
                  <a:srgbClr val="111111"/>
                </a:solidFill>
              </a:defRPr>
            </a:pPr>
            <a:r>
              <a:rPr kumimoji="0" sz="16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alibri" panose="020F0502020204030204"/>
                <a:ea typeface="Calibri" panose="020F0502020204030204"/>
                <a:cs typeface="Calibri" panose="020F0502020204030204"/>
              </a:rPr>
              <a:t>⋯</a:t>
            </a:r>
            <a:endParaRPr kumimoji="0" sz="1650" b="1" i="0" u="none" strike="noStrike" kern="1200" cap="none" spc="0" normalizeH="0" baseline="0" noProof="0" dirty="0">
              <a:ln>
                <a:noFill/>
              </a:ln>
              <a:solidFill>
                <a:srgbClr val="111111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grpSp>
        <p:nvGrpSpPr>
          <p:cNvPr id="127" name="组合 126"/>
          <p:cNvGrpSpPr/>
          <p:nvPr/>
        </p:nvGrpSpPr>
        <p:grpSpPr>
          <a:xfrm>
            <a:off x="20448270" y="682625"/>
            <a:ext cx="474345" cy="978535"/>
            <a:chOff x="17854" y="976"/>
            <a:chExt cx="747" cy="1541"/>
          </a:xfrm>
        </p:grpSpPr>
        <p:grpSp>
          <p:nvGrpSpPr>
            <p:cNvPr id="128" name="组合 127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129" name="矩形 128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94" name="文本框 193"/>
                <p:cNvSpPr txBox="1"/>
                <p:nvPr/>
              </p:nvSpPr>
              <p:spPr>
                <a:xfrm>
                  <a:off x="17854" y="976"/>
                  <a:ext cx="747" cy="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𝒈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194" name="文本框 19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54" y="976"/>
                  <a:ext cx="747" cy="562"/>
                </a:xfrm>
                <a:prstGeom prst="rect">
                  <a:avLst/>
                </a:prstGeom>
                <a:blipFill rotWithShape="1">
                  <a:blip r:embed="rId51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5" name="右大括号 194"/>
          <p:cNvSpPr/>
          <p:nvPr/>
        </p:nvSpPr>
        <p:spPr>
          <a:xfrm>
            <a:off x="19792962" y="1005840"/>
            <a:ext cx="75565" cy="67056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02" name="组合 201"/>
          <p:cNvGrpSpPr/>
          <p:nvPr/>
        </p:nvGrpSpPr>
        <p:grpSpPr>
          <a:xfrm>
            <a:off x="19900912" y="1170940"/>
            <a:ext cx="309880" cy="334010"/>
            <a:chOff x="13031" y="8990"/>
            <a:chExt cx="488" cy="526"/>
          </a:xfrm>
        </p:grpSpPr>
        <p:sp>
          <p:nvSpPr>
            <p:cNvPr id="200" name="椭圆 199"/>
            <p:cNvSpPr/>
            <p:nvPr/>
          </p:nvSpPr>
          <p:spPr>
            <a:xfrm>
              <a:off x="13031" y="900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文本框 200"/>
            <p:cNvSpPr txBox="1"/>
            <p:nvPr/>
          </p:nvSpPr>
          <p:spPr>
            <a:xfrm>
              <a:off x="13031" y="8990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203" name="直接箭头连接符 202"/>
          <p:cNvCxnSpPr>
            <a:stCxn id="201" idx="3"/>
          </p:cNvCxnSpPr>
          <p:nvPr/>
        </p:nvCxnSpPr>
        <p:spPr>
          <a:xfrm>
            <a:off x="20211427" y="1337945"/>
            <a:ext cx="287020" cy="63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49" name="组合 248"/>
          <p:cNvGrpSpPr/>
          <p:nvPr/>
        </p:nvGrpSpPr>
        <p:grpSpPr>
          <a:xfrm>
            <a:off x="20852777" y="1048385"/>
            <a:ext cx="577850" cy="609600"/>
            <a:chOff x="27169" y="1651"/>
            <a:chExt cx="910" cy="960"/>
          </a:xfrm>
        </p:grpSpPr>
        <p:sp>
          <p:nvSpPr>
            <p:cNvPr id="205" name="右大括号 204"/>
            <p:cNvSpPr/>
            <p:nvPr/>
          </p:nvSpPr>
          <p:spPr>
            <a:xfrm>
              <a:off x="27169" y="1651"/>
              <a:ext cx="222" cy="960"/>
            </a:xfrm>
            <a:prstGeom prst="rightBrace">
              <a:avLst>
                <a:gd name="adj1" fmla="val 8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" name="文本框 205"/>
            <p:cNvSpPr txBox="1"/>
            <p:nvPr/>
          </p:nvSpPr>
          <p:spPr>
            <a:xfrm>
              <a:off x="27301" y="1923"/>
              <a:ext cx="7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2C</a:t>
              </a:r>
              <a:endParaRPr lang="en-US" altLang="zh-CN" sz="10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grpSp>
        <p:nvGrpSpPr>
          <p:cNvPr id="240" name="组合 239"/>
          <p:cNvGrpSpPr/>
          <p:nvPr/>
        </p:nvGrpSpPr>
        <p:grpSpPr>
          <a:xfrm>
            <a:off x="20473670" y="2897505"/>
            <a:ext cx="423545" cy="1002030"/>
            <a:chOff x="17892" y="1538"/>
            <a:chExt cx="667" cy="1578"/>
          </a:xfrm>
        </p:grpSpPr>
        <p:grpSp>
          <p:nvGrpSpPr>
            <p:cNvPr id="242" name="组合 241"/>
            <p:cNvGrpSpPr/>
            <p:nvPr/>
          </p:nvGrpSpPr>
          <p:grpSpPr>
            <a:xfrm>
              <a:off x="17994" y="1538"/>
              <a:ext cx="431" cy="979"/>
              <a:chOff x="5360670" y="1085663"/>
              <a:chExt cx="1453138" cy="1067258"/>
            </a:xfrm>
          </p:grpSpPr>
          <p:sp>
            <p:nvSpPr>
              <p:cNvPr id="243" name="矩形 242"/>
              <p:cNvSpPr/>
              <p:nvPr/>
            </p:nvSpPr>
            <p:spPr>
              <a:xfrm>
                <a:off x="5360670" y="1085663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BB81B5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5360670" y="1347825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8E76AC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5360670" y="1617569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626B9D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5360670" y="1889527"/>
                <a:ext cx="1453138" cy="263394"/>
              </a:xfrm>
              <a:prstGeom prst="rect">
                <a:avLst/>
              </a:prstGeom>
              <a:noFill/>
              <a:ln>
                <a:solidFill>
                  <a:srgbClr val="365E86"/>
                </a:solidFill>
                <a:prstDash val="soli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8" name="文本框 247"/>
                <p:cNvSpPr txBox="1"/>
                <p:nvPr/>
              </p:nvSpPr>
              <p:spPr>
                <a:xfrm>
                  <a:off x="17892" y="2536"/>
                  <a:ext cx="667" cy="580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pPr algn="l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𝑭</m:t>
                            </m:r>
                          </m:e>
                          <m:sub>
                            <m:r>
                              <a:rPr lang="en-US" altLang="zh-CN" b="1" i="1">
                                <a:latin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𝒍</m:t>
                            </m:r>
                          </m:sub>
                        </m:sSub>
                      </m:oMath>
                    </m:oMathPara>
                  </a14:m>
                  <a:endParaRPr lang="zh-CN" altLang="en-US" b="1">
                    <a:latin typeface="Comic Sans MS" panose="030F0702030302020204" charset="0"/>
                    <a:cs typeface="Comic Sans MS" panose="030F0702030302020204" charset="0"/>
                  </a:endParaRPr>
                </a:p>
              </p:txBody>
            </p:sp>
          </mc:Choice>
          <mc:Fallback>
            <p:sp>
              <p:nvSpPr>
                <p:cNvPr id="248" name="文本框 2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892" y="2536"/>
                  <a:ext cx="667" cy="580"/>
                </a:xfrm>
                <a:prstGeom prst="rect">
                  <a:avLst/>
                </a:prstGeom>
                <a:blipFill rotWithShape="1">
                  <a:blip r:embed="rId5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4" name="组合 253"/>
          <p:cNvGrpSpPr/>
          <p:nvPr/>
        </p:nvGrpSpPr>
        <p:grpSpPr>
          <a:xfrm>
            <a:off x="20922627" y="2897505"/>
            <a:ext cx="577850" cy="609600"/>
            <a:chOff x="27169" y="1651"/>
            <a:chExt cx="910" cy="960"/>
          </a:xfrm>
        </p:grpSpPr>
        <p:sp>
          <p:nvSpPr>
            <p:cNvPr id="255" name="右大括号 254"/>
            <p:cNvSpPr/>
            <p:nvPr/>
          </p:nvSpPr>
          <p:spPr>
            <a:xfrm>
              <a:off x="27169" y="1651"/>
              <a:ext cx="222" cy="960"/>
            </a:xfrm>
            <a:prstGeom prst="rightBrace">
              <a:avLst>
                <a:gd name="adj1" fmla="val 8333"/>
                <a:gd name="adj2" fmla="val 5000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文本框 255"/>
            <p:cNvSpPr txBox="1"/>
            <p:nvPr/>
          </p:nvSpPr>
          <p:spPr>
            <a:xfrm>
              <a:off x="27301" y="1923"/>
              <a:ext cx="778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>
                  <a:latin typeface="Comic Sans MS" panose="030F0702030302020204" charset="0"/>
                  <a:cs typeface="Comic Sans MS" panose="030F0702030302020204" charset="0"/>
                </a:rPr>
                <a:t>2C</a:t>
              </a:r>
              <a:endParaRPr lang="en-US" altLang="zh-CN" sz="1000">
                <a:latin typeface="Comic Sans MS" panose="030F0702030302020204" charset="0"/>
                <a:cs typeface="Comic Sans MS" panose="030F0702030302020204" charset="0"/>
              </a:endParaRPr>
            </a:p>
          </p:txBody>
        </p:sp>
      </p:grpSp>
      <p:cxnSp>
        <p:nvCxnSpPr>
          <p:cNvPr id="298" name="直接连接符 297"/>
          <p:cNvCxnSpPr>
            <a:stCxn id="243" idx="0"/>
          </p:cNvCxnSpPr>
          <p:nvPr/>
        </p:nvCxnSpPr>
        <p:spPr>
          <a:xfrm flipH="1" flipV="1">
            <a:off x="20666710" y="2397760"/>
            <a:ext cx="8890" cy="49974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2" name="直接连接符 311"/>
          <p:cNvCxnSpPr>
            <a:stCxn id="192" idx="2"/>
            <a:endCxn id="317" idx="0"/>
          </p:cNvCxnSpPr>
          <p:nvPr/>
        </p:nvCxnSpPr>
        <p:spPr>
          <a:xfrm>
            <a:off x="20674330" y="1661160"/>
            <a:ext cx="0" cy="415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13" name="组合 312"/>
          <p:cNvGrpSpPr/>
          <p:nvPr/>
        </p:nvGrpSpPr>
        <p:grpSpPr>
          <a:xfrm>
            <a:off x="20542262" y="2077085"/>
            <a:ext cx="310515" cy="334010"/>
            <a:chOff x="20764" y="4808"/>
            <a:chExt cx="489" cy="526"/>
          </a:xfrm>
        </p:grpSpPr>
        <p:sp>
          <p:nvSpPr>
            <p:cNvPr id="316" name="椭圆 315"/>
            <p:cNvSpPr/>
            <p:nvPr/>
          </p:nvSpPr>
          <p:spPr>
            <a:xfrm>
              <a:off x="20764" y="4827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文本框 316"/>
            <p:cNvSpPr txBox="1"/>
            <p:nvPr/>
          </p:nvSpPr>
          <p:spPr>
            <a:xfrm>
              <a:off x="20764" y="4808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cxnSp>
        <p:nvCxnSpPr>
          <p:cNvPr id="318" name="肘形连接符 317"/>
          <p:cNvCxnSpPr>
            <a:stCxn id="317" idx="3"/>
            <a:endCxn id="300" idx="3"/>
          </p:cNvCxnSpPr>
          <p:nvPr/>
        </p:nvCxnSpPr>
        <p:spPr>
          <a:xfrm>
            <a:off x="20852765" y="2244090"/>
            <a:ext cx="4445" cy="3001645"/>
          </a:xfrm>
          <a:prstGeom prst="bentConnector3">
            <a:avLst>
              <a:gd name="adj1" fmla="val 10714285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30" name="组合 329"/>
          <p:cNvGrpSpPr/>
          <p:nvPr/>
        </p:nvGrpSpPr>
        <p:grpSpPr>
          <a:xfrm>
            <a:off x="16588105" y="4912995"/>
            <a:ext cx="1205230" cy="857885"/>
            <a:chOff x="27189" y="7696"/>
            <a:chExt cx="1898" cy="1351"/>
          </a:xfrm>
        </p:grpSpPr>
        <p:sp>
          <p:nvSpPr>
            <p:cNvPr id="551" name="class-Cargo ship"/>
            <p:cNvSpPr>
              <a:spLocks noGrp="1"/>
            </p:cNvSpPr>
            <p:nvPr/>
          </p:nvSpPr>
          <p:spPr>
            <a:xfrm>
              <a:off x="27189" y="8599"/>
              <a:ext cx="1899" cy="448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>
              <a:defPPr>
                <a:defRPr lang="en-US"/>
              </a:defPPr>
              <a:lvl1pPr marL="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l" defTabSz="914400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 sz="1050" b="0">
                  <a:solidFill>
                    <a:srgbClr val="111111"/>
                  </a:solidFill>
                </a:defRPr>
              </a:pPr>
              <a:r>
                <a:rPr kumimoji="0" lang="en-US" altLang="zh-CN" sz="1050" b="1" i="0" u="none" strike="noStrike" kern="1200" cap="none" spc="0" normalizeH="0" baseline="0" noProof="0" dirty="0">
                  <a:ln>
                    <a:noFill/>
                  </a:ln>
                  <a:solidFill>
                    <a:srgbClr val="111111"/>
                  </a:solidFill>
                  <a:effectLst/>
                  <a:uLnTx/>
                  <a:uFillTx/>
                  <a:latin typeface="Comic Sans MS" panose="030F0702030302020204" charset="0"/>
                  <a:ea typeface="Calibri" panose="020F0502020204030204"/>
                  <a:cs typeface="Calibri" panose="020F0502020204030204"/>
                </a:rPr>
                <a:t>Predicted Class</a:t>
              </a:r>
              <a:endParaRPr kumimoji="0" lang="en-US" altLang="zh-CN" sz="1050" b="1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Comic Sans MS" panose="030F0702030302020204" charset="0"/>
                <a:ea typeface="Calibri" panose="020F0502020204030204"/>
                <a:cs typeface="Calibri" panose="020F0502020204030204"/>
              </a:endParaRPr>
            </a:p>
          </p:txBody>
        </p:sp>
        <p:pic>
          <p:nvPicPr>
            <p:cNvPr id="319" name="图片 318"/>
            <p:cNvPicPr>
              <a:picLocks noChangeAspect="1"/>
            </p:cNvPicPr>
            <p:nvPr/>
          </p:nvPicPr>
          <p:blipFill>
            <a:blip r:embed="rId5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728" y="7696"/>
              <a:ext cx="822" cy="822"/>
            </a:xfrm>
            <a:prstGeom prst="rect">
              <a:avLst/>
            </a:prstGeom>
          </p:spPr>
        </p:pic>
      </p:grpSp>
      <p:cxnSp>
        <p:nvCxnSpPr>
          <p:cNvPr id="320" name="直接箭头连接符 319"/>
          <p:cNvCxnSpPr>
            <a:stCxn id="300" idx="1"/>
          </p:cNvCxnSpPr>
          <p:nvPr/>
        </p:nvCxnSpPr>
        <p:spPr>
          <a:xfrm flipH="1" flipV="1">
            <a:off x="19076670" y="5242560"/>
            <a:ext cx="52324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21" name="组合 320"/>
          <p:cNvGrpSpPr/>
          <p:nvPr/>
        </p:nvGrpSpPr>
        <p:grpSpPr>
          <a:xfrm>
            <a:off x="18109565" y="4913630"/>
            <a:ext cx="990600" cy="552450"/>
            <a:chOff x="15870" y="5130"/>
            <a:chExt cx="1560" cy="870"/>
          </a:xfrm>
        </p:grpSpPr>
        <p:sp>
          <p:nvSpPr>
            <p:cNvPr id="322" name="矩形: 圆角 43"/>
            <p:cNvSpPr>
              <a:spLocks noGrp="1"/>
            </p:cNvSpPr>
            <p:nvPr/>
          </p:nvSpPr>
          <p:spPr>
            <a:xfrm>
              <a:off x="15870" y="5130"/>
              <a:ext cx="1560" cy="87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13335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3" name="矩形 322"/>
            <p:cNvSpPr>
              <a:spLocks noGrp="1"/>
            </p:cNvSpPr>
            <p:nvPr/>
          </p:nvSpPr>
          <p:spPr>
            <a:xfrm>
              <a:off x="15960" y="5190"/>
              <a:ext cx="1380" cy="27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 lIns="57150" tIns="38100" rIns="57150" bIns="38100" anchor="ctr"/>
            <a:lstStyle/>
            <a:p>
              <a:pPr algn="ctr">
                <a:defRPr sz="1125" b="1">
                  <a:solidFill>
                    <a:srgbClr val="2E7D3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defRPr>
              </a:pPr>
              <a:r>
                <a:rPr lang="en-US" sz="1125" b="1">
                  <a:solidFill>
                    <a:srgbClr val="2E7D32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Logits</a:t>
              </a:r>
              <a:endParaRPr lang="en-US" sz="1125" b="1">
                <a:solidFill>
                  <a:srgbClr val="2E7D32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24" name="矩形 323"/>
            <p:cNvSpPr>
              <a:spLocks noGrp="1"/>
            </p:cNvSpPr>
            <p:nvPr/>
          </p:nvSpPr>
          <p:spPr>
            <a:xfrm>
              <a:off x="16080" y="5715"/>
              <a:ext cx="90" cy="13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5" name="矩形 324"/>
            <p:cNvSpPr>
              <a:spLocks noGrp="1"/>
            </p:cNvSpPr>
            <p:nvPr/>
          </p:nvSpPr>
          <p:spPr>
            <a:xfrm>
              <a:off x="16260" y="5625"/>
              <a:ext cx="90" cy="22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6" name="矩形 325"/>
            <p:cNvSpPr>
              <a:spLocks noGrp="1"/>
            </p:cNvSpPr>
            <p:nvPr/>
          </p:nvSpPr>
          <p:spPr>
            <a:xfrm>
              <a:off x="16440" y="5745"/>
              <a:ext cx="90" cy="10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7" name="矩形 326"/>
            <p:cNvSpPr>
              <a:spLocks noGrp="1"/>
            </p:cNvSpPr>
            <p:nvPr/>
          </p:nvSpPr>
          <p:spPr>
            <a:xfrm>
              <a:off x="16620" y="5550"/>
              <a:ext cx="90" cy="300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8" name="矩形 327"/>
            <p:cNvSpPr>
              <a:spLocks noGrp="1"/>
            </p:cNvSpPr>
            <p:nvPr/>
          </p:nvSpPr>
          <p:spPr>
            <a:xfrm>
              <a:off x="16800" y="5670"/>
              <a:ext cx="90" cy="180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9" name="矩形 328"/>
            <p:cNvSpPr>
              <a:spLocks noGrp="1"/>
            </p:cNvSpPr>
            <p:nvPr/>
          </p:nvSpPr>
          <p:spPr>
            <a:xfrm>
              <a:off x="16980" y="5595"/>
              <a:ext cx="90" cy="255"/>
            </a:xfrm>
            <a:prstGeom prst="rect">
              <a:avLst/>
            </a:prstGeom>
            <a:solidFill>
              <a:srgbClr val="2E7D32"/>
            </a:solidFill>
            <a:ln w="0">
              <a:solidFill>
                <a:srgbClr val="2E7D32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331" name="直接箭头连接符 330"/>
          <p:cNvCxnSpPr>
            <a:stCxn id="322" idx="1"/>
          </p:cNvCxnSpPr>
          <p:nvPr/>
        </p:nvCxnSpPr>
        <p:spPr>
          <a:xfrm flipH="1" flipV="1">
            <a:off x="17517745" y="5180330"/>
            <a:ext cx="591820" cy="95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373" name="组合 372"/>
          <p:cNvGrpSpPr/>
          <p:nvPr/>
        </p:nvGrpSpPr>
        <p:grpSpPr>
          <a:xfrm>
            <a:off x="16868140" y="2637155"/>
            <a:ext cx="2040890" cy="711200"/>
            <a:chOff x="708" y="4373"/>
            <a:chExt cx="4519" cy="1575"/>
          </a:xfrm>
        </p:grpSpPr>
        <p:sp>
          <p:nvSpPr>
            <p:cNvPr id="374" name="segment-n-label"/>
            <p:cNvSpPr>
              <a:spLocks noGrp="1"/>
            </p:cNvSpPr>
            <p:nvPr/>
          </p:nvSpPr>
          <p:spPr>
            <a:xfrm>
              <a:off x="708" y="5060"/>
              <a:ext cx="1451" cy="363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0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05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 N</a:t>
              </a:r>
              <a:endPara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75" name="矩形 374"/>
            <p:cNvSpPr>
              <a:spLocks noGrp="1"/>
            </p:cNvSpPr>
            <p:nvPr/>
          </p:nvSpPr>
          <p:spPr>
            <a:xfrm>
              <a:off x="3250" y="4688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5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15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76" name="矩形 375"/>
            <p:cNvSpPr>
              <a:spLocks noGrp="1"/>
            </p:cNvSpPr>
            <p:nvPr/>
          </p:nvSpPr>
          <p:spPr>
            <a:xfrm>
              <a:off x="4403" y="43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77" name="组合 376"/>
            <p:cNvGrpSpPr/>
            <p:nvPr/>
          </p:nvGrpSpPr>
          <p:grpSpPr>
            <a:xfrm>
              <a:off x="2002" y="5173"/>
              <a:ext cx="3225" cy="428"/>
              <a:chOff x="13440" y="2760"/>
              <a:chExt cx="3225" cy="428"/>
            </a:xfrm>
          </p:grpSpPr>
          <p:sp>
            <p:nvSpPr>
              <p:cNvPr id="378" name="矩形 377"/>
              <p:cNvSpPr>
                <a:spLocks noGrp="1"/>
              </p:cNvSpPr>
              <p:nvPr/>
            </p:nvSpPr>
            <p:spPr>
              <a:xfrm>
                <a:off x="1344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7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T-W+1</a:t>
                </a:r>
                <a:endParaRPr sz="7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79" name="矩形 378"/>
              <p:cNvSpPr>
                <a:spLocks noGrp="1"/>
              </p:cNvSpPr>
              <p:nvPr/>
            </p:nvSpPr>
            <p:spPr>
              <a:xfrm>
                <a:off x="14550" y="2760"/>
                <a:ext cx="1110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825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...</a:t>
                </a:r>
                <a:endParaRPr sz="825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80" name="矩形 379"/>
              <p:cNvSpPr>
                <a:spLocks noGrp="1"/>
              </p:cNvSpPr>
              <p:nvPr/>
            </p:nvSpPr>
            <p:spPr>
              <a:xfrm>
                <a:off x="15660" y="2760"/>
                <a:ext cx="1005" cy="420"/>
              </a:xfrm>
              <a:prstGeom prst="rect">
                <a:avLst/>
              </a:prstGeom>
              <a:solidFill>
                <a:srgbClr val="DFF0D8"/>
              </a:solidFill>
              <a:ln w="11430">
                <a:solidFill>
                  <a:srgbClr val="5A8F57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825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825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T</a:t>
                </a:r>
                <a:endParaRPr sz="825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381" name="矩形 380"/>
              <p:cNvSpPr>
                <a:spLocks noGrp="1"/>
              </p:cNvSpPr>
              <p:nvPr/>
            </p:nvSpPr>
            <p:spPr>
              <a:xfrm>
                <a:off x="15653" y="317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382" name="矩形 381"/>
            <p:cNvSpPr>
              <a:spLocks noGrp="1"/>
            </p:cNvSpPr>
            <p:nvPr/>
          </p:nvSpPr>
          <p:spPr>
            <a:xfrm>
              <a:off x="4838" y="593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83" name="segment-1-label"/>
          <p:cNvSpPr>
            <a:spLocks noGrp="1"/>
          </p:cNvSpPr>
          <p:nvPr/>
        </p:nvSpPr>
        <p:spPr>
          <a:xfrm>
            <a:off x="16868775" y="2417445"/>
            <a:ext cx="654050" cy="166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Seg1</a:t>
            </a:r>
            <a:endParaRPr sz="1050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384" name="segment-2-label"/>
          <p:cNvSpPr>
            <a:spLocks noGrp="1"/>
          </p:cNvSpPr>
          <p:nvPr/>
        </p:nvSpPr>
        <p:spPr>
          <a:xfrm>
            <a:off x="16869410" y="2671445"/>
            <a:ext cx="674370" cy="1733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05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Seg 2</a:t>
            </a:r>
            <a:endParaRPr sz="1050" i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grpSp>
        <p:nvGrpSpPr>
          <p:cNvPr id="385" name="组合 384"/>
          <p:cNvGrpSpPr/>
          <p:nvPr/>
        </p:nvGrpSpPr>
        <p:grpSpPr>
          <a:xfrm>
            <a:off x="17445355" y="2417445"/>
            <a:ext cx="1463040" cy="189865"/>
            <a:chOff x="1980" y="2760"/>
            <a:chExt cx="3240" cy="420"/>
          </a:xfrm>
        </p:grpSpPr>
        <p:sp>
          <p:nvSpPr>
            <p:cNvPr id="386" name="矩形 385"/>
            <p:cNvSpPr>
              <a:spLocks noGrp="1"/>
            </p:cNvSpPr>
            <p:nvPr/>
          </p:nvSpPr>
          <p:spPr>
            <a:xfrm>
              <a:off x="198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1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7" name="矩形 386"/>
            <p:cNvSpPr>
              <a:spLocks noGrp="1"/>
            </p:cNvSpPr>
            <p:nvPr/>
          </p:nvSpPr>
          <p:spPr>
            <a:xfrm>
              <a:off x="279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2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8" name="矩形 387"/>
            <p:cNvSpPr>
              <a:spLocks noGrp="1"/>
            </p:cNvSpPr>
            <p:nvPr/>
          </p:nvSpPr>
          <p:spPr>
            <a:xfrm>
              <a:off x="360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3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89" name="矩形 388"/>
            <p:cNvSpPr>
              <a:spLocks noGrp="1"/>
            </p:cNvSpPr>
            <p:nvPr/>
          </p:nvSpPr>
          <p:spPr>
            <a:xfrm>
              <a:off x="441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4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</p:grpSp>
      <p:sp>
        <p:nvSpPr>
          <p:cNvPr id="391" name="圆角矩形 390"/>
          <p:cNvSpPr>
            <a:spLocks noGrp="1"/>
          </p:cNvSpPr>
          <p:nvPr/>
        </p:nvSpPr>
        <p:spPr>
          <a:xfrm>
            <a:off x="17414875" y="3461385"/>
            <a:ext cx="1714500" cy="784860"/>
          </a:xfrm>
          <a:prstGeom prst="roundRect">
            <a:avLst>
              <a:gd name="adj" fmla="val 11538"/>
            </a:avLst>
          </a:prstGeom>
          <a:solidFill>
            <a:srgbClr val="DFF0D8"/>
          </a:solidFill>
          <a:ln w="15240">
            <a:solidFill>
              <a:srgbClr val="4C9A4D"/>
            </a:solidFill>
            <a:prstDash val="solid"/>
          </a:ln>
        </p:spPr>
        <p:txBody>
          <a:bodyPr/>
          <a:lstStyle/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Local ASP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(Attentive Mean + Std)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  <a:p>
            <a:pPr algn="ctr">
              <a:defRPr sz="1350" b="1" i="0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10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rPr>
              <a:t>(Shared Parameters)</a:t>
            </a:r>
            <a:endParaRPr sz="1100" i="0" dirty="0">
              <a:solidFill>
                <a:srgbClr val="111827"/>
              </a:solidFill>
              <a:latin typeface="Comic Sans MS" panose="030F0702030302020204" charset="0"/>
              <a:ea typeface="Aptos"/>
              <a:cs typeface="Comic Sans MS" panose="030F0702030302020204" charset="0"/>
            </a:endParaRPr>
          </a:p>
        </p:txBody>
      </p:sp>
      <p:sp>
        <p:nvSpPr>
          <p:cNvPr id="393" name="矩形 392"/>
          <p:cNvSpPr>
            <a:spLocks noGrp="1"/>
          </p:cNvSpPr>
          <p:nvPr/>
        </p:nvSpPr>
        <p:spPr>
          <a:xfrm>
            <a:off x="18557875" y="2604135"/>
            <a:ext cx="6985" cy="6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394" name="组合 393"/>
          <p:cNvGrpSpPr/>
          <p:nvPr/>
        </p:nvGrpSpPr>
        <p:grpSpPr>
          <a:xfrm>
            <a:off x="17445355" y="2671445"/>
            <a:ext cx="1463040" cy="193040"/>
            <a:chOff x="6840" y="2760"/>
            <a:chExt cx="3240" cy="427"/>
          </a:xfrm>
        </p:grpSpPr>
        <p:sp>
          <p:nvSpPr>
            <p:cNvPr id="395" name="矩形 394"/>
            <p:cNvSpPr>
              <a:spLocks noGrp="1"/>
            </p:cNvSpPr>
            <p:nvPr/>
          </p:nvSpPr>
          <p:spPr>
            <a:xfrm>
              <a:off x="684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5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6" name="矩形 395"/>
            <p:cNvSpPr>
              <a:spLocks noGrp="1"/>
            </p:cNvSpPr>
            <p:nvPr/>
          </p:nvSpPr>
          <p:spPr>
            <a:xfrm>
              <a:off x="765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6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7" name="矩形 396"/>
            <p:cNvSpPr>
              <a:spLocks noGrp="1"/>
            </p:cNvSpPr>
            <p:nvPr/>
          </p:nvSpPr>
          <p:spPr>
            <a:xfrm>
              <a:off x="846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7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8" name="矩形 397"/>
            <p:cNvSpPr>
              <a:spLocks noGrp="1"/>
            </p:cNvSpPr>
            <p:nvPr/>
          </p:nvSpPr>
          <p:spPr>
            <a:xfrm>
              <a:off x="9270" y="2760"/>
              <a:ext cx="810" cy="420"/>
            </a:xfrm>
            <a:prstGeom prst="rect">
              <a:avLst/>
            </a:prstGeom>
            <a:solidFill>
              <a:srgbClr val="DFF0D8"/>
            </a:solidFill>
            <a:ln w="11430">
              <a:solidFill>
                <a:srgbClr val="5A8F57"/>
              </a:solidFill>
              <a:prstDash val="solid"/>
            </a:ln>
          </p:spPr>
          <p:txBody>
            <a:bodyPr/>
            <a:lstStyle/>
            <a:p>
              <a:pPr algn="ctr">
                <a:defRPr sz="9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8</a:t>
              </a:r>
              <a:endParaRPr sz="9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sp>
          <p:nvSpPr>
            <p:cNvPr id="399" name="矩形 398"/>
            <p:cNvSpPr>
              <a:spLocks noGrp="1"/>
            </p:cNvSpPr>
            <p:nvPr/>
          </p:nvSpPr>
          <p:spPr>
            <a:xfrm>
              <a:off x="9263" y="317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00" name="矩形 399"/>
          <p:cNvSpPr>
            <a:spLocks noGrp="1"/>
          </p:cNvSpPr>
          <p:nvPr/>
        </p:nvSpPr>
        <p:spPr>
          <a:xfrm>
            <a:off x="18923635" y="4173220"/>
            <a:ext cx="6985" cy="698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401" name="组合 400"/>
          <p:cNvGrpSpPr/>
          <p:nvPr/>
        </p:nvGrpSpPr>
        <p:grpSpPr>
          <a:xfrm>
            <a:off x="19235420" y="2417445"/>
            <a:ext cx="1709420" cy="2340610"/>
            <a:chOff x="5627" y="2760"/>
            <a:chExt cx="3786" cy="5183"/>
          </a:xfrm>
        </p:grpSpPr>
        <p:sp>
          <p:nvSpPr>
            <p:cNvPr id="402" name="矩形 401"/>
            <p:cNvSpPr>
              <a:spLocks noGrp="1"/>
            </p:cNvSpPr>
            <p:nvPr/>
          </p:nvSpPr>
          <p:spPr>
            <a:xfrm>
              <a:off x="9398" y="5933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3" name="矩形 402"/>
            <p:cNvSpPr>
              <a:spLocks noGrp="1"/>
            </p:cNvSpPr>
            <p:nvPr/>
          </p:nvSpPr>
          <p:spPr>
            <a:xfrm>
              <a:off x="9398" y="7928"/>
              <a:ext cx="15" cy="15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 w="0">
              <a:solidFill>
                <a:srgbClr val="000000">
                  <a:alpha val="0"/>
                </a:srgbClr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4" name="圆角矩形 403"/>
            <p:cNvSpPr>
              <a:spLocks noGrp="1"/>
            </p:cNvSpPr>
            <p:nvPr/>
          </p:nvSpPr>
          <p:spPr>
            <a:xfrm>
              <a:off x="5627" y="2760"/>
              <a:ext cx="2376" cy="1705"/>
            </a:xfrm>
            <a:prstGeom prst="roundRect">
              <a:avLst>
                <a:gd name="adj" fmla="val 11429"/>
              </a:avLst>
            </a:prstGeom>
            <a:solidFill>
              <a:srgbClr val="FFF8E8"/>
            </a:solidFill>
            <a:ln w="16193">
              <a:solidFill>
                <a:srgbClr val="D09000"/>
              </a:solidFill>
              <a:prstDash val="solid"/>
            </a:ln>
          </p:spPr>
          <p:txBody>
            <a:bodyPr/>
            <a:lstStyle/>
            <a:p>
              <a:pPr algn="ctr">
                <a:defRPr sz="13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13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Segment-wise Max Pooling</a:t>
              </a:r>
              <a:endParaRPr sz="135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  <a:p>
              <a:pPr algn="ctr">
                <a:defRPr sz="135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endParaRPr sz="1350" i="0" dirty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  <p:grpSp>
          <p:nvGrpSpPr>
            <p:cNvPr id="406" name="组合 405"/>
            <p:cNvGrpSpPr/>
            <p:nvPr/>
          </p:nvGrpSpPr>
          <p:grpSpPr>
            <a:xfrm>
              <a:off x="6174" y="6384"/>
              <a:ext cx="2040" cy="337"/>
              <a:chOff x="13650" y="6713"/>
              <a:chExt cx="2040" cy="337"/>
            </a:xfrm>
          </p:grpSpPr>
          <p:sp>
            <p:nvSpPr>
              <p:cNvPr id="407" name="矩形 406"/>
              <p:cNvSpPr>
                <a:spLocks noGrp="1"/>
              </p:cNvSpPr>
              <p:nvPr/>
            </p:nvSpPr>
            <p:spPr>
              <a:xfrm>
                <a:off x="1365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8" name="矩形 407"/>
              <p:cNvSpPr>
                <a:spLocks noGrp="1"/>
              </p:cNvSpPr>
              <p:nvPr/>
            </p:nvSpPr>
            <p:spPr>
              <a:xfrm>
                <a:off x="1416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9" name="矩形 408"/>
              <p:cNvSpPr>
                <a:spLocks noGrp="1"/>
              </p:cNvSpPr>
              <p:nvPr/>
            </p:nvSpPr>
            <p:spPr>
              <a:xfrm>
                <a:off x="1467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3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...</a:t>
                </a:r>
                <a:endParaRPr sz="3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410" name="矩形 409"/>
              <p:cNvSpPr>
                <a:spLocks noGrp="1"/>
              </p:cNvSpPr>
              <p:nvPr/>
            </p:nvSpPr>
            <p:spPr>
              <a:xfrm>
                <a:off x="1518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" name="矩形 411"/>
              <p:cNvSpPr>
                <a:spLocks noGrp="1"/>
              </p:cNvSpPr>
              <p:nvPr/>
            </p:nvSpPr>
            <p:spPr>
              <a:xfrm>
                <a:off x="14918" y="671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13" name="组合 412"/>
            <p:cNvGrpSpPr/>
            <p:nvPr/>
          </p:nvGrpSpPr>
          <p:grpSpPr>
            <a:xfrm>
              <a:off x="6174" y="5682"/>
              <a:ext cx="2040" cy="337"/>
              <a:chOff x="8130" y="6713"/>
              <a:chExt cx="2040" cy="337"/>
            </a:xfrm>
          </p:grpSpPr>
          <p:sp>
            <p:nvSpPr>
              <p:cNvPr id="414" name="矩形 413"/>
              <p:cNvSpPr>
                <a:spLocks noGrp="1"/>
              </p:cNvSpPr>
              <p:nvPr/>
            </p:nvSpPr>
            <p:spPr>
              <a:xfrm>
                <a:off x="813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5" name="矩形 414"/>
              <p:cNvSpPr>
                <a:spLocks noGrp="1"/>
              </p:cNvSpPr>
              <p:nvPr/>
            </p:nvSpPr>
            <p:spPr>
              <a:xfrm>
                <a:off x="864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6" name="矩形 415"/>
              <p:cNvSpPr>
                <a:spLocks noGrp="1"/>
              </p:cNvSpPr>
              <p:nvPr/>
            </p:nvSpPr>
            <p:spPr>
              <a:xfrm>
                <a:off x="915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pPr algn="ctr">
                  <a:defRPr sz="90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endParaRPr sz="9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sp>
            <p:nvSpPr>
              <p:cNvPr id="417" name="矩形 416"/>
              <p:cNvSpPr>
                <a:spLocks noGrp="1"/>
              </p:cNvSpPr>
              <p:nvPr/>
            </p:nvSpPr>
            <p:spPr>
              <a:xfrm>
                <a:off x="9660" y="6720"/>
                <a:ext cx="510" cy="330"/>
              </a:xfrm>
              <a:prstGeom prst="rect">
                <a:avLst/>
              </a:prstGeom>
              <a:solidFill>
                <a:srgbClr val="D8C8F0"/>
              </a:solidFill>
              <a:ln w="10478">
                <a:solidFill>
                  <a:srgbClr val="7C68A4"/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9" name="矩形 418"/>
              <p:cNvSpPr>
                <a:spLocks noGrp="1"/>
              </p:cNvSpPr>
              <p:nvPr/>
            </p:nvSpPr>
            <p:spPr>
              <a:xfrm>
                <a:off x="9398" y="6713"/>
                <a:ext cx="15" cy="15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 w="0">
                <a:solidFill>
                  <a:srgbClr val="000000">
                    <a:alpha val="0"/>
                  </a:srgbClr>
                </a:solidFill>
                <a:prstDash val="solid"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21" name="组合 420"/>
            <p:cNvGrpSpPr/>
            <p:nvPr/>
          </p:nvGrpSpPr>
          <p:grpSpPr>
            <a:xfrm>
              <a:off x="6174" y="5127"/>
              <a:ext cx="2060" cy="2506"/>
              <a:chOff x="11925" y="2836"/>
              <a:chExt cx="2060" cy="2506"/>
            </a:xfrm>
          </p:grpSpPr>
          <p:sp>
            <p:nvSpPr>
              <p:cNvPr id="422" name="矩形 421"/>
              <p:cNvSpPr>
                <a:spLocks noGrp="1"/>
              </p:cNvSpPr>
              <p:nvPr/>
            </p:nvSpPr>
            <p:spPr>
              <a:xfrm>
                <a:off x="12185" y="5012"/>
                <a:ext cx="1800" cy="330"/>
              </a:xfrm>
              <a:prstGeom prst="rect">
                <a:avLst/>
              </a:prstGeom>
              <a:noFill/>
              <a:ln w="0">
                <a:noFill/>
                <a:prstDash val="solid"/>
              </a:ln>
            </p:spPr>
            <p:txBody>
              <a:bodyPr/>
              <a:lstStyle/>
              <a:p>
                <a:pPr algn="ctr">
                  <a:defRPr sz="1050" b="1" i="0">
                    <a:solidFill>
                      <a:srgbClr val="111827"/>
                    </a:solidFill>
                    <a:latin typeface="Aptos"/>
                    <a:ea typeface="Aptos"/>
                    <a:cs typeface="Aptos"/>
                  </a:defRPr>
                </a:pPr>
                <a:r>
                  <a:rPr sz="1050" i="0" dirty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rPr>
                  <a:t>2C-dim</a:t>
                </a:r>
                <a:endParaRPr sz="1050" i="0" dirty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endParaRPr>
              </a:p>
            </p:txBody>
          </p:sp>
          <p:grpSp>
            <p:nvGrpSpPr>
              <p:cNvPr id="423" name="组合 422"/>
              <p:cNvGrpSpPr/>
              <p:nvPr/>
            </p:nvGrpSpPr>
            <p:grpSpPr>
              <a:xfrm>
                <a:off x="11925" y="2836"/>
                <a:ext cx="2040" cy="337"/>
                <a:chOff x="3570" y="6713"/>
                <a:chExt cx="2040" cy="337"/>
              </a:xfrm>
            </p:grpSpPr>
            <p:sp>
              <p:nvSpPr>
                <p:cNvPr id="424" name="矩形 423"/>
                <p:cNvSpPr>
                  <a:spLocks noGrp="1"/>
                </p:cNvSpPr>
                <p:nvPr/>
              </p:nvSpPr>
              <p:spPr>
                <a:xfrm>
                  <a:off x="357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5" name="矩形 424"/>
                <p:cNvSpPr>
                  <a:spLocks noGrp="1"/>
                </p:cNvSpPr>
                <p:nvPr/>
              </p:nvSpPr>
              <p:spPr>
                <a:xfrm>
                  <a:off x="408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6" name="矩形 425"/>
                <p:cNvSpPr>
                  <a:spLocks noGrp="1"/>
                </p:cNvSpPr>
                <p:nvPr/>
              </p:nvSpPr>
              <p:spPr>
                <a:xfrm>
                  <a:off x="459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pPr algn="ctr">
                    <a:defRPr sz="900" b="1" i="0">
                      <a:solidFill>
                        <a:srgbClr val="111827"/>
                      </a:solidFill>
                      <a:latin typeface="Aptos"/>
                      <a:ea typeface="Aptos"/>
                      <a:cs typeface="Aptos"/>
                    </a:defRPr>
                  </a:pPr>
                  <a:r>
                    <a:rPr sz="300" i="0">
                      <a:solidFill>
                        <a:srgbClr val="111827"/>
                      </a:solidFill>
                      <a:latin typeface="Comic Sans MS" panose="030F0702030302020204" charset="0"/>
                      <a:ea typeface="Aptos"/>
                      <a:cs typeface="Comic Sans MS" panose="030F0702030302020204" charset="0"/>
                    </a:rPr>
                    <a:t>.</a:t>
                  </a:r>
                  <a:r>
                    <a:rPr sz="300">
                      <a:latin typeface="Comic Sans MS" panose="030F0702030302020204" charset="0"/>
                      <a:cs typeface="Comic Sans MS" panose="030F0702030302020204" charset="0"/>
                      <a:sym typeface="+mn-ea"/>
                    </a:rPr>
                    <a:t>.</a:t>
                  </a:r>
                  <a:r>
                    <a:rPr sz="300" i="0">
                      <a:solidFill>
                        <a:srgbClr val="111827"/>
                      </a:solidFill>
                      <a:latin typeface="Comic Sans MS" panose="030F0702030302020204" charset="0"/>
                      <a:ea typeface="Aptos"/>
                      <a:cs typeface="Comic Sans MS" panose="030F0702030302020204" charset="0"/>
                    </a:rPr>
                    <a:t>.</a:t>
                  </a:r>
                  <a:endParaRPr sz="300" i="0">
                    <a:solidFill>
                      <a:srgbClr val="111827"/>
                    </a:solidFill>
                    <a:latin typeface="Comic Sans MS" panose="030F0702030302020204" charset="0"/>
                    <a:ea typeface="Aptos"/>
                    <a:cs typeface="Comic Sans MS" panose="030F0702030302020204" charset="0"/>
                  </a:endParaRPr>
                </a:p>
              </p:txBody>
            </p:sp>
            <p:sp>
              <p:nvSpPr>
                <p:cNvPr id="427" name="矩形 426"/>
                <p:cNvSpPr>
                  <a:spLocks noGrp="1"/>
                </p:cNvSpPr>
                <p:nvPr/>
              </p:nvSpPr>
              <p:spPr>
                <a:xfrm>
                  <a:off x="5100" y="6720"/>
                  <a:ext cx="510" cy="330"/>
                </a:xfrm>
                <a:prstGeom prst="rect">
                  <a:avLst/>
                </a:prstGeom>
                <a:solidFill>
                  <a:srgbClr val="D8C8F0"/>
                </a:solidFill>
                <a:ln w="10478">
                  <a:solidFill>
                    <a:srgbClr val="7C68A4"/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429" name="矩形 428"/>
                <p:cNvSpPr>
                  <a:spLocks noGrp="1"/>
                </p:cNvSpPr>
                <p:nvPr/>
              </p:nvSpPr>
              <p:spPr>
                <a:xfrm>
                  <a:off x="4838" y="6713"/>
                  <a:ext cx="15" cy="15"/>
                </a:xfrm>
                <a:prstGeom prst="rect">
                  <a:avLst/>
                </a:prstGeom>
                <a:solidFill>
                  <a:srgbClr val="000000">
                    <a:alpha val="0"/>
                  </a:srgbClr>
                </a:solidFill>
                <a:ln w="0">
                  <a:solidFill>
                    <a:srgbClr val="000000">
                      <a:alpha val="0"/>
                    </a:srgbClr>
                  </a:solidFill>
                  <a:prstDash val="solid"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430" name="右大括号 429"/>
              <p:cNvSpPr/>
              <p:nvPr/>
            </p:nvSpPr>
            <p:spPr>
              <a:xfrm rot="5400000" flipV="1">
                <a:off x="12727" y="3935"/>
                <a:ext cx="510" cy="1965"/>
              </a:xfrm>
              <a:prstGeom prst="rightBrac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  <p:sp>
          <p:nvSpPr>
            <p:cNvPr id="405" name="矩形 404"/>
            <p:cNvSpPr>
              <a:spLocks noGrp="1"/>
            </p:cNvSpPr>
            <p:nvPr/>
          </p:nvSpPr>
          <p:spPr>
            <a:xfrm>
              <a:off x="7056" y="5721"/>
              <a:ext cx="810" cy="300"/>
            </a:xfrm>
            <a:prstGeom prst="rect">
              <a:avLst/>
            </a:prstGeom>
            <a:noFill/>
            <a:ln w="0">
              <a:noFill/>
              <a:prstDash val="solid"/>
            </a:ln>
          </p:spPr>
          <p:txBody>
            <a:bodyPr/>
            <a:lstStyle/>
            <a:p>
              <a:pPr algn="ctr">
                <a:defRPr sz="1500" b="1" i="0">
                  <a:solidFill>
                    <a:srgbClr val="111827"/>
                  </a:solidFill>
                  <a:latin typeface="Aptos"/>
                  <a:ea typeface="Aptos"/>
                  <a:cs typeface="Aptos"/>
                </a:defRPr>
              </a:pPr>
              <a:r>
                <a:rPr sz="300" i="0">
                  <a:solidFill>
                    <a:srgbClr val="111827"/>
                  </a:solidFill>
                  <a:latin typeface="Comic Sans MS" panose="030F0702030302020204" charset="0"/>
                  <a:ea typeface="Aptos"/>
                  <a:cs typeface="Comic Sans MS" panose="030F0702030302020204" charset="0"/>
                </a:rPr>
                <a:t>...</a:t>
              </a:r>
              <a:endParaRPr sz="300" i="0">
                <a:solidFill>
                  <a:srgbClr val="111827"/>
                </a:solidFill>
                <a:latin typeface="Comic Sans MS" panose="030F0702030302020204" charset="0"/>
                <a:ea typeface="Aptos"/>
                <a:cs typeface="Comic Sans MS" panose="030F0702030302020204" charset="0"/>
              </a:endParaRPr>
            </a:p>
          </p:txBody>
        </p:sp>
      </p:grpSp>
      <p:cxnSp>
        <p:nvCxnSpPr>
          <p:cNvPr id="431" name="直接箭头连接符 430"/>
          <p:cNvCxnSpPr/>
          <p:nvPr/>
        </p:nvCxnSpPr>
        <p:spPr>
          <a:xfrm flipV="1">
            <a:off x="19128740" y="3579495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2" name="直接箭头连接符 431"/>
          <p:cNvCxnSpPr/>
          <p:nvPr/>
        </p:nvCxnSpPr>
        <p:spPr>
          <a:xfrm flipV="1">
            <a:off x="19128740" y="3804285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3" name="直接箭头连接符 432"/>
          <p:cNvCxnSpPr/>
          <p:nvPr/>
        </p:nvCxnSpPr>
        <p:spPr>
          <a:xfrm flipV="1">
            <a:off x="19128740" y="4136390"/>
            <a:ext cx="196215" cy="0"/>
          </a:xfrm>
          <a:prstGeom prst="straightConnector1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4" name="肘形连接符 433"/>
          <p:cNvCxnSpPr>
            <a:stCxn id="380" idx="3"/>
          </p:cNvCxnSpPr>
          <p:nvPr/>
        </p:nvCxnSpPr>
        <p:spPr>
          <a:xfrm>
            <a:off x="18909030" y="3093720"/>
            <a:ext cx="30480" cy="37528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5" name="肘形连接符 434"/>
          <p:cNvCxnSpPr/>
          <p:nvPr/>
        </p:nvCxnSpPr>
        <p:spPr>
          <a:xfrm>
            <a:off x="18908395" y="2777490"/>
            <a:ext cx="114300" cy="68326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6" name="肘形连接符 435"/>
          <p:cNvCxnSpPr>
            <a:stCxn id="389" idx="3"/>
          </p:cNvCxnSpPr>
          <p:nvPr/>
        </p:nvCxnSpPr>
        <p:spPr>
          <a:xfrm>
            <a:off x="18908395" y="2512060"/>
            <a:ext cx="200025" cy="96075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7" name="矩形 436"/>
          <p:cNvSpPr/>
          <p:nvPr/>
        </p:nvSpPr>
        <p:spPr>
          <a:xfrm>
            <a:off x="19463385" y="3334385"/>
            <a:ext cx="252730" cy="957580"/>
          </a:xfrm>
          <a:prstGeom prst="rect">
            <a:avLst/>
          </a:prstGeom>
          <a:noFill/>
          <a:ln w="28575" cmpd="sng">
            <a:solidFill>
              <a:schemeClr val="accent1">
                <a:shade val="50000"/>
              </a:schemeClr>
            </a:solidFill>
            <a:prstDash val="sys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39" name="肘形连接符 438"/>
          <p:cNvCxnSpPr/>
          <p:nvPr/>
        </p:nvCxnSpPr>
        <p:spPr>
          <a:xfrm flipV="1">
            <a:off x="16861790" y="3183255"/>
            <a:ext cx="431800" cy="427990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0" name="直接箭头连接符 439"/>
          <p:cNvCxnSpPr/>
          <p:nvPr/>
        </p:nvCxnSpPr>
        <p:spPr>
          <a:xfrm>
            <a:off x="20316190" y="3015615"/>
            <a:ext cx="21336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0" name="矩形 9"/>
          <p:cNvSpPr>
            <a:spLocks noGrp="1"/>
          </p:cNvSpPr>
          <p:nvPr/>
        </p:nvSpPr>
        <p:spPr>
          <a:xfrm>
            <a:off x="3721100" y="48260"/>
            <a:ext cx="4212590" cy="428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125" b="1">
                <a:solidFill>
                  <a:srgbClr val="047857"/>
                </a:solidFill>
              </a:defRPr>
            </a:pPr>
            <a:r>
              <a:rPr lang="en-US" sz="1800" b="1" dirty="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</a:rPr>
              <a:t>(a) </a:t>
            </a:r>
            <a:r>
              <a:rPr lang="en-US" altLang="zh-CN" sz="1800" dirty="0" err="1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CfC</a:t>
            </a:r>
            <a:r>
              <a:rPr lang="en-US" altLang="zh-CN" sz="1800" dirty="0">
                <a:solidFill>
                  <a:schemeClr val="tx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-based Liquid Neuron Cell</a:t>
            </a:r>
            <a:endParaRPr lang="en-US" altLang="zh-CN" sz="1800" dirty="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  <a:p>
            <a:pPr algn="ctr">
              <a:defRPr sz="1125" b="1">
                <a:solidFill>
                  <a:srgbClr val="047857"/>
                </a:solidFill>
              </a:defRPr>
            </a:pPr>
            <a:endParaRPr lang="en-US" altLang="zh-CN" sz="1800" b="1" dirty="0">
              <a:solidFill>
                <a:schemeClr val="tx1"/>
              </a:solidFill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34" name="直接箭头连接符 33"/>
          <p:cNvCxnSpPr>
            <a:stCxn id="437" idx="0"/>
          </p:cNvCxnSpPr>
          <p:nvPr/>
        </p:nvCxnSpPr>
        <p:spPr>
          <a:xfrm flipH="1" flipV="1">
            <a:off x="19584670" y="3180080"/>
            <a:ext cx="5080" cy="1543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input-u"/>
              <p:cNvSpPr>
                <a:spLocks noGrp="1"/>
              </p:cNvSpPr>
              <p:nvPr/>
            </p:nvSpPr>
            <p:spPr>
              <a:xfrm>
                <a:off x="4363097" y="790547"/>
                <a:ext cx="656590" cy="562610"/>
              </a:xfrm>
              <a:prstGeom prst="roundRect">
                <a:avLst>
                  <a:gd name="adj" fmla="val 10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10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𝑖𝑛𝑝𝑢𝑡</m:t>
                          </m:r>
                        </m:e>
                        <m:sub>
                          <m:r>
                            <a:rPr lang="en-US" sz="120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37" name="input-u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3097" y="790547"/>
                <a:ext cx="656590" cy="562610"/>
              </a:xfrm>
              <a:prstGeom prst="roundRect">
                <a:avLst>
                  <a:gd name="adj" fmla="val 10000"/>
                </a:avLst>
              </a:prstGeom>
              <a:blipFill rotWithShape="1">
                <a:blip r:embed="rId54"/>
                <a:stretch>
                  <a:fillRect l="-1839" t="-2139" r="-1739" b="-2037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prev-hidden"/>
              <p:cNvSpPr>
                <a:spLocks noGrp="1"/>
              </p:cNvSpPr>
              <p:nvPr/>
            </p:nvSpPr>
            <p:spPr>
              <a:xfrm>
                <a:off x="4387862" y="2537432"/>
                <a:ext cx="656590" cy="562610"/>
              </a:xfrm>
              <a:prstGeom prst="roundRect">
                <a:avLst>
                  <a:gd name="adj" fmla="val 10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10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85" name="prev-hidd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862" y="2537432"/>
                <a:ext cx="656590" cy="562610"/>
              </a:xfrm>
              <a:prstGeom prst="roundRect">
                <a:avLst>
                  <a:gd name="adj" fmla="val 10000"/>
                </a:avLst>
              </a:prstGeom>
              <a:blipFill rotWithShape="1">
                <a:blip r:embed="rId55"/>
                <a:stretch>
                  <a:fillRect l="-1839" t="-2139" r="-1739" b="-2037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x-hub"/>
              <p:cNvSpPr>
                <a:spLocks noGrp="1"/>
              </p:cNvSpPr>
              <p:nvPr/>
            </p:nvSpPr>
            <p:spPr>
              <a:xfrm>
                <a:off x="5041434" y="1667800"/>
                <a:ext cx="422275" cy="609600"/>
              </a:xfrm>
              <a:prstGeom prst="roundRect">
                <a:avLst>
                  <a:gd name="adj" fmla="val 13333"/>
                </a:avLst>
              </a:prstGeom>
              <a:solidFill>
                <a:srgbClr val="FFFF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195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1200" b="0" i="1" dirty="0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95" name="x-hu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434" y="1667800"/>
                <a:ext cx="422275" cy="609600"/>
              </a:xfrm>
              <a:prstGeom prst="roundRect">
                <a:avLst>
                  <a:gd name="adj" fmla="val 13333"/>
                </a:avLst>
              </a:prstGeom>
              <a:blipFill rotWithShape="1">
                <a:blip r:embed="rId56"/>
                <a:stretch>
                  <a:fillRect l="-2897" t="-2027" r="-2817" b="-1932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W1"/>
          <p:cNvSpPr>
            <a:spLocks noGrp="1"/>
          </p:cNvSpPr>
          <p:nvPr/>
        </p:nvSpPr>
        <p:spPr>
          <a:xfrm>
            <a:off x="5920274" y="498130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W₁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03" name="W2"/>
          <p:cNvSpPr>
            <a:spLocks noGrp="1"/>
          </p:cNvSpPr>
          <p:nvPr/>
        </p:nvSpPr>
        <p:spPr>
          <a:xfrm>
            <a:off x="5920274" y="1248065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W₂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08" name="Wa"/>
          <p:cNvSpPr>
            <a:spLocks noGrp="1"/>
          </p:cNvSpPr>
          <p:nvPr/>
        </p:nvSpPr>
        <p:spPr>
          <a:xfrm>
            <a:off x="5920274" y="2256445"/>
            <a:ext cx="539115" cy="365760"/>
          </a:xfrm>
          <a:prstGeom prst="roundRect">
            <a:avLst>
              <a:gd name="adj" fmla="val 15385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250" b="0">
                <a:solidFill>
                  <a:srgbClr val="E85D04"/>
                </a:solidFill>
              </a:defRPr>
            </a:pPr>
            <a:r>
              <a:rPr sz="1200" b="0" dirty="0">
                <a:solidFill>
                  <a:srgbClr val="E85D04"/>
                </a:solidFill>
                <a:latin typeface="Comic Sans MS" panose="030F0702030302020204" charset="0"/>
              </a:rPr>
              <a:t>Wₐ</a:t>
            </a:r>
            <a:endParaRPr sz="1200" b="0" dirty="0">
              <a:solidFill>
                <a:srgbClr val="E85D04"/>
              </a:solidFill>
              <a:latin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Wb"/>
              <p:cNvSpPr>
                <a:spLocks noGrp="1"/>
              </p:cNvSpPr>
              <p:nvPr/>
            </p:nvSpPr>
            <p:spPr>
              <a:xfrm>
                <a:off x="5911885" y="2985743"/>
                <a:ext cx="539115" cy="365760"/>
              </a:xfrm>
              <a:prstGeom prst="roundRect">
                <a:avLst>
                  <a:gd name="adj" fmla="val 15385"/>
                </a:avLst>
              </a:prstGeom>
              <a:solidFill>
                <a:srgbClr val="FFF8F2"/>
              </a:solidFill>
              <a:ln w="23813">
                <a:solidFill>
                  <a:srgbClr val="E85D04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250" b="0">
                    <a:solidFill>
                      <a:srgbClr val="E85D04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zh-CN" sz="1200" b="0" i="1" smtClean="0">
                              <a:solidFill>
                                <a:srgbClr val="E85D04"/>
                              </a:solidFill>
                              <a:latin typeface="Cambria Math" panose="02040503050406030204" pitchFamily="18" charset="0"/>
                            </a:rPr>
                            <m:t>b</m:t>
                          </m:r>
                        </m:sub>
                      </m:sSub>
                    </m:oMath>
                  </m:oMathPara>
                </a14:m>
                <a:endParaRPr sz="1200" b="0" dirty="0">
                  <a:solidFill>
                    <a:srgbClr val="E85D04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109" name="W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11885" y="2985743"/>
                <a:ext cx="539115" cy="365760"/>
              </a:xfrm>
              <a:prstGeom prst="roundRect">
                <a:avLst>
                  <a:gd name="adj" fmla="val 15385"/>
                </a:avLst>
              </a:prstGeom>
              <a:blipFill rotWithShape="1">
                <a:blip r:embed="rId57"/>
                <a:stretch>
                  <a:fillRect l="-2244" t="-3291" r="-2114" b="-3132"/>
                </a:stretch>
              </a:blipFill>
              <a:ln w="23813">
                <a:solidFill>
                  <a:srgbClr val="E85D04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6" name="tanh1"/>
          <p:cNvSpPr>
            <a:spLocks noGrp="1"/>
          </p:cNvSpPr>
          <p:nvPr/>
        </p:nvSpPr>
        <p:spPr>
          <a:xfrm>
            <a:off x="6858169" y="498130"/>
            <a:ext cx="63309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25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tanh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17" name="tanh2"/>
          <p:cNvSpPr>
            <a:spLocks noGrp="1"/>
          </p:cNvSpPr>
          <p:nvPr/>
        </p:nvSpPr>
        <p:spPr>
          <a:xfrm>
            <a:off x="6858169" y="1248065"/>
            <a:ext cx="633095" cy="365760"/>
          </a:xfrm>
          <a:prstGeom prst="roundRect">
            <a:avLst>
              <a:gd name="adj" fmla="val 15385"/>
            </a:avLst>
          </a:prstGeom>
          <a:solidFill>
            <a:srgbClr val="F7FA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25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tanh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18" name="f1"/>
          <p:cNvSpPr>
            <a:spLocks noGrp="1"/>
          </p:cNvSpPr>
          <p:nvPr/>
        </p:nvSpPr>
        <p:spPr>
          <a:xfrm>
            <a:off x="7843054" y="568615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f₁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22" name="f2"/>
          <p:cNvSpPr>
            <a:spLocks noGrp="1"/>
          </p:cNvSpPr>
          <p:nvPr/>
        </p:nvSpPr>
        <p:spPr>
          <a:xfrm>
            <a:off x="7843054" y="1318550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1557A6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1557A6"/>
                </a:solidFill>
              </a:defRPr>
            </a:pPr>
            <a:r>
              <a:rPr sz="1200" b="0">
                <a:solidFill>
                  <a:srgbClr val="1557A6"/>
                </a:solidFill>
                <a:latin typeface="Comic Sans MS" panose="030F0702030302020204" charset="0"/>
              </a:rPr>
              <a:t>f₂</a:t>
            </a:r>
            <a:endParaRPr sz="1200" b="0">
              <a:solidFill>
                <a:srgbClr val="1557A6"/>
              </a:solidFill>
              <a:latin typeface="Comic Sans MS" panose="030F0702030302020204" charset="0"/>
            </a:endParaRPr>
          </a:p>
        </p:txBody>
      </p:sp>
      <p:sp>
        <p:nvSpPr>
          <p:cNvPr id="125" name="gate-sigma"/>
          <p:cNvSpPr>
            <a:spLocks noGrp="1"/>
          </p:cNvSpPr>
          <p:nvPr/>
        </p:nvSpPr>
        <p:spPr>
          <a:xfrm>
            <a:off x="7186464" y="2514255"/>
            <a:ext cx="515620" cy="384175"/>
          </a:xfrm>
          <a:prstGeom prst="roundRect">
            <a:avLst>
              <a:gd name="adj" fmla="val 14634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85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σ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26" name="delta-t"/>
          <p:cNvSpPr>
            <a:spLocks noGrp="1"/>
          </p:cNvSpPr>
          <p:nvPr/>
        </p:nvSpPr>
        <p:spPr>
          <a:xfrm>
            <a:off x="7193975" y="1903385"/>
            <a:ext cx="515620" cy="318770"/>
          </a:xfrm>
          <a:prstGeom prst="roundRect">
            <a:avLst>
              <a:gd name="adj" fmla="val 17647"/>
            </a:avLst>
          </a:prstGeom>
          <a:solidFill>
            <a:srgbClr val="FFF8F2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00" b="0">
                <a:solidFill>
                  <a:srgbClr val="0B1638"/>
                </a:solidFill>
              </a:defRPr>
            </a:pPr>
            <a:r>
              <a:rPr sz="1200" b="0">
                <a:solidFill>
                  <a:srgbClr val="0B1638"/>
                </a:solidFill>
                <a:latin typeface="Comic Sans MS" panose="030F0702030302020204" charset="0"/>
              </a:rPr>
              <a:t>Δt</a:t>
            </a:r>
            <a:endParaRPr sz="1200" b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196" name="gate-g"/>
          <p:cNvSpPr>
            <a:spLocks noGrp="1"/>
          </p:cNvSpPr>
          <p:nvPr/>
        </p:nvSpPr>
        <p:spPr>
          <a:xfrm>
            <a:off x="8053874" y="2584740"/>
            <a:ext cx="384175" cy="257810"/>
          </a:xfrm>
          <a:prstGeom prst="roundRect">
            <a:avLst>
              <a:gd name="adj" fmla="val 21818"/>
            </a:avLst>
          </a:prstGeom>
          <a:solidFill>
            <a:srgbClr val="FFFFFF"/>
          </a:solidFill>
          <a:ln w="23813">
            <a:solidFill>
              <a:srgbClr val="E85D04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175" b="0">
                <a:solidFill>
                  <a:srgbClr val="E85D04"/>
                </a:solidFill>
              </a:defRPr>
            </a:pPr>
            <a:r>
              <a:rPr sz="1200" b="0">
                <a:solidFill>
                  <a:srgbClr val="E85D04"/>
                </a:solidFill>
                <a:latin typeface="Comic Sans MS" panose="030F0702030302020204" charset="0"/>
              </a:rPr>
              <a:t>g</a:t>
            </a:r>
            <a:endParaRPr sz="1200" b="0">
              <a:solidFill>
                <a:srgbClr val="E85D04"/>
              </a:solidFill>
              <a:latin typeface="Comic Sans MS" panose="030F0702030302020204" charset="0"/>
            </a:endParaRPr>
          </a:p>
        </p:txBody>
      </p:sp>
      <p:sp>
        <p:nvSpPr>
          <p:cNvPr id="197" name="interpolation-mixer"/>
          <p:cNvSpPr>
            <a:spLocks noGrp="1"/>
          </p:cNvSpPr>
          <p:nvPr/>
        </p:nvSpPr>
        <p:spPr>
          <a:xfrm>
            <a:off x="8548382" y="1593505"/>
            <a:ext cx="492125" cy="492125"/>
          </a:xfrm>
          <a:prstGeom prst="ellipse">
            <a:avLst/>
          </a:prstGeom>
          <a:solidFill>
            <a:srgbClr val="FFFFFF"/>
          </a:solidFill>
          <a:ln w="28575">
            <a:solidFill>
              <a:srgbClr val="0B1638"/>
            </a:solidFill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550">
                <a:solidFill>
                  <a:srgbClr val="0B1638"/>
                </a:solidFill>
              </a:defRPr>
            </a:pPr>
            <a:r>
              <a:rPr sz="2550">
                <a:solidFill>
                  <a:srgbClr val="0B1638"/>
                </a:solidFill>
                <a:latin typeface="Comic Sans MS" panose="030F0702030302020204" charset="0"/>
              </a:rPr>
              <a:t>Σ</a:t>
            </a:r>
            <a:endParaRPr sz="255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new-hidden"/>
              <p:cNvSpPr>
                <a:spLocks noGrp="1"/>
              </p:cNvSpPr>
              <p:nvPr/>
            </p:nvSpPr>
            <p:spPr>
              <a:xfrm>
                <a:off x="8581864" y="2546985"/>
                <a:ext cx="445135" cy="351790"/>
              </a:xfrm>
              <a:prstGeom prst="roundRect">
                <a:avLst>
                  <a:gd name="adj" fmla="val 16000"/>
                </a:avLst>
              </a:prstGeom>
              <a:solidFill>
                <a:srgbClr val="F7FAFF"/>
              </a:solidFill>
              <a:ln w="23813">
                <a:solidFill>
                  <a:srgbClr val="0B1638"/>
                </a:solidFill>
                <a:prstDash val="solid"/>
              </a:ln>
            </p:spPr>
            <p:txBody>
              <a:bodyPr anchor="ctr"/>
              <a:lstStyle>
                <a:defPPr>
                  <a:defRPr lang="en-US"/>
                </a:defPPr>
                <a:lvl1pPr marL="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indent="0" algn="l" defTabSz="914400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250" b="0">
                    <a:solidFill>
                      <a:srgbClr val="0B1638"/>
                    </a:solidFill>
                  </a:defRPr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ℎ</m:t>
                          </m:r>
                        </m:e>
                        <m:sub>
                          <m:r>
                            <a:rPr lang="en-US" sz="1200" b="0" i="1">
                              <a:solidFill>
                                <a:srgbClr val="0B1638"/>
                              </a:solidFill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sz="1200" b="0">
                  <a:solidFill>
                    <a:srgbClr val="0B1638"/>
                  </a:solidFill>
                  <a:latin typeface="Comic Sans MS" panose="030F0702030302020204" charset="0"/>
                </a:endParaRPr>
              </a:p>
            </p:txBody>
          </p:sp>
        </mc:Choice>
        <mc:Fallback>
          <p:sp>
            <p:nvSpPr>
              <p:cNvPr id="198" name="new-hidd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1864" y="2546985"/>
                <a:ext cx="445135" cy="351790"/>
              </a:xfrm>
              <a:prstGeom prst="roundRect">
                <a:avLst>
                  <a:gd name="adj" fmla="val 16000"/>
                </a:avLst>
              </a:prstGeom>
              <a:blipFill rotWithShape="1">
                <a:blip r:embed="rId58"/>
                <a:stretch>
                  <a:fillRect l="-2817" t="-3430" r="-2604" b="-3249"/>
                </a:stretch>
              </a:blipFill>
              <a:ln w="23813">
                <a:solidFill>
                  <a:srgbClr val="0B1638"/>
                </a:solidFill>
                <a:prstDash val="solid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4" name="连接符: 肘形 59"/>
          <p:cNvCxnSpPr>
            <a:stCxn id="95" idx="3"/>
            <a:endCxn id="102" idx="1"/>
          </p:cNvCxnSpPr>
          <p:nvPr/>
        </p:nvCxnSpPr>
        <p:spPr>
          <a:xfrm flipV="1">
            <a:off x="5463709" y="681010"/>
            <a:ext cx="457200" cy="1291590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59" name="连接符: 肘形 60"/>
          <p:cNvCxnSpPr>
            <a:stCxn id="95" idx="3"/>
            <a:endCxn id="103" idx="1"/>
          </p:cNvCxnSpPr>
          <p:nvPr/>
        </p:nvCxnSpPr>
        <p:spPr>
          <a:xfrm flipV="1">
            <a:off x="5463709" y="1430945"/>
            <a:ext cx="457200" cy="541020"/>
          </a:xfrm>
          <a:prstGeom prst="bentConnector3">
            <a:avLst>
              <a:gd name="adj1" fmla="val 50000"/>
            </a:avLst>
          </a:prstGeom>
          <a:ln w="19050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64" name="连接符: 肘形 61"/>
          <p:cNvCxnSpPr>
            <a:stCxn id="95" idx="3"/>
            <a:endCxn id="108" idx="1"/>
          </p:cNvCxnSpPr>
          <p:nvPr/>
        </p:nvCxnSpPr>
        <p:spPr>
          <a:xfrm>
            <a:off x="5463709" y="1972600"/>
            <a:ext cx="457200" cy="466725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69" name="连接符: 肘形 62"/>
          <p:cNvCxnSpPr>
            <a:stCxn id="95" idx="3"/>
          </p:cNvCxnSpPr>
          <p:nvPr/>
        </p:nvCxnSpPr>
        <p:spPr>
          <a:xfrm>
            <a:off x="5463709" y="1972600"/>
            <a:ext cx="457200" cy="1216660"/>
          </a:xfrm>
          <a:prstGeom prst="bentConnector3">
            <a:avLst>
              <a:gd name="adj1" fmla="val 50000"/>
            </a:avLst>
          </a:prstGeom>
          <a:ln w="23813">
            <a:solidFill>
              <a:srgbClr val="0B1638"/>
            </a:solidFill>
            <a:prstDash val="solid"/>
            <a:tailEnd type="arrow" w="sm" len="sm"/>
          </a:ln>
        </p:spPr>
      </p:cxnSp>
      <p:cxnSp>
        <p:nvCxnSpPr>
          <p:cNvPr id="284" name="直接箭头连接符 283"/>
          <p:cNvCxnSpPr>
            <a:stCxn id="102" idx="3"/>
            <a:endCxn id="116" idx="1"/>
          </p:cNvCxnSpPr>
          <p:nvPr/>
        </p:nvCxnSpPr>
        <p:spPr>
          <a:xfrm>
            <a:off x="6460024" y="681010"/>
            <a:ext cx="398780" cy="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triangle" w="sm" len="sm"/>
          </a:ln>
        </p:spPr>
      </p:cxnSp>
      <p:cxnSp>
        <p:nvCxnSpPr>
          <p:cNvPr id="285" name="直接箭头连接符 284"/>
          <p:cNvCxnSpPr>
            <a:stCxn id="103" idx="3"/>
            <a:endCxn id="117" idx="1"/>
          </p:cNvCxnSpPr>
          <p:nvPr/>
        </p:nvCxnSpPr>
        <p:spPr>
          <a:xfrm>
            <a:off x="6460024" y="1430945"/>
            <a:ext cx="398780" cy="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triangle" w="sm" len="sm"/>
          </a:ln>
        </p:spPr>
      </p:cxnSp>
      <p:cxnSp>
        <p:nvCxnSpPr>
          <p:cNvPr id="295" name="直接箭头连接符 294"/>
          <p:cNvCxnSpPr>
            <a:stCxn id="116" idx="3"/>
            <a:endCxn id="118" idx="1"/>
          </p:cNvCxnSpPr>
          <p:nvPr/>
        </p:nvCxnSpPr>
        <p:spPr>
          <a:xfrm>
            <a:off x="7491264" y="681010"/>
            <a:ext cx="351790" cy="16510"/>
          </a:xfrm>
          <a:prstGeom prst="straightConnector1">
            <a:avLst/>
          </a:prstGeom>
          <a:ln w="23813">
            <a:solidFill>
              <a:srgbClr val="1557A6"/>
            </a:solidFill>
            <a:prstDash val="solid"/>
            <a:tailEnd type="arrow" w="sm" len="sm"/>
          </a:ln>
        </p:spPr>
      </p:cxnSp>
      <p:cxnSp>
        <p:nvCxnSpPr>
          <p:cNvPr id="296" name="直接箭头连接符 295"/>
          <p:cNvCxnSpPr>
            <a:stCxn id="117" idx="3"/>
            <a:endCxn id="122" idx="1"/>
          </p:cNvCxnSpPr>
          <p:nvPr/>
        </p:nvCxnSpPr>
        <p:spPr>
          <a:xfrm>
            <a:off x="7491264" y="1430945"/>
            <a:ext cx="351790" cy="16510"/>
          </a:xfrm>
          <a:prstGeom prst="straightConnector1">
            <a:avLst/>
          </a:prstGeom>
          <a:ln w="19050">
            <a:solidFill>
              <a:srgbClr val="1557A6"/>
            </a:solidFill>
            <a:prstDash val="solid"/>
            <a:tailEnd type="arrow" w="sm" len="sm"/>
          </a:ln>
        </p:spPr>
      </p:cxnSp>
      <p:cxnSp>
        <p:nvCxnSpPr>
          <p:cNvPr id="297" name="连接符: 肘形 67"/>
          <p:cNvCxnSpPr>
            <a:stCxn id="108" idx="3"/>
            <a:endCxn id="125" idx="1"/>
          </p:cNvCxnSpPr>
          <p:nvPr/>
        </p:nvCxnSpPr>
        <p:spPr>
          <a:xfrm>
            <a:off x="6460024" y="2439325"/>
            <a:ext cx="726440" cy="267335"/>
          </a:xfrm>
          <a:prstGeom prst="bentConnector3">
            <a:avLst>
              <a:gd name="adj1" fmla="val 50000"/>
            </a:avLst>
          </a:prstGeom>
          <a:ln w="23813">
            <a:solidFill>
              <a:srgbClr val="E85D04"/>
            </a:solidFill>
            <a:prstDash val="solid"/>
            <a:tailEnd type="triangle" w="sm" len="sm"/>
          </a:ln>
        </p:spPr>
      </p:cxnSp>
      <p:cxnSp>
        <p:nvCxnSpPr>
          <p:cNvPr id="332" name="连接符: 肘形 68"/>
          <p:cNvCxnSpPr>
            <a:endCxn id="125" idx="1"/>
          </p:cNvCxnSpPr>
          <p:nvPr/>
        </p:nvCxnSpPr>
        <p:spPr>
          <a:xfrm flipV="1">
            <a:off x="6460024" y="2706660"/>
            <a:ext cx="726440" cy="483235"/>
          </a:xfrm>
          <a:prstGeom prst="bentConnector3">
            <a:avLst>
              <a:gd name="adj1" fmla="val 50000"/>
            </a:avLst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cxnSp>
        <p:nvCxnSpPr>
          <p:cNvPr id="333" name="直接箭头连接符 332"/>
          <p:cNvCxnSpPr/>
          <p:nvPr/>
        </p:nvCxnSpPr>
        <p:spPr>
          <a:xfrm>
            <a:off x="7444274" y="2244380"/>
            <a:ext cx="0" cy="190500"/>
          </a:xfrm>
          <a:prstGeom prst="straightConnector1">
            <a:avLst/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cxnSp>
        <p:nvCxnSpPr>
          <p:cNvPr id="334" name="直接箭头连接符 333"/>
          <p:cNvCxnSpPr>
            <a:stCxn id="125" idx="3"/>
            <a:endCxn id="196" idx="1"/>
          </p:cNvCxnSpPr>
          <p:nvPr/>
        </p:nvCxnSpPr>
        <p:spPr>
          <a:xfrm>
            <a:off x="7702084" y="2706660"/>
            <a:ext cx="351790" cy="6985"/>
          </a:xfrm>
          <a:prstGeom prst="straightConnector1">
            <a:avLst/>
          </a:prstGeom>
          <a:ln w="23813">
            <a:solidFill>
              <a:srgbClr val="E85D04"/>
            </a:solidFill>
            <a:prstDash val="solid"/>
            <a:tailEnd type="arrow" w="sm" len="sm"/>
          </a:ln>
        </p:spPr>
      </p:cxnSp>
      <p:sp>
        <p:nvSpPr>
          <p:cNvPr id="341" name="weight-1mg"/>
          <p:cNvSpPr>
            <a:spLocks noGrp="1"/>
          </p:cNvSpPr>
          <p:nvPr/>
        </p:nvSpPr>
        <p:spPr>
          <a:xfrm>
            <a:off x="8140571" y="1196657"/>
            <a:ext cx="522605" cy="2133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0">
                <a:solidFill>
                  <a:srgbClr val="0B1638"/>
                </a:solidFill>
              </a:defRPr>
            </a:pPr>
            <a:r>
              <a:rPr sz="1200" b="0" dirty="0">
                <a:solidFill>
                  <a:srgbClr val="0B1638"/>
                </a:solidFill>
                <a:latin typeface="Comic Sans MS" panose="030F0702030302020204" charset="0"/>
              </a:rPr>
              <a:t>1−g</a:t>
            </a:r>
            <a:endParaRPr sz="1200" b="0" dirty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sp>
        <p:nvSpPr>
          <p:cNvPr id="342" name="文本框 341"/>
          <p:cNvSpPr txBox="1"/>
          <p:nvPr/>
        </p:nvSpPr>
        <p:spPr>
          <a:xfrm>
            <a:off x="8424702" y="408304"/>
            <a:ext cx="339725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1650" b="0">
                <a:solidFill>
                  <a:srgbClr val="0B1638"/>
                </a:solidFill>
              </a:defRPr>
            </a:pPr>
            <a:r>
              <a:rPr lang="en-US" altLang="zh-CN" sz="1200" b="0" dirty="0">
                <a:solidFill>
                  <a:srgbClr val="0B1638"/>
                </a:solidFill>
                <a:latin typeface="Comic Sans MS" panose="030F0702030302020204" charset="0"/>
              </a:rPr>
              <a:t>g</a:t>
            </a:r>
            <a:endParaRPr lang="en-US" altLang="zh-CN" sz="1200" b="0" dirty="0">
              <a:solidFill>
                <a:srgbClr val="0B1638"/>
              </a:solidFill>
              <a:latin typeface="Comic Sans MS" panose="030F0702030302020204" charset="0"/>
            </a:endParaRPr>
          </a:p>
        </p:txBody>
      </p:sp>
      <p:grpSp>
        <p:nvGrpSpPr>
          <p:cNvPr id="345" name="组合 344"/>
          <p:cNvGrpSpPr/>
          <p:nvPr/>
        </p:nvGrpSpPr>
        <p:grpSpPr>
          <a:xfrm>
            <a:off x="15200642" y="3321685"/>
            <a:ext cx="316230" cy="347980"/>
            <a:chOff x="20438" y="5239"/>
            <a:chExt cx="498" cy="548"/>
          </a:xfrm>
        </p:grpSpPr>
        <p:sp>
          <p:nvSpPr>
            <p:cNvPr id="346" name="椭圆 345"/>
            <p:cNvSpPr/>
            <p:nvPr/>
          </p:nvSpPr>
          <p:spPr>
            <a:xfrm>
              <a:off x="20438" y="5299"/>
              <a:ext cx="488" cy="488"/>
            </a:xfrm>
            <a:prstGeom prst="ellipse">
              <a:avLst/>
            </a:prstGeom>
            <a:noFill/>
            <a:ln w="28575" cmpd="sng">
              <a:solidFill>
                <a:schemeClr val="accent1">
                  <a:shade val="50000"/>
                </a:schemeClr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7" name="文本框 346"/>
            <p:cNvSpPr txBox="1"/>
            <p:nvPr/>
          </p:nvSpPr>
          <p:spPr>
            <a:xfrm>
              <a:off x="20447" y="5239"/>
              <a:ext cx="489" cy="526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zh-CN"/>
                <a:t>C</a:t>
              </a:r>
              <a:endParaRPr lang="en-US" altLang="zh-CN"/>
            </a:p>
          </p:txBody>
        </p:sp>
      </p:grpSp>
      <p:sp>
        <p:nvSpPr>
          <p:cNvPr id="351" name="圆角矩形 350"/>
          <p:cNvSpPr/>
          <p:nvPr/>
        </p:nvSpPr>
        <p:spPr>
          <a:xfrm>
            <a:off x="11404600" y="6097905"/>
            <a:ext cx="830580" cy="499110"/>
          </a:xfrm>
          <a:prstGeom prst="roundRect">
            <a:avLst/>
          </a:prstGeom>
          <a:solidFill>
            <a:srgbClr val="348378"/>
          </a:solidFill>
          <a:ln>
            <a:solidFill>
              <a:srgbClr val="34837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AutoNCP -CfC</a:t>
            </a:r>
            <a:r>
              <a:rPr lang="en-US" altLang="zh-CN" sz="1000" baseline="-25000">
                <a:solidFill>
                  <a:schemeClr val="bg1"/>
                </a:solidFill>
                <a:latin typeface="Comic Sans MS" panose="030F0702030302020204" charset="0"/>
                <a:cs typeface="Comic Sans MS" panose="030F0702030302020204" charset="0"/>
                <a:sym typeface="+mn-ea"/>
              </a:rPr>
              <a:t>i</a:t>
            </a:r>
            <a:endParaRPr lang="en-US" altLang="zh-CN" sz="1000" baseline="-25000">
              <a:solidFill>
                <a:schemeClr val="bg1"/>
              </a:solidFill>
              <a:latin typeface="Comic Sans MS" panose="030F0702030302020204" charset="0"/>
              <a:cs typeface="Comic Sans MS" panose="030F0702030302020204" charset="0"/>
              <a:sym typeface="+mn-ea"/>
            </a:endParaRPr>
          </a:p>
        </p:txBody>
      </p:sp>
      <p:sp>
        <p:nvSpPr>
          <p:cNvPr id="352" name="文本框 351"/>
          <p:cNvSpPr txBox="1"/>
          <p:nvPr/>
        </p:nvSpPr>
        <p:spPr>
          <a:xfrm>
            <a:off x="12419330" y="6185217"/>
            <a:ext cx="3217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>
                <a:latin typeface="Comic Sans MS" panose="030F0702030302020204" charset="0"/>
              </a:rPr>
              <a:t>AutoNCP-wired CfC module</a:t>
            </a:r>
            <a:endParaRPr lang="en-US" altLang="zh-CN" dirty="0">
              <a:latin typeface="Comic Sans MS" panose="030F0702030302020204" charset="0"/>
              <a:cs typeface="Comic Sans MS" panose="030F0702030302020204" charset="0"/>
            </a:endParaRPr>
          </a:p>
        </p:txBody>
      </p:sp>
      <p:cxnSp>
        <p:nvCxnSpPr>
          <p:cNvPr id="514" name="连接符: 肘形 513"/>
          <p:cNvCxnSpPr>
            <a:stCxn id="118" idx="3"/>
            <a:endCxn id="197" idx="0"/>
          </p:cNvCxnSpPr>
          <p:nvPr/>
        </p:nvCxnSpPr>
        <p:spPr>
          <a:xfrm>
            <a:off x="8227229" y="697520"/>
            <a:ext cx="567216" cy="895985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6" name="连接符: 肘形 515"/>
          <p:cNvCxnSpPr>
            <a:stCxn id="122" idx="3"/>
            <a:endCxn id="197" idx="1"/>
          </p:cNvCxnSpPr>
          <p:nvPr/>
        </p:nvCxnSpPr>
        <p:spPr>
          <a:xfrm>
            <a:off x="8227229" y="1447455"/>
            <a:ext cx="393223" cy="218120"/>
          </a:xfrm>
          <a:prstGeom prst="bentConnector2">
            <a:avLst/>
          </a:prstGeom>
          <a:ln w="190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8" name="连接符: 肘形 517"/>
          <p:cNvCxnSpPr>
            <a:stCxn id="196" idx="0"/>
            <a:endCxn id="197" idx="2"/>
          </p:cNvCxnSpPr>
          <p:nvPr/>
        </p:nvCxnSpPr>
        <p:spPr>
          <a:xfrm rot="5400000" flipH="1" flipV="1">
            <a:off x="8024586" y="2060944"/>
            <a:ext cx="745172" cy="302420"/>
          </a:xfrm>
          <a:prstGeom prst="bentConnector2">
            <a:avLst/>
          </a:prstGeom>
          <a:ln w="19050">
            <a:solidFill>
              <a:srgbClr val="E85D0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0" name="直接箭头连接符 519"/>
          <p:cNvCxnSpPr>
            <a:stCxn id="197" idx="4"/>
            <a:endCxn id="198" idx="0"/>
          </p:cNvCxnSpPr>
          <p:nvPr/>
        </p:nvCxnSpPr>
        <p:spPr>
          <a:xfrm>
            <a:off x="8794445" y="2085630"/>
            <a:ext cx="9987" cy="461355"/>
          </a:xfrm>
          <a:prstGeom prst="straightConnector1">
            <a:avLst/>
          </a:prstGeom>
          <a:ln w="19050">
            <a:solidFill>
              <a:srgbClr val="2F485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9" name="直接箭头连接符 528"/>
          <p:cNvCxnSpPr>
            <a:stCxn id="32" idx="6"/>
            <a:endCxn id="95" idx="1"/>
          </p:cNvCxnSpPr>
          <p:nvPr/>
        </p:nvCxnSpPr>
        <p:spPr>
          <a:xfrm flipV="1">
            <a:off x="4812846" y="1972600"/>
            <a:ext cx="228588" cy="1905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9" name="组合 198"/>
          <p:cNvGrpSpPr/>
          <p:nvPr/>
        </p:nvGrpSpPr>
        <p:grpSpPr>
          <a:xfrm>
            <a:off x="8053705" y="3531235"/>
            <a:ext cx="1267200" cy="615600"/>
            <a:chOff x="3531" y="3601"/>
            <a:chExt cx="9152" cy="1772"/>
          </a:xfrm>
        </p:grpSpPr>
        <p:sp>
          <p:nvSpPr>
            <p:cNvPr id="335" name="矩形 334"/>
            <p:cNvSpPr>
              <a:spLocks noGrp="1"/>
            </p:cNvSpPr>
            <p:nvPr/>
          </p:nvSpPr>
          <p:spPr>
            <a:xfrm>
              <a:off x="3531" y="3606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38" name="矩形 337"/>
            <p:cNvSpPr>
              <a:spLocks noGrp="1"/>
            </p:cNvSpPr>
            <p:nvPr/>
          </p:nvSpPr>
          <p:spPr>
            <a:xfrm>
              <a:off x="3531" y="3860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39" name="矩形 338"/>
            <p:cNvSpPr>
              <a:spLocks noGrp="1"/>
            </p:cNvSpPr>
            <p:nvPr/>
          </p:nvSpPr>
          <p:spPr>
            <a:xfrm>
              <a:off x="3531" y="4122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0" name="矩形 339"/>
            <p:cNvSpPr>
              <a:spLocks noGrp="1"/>
            </p:cNvSpPr>
            <p:nvPr/>
          </p:nvSpPr>
          <p:spPr>
            <a:xfrm>
              <a:off x="3531" y="4386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3" name="矩形 342"/>
            <p:cNvSpPr>
              <a:spLocks noGrp="1"/>
            </p:cNvSpPr>
            <p:nvPr/>
          </p:nvSpPr>
          <p:spPr>
            <a:xfrm>
              <a:off x="5819" y="3608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4" name="矩形 343"/>
            <p:cNvSpPr>
              <a:spLocks noGrp="1"/>
            </p:cNvSpPr>
            <p:nvPr/>
          </p:nvSpPr>
          <p:spPr>
            <a:xfrm>
              <a:off x="5819" y="3862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8" name="矩形 347"/>
            <p:cNvSpPr>
              <a:spLocks noGrp="1"/>
            </p:cNvSpPr>
            <p:nvPr/>
          </p:nvSpPr>
          <p:spPr>
            <a:xfrm>
              <a:off x="5819" y="4124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49" name="矩形 348"/>
            <p:cNvSpPr>
              <a:spLocks noGrp="1"/>
            </p:cNvSpPr>
            <p:nvPr/>
          </p:nvSpPr>
          <p:spPr>
            <a:xfrm>
              <a:off x="5819" y="4388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0" name="矩形 349"/>
            <p:cNvSpPr>
              <a:spLocks noGrp="1"/>
            </p:cNvSpPr>
            <p:nvPr/>
          </p:nvSpPr>
          <p:spPr>
            <a:xfrm>
              <a:off x="8107" y="3608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3" name="矩形 352"/>
            <p:cNvSpPr>
              <a:spLocks noGrp="1"/>
            </p:cNvSpPr>
            <p:nvPr/>
          </p:nvSpPr>
          <p:spPr>
            <a:xfrm>
              <a:off x="8107" y="3862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4" name="矩形 353"/>
            <p:cNvSpPr>
              <a:spLocks noGrp="1"/>
            </p:cNvSpPr>
            <p:nvPr/>
          </p:nvSpPr>
          <p:spPr>
            <a:xfrm>
              <a:off x="8107" y="4124"/>
              <a:ext cx="2288" cy="969"/>
            </a:xfrm>
            <a:prstGeom prst="rect">
              <a:avLst/>
            </a:prstGeom>
            <a:noFill/>
            <a:ln w="38100">
              <a:solidFill>
                <a:srgbClr val="34D399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5" name="矩形 354"/>
            <p:cNvSpPr>
              <a:spLocks noGrp="1"/>
            </p:cNvSpPr>
            <p:nvPr/>
          </p:nvSpPr>
          <p:spPr>
            <a:xfrm>
              <a:off x="8107" y="4388"/>
              <a:ext cx="2288" cy="969"/>
            </a:xfrm>
            <a:prstGeom prst="rect">
              <a:avLst/>
            </a:prstGeom>
            <a:noFill/>
            <a:ln w="38100">
              <a:solidFill>
                <a:srgbClr val="4EA72E"/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6" name="矩形 355"/>
            <p:cNvSpPr>
              <a:spLocks noGrp="1"/>
            </p:cNvSpPr>
            <p:nvPr/>
          </p:nvSpPr>
          <p:spPr>
            <a:xfrm>
              <a:off x="10395" y="3601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7" name="矩形 356"/>
            <p:cNvSpPr>
              <a:spLocks noGrp="1"/>
            </p:cNvSpPr>
            <p:nvPr/>
          </p:nvSpPr>
          <p:spPr>
            <a:xfrm>
              <a:off x="10395" y="3855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8" name="矩形 357"/>
            <p:cNvSpPr>
              <a:spLocks noGrp="1"/>
            </p:cNvSpPr>
            <p:nvPr/>
          </p:nvSpPr>
          <p:spPr>
            <a:xfrm>
              <a:off x="10395" y="4117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60000"/>
                  <a:lumOff val="4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59" name="矩形 358"/>
            <p:cNvSpPr>
              <a:spLocks noGrp="1"/>
            </p:cNvSpPr>
            <p:nvPr/>
          </p:nvSpPr>
          <p:spPr>
            <a:xfrm>
              <a:off x="10395" y="4381"/>
              <a:ext cx="2288" cy="969"/>
            </a:xfrm>
            <a:prstGeom prst="rect">
              <a:avLst/>
            </a:prstGeom>
            <a:noFill/>
            <a:ln w="38100">
              <a:solidFill>
                <a:srgbClr val="0F9ED5">
                  <a:lumMod val="50000"/>
                </a:srgbClr>
              </a:solidFill>
              <a:prstDash val="solid"/>
            </a:ln>
          </p:spPr>
          <p:txBody>
            <a:bodyPr anchor="ctr"/>
            <a:lstStyle/>
            <a:p>
              <a:pPr algn="ctr">
                <a:buNone/>
              </a:pPr>
            </a:p>
          </p:txBody>
        </p:sp>
        <p:sp>
          <p:nvSpPr>
            <p:cNvPr id="360" name="右边线遮盖 1"/>
            <p:cNvSpPr>
              <a:spLocks noGrp="1"/>
            </p:cNvSpPr>
            <p:nvPr/>
          </p:nvSpPr>
          <p:spPr>
            <a:xfrm>
              <a:off x="5819" y="3623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1" name="右边线遮盖 2"/>
            <p:cNvSpPr>
              <a:spLocks noGrp="1"/>
            </p:cNvSpPr>
            <p:nvPr/>
          </p:nvSpPr>
          <p:spPr>
            <a:xfrm>
              <a:off x="5819" y="3878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2" name="右边线遮盖 3"/>
            <p:cNvSpPr>
              <a:spLocks noGrp="1"/>
            </p:cNvSpPr>
            <p:nvPr/>
          </p:nvSpPr>
          <p:spPr>
            <a:xfrm>
              <a:off x="5819" y="4139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3" name="右边线遮盖 4"/>
            <p:cNvSpPr>
              <a:spLocks noGrp="1"/>
            </p:cNvSpPr>
            <p:nvPr/>
          </p:nvSpPr>
          <p:spPr>
            <a:xfrm>
              <a:off x="5819" y="4403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4" name="右边线遮盖 5"/>
            <p:cNvSpPr>
              <a:spLocks noGrp="1"/>
            </p:cNvSpPr>
            <p:nvPr/>
          </p:nvSpPr>
          <p:spPr>
            <a:xfrm>
              <a:off x="8107" y="362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5" name="右边线遮盖 6"/>
            <p:cNvSpPr>
              <a:spLocks noGrp="1"/>
            </p:cNvSpPr>
            <p:nvPr/>
          </p:nvSpPr>
          <p:spPr>
            <a:xfrm>
              <a:off x="8107" y="3879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6" name="右边线遮盖 7"/>
            <p:cNvSpPr>
              <a:spLocks noGrp="1"/>
            </p:cNvSpPr>
            <p:nvPr/>
          </p:nvSpPr>
          <p:spPr>
            <a:xfrm>
              <a:off x="8107" y="4141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7" name="右边线遮盖 8"/>
            <p:cNvSpPr>
              <a:spLocks noGrp="1"/>
            </p:cNvSpPr>
            <p:nvPr/>
          </p:nvSpPr>
          <p:spPr>
            <a:xfrm>
              <a:off x="8107" y="440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8" name="右边线遮盖 9"/>
            <p:cNvSpPr>
              <a:spLocks noGrp="1"/>
            </p:cNvSpPr>
            <p:nvPr/>
          </p:nvSpPr>
          <p:spPr>
            <a:xfrm>
              <a:off x="10395" y="362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69" name="右边线遮盖 10"/>
            <p:cNvSpPr>
              <a:spLocks noGrp="1"/>
            </p:cNvSpPr>
            <p:nvPr/>
          </p:nvSpPr>
          <p:spPr>
            <a:xfrm>
              <a:off x="10395" y="3879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70" name="右边线遮盖 11"/>
            <p:cNvSpPr>
              <a:spLocks noGrp="1"/>
            </p:cNvSpPr>
            <p:nvPr/>
          </p:nvSpPr>
          <p:spPr>
            <a:xfrm>
              <a:off x="10395" y="4141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71" name="右边线遮盖 12"/>
            <p:cNvSpPr>
              <a:spLocks noGrp="1"/>
            </p:cNvSpPr>
            <p:nvPr/>
          </p:nvSpPr>
          <p:spPr>
            <a:xfrm>
              <a:off x="10395" y="4405"/>
              <a:ext cx="0" cy="969"/>
            </a:xfrm>
            <a:prstGeom prst="line">
              <a:avLst/>
            </a:prstGeom>
            <a:noFill/>
            <a:ln w="38100">
              <a:solidFill>
                <a:srgbClr val="FFFFFF"/>
              </a:solidFill>
              <a:prstDash val="solid"/>
            </a:ln>
          </p:spPr>
        </p:sp>
        <p:sp>
          <p:nvSpPr>
            <p:cNvPr id="372" name="虚线右边线 1"/>
            <p:cNvSpPr>
              <a:spLocks noGrp="1"/>
            </p:cNvSpPr>
            <p:nvPr/>
          </p:nvSpPr>
          <p:spPr>
            <a:xfrm>
              <a:off x="5819" y="3623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</p:sp>
        <p:sp>
          <p:nvSpPr>
            <p:cNvPr id="390" name="虚线右边线 2"/>
            <p:cNvSpPr>
              <a:spLocks noGrp="1"/>
            </p:cNvSpPr>
            <p:nvPr/>
          </p:nvSpPr>
          <p:spPr>
            <a:xfrm>
              <a:off x="5819" y="3878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</p:sp>
        <p:sp>
          <p:nvSpPr>
            <p:cNvPr id="392" name="虚线右边线 3"/>
            <p:cNvSpPr>
              <a:spLocks noGrp="1"/>
            </p:cNvSpPr>
            <p:nvPr/>
          </p:nvSpPr>
          <p:spPr>
            <a:xfrm>
              <a:off x="5819" y="4139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</p:sp>
        <p:sp>
          <p:nvSpPr>
            <p:cNvPr id="411" name="虚线右边线 4"/>
            <p:cNvSpPr>
              <a:spLocks noGrp="1"/>
            </p:cNvSpPr>
            <p:nvPr/>
          </p:nvSpPr>
          <p:spPr>
            <a:xfrm>
              <a:off x="5819" y="4403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</p:sp>
        <p:sp>
          <p:nvSpPr>
            <p:cNvPr id="418" name="虚线右边线 5"/>
            <p:cNvSpPr>
              <a:spLocks noGrp="1"/>
            </p:cNvSpPr>
            <p:nvPr/>
          </p:nvSpPr>
          <p:spPr>
            <a:xfrm>
              <a:off x="8107" y="3625"/>
              <a:ext cx="0" cy="969"/>
            </a:xfrm>
            <a:prstGeom prst="line">
              <a:avLst/>
            </a:prstGeom>
            <a:noFill/>
            <a:ln w="38100">
              <a:solidFill>
                <a:srgbClr val="61CBF4"/>
              </a:solidFill>
              <a:prstDash val="dash"/>
            </a:ln>
          </p:spPr>
        </p:sp>
        <p:sp>
          <p:nvSpPr>
            <p:cNvPr id="420" name="虚线右边线 6"/>
            <p:cNvSpPr>
              <a:spLocks noGrp="1"/>
            </p:cNvSpPr>
            <p:nvPr/>
          </p:nvSpPr>
          <p:spPr>
            <a:xfrm>
              <a:off x="8107" y="3879"/>
              <a:ext cx="0" cy="969"/>
            </a:xfrm>
            <a:prstGeom prst="line">
              <a:avLst/>
            </a:prstGeom>
            <a:noFill/>
            <a:ln w="38100">
              <a:solidFill>
                <a:srgbClr val="084F6A"/>
              </a:solidFill>
              <a:prstDash val="dash"/>
            </a:ln>
          </p:spPr>
        </p:sp>
        <p:sp>
          <p:nvSpPr>
            <p:cNvPr id="428" name="虚线右边线 7"/>
            <p:cNvSpPr>
              <a:spLocks noGrp="1"/>
            </p:cNvSpPr>
            <p:nvPr/>
          </p:nvSpPr>
          <p:spPr>
            <a:xfrm>
              <a:off x="8107" y="4141"/>
              <a:ext cx="0" cy="969"/>
            </a:xfrm>
            <a:prstGeom prst="line">
              <a:avLst/>
            </a:prstGeom>
            <a:noFill/>
            <a:ln w="38100">
              <a:solidFill>
                <a:srgbClr val="61CBF4"/>
              </a:solidFill>
              <a:prstDash val="dash"/>
            </a:ln>
          </p:spPr>
        </p:sp>
        <p:sp>
          <p:nvSpPr>
            <p:cNvPr id="438" name="虚线右边线 8"/>
            <p:cNvSpPr>
              <a:spLocks noGrp="1"/>
            </p:cNvSpPr>
            <p:nvPr/>
          </p:nvSpPr>
          <p:spPr>
            <a:xfrm>
              <a:off x="8107" y="4405"/>
              <a:ext cx="0" cy="969"/>
            </a:xfrm>
            <a:prstGeom prst="line">
              <a:avLst/>
            </a:prstGeom>
            <a:noFill/>
            <a:ln w="38100">
              <a:solidFill>
                <a:srgbClr val="084F6A"/>
              </a:solidFill>
              <a:prstDash val="dash"/>
            </a:ln>
          </p:spPr>
        </p:sp>
        <p:sp>
          <p:nvSpPr>
            <p:cNvPr id="441" name="虚线右边线 9"/>
            <p:cNvSpPr>
              <a:spLocks noGrp="1"/>
            </p:cNvSpPr>
            <p:nvPr/>
          </p:nvSpPr>
          <p:spPr>
            <a:xfrm>
              <a:off x="10395" y="3625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</p:sp>
        <p:sp>
          <p:nvSpPr>
            <p:cNvPr id="442" name="虚线右边线 10"/>
            <p:cNvSpPr>
              <a:spLocks noGrp="1"/>
            </p:cNvSpPr>
            <p:nvPr/>
          </p:nvSpPr>
          <p:spPr>
            <a:xfrm>
              <a:off x="10395" y="3879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</p:sp>
        <p:sp>
          <p:nvSpPr>
            <p:cNvPr id="443" name="虚线右边线 11"/>
            <p:cNvSpPr>
              <a:spLocks noGrp="1"/>
            </p:cNvSpPr>
            <p:nvPr/>
          </p:nvSpPr>
          <p:spPr>
            <a:xfrm>
              <a:off x="10395" y="4141"/>
              <a:ext cx="0" cy="969"/>
            </a:xfrm>
            <a:prstGeom prst="line">
              <a:avLst/>
            </a:prstGeom>
            <a:noFill/>
            <a:ln w="38100">
              <a:solidFill>
                <a:srgbClr val="34D399"/>
              </a:solidFill>
              <a:prstDash val="dash"/>
            </a:ln>
          </p:spPr>
        </p:sp>
        <p:sp>
          <p:nvSpPr>
            <p:cNvPr id="444" name="虚线右边线 12"/>
            <p:cNvSpPr>
              <a:spLocks noGrp="1"/>
            </p:cNvSpPr>
            <p:nvPr/>
          </p:nvSpPr>
          <p:spPr>
            <a:xfrm>
              <a:off x="10395" y="4405"/>
              <a:ext cx="0" cy="969"/>
            </a:xfrm>
            <a:prstGeom prst="line">
              <a:avLst/>
            </a:prstGeom>
            <a:noFill/>
            <a:ln w="38100">
              <a:solidFill>
                <a:srgbClr val="4EA72E"/>
              </a:solidFill>
              <a:prstDash val="dash"/>
            </a:ln>
          </p:spPr>
        </p:sp>
      </p:grpSp>
      <p:cxnSp>
        <p:nvCxnSpPr>
          <p:cNvPr id="292" name="直接连接符 291"/>
          <p:cNvCxnSpPr/>
          <p:nvPr/>
        </p:nvCxnSpPr>
        <p:spPr>
          <a:xfrm>
            <a:off x="4664075" y="1345565"/>
            <a:ext cx="0" cy="46545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45" name="直接连接符 444"/>
          <p:cNvCxnSpPr>
            <a:stCxn id="85" idx="0"/>
            <a:endCxn id="35" idx="2"/>
          </p:cNvCxnSpPr>
          <p:nvPr/>
        </p:nvCxnSpPr>
        <p:spPr>
          <a:xfrm flipH="1" flipV="1">
            <a:off x="4664075" y="2115185"/>
            <a:ext cx="0" cy="4222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1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2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5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6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7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8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39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0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1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2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3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4.xml><?xml version="1.0" encoding="utf-8"?>
<p:tagLst xmlns:p="http://schemas.openxmlformats.org/presentationml/2006/main">
  <p:tag name="KSO_WM_DIAGRAM_VIRTUALLY_FRAME" val="{&quot;height&quot;:186.9,&quot;left&quot;:34.7,&quot;top&quot;:65.9,&quot;width&quot;:122.15}"/>
</p:tagLst>
</file>

<file path=ppt/tags/tag45.xml><?xml version="1.0" encoding="utf-8"?>
<p:tagLst xmlns:p="http://schemas.openxmlformats.org/presentationml/2006/main">
  <p:tag name="commondata" val="eyJoZGlkIjoiMWM1Nzc1YzNmZmM0NTVmNmUyZTAzYWNkYjJlMTA1MjA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chemeClr val="accent6"/>
          </a:solidFill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lumMod val="75000"/>
          </a:schemeClr>
        </a:lnRef>
        <a:fillRef idx="1">
          <a:schemeClr val="accent1"/>
        </a:fillRef>
        <a:effectRef idx="0">
          <a:srgbClr val="FFFFFF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679</Words>
  <Application>WPS 演示</Application>
  <PresentationFormat>自定义</PresentationFormat>
  <Paragraphs>198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4" baseType="lpstr">
      <vt:lpstr>Arial</vt:lpstr>
      <vt:lpstr>宋体</vt:lpstr>
      <vt:lpstr>Wingdings</vt:lpstr>
      <vt:lpstr>Comic Sans MS</vt:lpstr>
      <vt:lpstr>微软雅黑</vt:lpstr>
      <vt:lpstr>Cambria Math</vt:lpstr>
      <vt:lpstr>Calibri</vt:lpstr>
      <vt:lpstr>Arial</vt:lpstr>
      <vt:lpstr>Aptos</vt:lpstr>
      <vt:lpstr>Segoe Print</vt:lpstr>
      <vt:lpstr>Arial Unicode MS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岳洋</cp:lastModifiedBy>
  <cp:revision>88</cp:revision>
  <dcterms:created xsi:type="dcterms:W3CDTF">2026-07-07T08:50:00Z</dcterms:created>
  <dcterms:modified xsi:type="dcterms:W3CDTF">2026-07-18T14:27:11Z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6D85528917F8462888B9389EDFFB2360_13</vt:lpwstr>
  </property>
  <property fmtid="{D5CDD505-2E9C-101B-9397-08002B2CF9AE}" pid="3" name="KSOProductBuildVer">
    <vt:lpwstr>2052-12.1.0.16388</vt:lpwstr>
  </property>
</Properties>
</file>