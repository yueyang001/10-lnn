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799971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F77"/>
    <a:srgbClr val="008C86"/>
    <a:srgbClr val="20A896"/>
    <a:srgbClr val="65C5A8"/>
    <a:srgbClr val="365E86"/>
    <a:srgbClr val="626B9D"/>
    <a:srgbClr val="8E76AC"/>
    <a:srgbClr val="BB81B5"/>
    <a:srgbClr val="A1356B"/>
    <a:srgbClr val="9F5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-19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1" Type="http://schemas.openxmlformats.org/officeDocument/2006/relationships/notesSlide" Target="../notesSlides/notesSlide1.xml"/><Relationship Id="rId50" Type="http://schemas.openxmlformats.org/officeDocument/2006/relationships/slideLayout" Target="../slideLayouts/slideLayout1.xml"/><Relationship Id="rId5" Type="http://schemas.openxmlformats.org/officeDocument/2006/relationships/tags" Target="../tags/tag4.xml"/><Relationship Id="rId49" Type="http://schemas.openxmlformats.org/officeDocument/2006/relationships/tags" Target="../tags/tag44.xml"/><Relationship Id="rId48" Type="http://schemas.openxmlformats.org/officeDocument/2006/relationships/tags" Target="../tags/tag43.xml"/><Relationship Id="rId47" Type="http://schemas.openxmlformats.org/officeDocument/2006/relationships/image" Target="../media/image5.png"/><Relationship Id="rId46" Type="http://schemas.openxmlformats.org/officeDocument/2006/relationships/image" Target="../media/image4.png"/><Relationship Id="rId45" Type="http://schemas.openxmlformats.org/officeDocument/2006/relationships/image" Target="../media/image3.png"/><Relationship Id="rId44" Type="http://schemas.openxmlformats.org/officeDocument/2006/relationships/image" Target="../media/image2.png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组合 212"/>
          <p:cNvGrpSpPr/>
          <p:nvPr/>
        </p:nvGrpSpPr>
        <p:grpSpPr>
          <a:xfrm>
            <a:off x="6001530" y="5534660"/>
            <a:ext cx="1200150" cy="1061720"/>
            <a:chOff x="1055" y="2261"/>
            <a:chExt cx="1890" cy="1672"/>
          </a:xfrm>
        </p:grpSpPr>
        <p:sp>
          <p:nvSpPr>
            <p:cNvPr id="214" name="圆角矩形 213"/>
            <p:cNvSpPr>
              <a:spLocks noGrp="1"/>
            </p:cNvSpPr>
            <p:nvPr/>
          </p:nvSpPr>
          <p:spPr>
            <a:xfrm>
              <a:off x="1055" y="2261"/>
              <a:ext cx="1890" cy="1561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3B2A"/>
                  </a:solidFill>
                </a:defRPr>
              </a:pPr>
              <a:r>
                <a:rPr sz="135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Raw</a:t>
              </a:r>
              <a:r>
                <a:rPr lang="en-US" sz="135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 Waveform</a:t>
              </a:r>
              <a:endParaRPr sz="135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  <a:p>
              <a:pPr algn="ctr">
                <a:defRPr sz="1350" b="1">
                  <a:solidFill>
                    <a:srgbClr val="113B2A"/>
                  </a:solidFill>
                </a:defRPr>
              </a:pPr>
              <a:endParaRPr sz="135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pic>
          <p:nvPicPr>
            <p:cNvPr id="215" name="图片 2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9" y="2929"/>
              <a:ext cx="1463" cy="1005"/>
            </a:xfrm>
            <a:prstGeom prst="rect">
              <a:avLst/>
            </a:prstGeom>
          </p:spPr>
        </p:pic>
      </p:grpSp>
      <p:sp>
        <p:nvSpPr>
          <p:cNvPr id="273" name="圆角矩形 272"/>
          <p:cNvSpPr/>
          <p:nvPr/>
        </p:nvSpPr>
        <p:spPr>
          <a:xfrm>
            <a:off x="7446645" y="476885"/>
            <a:ext cx="5149215" cy="5888355"/>
          </a:xfrm>
          <a:custGeom>
            <a:avLst/>
            <a:gdLst>
              <a:gd name="csX0" fmla="*/ 0 w 3831590"/>
              <a:gd name="csY0" fmla="*/ 638611 h 5888355"/>
              <a:gd name="csX1" fmla="*/ 638611 w 3831590"/>
              <a:gd name="csY1" fmla="*/ 0 h 5888355"/>
              <a:gd name="csX2" fmla="*/ 1328290 w 3831590"/>
              <a:gd name="csY2" fmla="*/ 0 h 5888355"/>
              <a:gd name="csX3" fmla="*/ 1941339 w 3831590"/>
              <a:gd name="csY3" fmla="*/ 0 h 5888355"/>
              <a:gd name="csX4" fmla="*/ 2528843 w 3831590"/>
              <a:gd name="csY4" fmla="*/ 0 h 5888355"/>
              <a:gd name="csX5" fmla="*/ 3192979 w 3831590"/>
              <a:gd name="csY5" fmla="*/ 0 h 5888355"/>
              <a:gd name="csX6" fmla="*/ 3831590 w 3831590"/>
              <a:gd name="csY6" fmla="*/ 638611 h 5888355"/>
              <a:gd name="csX7" fmla="*/ 3831590 w 3831590"/>
              <a:gd name="csY7" fmla="*/ 1297344 h 5888355"/>
              <a:gd name="csX8" fmla="*/ 3831590 w 3831590"/>
              <a:gd name="csY8" fmla="*/ 2048300 h 5888355"/>
              <a:gd name="csX9" fmla="*/ 3831590 w 3831590"/>
              <a:gd name="csY9" fmla="*/ 2568700 h 5888355"/>
              <a:gd name="csX10" fmla="*/ 3831590 w 3831590"/>
              <a:gd name="csY10" fmla="*/ 3227433 h 5888355"/>
              <a:gd name="csX11" fmla="*/ 3831590 w 3831590"/>
              <a:gd name="csY11" fmla="*/ 3886166 h 5888355"/>
              <a:gd name="csX12" fmla="*/ 3831590 w 3831590"/>
              <a:gd name="csY12" fmla="*/ 4498788 h 5888355"/>
              <a:gd name="csX13" fmla="*/ 3831590 w 3831590"/>
              <a:gd name="csY13" fmla="*/ 5249744 h 5888355"/>
              <a:gd name="csX14" fmla="*/ 3192979 w 3831590"/>
              <a:gd name="csY14" fmla="*/ 5888355 h 5888355"/>
              <a:gd name="csX15" fmla="*/ 2554387 w 3831590"/>
              <a:gd name="csY15" fmla="*/ 5888355 h 5888355"/>
              <a:gd name="csX16" fmla="*/ 1864708 w 3831590"/>
              <a:gd name="csY16" fmla="*/ 5888355 h 5888355"/>
              <a:gd name="csX17" fmla="*/ 1226116 w 3831590"/>
              <a:gd name="csY17" fmla="*/ 5888355 h 5888355"/>
              <a:gd name="csX18" fmla="*/ 638611 w 3831590"/>
              <a:gd name="csY18" fmla="*/ 5888355 h 5888355"/>
              <a:gd name="csX19" fmla="*/ 0 w 3831590"/>
              <a:gd name="csY19" fmla="*/ 5249744 h 5888355"/>
              <a:gd name="csX20" fmla="*/ 0 w 3831590"/>
              <a:gd name="csY20" fmla="*/ 4544899 h 5888355"/>
              <a:gd name="csX21" fmla="*/ 0 w 3831590"/>
              <a:gd name="csY21" fmla="*/ 3978389 h 5888355"/>
              <a:gd name="csX22" fmla="*/ 0 w 3831590"/>
              <a:gd name="csY22" fmla="*/ 3319655 h 5888355"/>
              <a:gd name="csX23" fmla="*/ 0 w 3831590"/>
              <a:gd name="csY23" fmla="*/ 2799256 h 5888355"/>
              <a:gd name="csX24" fmla="*/ 0 w 3831590"/>
              <a:gd name="csY24" fmla="*/ 2278857 h 5888355"/>
              <a:gd name="csX25" fmla="*/ 0 w 3831590"/>
              <a:gd name="csY25" fmla="*/ 1620124 h 5888355"/>
              <a:gd name="csX26" fmla="*/ 0 w 3831590"/>
              <a:gd name="csY26" fmla="*/ 638611 h 5888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831590" h="5888355" extrusionOk="0">
                <a:moveTo>
                  <a:pt x="0" y="638611"/>
                </a:moveTo>
                <a:cubicBezTo>
                  <a:pt x="-51663" y="254049"/>
                  <a:pt x="218565" y="25278"/>
                  <a:pt x="638611" y="0"/>
                </a:cubicBezTo>
                <a:cubicBezTo>
                  <a:pt x="868773" y="28820"/>
                  <a:pt x="1071988" y="-26586"/>
                  <a:pt x="1328290" y="0"/>
                </a:cubicBezTo>
                <a:cubicBezTo>
                  <a:pt x="1584592" y="26586"/>
                  <a:pt x="1695329" y="1530"/>
                  <a:pt x="1941339" y="0"/>
                </a:cubicBezTo>
                <a:cubicBezTo>
                  <a:pt x="2187349" y="-1530"/>
                  <a:pt x="2349772" y="-12815"/>
                  <a:pt x="2528843" y="0"/>
                </a:cubicBezTo>
                <a:cubicBezTo>
                  <a:pt x="2707914" y="12815"/>
                  <a:pt x="2962722" y="32311"/>
                  <a:pt x="3192979" y="0"/>
                </a:cubicBezTo>
                <a:cubicBezTo>
                  <a:pt x="3556809" y="-22915"/>
                  <a:pt x="3793987" y="280158"/>
                  <a:pt x="3831590" y="638611"/>
                </a:cubicBezTo>
                <a:cubicBezTo>
                  <a:pt x="3819437" y="951065"/>
                  <a:pt x="3851680" y="1093479"/>
                  <a:pt x="3831590" y="1297344"/>
                </a:cubicBezTo>
                <a:cubicBezTo>
                  <a:pt x="3811500" y="1501209"/>
                  <a:pt x="3800198" y="1789414"/>
                  <a:pt x="3831590" y="2048300"/>
                </a:cubicBezTo>
                <a:cubicBezTo>
                  <a:pt x="3862982" y="2307186"/>
                  <a:pt x="3826503" y="2333970"/>
                  <a:pt x="3831590" y="2568700"/>
                </a:cubicBezTo>
                <a:cubicBezTo>
                  <a:pt x="3836677" y="2803430"/>
                  <a:pt x="3841198" y="2994282"/>
                  <a:pt x="3831590" y="3227433"/>
                </a:cubicBezTo>
                <a:cubicBezTo>
                  <a:pt x="3821982" y="3460584"/>
                  <a:pt x="3817901" y="3622947"/>
                  <a:pt x="3831590" y="3886166"/>
                </a:cubicBezTo>
                <a:cubicBezTo>
                  <a:pt x="3845279" y="4149385"/>
                  <a:pt x="3842561" y="4333306"/>
                  <a:pt x="3831590" y="4498788"/>
                </a:cubicBezTo>
                <a:cubicBezTo>
                  <a:pt x="3820619" y="4664270"/>
                  <a:pt x="3847484" y="4992123"/>
                  <a:pt x="3831590" y="5249744"/>
                </a:cubicBezTo>
                <a:cubicBezTo>
                  <a:pt x="3877396" y="5545575"/>
                  <a:pt x="3484935" y="5864875"/>
                  <a:pt x="3192979" y="5888355"/>
                </a:cubicBezTo>
                <a:cubicBezTo>
                  <a:pt x="2874649" y="5867594"/>
                  <a:pt x="2812068" y="5893526"/>
                  <a:pt x="2554387" y="5888355"/>
                </a:cubicBezTo>
                <a:cubicBezTo>
                  <a:pt x="2296706" y="5883184"/>
                  <a:pt x="2144120" y="5875141"/>
                  <a:pt x="1864708" y="5888355"/>
                </a:cubicBezTo>
                <a:cubicBezTo>
                  <a:pt x="1585296" y="5901569"/>
                  <a:pt x="1448723" y="5877739"/>
                  <a:pt x="1226116" y="5888355"/>
                </a:cubicBezTo>
                <a:cubicBezTo>
                  <a:pt x="1003509" y="5898971"/>
                  <a:pt x="778918" y="5860713"/>
                  <a:pt x="638611" y="5888355"/>
                </a:cubicBezTo>
                <a:cubicBezTo>
                  <a:pt x="242491" y="5890143"/>
                  <a:pt x="32342" y="5544137"/>
                  <a:pt x="0" y="5249744"/>
                </a:cubicBezTo>
                <a:cubicBezTo>
                  <a:pt x="-20236" y="4992887"/>
                  <a:pt x="23680" y="4878763"/>
                  <a:pt x="0" y="4544899"/>
                </a:cubicBezTo>
                <a:cubicBezTo>
                  <a:pt x="-23680" y="4211036"/>
                  <a:pt x="4433" y="4164259"/>
                  <a:pt x="0" y="3978389"/>
                </a:cubicBezTo>
                <a:cubicBezTo>
                  <a:pt x="-4433" y="3792519"/>
                  <a:pt x="31472" y="3538848"/>
                  <a:pt x="0" y="3319655"/>
                </a:cubicBezTo>
                <a:cubicBezTo>
                  <a:pt x="-31472" y="3100462"/>
                  <a:pt x="-7217" y="2930079"/>
                  <a:pt x="0" y="2799256"/>
                </a:cubicBezTo>
                <a:cubicBezTo>
                  <a:pt x="7217" y="2668433"/>
                  <a:pt x="1059" y="2535592"/>
                  <a:pt x="0" y="2278857"/>
                </a:cubicBezTo>
                <a:cubicBezTo>
                  <a:pt x="-1059" y="2022122"/>
                  <a:pt x="-23122" y="1827857"/>
                  <a:pt x="0" y="1620124"/>
                </a:cubicBezTo>
                <a:cubicBezTo>
                  <a:pt x="23122" y="1412391"/>
                  <a:pt x="-35486" y="1121813"/>
                  <a:pt x="0" y="638611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2" name="矩形 291"/>
          <p:cNvSpPr/>
          <p:nvPr/>
        </p:nvSpPr>
        <p:spPr>
          <a:xfrm>
            <a:off x="5890405" y="3658235"/>
            <a:ext cx="1268095" cy="61404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3" name="直接箭头连接符 292"/>
          <p:cNvCxnSpPr/>
          <p:nvPr/>
        </p:nvCxnSpPr>
        <p:spPr>
          <a:xfrm flipH="1">
            <a:off x="5713875" y="3507996"/>
            <a:ext cx="3175" cy="556260"/>
          </a:xfrm>
          <a:prstGeom prst="straightConnector1">
            <a:avLst/>
          </a:prstGeom>
          <a:ln>
            <a:solidFill>
              <a:srgbClr val="18B7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4" name="文本框 293"/>
          <p:cNvSpPr txBox="1"/>
          <p:nvPr>
            <p:custDataLst>
              <p:tags r:id="rId2"/>
            </p:custDataLst>
          </p:nvPr>
        </p:nvSpPr>
        <p:spPr>
          <a:xfrm>
            <a:off x="5428760" y="4050030"/>
            <a:ext cx="461645" cy="2222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solidFill>
                  <a:srgbClr val="18B76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time</a:t>
            </a:r>
            <a:endParaRPr lang="en-US" altLang="zh-CN" sz="1000" b="1">
              <a:solidFill>
                <a:srgbClr val="18B760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99" name="圆角矩形 298"/>
          <p:cNvSpPr/>
          <p:nvPr/>
        </p:nvSpPr>
        <p:spPr>
          <a:xfrm>
            <a:off x="13946015" y="384175"/>
            <a:ext cx="3060883" cy="4175125"/>
          </a:xfrm>
          <a:custGeom>
            <a:avLst/>
            <a:gdLst>
              <a:gd name="csX0" fmla="*/ 0 w 3060883"/>
              <a:gd name="csY0" fmla="*/ 510157 h 4175125"/>
              <a:gd name="csX1" fmla="*/ 510157 w 3060883"/>
              <a:gd name="csY1" fmla="*/ 0 h 4175125"/>
              <a:gd name="csX2" fmla="*/ 1231158 w 3060883"/>
              <a:gd name="csY2" fmla="*/ 0 h 4175125"/>
              <a:gd name="csX3" fmla="*/ 1890942 w 3060883"/>
              <a:gd name="csY3" fmla="*/ 0 h 4175125"/>
              <a:gd name="csX4" fmla="*/ 2550726 w 3060883"/>
              <a:gd name="csY4" fmla="*/ 0 h 4175125"/>
              <a:gd name="csX5" fmla="*/ 3060883 w 3060883"/>
              <a:gd name="csY5" fmla="*/ 510157 h 4175125"/>
              <a:gd name="csX6" fmla="*/ 3060883 w 3060883"/>
              <a:gd name="csY6" fmla="*/ 1078023 h 4175125"/>
              <a:gd name="csX7" fmla="*/ 3060883 w 3060883"/>
              <a:gd name="csY7" fmla="*/ 1645889 h 4175125"/>
              <a:gd name="csX8" fmla="*/ 3060883 w 3060883"/>
              <a:gd name="csY8" fmla="*/ 2339947 h 4175125"/>
              <a:gd name="csX9" fmla="*/ 3060883 w 3060883"/>
              <a:gd name="csY9" fmla="*/ 2876265 h 4175125"/>
              <a:gd name="csX10" fmla="*/ 3060883 w 3060883"/>
              <a:gd name="csY10" fmla="*/ 3664968 h 4175125"/>
              <a:gd name="csX11" fmla="*/ 2550726 w 3060883"/>
              <a:gd name="csY11" fmla="*/ 4175125 h 4175125"/>
              <a:gd name="csX12" fmla="*/ 1931753 w 3060883"/>
              <a:gd name="csY12" fmla="*/ 4175125 h 4175125"/>
              <a:gd name="csX13" fmla="*/ 1210752 w 3060883"/>
              <a:gd name="csY13" fmla="*/ 4175125 h 4175125"/>
              <a:gd name="csX14" fmla="*/ 510157 w 3060883"/>
              <a:gd name="csY14" fmla="*/ 4175125 h 4175125"/>
              <a:gd name="csX15" fmla="*/ 0 w 3060883"/>
              <a:gd name="csY15" fmla="*/ 3664968 h 4175125"/>
              <a:gd name="csX16" fmla="*/ 0 w 3060883"/>
              <a:gd name="csY16" fmla="*/ 3002458 h 4175125"/>
              <a:gd name="csX17" fmla="*/ 0 w 3060883"/>
              <a:gd name="csY17" fmla="*/ 2466140 h 4175125"/>
              <a:gd name="csX18" fmla="*/ 0 w 3060883"/>
              <a:gd name="csY18" fmla="*/ 1898274 h 4175125"/>
              <a:gd name="csX19" fmla="*/ 0 w 3060883"/>
              <a:gd name="csY19" fmla="*/ 1204215 h 4175125"/>
              <a:gd name="csX20" fmla="*/ 0 w 3060883"/>
              <a:gd name="csY20" fmla="*/ 510157 h 4175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060883" h="4175125" extrusionOk="0">
                <a:moveTo>
                  <a:pt x="0" y="510157"/>
                </a:moveTo>
                <a:cubicBezTo>
                  <a:pt x="-34941" y="206853"/>
                  <a:pt x="194520" y="12718"/>
                  <a:pt x="510157" y="0"/>
                </a:cubicBezTo>
                <a:cubicBezTo>
                  <a:pt x="712320" y="15654"/>
                  <a:pt x="927741" y="26163"/>
                  <a:pt x="1231158" y="0"/>
                </a:cubicBezTo>
                <a:cubicBezTo>
                  <a:pt x="1534575" y="-26163"/>
                  <a:pt x="1717705" y="-7340"/>
                  <a:pt x="1890942" y="0"/>
                </a:cubicBezTo>
                <a:cubicBezTo>
                  <a:pt x="2064179" y="7340"/>
                  <a:pt x="2222092" y="25888"/>
                  <a:pt x="2550726" y="0"/>
                </a:cubicBezTo>
                <a:cubicBezTo>
                  <a:pt x="2825781" y="-21570"/>
                  <a:pt x="3064204" y="216114"/>
                  <a:pt x="3060883" y="510157"/>
                </a:cubicBezTo>
                <a:cubicBezTo>
                  <a:pt x="3076703" y="697532"/>
                  <a:pt x="3078383" y="857811"/>
                  <a:pt x="3060883" y="1078023"/>
                </a:cubicBezTo>
                <a:cubicBezTo>
                  <a:pt x="3043383" y="1298235"/>
                  <a:pt x="3083914" y="1501533"/>
                  <a:pt x="3060883" y="1645889"/>
                </a:cubicBezTo>
                <a:cubicBezTo>
                  <a:pt x="3037852" y="1790245"/>
                  <a:pt x="3079388" y="2015577"/>
                  <a:pt x="3060883" y="2339947"/>
                </a:cubicBezTo>
                <a:cubicBezTo>
                  <a:pt x="3042378" y="2664317"/>
                  <a:pt x="3052091" y="2702925"/>
                  <a:pt x="3060883" y="2876265"/>
                </a:cubicBezTo>
                <a:cubicBezTo>
                  <a:pt x="3069675" y="3049605"/>
                  <a:pt x="3038396" y="3327064"/>
                  <a:pt x="3060883" y="3664968"/>
                </a:cubicBezTo>
                <a:cubicBezTo>
                  <a:pt x="3088612" y="3987997"/>
                  <a:pt x="2834347" y="4194478"/>
                  <a:pt x="2550726" y="4175125"/>
                </a:cubicBezTo>
                <a:cubicBezTo>
                  <a:pt x="2283843" y="4153355"/>
                  <a:pt x="2158987" y="4144763"/>
                  <a:pt x="1931753" y="4175125"/>
                </a:cubicBezTo>
                <a:cubicBezTo>
                  <a:pt x="1704519" y="4205487"/>
                  <a:pt x="1531445" y="4183958"/>
                  <a:pt x="1210752" y="4175125"/>
                </a:cubicBezTo>
                <a:cubicBezTo>
                  <a:pt x="890059" y="4166292"/>
                  <a:pt x="809631" y="4146091"/>
                  <a:pt x="510157" y="4175125"/>
                </a:cubicBezTo>
                <a:cubicBezTo>
                  <a:pt x="207139" y="4155088"/>
                  <a:pt x="-30932" y="3900480"/>
                  <a:pt x="0" y="3664968"/>
                </a:cubicBezTo>
                <a:cubicBezTo>
                  <a:pt x="6417" y="3494494"/>
                  <a:pt x="-1534" y="3252211"/>
                  <a:pt x="0" y="3002458"/>
                </a:cubicBezTo>
                <a:cubicBezTo>
                  <a:pt x="1534" y="2752705"/>
                  <a:pt x="-12983" y="2606772"/>
                  <a:pt x="0" y="2466140"/>
                </a:cubicBezTo>
                <a:cubicBezTo>
                  <a:pt x="12983" y="2325508"/>
                  <a:pt x="15967" y="2153683"/>
                  <a:pt x="0" y="1898274"/>
                </a:cubicBezTo>
                <a:cubicBezTo>
                  <a:pt x="-15967" y="1642865"/>
                  <a:pt x="4713" y="1427698"/>
                  <a:pt x="0" y="1204215"/>
                </a:cubicBezTo>
                <a:cubicBezTo>
                  <a:pt x="-4713" y="980732"/>
                  <a:pt x="-17279" y="773324"/>
                  <a:pt x="0" y="510157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0" name="圆角矩形 299"/>
          <p:cNvSpPr>
            <a:spLocks noGrp="1"/>
          </p:cNvSpPr>
          <p:nvPr/>
        </p:nvSpPr>
        <p:spPr>
          <a:xfrm>
            <a:off x="13946015" y="5309870"/>
            <a:ext cx="1257300" cy="514350"/>
          </a:xfrm>
          <a:prstGeom prst="roundRect">
            <a:avLst>
              <a:gd name="adj" fmla="val 14815"/>
            </a:avLst>
          </a:prstGeom>
          <a:solidFill>
            <a:srgbClr val="047857"/>
          </a:solidFill>
          <a:ln w="15240">
            <a:solidFill>
              <a:srgbClr val="047857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Comic Sans MS" panose="030F0702030302020204" charset="0"/>
                <a:cs typeface="Comic Sans MS" panose="030F0702030302020204" charset="0"/>
              </a:rPr>
              <a:t>Classifier</a:t>
            </a:r>
            <a:endParaRPr sz="1350" b="1">
              <a:solidFill>
                <a:srgbClr val="FFFFFF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336" name="直接箭头连接符 335"/>
          <p:cNvCxnSpPr>
            <a:stCxn id="214" idx="0"/>
          </p:cNvCxnSpPr>
          <p:nvPr/>
        </p:nvCxnSpPr>
        <p:spPr>
          <a:xfrm flipV="1">
            <a:off x="6601605" y="5102225"/>
            <a:ext cx="0" cy="4324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7" name="圆角矩形 336"/>
          <p:cNvSpPr>
            <a:spLocks noGrp="1"/>
          </p:cNvSpPr>
          <p:nvPr/>
        </p:nvSpPr>
        <p:spPr>
          <a:xfrm>
            <a:off x="6001530" y="4572000"/>
            <a:ext cx="1200150" cy="5302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CNN</a:t>
            </a:r>
            <a:endParaRPr lang="en-US"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encoder</a:t>
            </a: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3742180" y="6093460"/>
            <a:ext cx="379349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47857"/>
                </a:solidFill>
              </a:defRPr>
            </a:pPr>
            <a:r>
              <a:rPr lang="en-US" sz="18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(c)Student Model based on LNN</a:t>
            </a:r>
            <a:endParaRPr lang="en-US" sz="1800" b="1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412605" y="476885"/>
            <a:ext cx="1217295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BPCSCFC</a:t>
            </a:r>
            <a:endParaRPr lang="en-US" altLang="zh-CN" b="1" dirty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2791042" y="476885"/>
            <a:ext cx="951230" cy="309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DRASP</a:t>
            </a:r>
            <a:endParaRPr lang="en-US" altLang="zh-CN" b="1" dirty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zh-CN" altLang="en-US" dirty="0"/>
          </a:p>
        </p:txBody>
      </p:sp>
      <p:grpSp>
        <p:nvGrpSpPr>
          <p:cNvPr id="59" name="组合 58"/>
          <p:cNvGrpSpPr/>
          <p:nvPr/>
        </p:nvGrpSpPr>
        <p:grpSpPr>
          <a:xfrm>
            <a:off x="7937645" y="6045835"/>
            <a:ext cx="2741295" cy="273685"/>
            <a:chOff x="8289" y="3653"/>
            <a:chExt cx="4317" cy="431"/>
          </a:xfrm>
        </p:grpSpPr>
        <p:cxnSp>
          <p:nvCxnSpPr>
            <p:cNvPr id="39" name="直接箭头连接符 38"/>
            <p:cNvCxnSpPr/>
            <p:nvPr/>
          </p:nvCxnSpPr>
          <p:spPr>
            <a:xfrm>
              <a:off x="8289" y="3777"/>
              <a:ext cx="2837" cy="149"/>
            </a:xfrm>
            <a:prstGeom prst="straightConnector1">
              <a:avLst/>
            </a:prstGeom>
            <a:ln w="19050">
              <a:solidFill>
                <a:srgbClr val="18B76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>
              <p:custDataLst>
                <p:tags r:id="rId3"/>
              </p:custDataLst>
            </p:nvPr>
          </p:nvSpPr>
          <p:spPr>
            <a:xfrm>
              <a:off x="11571" y="3653"/>
              <a:ext cx="1035" cy="431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18B760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time</a:t>
              </a:r>
              <a:endParaRPr lang="en-US" altLang="zh-CN" sz="1400" b="1" dirty="0">
                <a:solidFill>
                  <a:srgbClr val="18B76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224540" y="2693670"/>
            <a:ext cx="3722370" cy="3241675"/>
            <a:chOff x="6804" y="3609"/>
            <a:chExt cx="5862" cy="5105"/>
          </a:xfrm>
        </p:grpSpPr>
        <p:grpSp>
          <p:nvGrpSpPr>
            <p:cNvPr id="60" name="组合 59"/>
            <p:cNvGrpSpPr/>
            <p:nvPr/>
          </p:nvGrpSpPr>
          <p:grpSpPr>
            <a:xfrm rot="0">
              <a:off x="6804" y="3609"/>
              <a:ext cx="5862" cy="1259"/>
              <a:chOff x="7610" y="1680"/>
              <a:chExt cx="5862" cy="2043"/>
            </a:xfrm>
          </p:grpSpPr>
          <p:grpSp>
            <p:nvGrpSpPr>
              <p:cNvPr id="61" name="组合 60"/>
              <p:cNvGrpSpPr/>
              <p:nvPr/>
            </p:nvGrpSpPr>
            <p:grpSpPr>
              <a:xfrm>
                <a:off x="7610" y="1680"/>
                <a:ext cx="3462" cy="1750"/>
                <a:chOff x="7610" y="1680"/>
                <a:chExt cx="3462" cy="1750"/>
              </a:xfrm>
            </p:grpSpPr>
            <p:grpSp>
              <p:nvGrpSpPr>
                <p:cNvPr id="62" name="组合 61"/>
                <p:cNvGrpSpPr/>
                <p:nvPr/>
              </p:nvGrpSpPr>
              <p:grpSpPr>
                <a:xfrm>
                  <a:off x="7610" y="168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63" name="矩形 62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4" name="矩形 63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5" name="矩形 64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66" name="矩形 65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67" name="组合 66"/>
                <p:cNvGrpSpPr/>
                <p:nvPr/>
              </p:nvGrpSpPr>
              <p:grpSpPr>
                <a:xfrm>
                  <a:off x="8784" y="175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68" name="矩形 67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9" name="矩形 68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0" name="矩形 69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1" name="矩形 70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  <p:grpSp>
            <p:nvGrpSpPr>
              <p:cNvPr id="72" name="组合 71"/>
              <p:cNvGrpSpPr/>
              <p:nvPr/>
            </p:nvGrpSpPr>
            <p:grpSpPr>
              <a:xfrm>
                <a:off x="10010" y="1973"/>
                <a:ext cx="3462" cy="1750"/>
                <a:chOff x="7610" y="1680"/>
                <a:chExt cx="3462" cy="1750"/>
              </a:xfrm>
            </p:grpSpPr>
            <p:grpSp>
              <p:nvGrpSpPr>
                <p:cNvPr id="73" name="组合 72"/>
                <p:cNvGrpSpPr/>
                <p:nvPr/>
              </p:nvGrpSpPr>
              <p:grpSpPr>
                <a:xfrm>
                  <a:off x="7610" y="168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74" name="矩形 73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5" name="矩形 74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6" name="矩形 75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77" name="矩形 76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78" name="组合 77"/>
                <p:cNvGrpSpPr/>
                <p:nvPr/>
              </p:nvGrpSpPr>
              <p:grpSpPr>
                <a:xfrm>
                  <a:off x="8784" y="175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79" name="矩形 78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0" name="矩形 79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1" name="矩形 80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2" name="矩形 81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</p:grpSp>
        <p:grpSp>
          <p:nvGrpSpPr>
            <p:cNvPr id="83" name="组合 82"/>
            <p:cNvGrpSpPr/>
            <p:nvPr/>
          </p:nvGrpSpPr>
          <p:grpSpPr>
            <a:xfrm rot="0">
              <a:off x="6804" y="5468"/>
              <a:ext cx="5862" cy="1259"/>
              <a:chOff x="7610" y="1680"/>
              <a:chExt cx="5862" cy="2043"/>
            </a:xfrm>
          </p:grpSpPr>
          <p:grpSp>
            <p:nvGrpSpPr>
              <p:cNvPr id="84" name="组合 83"/>
              <p:cNvGrpSpPr/>
              <p:nvPr/>
            </p:nvGrpSpPr>
            <p:grpSpPr>
              <a:xfrm>
                <a:off x="7610" y="1680"/>
                <a:ext cx="3462" cy="1750"/>
                <a:chOff x="7610" y="1680"/>
                <a:chExt cx="3462" cy="1750"/>
              </a:xfrm>
            </p:grpSpPr>
            <p:grpSp>
              <p:nvGrpSpPr>
                <p:cNvPr id="85" name="组合 84"/>
                <p:cNvGrpSpPr/>
                <p:nvPr/>
              </p:nvGrpSpPr>
              <p:grpSpPr>
                <a:xfrm>
                  <a:off x="7610" y="168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86" name="矩形 85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7" name="矩形 86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8" name="矩形 87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9" name="矩形 88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90" name="组合 89"/>
                <p:cNvGrpSpPr/>
                <p:nvPr/>
              </p:nvGrpSpPr>
              <p:grpSpPr>
                <a:xfrm>
                  <a:off x="8784" y="175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91" name="矩形 90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2" name="矩形 91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3" name="矩形 92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4" name="矩形 93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  <p:grpSp>
            <p:nvGrpSpPr>
              <p:cNvPr id="95" name="组合 94"/>
              <p:cNvGrpSpPr/>
              <p:nvPr/>
            </p:nvGrpSpPr>
            <p:grpSpPr>
              <a:xfrm>
                <a:off x="10010" y="1973"/>
                <a:ext cx="3462" cy="1750"/>
                <a:chOff x="7610" y="1680"/>
                <a:chExt cx="3462" cy="1750"/>
              </a:xfrm>
            </p:grpSpPr>
            <p:grpSp>
              <p:nvGrpSpPr>
                <p:cNvPr id="96" name="组合 95"/>
                <p:cNvGrpSpPr/>
                <p:nvPr/>
              </p:nvGrpSpPr>
              <p:grpSpPr>
                <a:xfrm>
                  <a:off x="7610" y="168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97" name="矩形 96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8" name="矩形 97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9" name="矩形 98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" name="矩形 99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01" name="组合 100"/>
                <p:cNvGrpSpPr/>
                <p:nvPr/>
              </p:nvGrpSpPr>
              <p:grpSpPr>
                <a:xfrm>
                  <a:off x="8784" y="175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102" name="矩形 101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3" name="矩形 102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4" name="矩形 103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5" name="矩形 104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</p:grpSp>
        <p:grpSp>
          <p:nvGrpSpPr>
            <p:cNvPr id="106" name="组合 105"/>
            <p:cNvGrpSpPr/>
            <p:nvPr/>
          </p:nvGrpSpPr>
          <p:grpSpPr>
            <a:xfrm rot="0">
              <a:off x="6804" y="7456"/>
              <a:ext cx="5862" cy="1259"/>
              <a:chOff x="7610" y="1680"/>
              <a:chExt cx="5862" cy="2043"/>
            </a:xfrm>
          </p:grpSpPr>
          <p:grpSp>
            <p:nvGrpSpPr>
              <p:cNvPr id="107" name="组合 106"/>
              <p:cNvGrpSpPr/>
              <p:nvPr/>
            </p:nvGrpSpPr>
            <p:grpSpPr>
              <a:xfrm>
                <a:off x="7610" y="1680"/>
                <a:ext cx="3462" cy="1750"/>
                <a:chOff x="7610" y="1680"/>
                <a:chExt cx="3462" cy="1750"/>
              </a:xfrm>
            </p:grpSpPr>
            <p:grpSp>
              <p:nvGrpSpPr>
                <p:cNvPr id="108" name="组合 107"/>
                <p:cNvGrpSpPr/>
                <p:nvPr/>
              </p:nvGrpSpPr>
              <p:grpSpPr>
                <a:xfrm>
                  <a:off x="7610" y="168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109" name="矩形 108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0" name="矩形 109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1" name="矩形 110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2" name="矩形 111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13" name="组合 112"/>
                <p:cNvGrpSpPr/>
                <p:nvPr/>
              </p:nvGrpSpPr>
              <p:grpSpPr>
                <a:xfrm>
                  <a:off x="8784" y="175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114" name="矩形 113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5" name="矩形 114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6" name="矩形 115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17" name="矩形 116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  <p:grpSp>
            <p:nvGrpSpPr>
              <p:cNvPr id="118" name="组合 117"/>
              <p:cNvGrpSpPr/>
              <p:nvPr/>
            </p:nvGrpSpPr>
            <p:grpSpPr>
              <a:xfrm>
                <a:off x="10010" y="1973"/>
                <a:ext cx="3462" cy="1750"/>
                <a:chOff x="7610" y="1680"/>
                <a:chExt cx="3462" cy="1750"/>
              </a:xfrm>
            </p:grpSpPr>
            <p:grpSp>
              <p:nvGrpSpPr>
                <p:cNvPr id="119" name="组合 118"/>
                <p:cNvGrpSpPr/>
                <p:nvPr/>
              </p:nvGrpSpPr>
              <p:grpSpPr>
                <a:xfrm>
                  <a:off x="7610" y="168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120" name="矩形 119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1" name="矩形 120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2" name="矩形 121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rgbClr val="34D399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3" name="矩形 122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6"/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grpSp>
              <p:nvGrpSpPr>
                <p:cNvPr id="124" name="组合 123"/>
                <p:cNvGrpSpPr/>
                <p:nvPr/>
              </p:nvGrpSpPr>
              <p:grpSpPr>
                <a:xfrm>
                  <a:off x="8784" y="1750"/>
                  <a:ext cx="2288" cy="1681"/>
                  <a:chOff x="5360670" y="1085663"/>
                  <a:chExt cx="1453138" cy="1067258"/>
                </a:xfrm>
                <a:scene3d>
                  <a:camera prst="isometricOffAxis2Right"/>
                  <a:lightRig rig="threePt" dir="t"/>
                </a:scene3d>
              </p:grpSpPr>
              <p:sp>
                <p:nvSpPr>
                  <p:cNvPr id="125" name="矩形 124"/>
                  <p:cNvSpPr/>
                  <p:nvPr/>
                </p:nvSpPr>
                <p:spPr>
                  <a:xfrm>
                    <a:off x="5360670" y="1085663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6" name="矩形 125"/>
                  <p:cNvSpPr/>
                  <p:nvPr/>
                </p:nvSpPr>
                <p:spPr>
                  <a:xfrm>
                    <a:off x="5360670" y="1347825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7" name="矩形 126"/>
                  <p:cNvSpPr/>
                  <p:nvPr/>
                </p:nvSpPr>
                <p:spPr>
                  <a:xfrm>
                    <a:off x="5360670" y="1617569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60000"/>
                        <a:lumOff val="4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28" name="矩形 127"/>
                  <p:cNvSpPr/>
                  <p:nvPr/>
                </p:nvSpPr>
                <p:spPr>
                  <a:xfrm>
                    <a:off x="5360670" y="1889527"/>
                    <a:ext cx="1453138" cy="263394"/>
                  </a:xfrm>
                  <a:prstGeom prst="rect">
                    <a:avLst/>
                  </a:prstGeom>
                  <a:noFill/>
                  <a:ln>
                    <a:solidFill>
                      <a:schemeClr val="accent4">
                        <a:lumMod val="50000"/>
                      </a:schemeClr>
                    </a:solidFill>
                    <a:prstDash val="soli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</p:grpSp>
      </p:grpSp>
      <p:grpSp>
        <p:nvGrpSpPr>
          <p:cNvPr id="193" name="组合 192"/>
          <p:cNvGrpSpPr/>
          <p:nvPr/>
        </p:nvGrpSpPr>
        <p:grpSpPr>
          <a:xfrm>
            <a:off x="7224395" y="899160"/>
            <a:ext cx="3722370" cy="925830"/>
            <a:chOff x="11377" y="1416"/>
            <a:chExt cx="5862" cy="1458"/>
          </a:xfrm>
        </p:grpSpPr>
        <p:grpSp>
          <p:nvGrpSpPr>
            <p:cNvPr id="22" name="组合 21"/>
            <p:cNvGrpSpPr/>
            <p:nvPr/>
          </p:nvGrpSpPr>
          <p:grpSpPr>
            <a:xfrm rot="0">
              <a:off x="11377" y="1616"/>
              <a:ext cx="3462" cy="1078"/>
              <a:chOff x="7610" y="1680"/>
              <a:chExt cx="3462" cy="1750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13" name="矩形 12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45" name="矩形 44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24" name="组合 23"/>
            <p:cNvGrpSpPr/>
            <p:nvPr/>
          </p:nvGrpSpPr>
          <p:grpSpPr>
            <a:xfrm rot="0">
              <a:off x="13777" y="1797"/>
              <a:ext cx="2288" cy="1035"/>
              <a:chOff x="5360670" y="1085663"/>
              <a:chExt cx="1453138" cy="1067258"/>
            </a:xfrm>
            <a:scene3d>
              <a:camera prst="isometricOffAxis2Right"/>
              <a:lightRig rig="threePt" dir="t"/>
            </a:scene3d>
          </p:grpSpPr>
          <p:sp>
            <p:nvSpPr>
              <p:cNvPr id="25" name="矩形 24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4D399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4D399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 rot="0">
              <a:off x="14951" y="1840"/>
              <a:ext cx="2288" cy="1035"/>
              <a:chOff x="5360670" y="1085663"/>
              <a:chExt cx="1453138" cy="1067258"/>
            </a:xfrm>
            <a:scene3d>
              <a:camera prst="isometricOffAxis2Right"/>
              <a:lightRig rig="threePt" dir="t"/>
            </a:scene3d>
          </p:grpSpPr>
          <p:sp>
            <p:nvSpPr>
              <p:cNvPr id="52" name="矩形 51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130" name="曲线连接符 129"/>
            <p:cNvCxnSpPr/>
            <p:nvPr/>
          </p:nvCxnSpPr>
          <p:spPr>
            <a:xfrm rot="5400000" flipV="1">
              <a:off x="12760" y="1704"/>
              <a:ext cx="711" cy="135"/>
            </a:xfrm>
            <a:prstGeom prst="curvedConnector3">
              <a:avLst>
                <a:gd name="adj1" fmla="val 5007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曲线连接符 132"/>
            <p:cNvCxnSpPr/>
            <p:nvPr/>
          </p:nvCxnSpPr>
          <p:spPr>
            <a:xfrm rot="5400000" flipV="1">
              <a:off x="13907" y="1769"/>
              <a:ext cx="816" cy="231"/>
            </a:xfrm>
            <a:prstGeom prst="curvedConnector3">
              <a:avLst>
                <a:gd name="adj1" fmla="val 50061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曲线连接符 133"/>
            <p:cNvCxnSpPr/>
            <p:nvPr/>
          </p:nvCxnSpPr>
          <p:spPr>
            <a:xfrm rot="5400000" flipV="1">
              <a:off x="15185" y="1904"/>
              <a:ext cx="643" cy="154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29" name="组合 28"/>
          <p:cNvGrpSpPr/>
          <p:nvPr/>
        </p:nvGrpSpPr>
        <p:grpSpPr>
          <a:xfrm>
            <a:off x="630065" y="3351530"/>
            <a:ext cx="3736340" cy="3331845"/>
            <a:chOff x="5215" y="441"/>
            <a:chExt cx="5884" cy="5247"/>
          </a:xfrm>
        </p:grpSpPr>
        <p:grpSp>
          <p:nvGrpSpPr>
            <p:cNvPr id="184" name="组合 183"/>
            <p:cNvGrpSpPr/>
            <p:nvPr/>
          </p:nvGrpSpPr>
          <p:grpSpPr>
            <a:xfrm>
              <a:off x="5215" y="441"/>
              <a:ext cx="5884" cy="5247"/>
              <a:chOff x="3363" y="1011"/>
              <a:chExt cx="5884" cy="5247"/>
            </a:xfrm>
          </p:grpSpPr>
          <p:sp>
            <p:nvSpPr>
              <p:cNvPr id="186" name="圆角矩形 97"/>
              <p:cNvSpPr>
                <a:spLocks noGrp="1"/>
              </p:cNvSpPr>
              <p:nvPr/>
            </p:nvSpPr>
            <p:spPr>
              <a:xfrm>
                <a:off x="3363" y="1780"/>
                <a:ext cx="5884" cy="4478"/>
              </a:xfrm>
              <a:custGeom>
                <a:avLst/>
                <a:gdLst>
                  <a:gd name="csX0" fmla="*/ 0 w 10000"/>
                  <a:gd name="csY0" fmla="*/ 569 h 10000"/>
                  <a:gd name="csX1" fmla="*/ 364 w 10000"/>
                  <a:gd name="csY1" fmla="*/ 0 h 10000"/>
                  <a:gd name="csX2" fmla="*/ 9636 w 10000"/>
                  <a:gd name="csY2" fmla="*/ 0 h 10000"/>
                  <a:gd name="csX3" fmla="*/ 10000 w 10000"/>
                  <a:gd name="csY3" fmla="*/ 569 h 10000"/>
                  <a:gd name="csX4" fmla="*/ 10000 w 10000"/>
                  <a:gd name="csY4" fmla="*/ 9431 h 10000"/>
                  <a:gd name="csX5" fmla="*/ 9636 w 10000"/>
                  <a:gd name="csY5" fmla="*/ 10000 h 10000"/>
                  <a:gd name="csX6" fmla="*/ 364 w 10000"/>
                  <a:gd name="csY6" fmla="*/ 10000 h 10000"/>
                  <a:gd name="csX7" fmla="*/ 0 w 10000"/>
                  <a:gd name="csY7" fmla="*/ 9431 h 10000"/>
                  <a:gd name="csX8" fmla="*/ 0 w 10000"/>
                  <a:gd name="csY8" fmla="*/ 569 h 1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00" h="10000" fill="none" extrusionOk="0">
                    <a:moveTo>
                      <a:pt x="0" y="569"/>
                    </a:moveTo>
                    <a:cubicBezTo>
                      <a:pt x="15" y="278"/>
                      <a:pt x="168" y="48"/>
                      <a:pt x="364" y="0"/>
                    </a:cubicBezTo>
                    <a:cubicBezTo>
                      <a:pt x="4976" y="85"/>
                      <a:pt x="6979" y="-128"/>
                      <a:pt x="9636" y="0"/>
                    </a:cubicBezTo>
                    <a:cubicBezTo>
                      <a:pt x="9868" y="-38"/>
                      <a:pt x="9967" y="242"/>
                      <a:pt x="10000" y="569"/>
                    </a:cubicBezTo>
                    <a:cubicBezTo>
                      <a:pt x="9908" y="2925"/>
                      <a:pt x="10239" y="6826"/>
                      <a:pt x="10000" y="9431"/>
                    </a:cubicBezTo>
                    <a:cubicBezTo>
                      <a:pt x="9979" y="9702"/>
                      <a:pt x="9839" y="9972"/>
                      <a:pt x="9636" y="10000"/>
                    </a:cubicBezTo>
                    <a:cubicBezTo>
                      <a:pt x="6365" y="9708"/>
                      <a:pt x="2772" y="9664"/>
                      <a:pt x="364" y="10000"/>
                    </a:cubicBezTo>
                    <a:cubicBezTo>
                      <a:pt x="116" y="10002"/>
                      <a:pt x="33" y="9686"/>
                      <a:pt x="0" y="9431"/>
                    </a:cubicBezTo>
                    <a:cubicBezTo>
                      <a:pt x="13" y="7438"/>
                      <a:pt x="171" y="2858"/>
                      <a:pt x="0" y="569"/>
                    </a:cubicBezTo>
                    <a:close/>
                  </a:path>
                  <a:path w="10000" h="10000" stroke="0" extrusionOk="0">
                    <a:moveTo>
                      <a:pt x="0" y="569"/>
                    </a:moveTo>
                    <a:cubicBezTo>
                      <a:pt x="-7" y="250"/>
                      <a:pt x="129" y="13"/>
                      <a:pt x="364" y="0"/>
                    </a:cubicBezTo>
                    <a:cubicBezTo>
                      <a:pt x="3953" y="-71"/>
                      <a:pt x="6087" y="-273"/>
                      <a:pt x="9636" y="0"/>
                    </a:cubicBezTo>
                    <a:cubicBezTo>
                      <a:pt x="9796" y="-31"/>
                      <a:pt x="9984" y="287"/>
                      <a:pt x="10000" y="569"/>
                    </a:cubicBezTo>
                    <a:cubicBezTo>
                      <a:pt x="10326" y="3697"/>
                      <a:pt x="10190" y="5062"/>
                      <a:pt x="10000" y="9431"/>
                    </a:cubicBezTo>
                    <a:cubicBezTo>
                      <a:pt x="10015" y="9713"/>
                      <a:pt x="9807" y="9995"/>
                      <a:pt x="9636" y="10000"/>
                    </a:cubicBezTo>
                    <a:cubicBezTo>
                      <a:pt x="6828" y="10191"/>
                      <a:pt x="2479" y="10453"/>
                      <a:pt x="364" y="10000"/>
                    </a:cubicBezTo>
                    <a:cubicBezTo>
                      <a:pt x="150" y="10021"/>
                      <a:pt x="-36" y="9703"/>
                      <a:pt x="0" y="9431"/>
                    </a:cubicBezTo>
                    <a:cubicBezTo>
                      <a:pt x="244" y="6696"/>
                      <a:pt x="-115" y="4121"/>
                      <a:pt x="0" y="569"/>
                    </a:cubicBezTo>
                    <a:close/>
                  </a:path>
                </a:pathLst>
              </a:custGeom>
              <a:solidFill>
                <a:srgbClr val="ECFDF5"/>
              </a:solidFill>
              <a:ln w="13335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 dirty="0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10" name="矩形 209"/>
              <p:cNvSpPr>
                <a:spLocks noGrp="1"/>
              </p:cNvSpPr>
              <p:nvPr/>
            </p:nvSpPr>
            <p:spPr>
              <a:xfrm>
                <a:off x="3415" y="1011"/>
                <a:ext cx="5671" cy="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125" b="1">
                    <a:solidFill>
                      <a:srgbClr val="047857"/>
                    </a:solidFill>
                  </a:defRPr>
                </a:pPr>
                <a:r>
                  <a:rPr lang="en-US" sz="1800" b="1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(b)</a:t>
                </a:r>
                <a:r>
                  <a:rPr sz="1800" b="1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AutoNCP</a:t>
                </a:r>
                <a:r>
                  <a:rPr lang="en-US" sz="1800" b="1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 </a:t>
                </a:r>
                <a:r>
                  <a:rPr lang="en-US" altLang="zh-CN" sz="1800" b="1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Sparse Wiring</a:t>
                </a:r>
                <a:endParaRPr lang="en-US" altLang="zh-CN" sz="1800" b="1">
                  <a:solidFill>
                    <a:schemeClr val="tx1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226" name="组合 225"/>
            <p:cNvGrpSpPr/>
            <p:nvPr>
              <p:custDataLst>
                <p:tags r:id="rId4"/>
              </p:custDataLst>
            </p:nvPr>
          </p:nvGrpSpPr>
          <p:grpSpPr>
            <a:xfrm>
              <a:off x="6855" y="1318"/>
              <a:ext cx="855" cy="3739"/>
              <a:chOff x="694" y="1318"/>
              <a:chExt cx="855" cy="3739"/>
            </a:xfrm>
          </p:grpSpPr>
          <p:grpSp>
            <p:nvGrpSpPr>
              <p:cNvPr id="227" name="组合 226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28" name="圆角矩形 227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9" name="任意多边形 106"/>
                <p:cNvSpPr>
                  <a:spLocks noGrp="1"/>
                </p:cNvSpPr>
                <p:nvPr>
                  <p:custDataLst>
                    <p:tags r:id="rId6"/>
                  </p:custDataLst>
                </p:nvPr>
              </p:nvSpPr>
              <p:spPr>
                <a:xfrm>
                  <a:off x="1063" y="2916"/>
                  <a:ext cx="0" cy="7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32" name="椭圆 231"/>
                <p:cNvSpPr>
                  <a:spLocks noGrp="1"/>
                </p:cNvSpPr>
                <p:nvPr>
                  <p:custDataLst>
                    <p:tags r:id="rId7"/>
                  </p:custDataLst>
                </p:nvPr>
              </p:nvSpPr>
              <p:spPr>
                <a:xfrm>
                  <a:off x="985" y="1649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33" name="文本框 232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94" y="4606"/>
                <a:ext cx="855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Inter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25" name="组合 224"/>
            <p:cNvGrpSpPr/>
            <p:nvPr>
              <p:custDataLst>
                <p:tags r:id="rId9"/>
              </p:custDataLst>
            </p:nvPr>
          </p:nvGrpSpPr>
          <p:grpSpPr>
            <a:xfrm>
              <a:off x="5267" y="1318"/>
              <a:ext cx="855" cy="3738"/>
              <a:chOff x="694" y="1318"/>
              <a:chExt cx="855" cy="3738"/>
            </a:xfrm>
          </p:grpSpPr>
          <p:grpSp>
            <p:nvGrpSpPr>
              <p:cNvPr id="224" name="组合 223"/>
              <p:cNvGrpSpPr/>
              <p:nvPr/>
            </p:nvGrpSpPr>
            <p:grpSpPr>
              <a:xfrm>
                <a:off x="755" y="1318"/>
                <a:ext cx="794" cy="3738"/>
                <a:chOff x="755" y="1318"/>
                <a:chExt cx="794" cy="3738"/>
              </a:xfrm>
            </p:grpSpPr>
            <p:sp>
              <p:nvSpPr>
                <p:cNvPr id="219" name="圆角矩形 218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6" name="任意多边形 106"/>
                <p:cNvSpPr>
                  <a:spLocks noGrp="1"/>
                </p:cNvSpPr>
                <p:nvPr>
                  <p:custDataLst>
                    <p:tags r:id="rId11"/>
                  </p:custDataLst>
                </p:nvPr>
              </p:nvSpPr>
              <p:spPr>
                <a:xfrm>
                  <a:off x="1063" y="2916"/>
                  <a:ext cx="0" cy="9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18" name="椭圆 217"/>
                <p:cNvSpPr>
                  <a:spLocks noGrp="1"/>
                </p:cNvSpPr>
                <p:nvPr>
                  <p:custDataLst>
                    <p:tags r:id="rId12"/>
                  </p:custDataLst>
                </p:nvPr>
              </p:nvSpPr>
              <p:spPr>
                <a:xfrm>
                  <a:off x="928" y="4266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20" name="椭圆 219"/>
                <p:cNvSpPr>
                  <a:spLocks noGrp="1"/>
                </p:cNvSpPr>
                <p:nvPr>
                  <p:custDataLst>
                    <p:tags r:id="rId13"/>
                  </p:custDataLst>
                </p:nvPr>
              </p:nvSpPr>
              <p:spPr>
                <a:xfrm>
                  <a:off x="939" y="2225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21" name="椭圆 220"/>
                <p:cNvSpPr>
                  <a:spLocks noGrp="1"/>
                </p:cNvSpPr>
                <p:nvPr>
                  <p:custDataLst>
                    <p:tags r:id="rId14"/>
                  </p:custDataLst>
                </p:nvPr>
              </p:nvSpPr>
              <p:spPr>
                <a:xfrm>
                  <a:off x="939" y="1658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22" name="文本框 221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694" y="4606"/>
                <a:ext cx="855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Input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34" name="组合 233"/>
            <p:cNvGrpSpPr/>
            <p:nvPr/>
          </p:nvGrpSpPr>
          <p:grpSpPr>
            <a:xfrm>
              <a:off x="8390" y="1319"/>
              <a:ext cx="1291" cy="3739"/>
              <a:chOff x="596" y="1318"/>
              <a:chExt cx="1291" cy="3739"/>
            </a:xfrm>
          </p:grpSpPr>
          <p:grpSp>
            <p:nvGrpSpPr>
              <p:cNvPr id="235" name="组合 234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36" name="圆角矩形 235"/>
                <p:cNvSpPr/>
                <p:nvPr/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7" name="任意多边形 106"/>
                <p:cNvSpPr>
                  <a:spLocks noGrp="1"/>
                </p:cNvSpPr>
                <p:nvPr/>
              </p:nvSpPr>
              <p:spPr>
                <a:xfrm>
                  <a:off x="1063" y="2647"/>
                  <a:ext cx="0" cy="9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41" name="文本框 240"/>
              <p:cNvSpPr txBox="1"/>
              <p:nvPr/>
            </p:nvSpPr>
            <p:spPr>
              <a:xfrm>
                <a:off x="596" y="4606"/>
                <a:ext cx="1291" cy="362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9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Command</a:t>
                </a:r>
                <a:endParaRPr lang="en-US" altLang="zh-CN" sz="9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50" name="组合 249"/>
            <p:cNvGrpSpPr/>
            <p:nvPr>
              <p:custDataLst>
                <p:tags r:id="rId16"/>
              </p:custDataLst>
            </p:nvPr>
          </p:nvGrpSpPr>
          <p:grpSpPr>
            <a:xfrm>
              <a:off x="9965" y="1318"/>
              <a:ext cx="973" cy="3739"/>
              <a:chOff x="694" y="1318"/>
              <a:chExt cx="973" cy="3739"/>
            </a:xfrm>
          </p:grpSpPr>
          <p:grpSp>
            <p:nvGrpSpPr>
              <p:cNvPr id="251" name="组合 250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52" name="圆角矩形 251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3" name="任意多边形 106"/>
                <p:cNvSpPr>
                  <a:spLocks noGrp="1"/>
                </p:cNvSpPr>
                <p:nvPr>
                  <p:custDataLst>
                    <p:tags r:id="rId18"/>
                  </p:custDataLst>
                </p:nvPr>
              </p:nvSpPr>
              <p:spPr>
                <a:xfrm>
                  <a:off x="1063" y="2916"/>
                  <a:ext cx="0" cy="76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57" name="文本框 256"/>
              <p:cNvSpPr txBox="1"/>
              <p:nvPr>
                <p:custDataLst>
                  <p:tags r:id="rId19"/>
                </p:custDataLst>
              </p:nvPr>
            </p:nvSpPr>
            <p:spPr>
              <a:xfrm>
                <a:off x="694" y="4606"/>
                <a:ext cx="973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Motor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cxnSp>
          <p:nvCxnSpPr>
            <p:cNvPr id="274" name="直接箭头连接符 273"/>
            <p:cNvCxnSpPr>
              <a:stCxn id="221" idx="6"/>
              <a:endCxn id="232" idx="2"/>
            </p:cNvCxnSpPr>
            <p:nvPr/>
          </p:nvCxnSpPr>
          <p:spPr>
            <a:xfrm flipV="1">
              <a:off x="5782" y="1784"/>
              <a:ext cx="1364" cy="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5" name="直接箭头连接符 274"/>
            <p:cNvCxnSpPr>
              <a:stCxn id="221" idx="5"/>
              <a:endCxn id="272" idx="2"/>
            </p:cNvCxnSpPr>
            <p:nvPr/>
          </p:nvCxnSpPr>
          <p:spPr>
            <a:xfrm>
              <a:off x="5742" y="1888"/>
              <a:ext cx="1368" cy="20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6" name="直接箭头连接符 275"/>
            <p:cNvCxnSpPr>
              <a:stCxn id="220" idx="6"/>
              <a:endCxn id="231" idx="2"/>
            </p:cNvCxnSpPr>
            <p:nvPr/>
          </p:nvCxnSpPr>
          <p:spPr>
            <a:xfrm>
              <a:off x="5782" y="2360"/>
              <a:ext cx="131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8" name="直接箭头连接符 277"/>
            <p:cNvCxnSpPr>
              <a:stCxn id="218" idx="6"/>
              <a:endCxn id="230" idx="2"/>
            </p:cNvCxnSpPr>
            <p:nvPr/>
          </p:nvCxnSpPr>
          <p:spPr>
            <a:xfrm>
              <a:off x="5771" y="4401"/>
              <a:ext cx="132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9" name="直接箭头连接符 278"/>
            <p:cNvCxnSpPr>
              <a:stCxn id="272" idx="6"/>
              <a:endCxn id="240" idx="2"/>
            </p:cNvCxnSpPr>
            <p:nvPr/>
          </p:nvCxnSpPr>
          <p:spPr>
            <a:xfrm flipV="1">
              <a:off x="7380" y="1794"/>
              <a:ext cx="1353" cy="21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3" name="直接箭头连接符 282"/>
            <p:cNvCxnSpPr>
              <a:stCxn id="272" idx="6"/>
              <a:endCxn id="238" idx="2"/>
            </p:cNvCxnSpPr>
            <p:nvPr/>
          </p:nvCxnSpPr>
          <p:spPr>
            <a:xfrm>
              <a:off x="7380" y="3948"/>
              <a:ext cx="1342" cy="4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4" name="直接箭头连接符 283"/>
            <p:cNvCxnSpPr>
              <a:stCxn id="240" idx="6"/>
              <a:endCxn id="256" idx="2"/>
            </p:cNvCxnSpPr>
            <p:nvPr/>
          </p:nvCxnSpPr>
          <p:spPr>
            <a:xfrm flipV="1">
              <a:off x="9003" y="1793"/>
              <a:ext cx="1207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5" name="直接箭头连接符 284"/>
            <p:cNvCxnSpPr>
              <a:stCxn id="240" idx="5"/>
              <a:endCxn id="255" idx="2"/>
            </p:cNvCxnSpPr>
            <p:nvPr/>
          </p:nvCxnSpPr>
          <p:spPr>
            <a:xfrm>
              <a:off x="8963" y="1889"/>
              <a:ext cx="1247" cy="47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7" name="直接箭头连接符 286"/>
            <p:cNvCxnSpPr>
              <a:stCxn id="239" idx="6"/>
              <a:endCxn id="255" idx="2"/>
            </p:cNvCxnSpPr>
            <p:nvPr/>
          </p:nvCxnSpPr>
          <p:spPr>
            <a:xfrm flipV="1">
              <a:off x="9003" y="2360"/>
              <a:ext cx="1207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8" name="直接箭头连接符 287"/>
            <p:cNvCxnSpPr>
              <a:stCxn id="239" idx="5"/>
              <a:endCxn id="167" idx="1"/>
            </p:cNvCxnSpPr>
            <p:nvPr/>
          </p:nvCxnSpPr>
          <p:spPr>
            <a:xfrm>
              <a:off x="8963" y="2456"/>
              <a:ext cx="1296" cy="193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9" name="直接箭头连接符 288"/>
            <p:cNvCxnSpPr>
              <a:stCxn id="238" idx="6"/>
              <a:endCxn id="286" idx="2"/>
            </p:cNvCxnSpPr>
            <p:nvPr/>
          </p:nvCxnSpPr>
          <p:spPr>
            <a:xfrm flipV="1">
              <a:off x="8992" y="3948"/>
              <a:ext cx="1234" cy="4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1" name="文本框 290"/>
            <p:cNvSpPr txBox="1"/>
            <p:nvPr>
              <p:custDataLst>
                <p:tags r:id="rId20"/>
              </p:custDataLst>
            </p:nvPr>
          </p:nvSpPr>
          <p:spPr>
            <a:xfrm>
              <a:off x="8390" y="3525"/>
              <a:ext cx="1291" cy="62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accent2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recurrent synapses</a:t>
              </a:r>
              <a:endParaRPr lang="en-US" altLang="zh-CN" sz="1000">
                <a:solidFill>
                  <a:schemeClr val="accent2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  <p:cxnSp>
          <p:nvCxnSpPr>
            <p:cNvPr id="5" name="直接箭头连接符 4"/>
            <p:cNvCxnSpPr>
              <a:stCxn id="232" idx="6"/>
              <a:endCxn id="239" idx="2"/>
            </p:cNvCxnSpPr>
            <p:nvPr/>
          </p:nvCxnSpPr>
          <p:spPr>
            <a:xfrm>
              <a:off x="7416" y="1784"/>
              <a:ext cx="1317" cy="577"/>
            </a:xfrm>
            <a:prstGeom prst="straightConnector1">
              <a:avLst/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椭圆 134"/>
            <p:cNvSpPr>
              <a:spLocks noGrp="1"/>
            </p:cNvSpPr>
            <p:nvPr>
              <p:custDataLst>
                <p:tags r:id="rId21"/>
              </p:custDataLst>
            </p:nvPr>
          </p:nvSpPr>
          <p:spPr>
            <a:xfrm>
              <a:off x="7224" y="1727"/>
              <a:ext cx="113" cy="11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143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grpSp>
          <p:nvGrpSpPr>
            <p:cNvPr id="141" name="组合 140"/>
            <p:cNvGrpSpPr/>
            <p:nvPr/>
          </p:nvGrpSpPr>
          <p:grpSpPr>
            <a:xfrm>
              <a:off x="7109" y="3829"/>
              <a:ext cx="270" cy="270"/>
              <a:chOff x="3449" y="367"/>
              <a:chExt cx="270" cy="270"/>
            </a:xfrm>
          </p:grpSpPr>
          <p:sp>
            <p:nvSpPr>
              <p:cNvPr id="139" name="椭圆 138"/>
              <p:cNvSpPr>
                <a:spLocks noGrp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0" name="椭圆 139"/>
              <p:cNvSpPr>
                <a:spLocks noGrp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7109" y="2224"/>
              <a:ext cx="270" cy="270"/>
              <a:chOff x="3449" y="367"/>
              <a:chExt cx="270" cy="270"/>
            </a:xfrm>
          </p:grpSpPr>
          <p:sp>
            <p:nvSpPr>
              <p:cNvPr id="143" name="椭圆 142"/>
              <p:cNvSpPr>
                <a:spLocks noGrp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4" name="椭圆 143"/>
              <p:cNvSpPr>
                <a:spLocks noGrp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7109" y="4270"/>
              <a:ext cx="270" cy="270"/>
              <a:chOff x="3449" y="367"/>
              <a:chExt cx="270" cy="270"/>
            </a:xfrm>
          </p:grpSpPr>
          <p:sp>
            <p:nvSpPr>
              <p:cNvPr id="146" name="椭圆 145"/>
              <p:cNvSpPr>
                <a:spLocks noGrp="1"/>
              </p:cNvSpPr>
              <p:nvPr>
                <p:custDataLst>
                  <p:tags r:id="rId26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7" name="椭圆 146"/>
              <p:cNvSpPr>
                <a:spLocks noGrp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8" name="组合 147"/>
            <p:cNvGrpSpPr/>
            <p:nvPr/>
          </p:nvGrpSpPr>
          <p:grpSpPr>
            <a:xfrm>
              <a:off x="8722" y="1680"/>
              <a:ext cx="270" cy="270"/>
              <a:chOff x="3449" y="367"/>
              <a:chExt cx="270" cy="270"/>
            </a:xfrm>
          </p:grpSpPr>
          <p:sp>
            <p:nvSpPr>
              <p:cNvPr id="149" name="椭圆 148"/>
              <p:cNvSpPr>
                <a:spLocks noGrp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0" name="椭圆 149"/>
              <p:cNvSpPr>
                <a:spLocks noGrp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8722" y="4270"/>
              <a:ext cx="270" cy="270"/>
              <a:chOff x="3449" y="367"/>
              <a:chExt cx="270" cy="270"/>
            </a:xfrm>
          </p:grpSpPr>
          <p:sp>
            <p:nvSpPr>
              <p:cNvPr id="155" name="椭圆 154"/>
              <p:cNvSpPr>
                <a:spLocks noGrp="1"/>
              </p:cNvSpPr>
              <p:nvPr>
                <p:custDataLst>
                  <p:tags r:id="rId30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6" name="椭圆 155"/>
              <p:cNvSpPr>
                <a:spLocks noGrp="1"/>
              </p:cNvSpPr>
              <p:nvPr>
                <p:custDataLst>
                  <p:tags r:id="rId31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51" name="组合 150"/>
            <p:cNvGrpSpPr/>
            <p:nvPr/>
          </p:nvGrpSpPr>
          <p:grpSpPr>
            <a:xfrm>
              <a:off x="8722" y="2247"/>
              <a:ext cx="270" cy="270"/>
              <a:chOff x="3449" y="367"/>
              <a:chExt cx="270" cy="270"/>
            </a:xfrm>
          </p:grpSpPr>
          <p:sp>
            <p:nvSpPr>
              <p:cNvPr id="152" name="椭圆 151"/>
              <p:cNvSpPr>
                <a:spLocks noGrp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3" name="椭圆 152"/>
              <p:cNvSpPr>
                <a:spLocks noGrp="1"/>
              </p:cNvSpPr>
              <p:nvPr>
                <p:custDataLst>
                  <p:tags r:id="rId33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cxnSp>
          <p:nvCxnSpPr>
            <p:cNvPr id="290" name="曲线连接符 289"/>
            <p:cNvCxnSpPr/>
            <p:nvPr/>
          </p:nvCxnSpPr>
          <p:spPr>
            <a:xfrm flipV="1">
              <a:off x="8163" y="4153"/>
              <a:ext cx="1247" cy="567"/>
            </a:xfrm>
            <a:prstGeom prst="curvedConnector3">
              <a:avLst>
                <a:gd name="adj1" fmla="val 54370"/>
              </a:avLst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7" name="组合 156"/>
            <p:cNvGrpSpPr/>
            <p:nvPr/>
          </p:nvGrpSpPr>
          <p:grpSpPr>
            <a:xfrm>
              <a:off x="10219" y="1648"/>
              <a:ext cx="270" cy="270"/>
              <a:chOff x="3449" y="367"/>
              <a:chExt cx="270" cy="270"/>
            </a:xfrm>
          </p:grpSpPr>
          <p:sp>
            <p:nvSpPr>
              <p:cNvPr id="158" name="椭圆 157"/>
              <p:cNvSpPr>
                <a:spLocks noGrp="1"/>
              </p:cNvSpPr>
              <p:nvPr>
                <p:custDataLst>
                  <p:tags r:id="rId34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9" name="椭圆 158"/>
              <p:cNvSpPr>
                <a:spLocks noGrp="1"/>
              </p:cNvSpPr>
              <p:nvPr>
                <p:custDataLst>
                  <p:tags r:id="rId35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10219" y="2227"/>
              <a:ext cx="270" cy="270"/>
              <a:chOff x="3449" y="367"/>
              <a:chExt cx="270" cy="270"/>
            </a:xfrm>
          </p:grpSpPr>
          <p:sp>
            <p:nvSpPr>
              <p:cNvPr id="161" name="椭圆 160"/>
              <p:cNvSpPr>
                <a:spLocks noGrp="1"/>
              </p:cNvSpPr>
              <p:nvPr>
                <p:custDataLst>
                  <p:tags r:id="rId36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2" name="椭圆 161"/>
              <p:cNvSpPr>
                <a:spLocks noGrp="1"/>
              </p:cNvSpPr>
              <p:nvPr>
                <p:custDataLst>
                  <p:tags r:id="rId37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10219" y="3786"/>
              <a:ext cx="270" cy="270"/>
              <a:chOff x="3449" y="367"/>
              <a:chExt cx="270" cy="270"/>
            </a:xfrm>
          </p:grpSpPr>
          <p:sp>
            <p:nvSpPr>
              <p:cNvPr id="164" name="椭圆 163"/>
              <p:cNvSpPr>
                <a:spLocks noGrp="1"/>
              </p:cNvSpPr>
              <p:nvPr>
                <p:custDataLst>
                  <p:tags r:id="rId38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5" name="椭圆 164"/>
              <p:cNvSpPr>
                <a:spLocks noGrp="1"/>
              </p:cNvSpPr>
              <p:nvPr>
                <p:custDataLst>
                  <p:tags r:id="rId39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10219" y="4353"/>
              <a:ext cx="270" cy="270"/>
              <a:chOff x="3449" y="367"/>
              <a:chExt cx="270" cy="270"/>
            </a:xfrm>
          </p:grpSpPr>
          <p:sp>
            <p:nvSpPr>
              <p:cNvPr id="167" name="椭圆 166"/>
              <p:cNvSpPr>
                <a:spLocks noGrp="1"/>
              </p:cNvSpPr>
              <p:nvPr>
                <p:custDataLst>
                  <p:tags r:id="rId40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8" name="椭圆 167"/>
              <p:cNvSpPr>
                <a:spLocks noGrp="1"/>
              </p:cNvSpPr>
              <p:nvPr>
                <p:custDataLst>
                  <p:tags r:id="rId41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</p:grpSp>
      <p:sp>
        <p:nvSpPr>
          <p:cNvPr id="169" name="任意多边形 168"/>
          <p:cNvSpPr/>
          <p:nvPr/>
        </p:nvSpPr>
        <p:spPr>
          <a:xfrm>
            <a:off x="5445703" y="257209"/>
            <a:ext cx="12234439" cy="6426886"/>
          </a:xfrm>
          <a:custGeom>
            <a:avLst/>
            <a:gdLst>
              <a:gd name="connsiteX0" fmla="*/ 2789 w 19266"/>
              <a:gd name="connsiteY0" fmla="*/ 4932 h 10121"/>
              <a:gd name="connsiteX1" fmla="*/ 3538 w 19266"/>
              <a:gd name="connsiteY1" fmla="*/ 16 h 10121"/>
              <a:gd name="connsiteX2" fmla="*/ 5929 w 19266"/>
              <a:gd name="connsiteY2" fmla="*/ 32 h 10121"/>
              <a:gd name="connsiteX3" fmla="*/ 7180 w 19266"/>
              <a:gd name="connsiteY3" fmla="*/ 34 h 10121"/>
              <a:gd name="connsiteX4" fmla="*/ 8292 w 19266"/>
              <a:gd name="connsiteY4" fmla="*/ 35 h 10121"/>
              <a:gd name="connsiteX5" fmla="*/ 9822 w 19266"/>
              <a:gd name="connsiteY5" fmla="*/ 37 h 10121"/>
              <a:gd name="connsiteX6" fmla="*/ 11072 w 19266"/>
              <a:gd name="connsiteY6" fmla="*/ 39 h 10121"/>
              <a:gd name="connsiteX7" fmla="*/ 12741 w 19266"/>
              <a:gd name="connsiteY7" fmla="*/ 41 h 10121"/>
              <a:gd name="connsiteX8" fmla="*/ 13852 w 19266"/>
              <a:gd name="connsiteY8" fmla="*/ 42 h 10121"/>
              <a:gd name="connsiteX9" fmla="*/ 15521 w 19266"/>
              <a:gd name="connsiteY9" fmla="*/ 45 h 10121"/>
              <a:gd name="connsiteX10" fmla="*/ 16493 w 19266"/>
              <a:gd name="connsiteY10" fmla="*/ 46 h 10121"/>
              <a:gd name="connsiteX11" fmla="*/ 18162 w 19266"/>
              <a:gd name="connsiteY11" fmla="*/ 48 h 10121"/>
              <a:gd name="connsiteX12" fmla="*/ 19123 w 19266"/>
              <a:gd name="connsiteY12" fmla="*/ 1739 h 10121"/>
              <a:gd name="connsiteX13" fmla="*/ 19112 w 19266"/>
              <a:gd name="connsiteY13" fmla="*/ 8467 h 10121"/>
              <a:gd name="connsiteX14" fmla="*/ 18247 w 19266"/>
              <a:gd name="connsiteY14" fmla="*/ 10067 h 10121"/>
              <a:gd name="connsiteX15" fmla="*/ 17243 w 19266"/>
              <a:gd name="connsiteY15" fmla="*/ 10069 h 10121"/>
              <a:gd name="connsiteX16" fmla="*/ 15885 w 19266"/>
              <a:gd name="connsiteY16" fmla="*/ 10072 h 10121"/>
              <a:gd name="connsiteX17" fmla="*/ 14704 w 19266"/>
              <a:gd name="connsiteY17" fmla="*/ 10074 h 10121"/>
              <a:gd name="connsiteX18" fmla="*/ 13875 w 19266"/>
              <a:gd name="connsiteY18" fmla="*/ 10076 h 10121"/>
              <a:gd name="connsiteX19" fmla="*/ 12871 w 19266"/>
              <a:gd name="connsiteY19" fmla="*/ 10078 h 10121"/>
              <a:gd name="connsiteX20" fmla="*/ 11866 w 19266"/>
              <a:gd name="connsiteY20" fmla="*/ 10080 h 10121"/>
              <a:gd name="connsiteX21" fmla="*/ 10686 w 19266"/>
              <a:gd name="connsiteY21" fmla="*/ 10082 h 10121"/>
              <a:gd name="connsiteX22" fmla="*/ 8975 w 19266"/>
              <a:gd name="connsiteY22" fmla="*/ 10086 h 10121"/>
              <a:gd name="connsiteX23" fmla="*/ 7618 w 19266"/>
              <a:gd name="connsiteY23" fmla="*/ 10089 h 10121"/>
              <a:gd name="connsiteX24" fmla="*/ 6436 w 19266"/>
              <a:gd name="connsiteY24" fmla="*/ 10091 h 10121"/>
              <a:gd name="connsiteX25" fmla="*/ 5609 w 19266"/>
              <a:gd name="connsiteY25" fmla="*/ 10093 h 10121"/>
              <a:gd name="connsiteX26" fmla="*/ 4780 w 19266"/>
              <a:gd name="connsiteY26" fmla="*/ 10094 h 10121"/>
              <a:gd name="connsiteX27" fmla="*/ 3247 w 19266"/>
              <a:gd name="connsiteY27" fmla="*/ 10098 h 10121"/>
              <a:gd name="connsiteX28" fmla="*/ 2242 w 19266"/>
              <a:gd name="connsiteY28" fmla="*/ 10100 h 10121"/>
              <a:gd name="connsiteX29" fmla="*/ 599 w 19266"/>
              <a:gd name="connsiteY29" fmla="*/ 10103 h 10121"/>
              <a:gd name="connsiteX30" fmla="*/ 158 w 19266"/>
              <a:gd name="connsiteY30" fmla="*/ 4827 h 10121"/>
              <a:gd name="connsiteX31" fmla="*/ 836 w 19266"/>
              <a:gd name="connsiteY31" fmla="*/ 4890 h 10121"/>
              <a:gd name="connsiteX32" fmla="*/ 2064 w 19266"/>
              <a:gd name="connsiteY32" fmla="*/ 4896 h 10121"/>
              <a:gd name="connsiteX33" fmla="*/ 2789 w 19266"/>
              <a:gd name="connsiteY33" fmla="*/ 4932 h 10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9267" h="10121" extrusionOk="0">
                <a:moveTo>
                  <a:pt x="2789" y="4932"/>
                </a:moveTo>
                <a:cubicBezTo>
                  <a:pt x="2612" y="3919"/>
                  <a:pt x="2243" y="49"/>
                  <a:pt x="3538" y="16"/>
                </a:cubicBezTo>
                <a:cubicBezTo>
                  <a:pt x="4220" y="50"/>
                  <a:pt x="5407" y="44"/>
                  <a:pt x="5929" y="32"/>
                </a:cubicBezTo>
                <a:cubicBezTo>
                  <a:pt x="6451" y="21"/>
                  <a:pt x="6704" y="79"/>
                  <a:pt x="7180" y="34"/>
                </a:cubicBezTo>
                <a:cubicBezTo>
                  <a:pt x="7657" y="-12"/>
                  <a:pt x="7844" y="72"/>
                  <a:pt x="8292" y="35"/>
                </a:cubicBezTo>
                <a:cubicBezTo>
                  <a:pt x="8741" y="-1"/>
                  <a:pt x="9407" y="-22"/>
                  <a:pt x="9822" y="37"/>
                </a:cubicBezTo>
                <a:cubicBezTo>
                  <a:pt x="10235" y="96"/>
                  <a:pt x="10604" y="69"/>
                  <a:pt x="11072" y="39"/>
                </a:cubicBezTo>
                <a:cubicBezTo>
                  <a:pt x="11541" y="8"/>
                  <a:pt x="12280" y="73"/>
                  <a:pt x="12741" y="41"/>
                </a:cubicBezTo>
                <a:cubicBezTo>
                  <a:pt x="13201" y="9"/>
                  <a:pt x="13401" y="8"/>
                  <a:pt x="13852" y="42"/>
                </a:cubicBezTo>
                <a:cubicBezTo>
                  <a:pt x="14305" y="77"/>
                  <a:pt x="15048" y="17"/>
                  <a:pt x="15521" y="45"/>
                </a:cubicBezTo>
                <a:cubicBezTo>
                  <a:pt x="15994" y="72"/>
                  <a:pt x="16111" y="36"/>
                  <a:pt x="16493" y="46"/>
                </a:cubicBezTo>
                <a:cubicBezTo>
                  <a:pt x="16876" y="55"/>
                  <a:pt x="17741" y="44"/>
                  <a:pt x="18162" y="48"/>
                </a:cubicBezTo>
                <a:cubicBezTo>
                  <a:pt x="19446" y="167"/>
                  <a:pt x="19133" y="894"/>
                  <a:pt x="19123" y="1739"/>
                </a:cubicBezTo>
                <a:cubicBezTo>
                  <a:pt x="19287" y="4185"/>
                  <a:pt x="19346" y="6446"/>
                  <a:pt x="19112" y="8467"/>
                </a:cubicBezTo>
                <a:cubicBezTo>
                  <a:pt x="19238" y="9307"/>
                  <a:pt x="19468" y="9918"/>
                  <a:pt x="18247" y="10067"/>
                </a:cubicBezTo>
                <a:cubicBezTo>
                  <a:pt x="17782" y="10066"/>
                  <a:pt x="17495" y="10058"/>
                  <a:pt x="17243" y="10069"/>
                </a:cubicBezTo>
                <a:cubicBezTo>
                  <a:pt x="16989" y="10080"/>
                  <a:pt x="16263" y="10039"/>
                  <a:pt x="15885" y="10072"/>
                </a:cubicBezTo>
                <a:cubicBezTo>
                  <a:pt x="15507" y="10105"/>
                  <a:pt x="15165" y="10110"/>
                  <a:pt x="14704" y="10074"/>
                </a:cubicBezTo>
                <a:cubicBezTo>
                  <a:pt x="14242" y="10039"/>
                  <a:pt x="14277" y="10101"/>
                  <a:pt x="13875" y="10076"/>
                </a:cubicBezTo>
                <a:cubicBezTo>
                  <a:pt x="13474" y="10051"/>
                  <a:pt x="13242" y="10095"/>
                  <a:pt x="12871" y="10078"/>
                </a:cubicBezTo>
                <a:cubicBezTo>
                  <a:pt x="12501" y="10061"/>
                  <a:pt x="12312" y="10102"/>
                  <a:pt x="11866" y="10080"/>
                </a:cubicBezTo>
                <a:cubicBezTo>
                  <a:pt x="11420" y="10058"/>
                  <a:pt x="11149" y="10122"/>
                  <a:pt x="10686" y="10082"/>
                </a:cubicBezTo>
                <a:cubicBezTo>
                  <a:pt x="10222" y="10043"/>
                  <a:pt x="9567" y="10129"/>
                  <a:pt x="8975" y="10086"/>
                </a:cubicBezTo>
                <a:cubicBezTo>
                  <a:pt x="8382" y="10042"/>
                  <a:pt x="7949" y="10045"/>
                  <a:pt x="7618" y="10089"/>
                </a:cubicBezTo>
                <a:cubicBezTo>
                  <a:pt x="7286" y="10132"/>
                  <a:pt x="6959" y="10094"/>
                  <a:pt x="6436" y="10091"/>
                </a:cubicBezTo>
                <a:cubicBezTo>
                  <a:pt x="5913" y="10088"/>
                  <a:pt x="5946" y="10123"/>
                  <a:pt x="5609" y="10093"/>
                </a:cubicBezTo>
                <a:cubicBezTo>
                  <a:pt x="5271" y="10062"/>
                  <a:pt x="5072" y="10121"/>
                  <a:pt x="4780" y="10094"/>
                </a:cubicBezTo>
                <a:cubicBezTo>
                  <a:pt x="4488" y="10068"/>
                  <a:pt x="3837" y="10096"/>
                  <a:pt x="3247" y="10098"/>
                </a:cubicBezTo>
                <a:cubicBezTo>
                  <a:pt x="2655" y="10099"/>
                  <a:pt x="2621" y="10123"/>
                  <a:pt x="2242" y="10100"/>
                </a:cubicBezTo>
                <a:cubicBezTo>
                  <a:pt x="1862" y="10076"/>
                  <a:pt x="1287" y="10155"/>
                  <a:pt x="599" y="10103"/>
                </a:cubicBezTo>
                <a:cubicBezTo>
                  <a:pt x="-357" y="10249"/>
                  <a:pt x="106" y="5740"/>
                  <a:pt x="158" y="4827"/>
                </a:cubicBezTo>
                <a:cubicBezTo>
                  <a:pt x="461" y="4841"/>
                  <a:pt x="498" y="4866"/>
                  <a:pt x="836" y="4890"/>
                </a:cubicBezTo>
                <a:cubicBezTo>
                  <a:pt x="1174" y="4915"/>
                  <a:pt x="1486" y="4850"/>
                  <a:pt x="2064" y="4896"/>
                </a:cubicBezTo>
                <a:cubicBezTo>
                  <a:pt x="2641" y="4942"/>
                  <a:pt x="2180" y="4897"/>
                  <a:pt x="2789" y="4932"/>
                </a:cubicBezTo>
                <a:close/>
              </a:path>
            </a:pathLst>
          </a:custGeom>
          <a:noFill/>
          <a:ln w="254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大括号 7"/>
          <p:cNvSpPr/>
          <p:nvPr/>
        </p:nvSpPr>
        <p:spPr>
          <a:xfrm rot="16200000">
            <a:off x="8800610" y="836295"/>
            <a:ext cx="349250" cy="2454275"/>
          </a:xfrm>
          <a:prstGeom prst="leftBrace">
            <a:avLst>
              <a:gd name="adj1" fmla="val 8333"/>
              <a:gd name="adj2" fmla="val 5002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2"/>
            </p:custDataLst>
          </p:nvPr>
        </p:nvSpPr>
        <p:spPr>
          <a:xfrm>
            <a:off x="8406910" y="2233295"/>
            <a:ext cx="1136650" cy="273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N windows</a:t>
            </a:r>
            <a:endParaRPr lang="en-US" altLang="zh-CN" sz="1400" b="1" dirty="0">
              <a:solidFill>
                <a:schemeClr val="tx1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11" name="上箭头 10"/>
          <p:cNvSpPr/>
          <p:nvPr/>
        </p:nvSpPr>
        <p:spPr>
          <a:xfrm>
            <a:off x="6507625" y="4286885"/>
            <a:ext cx="80010" cy="269240"/>
          </a:xfrm>
          <a:prstGeom prst="up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上箭头 11"/>
          <p:cNvSpPr/>
          <p:nvPr/>
        </p:nvSpPr>
        <p:spPr>
          <a:xfrm rot="5400000">
            <a:off x="7271725" y="3810440"/>
            <a:ext cx="72000" cy="269240"/>
          </a:xfrm>
          <a:prstGeom prst="up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7442345" y="1185545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0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442345" y="1356995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1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442345" y="1499235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2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442345" y="166370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3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 flipV="1">
            <a:off x="7599825" y="777875"/>
            <a:ext cx="552450" cy="33909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>
            <p:custDataLst>
              <p:tags r:id="rId43"/>
            </p:custDataLst>
          </p:nvPr>
        </p:nvSpPr>
        <p:spPr>
          <a:xfrm>
            <a:off x="7382655" y="625475"/>
            <a:ext cx="1136650" cy="273685"/>
          </a:xfrm>
          <a:prstGeom prst="rect">
            <a:avLst/>
          </a:prstGeom>
          <a:scene3d>
            <a:camera prst="orthographicFront">
              <a:rot lat="0" lon="0" rev="1800000"/>
            </a:camera>
            <a:lightRig rig="threePt" dir="t"/>
          </a:scene3d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W time steps</a:t>
            </a:r>
            <a:endParaRPr lang="en-US" altLang="zh-CN" sz="1000" b="1" dirty="0">
              <a:solidFill>
                <a:schemeClr val="tx1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V="1">
            <a:off x="10551795" y="1047750"/>
            <a:ext cx="14732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圆角矩形 35"/>
          <p:cNvSpPr/>
          <p:nvPr/>
        </p:nvSpPr>
        <p:spPr>
          <a:xfrm>
            <a:off x="10699115" y="1175385"/>
            <a:ext cx="604520" cy="269240"/>
          </a:xfrm>
          <a:prstGeom prst="roundRect">
            <a:avLst/>
          </a:prstGeom>
          <a:solidFill>
            <a:srgbClr val="96DAC3"/>
          </a:solidFill>
          <a:ln>
            <a:solidFill>
              <a:srgbClr val="96DAC3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0" name="组合 39"/>
          <p:cNvGrpSpPr/>
          <p:nvPr/>
        </p:nvGrpSpPr>
        <p:grpSpPr>
          <a:xfrm>
            <a:off x="11127740" y="976630"/>
            <a:ext cx="882650" cy="1034415"/>
            <a:chOff x="17524" y="1538"/>
            <a:chExt cx="1390" cy="1629"/>
          </a:xfrm>
        </p:grpSpPr>
        <p:grpSp>
          <p:nvGrpSpPr>
            <p:cNvPr id="30" name="组合 29"/>
            <p:cNvGrpSpPr/>
            <p:nvPr/>
          </p:nvGrpSpPr>
          <p:grpSpPr>
            <a:xfrm rot="0"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0B4AF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矩形 31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548F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3" name="矩形 32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F6A79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4" name="矩形 33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本框 36"/>
                <p:cNvSpPr txBox="1"/>
                <p:nvPr/>
              </p:nvSpPr>
              <p:spPr>
                <a:xfrm>
                  <a:off x="17524" y="2611"/>
                  <a:ext cx="1390" cy="557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𝒈𝒍𝒐𝒃𝒂𝒍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37" name="文本框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390" cy="557"/>
                </a:xfrm>
                <a:prstGeom prst="rect">
                  <a:avLst/>
                </a:prstGeom>
                <a:blipFill rotWithShape="1">
                  <a:blip r:embed="rId4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" name="组合 40"/>
          <p:cNvGrpSpPr/>
          <p:nvPr/>
        </p:nvGrpSpPr>
        <p:grpSpPr>
          <a:xfrm>
            <a:off x="11198860" y="2623820"/>
            <a:ext cx="740410" cy="1049655"/>
            <a:chOff x="17524" y="1538"/>
            <a:chExt cx="1166" cy="1653"/>
          </a:xfrm>
        </p:grpSpPr>
        <p:grpSp>
          <p:nvGrpSpPr>
            <p:cNvPr id="42" name="组合 41"/>
            <p:cNvGrpSpPr/>
            <p:nvPr/>
          </p:nvGrpSpPr>
          <p:grpSpPr>
            <a:xfrm rot="0"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5C5A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0A8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008C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006F77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/>
                <p:cNvSpPr txBox="1"/>
                <p:nvPr/>
              </p:nvSpPr>
              <p:spPr>
                <a:xfrm>
                  <a:off x="17524" y="2611"/>
                  <a:ext cx="116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𝒍𝒐𝒄𝒂𝒍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37" name="文本框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166" cy="580"/>
                </a:xfrm>
                <a:prstGeom prst="rect">
                  <a:avLst/>
                </a:prstGeom>
                <a:blipFill rotWithShape="1">
                  <a:blip r:embed="rId4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8" name="组合 137"/>
          <p:cNvGrpSpPr/>
          <p:nvPr/>
        </p:nvGrpSpPr>
        <p:grpSpPr>
          <a:xfrm>
            <a:off x="11198860" y="3828415"/>
            <a:ext cx="888365" cy="1038225"/>
            <a:chOff x="17524" y="1538"/>
            <a:chExt cx="1399" cy="1635"/>
          </a:xfrm>
        </p:grpSpPr>
        <p:grpSp>
          <p:nvGrpSpPr>
            <p:cNvPr id="170" name="组合 169"/>
            <p:cNvGrpSpPr/>
            <p:nvPr/>
          </p:nvGrpSpPr>
          <p:grpSpPr>
            <a:xfrm rot="0"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71" name="矩形 170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995D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9076C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9F569A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A1356B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文本框 174"/>
                <p:cNvSpPr txBox="1"/>
                <p:nvPr/>
              </p:nvSpPr>
              <p:spPr>
                <a:xfrm>
                  <a:off x="17524" y="2611"/>
                  <a:ext cx="1399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𝒈𝒍𝒐𝒃𝒂𝒍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75" name="文本框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399" cy="562"/>
                </a:xfrm>
                <a:prstGeom prst="rect">
                  <a:avLst/>
                </a:prstGeom>
                <a:blipFill rotWithShape="1">
                  <a:blip r:embed="rId4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76" name="组合 175"/>
          <p:cNvGrpSpPr/>
          <p:nvPr/>
        </p:nvGrpSpPr>
        <p:grpSpPr>
          <a:xfrm>
            <a:off x="11198860" y="5086985"/>
            <a:ext cx="759460" cy="1049655"/>
            <a:chOff x="17524" y="1538"/>
            <a:chExt cx="1196" cy="1653"/>
          </a:xfrm>
        </p:grpSpPr>
        <p:grpSp>
          <p:nvGrpSpPr>
            <p:cNvPr id="177" name="组合 176"/>
            <p:cNvGrpSpPr/>
            <p:nvPr/>
          </p:nvGrpSpPr>
          <p:grpSpPr>
            <a:xfrm rot="0"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78" name="矩形 17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文本框 181"/>
                <p:cNvSpPr txBox="1"/>
                <p:nvPr/>
              </p:nvSpPr>
              <p:spPr>
                <a:xfrm>
                  <a:off x="17524" y="2611"/>
                  <a:ext cx="119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charset="0"/>
                                <a:cs typeface="Cambria Math" panose="02040503050406030204" charset="0"/>
                              </a:rPr>
                              <m:t>𝒍𝒐𝒄𝒂𝒍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82" name="文本框 1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196" cy="580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8" name="组合 187"/>
          <p:cNvGrpSpPr/>
          <p:nvPr/>
        </p:nvGrpSpPr>
        <p:grpSpPr>
          <a:xfrm>
            <a:off x="970280" y="6402388"/>
            <a:ext cx="171450" cy="171450"/>
            <a:chOff x="1336" y="10119"/>
            <a:chExt cx="270" cy="270"/>
          </a:xfrm>
        </p:grpSpPr>
        <p:sp>
          <p:nvSpPr>
            <p:cNvPr id="183" name="椭圆 182"/>
            <p:cNvSpPr>
              <a:spLocks noGrp="1"/>
            </p:cNvSpPr>
            <p:nvPr>
              <p:custDataLst>
                <p:tags r:id="rId48"/>
              </p:custDataLst>
            </p:nvPr>
          </p:nvSpPr>
          <p:spPr>
            <a:xfrm>
              <a:off x="1336" y="10119"/>
              <a:ext cx="270" cy="270"/>
            </a:xfrm>
            <a:prstGeom prst="ellipse">
              <a:avLst/>
            </a:prstGeom>
            <a:solidFill>
              <a:srgbClr val="34D399"/>
            </a:solidFill>
            <a:ln w="11430">
              <a:solidFill>
                <a:srgbClr val="00B050"/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sp>
          <p:nvSpPr>
            <p:cNvPr id="185" name="椭圆 184"/>
            <p:cNvSpPr>
              <a:spLocks noGrp="1"/>
            </p:cNvSpPr>
            <p:nvPr>
              <p:custDataLst>
                <p:tags r:id="rId49"/>
              </p:custDataLst>
            </p:nvPr>
          </p:nvSpPr>
          <p:spPr>
            <a:xfrm>
              <a:off x="1415" y="10198"/>
              <a:ext cx="113" cy="11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143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sp>
        <p:nvSpPr>
          <p:cNvPr id="187" name="文本框 186"/>
          <p:cNvSpPr txBox="1"/>
          <p:nvPr/>
        </p:nvSpPr>
        <p:spPr>
          <a:xfrm>
            <a:off x="1155065" y="6319520"/>
            <a:ext cx="282384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Comic Sans MS" panose="030F0702030302020204" charset="0"/>
                <a:cs typeface="Comic Sans MS" panose="030F0702030302020204" charset="0"/>
              </a:rPr>
              <a:t>CfC-based Liquid Neuron</a:t>
            </a:r>
            <a:endParaRPr lang="en-US" altLang="zh-CN" sz="160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189" name="直接箭头连接符 188"/>
          <p:cNvCxnSpPr/>
          <p:nvPr/>
        </p:nvCxnSpPr>
        <p:spPr>
          <a:xfrm flipH="1">
            <a:off x="7539355" y="2917190"/>
            <a:ext cx="5715" cy="584835"/>
          </a:xfrm>
          <a:prstGeom prst="straightConnector1">
            <a:avLst/>
          </a:prstGeom>
          <a:ln>
            <a:solidFill>
              <a:srgbClr val="65C5A8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0" name="直接箭头连接符 189"/>
          <p:cNvCxnSpPr/>
          <p:nvPr/>
        </p:nvCxnSpPr>
        <p:spPr>
          <a:xfrm flipH="1">
            <a:off x="8308340" y="2997200"/>
            <a:ext cx="5715" cy="584835"/>
          </a:xfrm>
          <a:prstGeom prst="straightConnector1">
            <a:avLst/>
          </a:prstGeom>
          <a:ln>
            <a:solidFill>
              <a:srgbClr val="20A89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1" name="直接箭头连接符 190"/>
          <p:cNvCxnSpPr/>
          <p:nvPr/>
        </p:nvCxnSpPr>
        <p:spPr>
          <a:xfrm flipH="1">
            <a:off x="9079865" y="3021330"/>
            <a:ext cx="5715" cy="584835"/>
          </a:xfrm>
          <a:prstGeom prst="straightConnector1">
            <a:avLst/>
          </a:prstGeom>
          <a:ln>
            <a:solidFill>
              <a:srgbClr val="008C8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2" name="直接箭头连接符 191"/>
          <p:cNvCxnSpPr/>
          <p:nvPr/>
        </p:nvCxnSpPr>
        <p:spPr>
          <a:xfrm flipH="1">
            <a:off x="9838055" y="3091815"/>
            <a:ext cx="5715" cy="584835"/>
          </a:xfrm>
          <a:prstGeom prst="straightConnector1">
            <a:avLst/>
          </a:prstGeom>
          <a:ln>
            <a:solidFill>
              <a:srgbClr val="006F77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6"/>
          </a:solidFill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WPS 演示</Application>
  <PresentationFormat>宽屏</PresentationFormat>
  <Paragraphs>55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Comic Sans MS</vt:lpstr>
      <vt:lpstr>微软雅黑</vt:lpstr>
      <vt:lpstr>Calibri</vt:lpstr>
      <vt:lpstr>Arial Unicode MS</vt:lpstr>
      <vt:lpstr>Cambria Math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57</cp:revision>
  <dcterms:created xsi:type="dcterms:W3CDTF">2026-07-07T08:50:00Z</dcterms:created>
  <dcterms:modified xsi:type="dcterms:W3CDTF">2026-07-10T14:56:22Z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B19321D44F3446A58AC947E3D4A7639B_13</vt:lpwstr>
  </property>
  <property fmtid="{D5CDD505-2E9C-101B-9397-08002B2CF9AE}" pid="3" name="KSOProductBuildVer">
    <vt:lpwstr>2052-12.1.0.23542</vt:lpwstr>
  </property>
</Properties>
</file>