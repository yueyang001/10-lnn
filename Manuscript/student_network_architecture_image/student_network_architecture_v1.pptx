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896C"/>
    <a:srgbClr val="18B760"/>
    <a:srgbClr val="34D399"/>
    <a:srgbClr val="C0E587"/>
    <a:srgbClr val="ECFD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36" name="圆角矩形 35"/>
          <p:cNvSpPr>
            <a:spLocks noGrp="1"/>
          </p:cNvSpPr>
          <p:nvPr/>
        </p:nvSpPr>
        <p:spPr>
          <a:xfrm>
            <a:off x="4007485" y="1412240"/>
            <a:ext cx="4095750" cy="3676650"/>
          </a:xfrm>
          <a:prstGeom prst="roundRect">
            <a:avLst>
              <a:gd name="adj" fmla="val 3109"/>
            </a:avLst>
          </a:prstGeom>
          <a:solidFill>
            <a:srgbClr val="F0FDF4"/>
          </a:solidFill>
          <a:ln w="19050">
            <a:solidFill>
              <a:srgbClr val="047857"/>
            </a:solidFill>
            <a:prstDash val="solid"/>
          </a:ln>
        </p:spPr>
        <p:txBody>
          <a:bodyPr/>
          <a:p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2667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3B2A"/>
                </a:solidFill>
              </a:defRPr>
            </a:pPr>
            <a:r>
              <a:rPr sz="2250" b="1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rPr>
              <a:t>Student Network Tensor Flow</a:t>
            </a:r>
            <a:endParaRPr sz="2250" b="1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81700" y="3619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  <a:latin typeface="Comic Sans MS" panose="030F0702030302020204" charset="0"/>
                <a:cs typeface="Comic Sans MS" panose="030F0702030302020204" charset="0"/>
              </a:rPr>
              <a:t>B=batch   L=waveform   T_S=16   C=64   K=classes   W=4</a:t>
            </a:r>
            <a:endParaRPr sz="1200" b="0">
              <a:solidFill>
                <a:srgbClr val="64748B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69925" y="3608070"/>
            <a:ext cx="1200150" cy="723900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3B2A"/>
                </a:solidFill>
              </a:defRPr>
            </a:pPr>
            <a:r>
              <a:rPr sz="1425" b="1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rPr>
              <a:t>1D CNN</a:t>
            </a:r>
            <a:endParaRPr sz="1425" b="1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3570" y="2836545"/>
            <a:ext cx="139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  <a:latin typeface="Comic Sans MS" panose="030F0702030302020204" charset="0"/>
                <a:cs typeface="Comic Sans MS" panose="030F0702030302020204" charset="0"/>
              </a:rPr>
              <a:t>downsample</a:t>
            </a:r>
            <a:endParaRPr sz="975" b="0">
              <a:solidFill>
                <a:srgbClr val="64748B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圆角矩形 18"/>
              <p:cNvSpPr>
                <a:spLocks noGrp="1"/>
              </p:cNvSpPr>
              <p:nvPr/>
            </p:nvSpPr>
            <p:spPr>
              <a:xfrm>
                <a:off x="2279650" y="3760470"/>
                <a:ext cx="1143000" cy="438150"/>
              </a:xfrm>
              <a:prstGeom prst="roundRect">
                <a:avLst>
                  <a:gd name="adj" fmla="val 10526"/>
                </a:avLst>
              </a:prstGeom>
              <a:solidFill>
                <a:srgbClr val="FFFFFF"/>
              </a:solidFill>
              <a:ln w="15240">
                <a:solidFill>
                  <a:srgbClr val="0478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1650" b="1">
                    <a:solidFill>
                      <a:srgbClr val="113B2A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50" b="1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𝐻</m:t>
                          </m:r>
                        </m:e>
                        <m:sub>
                          <m:r>
                            <a:rPr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𝑆</m:t>
                          </m:r>
                          <m:r>
                            <a:rPr b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 </m:t>
                          </m:r>
                        </m:sub>
                      </m:sSub>
                    </m:oMath>
                  </m:oMathPara>
                </a14:m>
                <a:endParaRPr lang="en-US" sz="1650" b="1" i="1">
                  <a:solidFill>
                    <a:schemeClr val="accent3">
                      <a:lumMod val="75000"/>
                    </a:schemeClr>
                  </a:solidFill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mc:Choice>
        <mc:Fallback>
          <p:sp>
            <p:nvSpPr>
              <p:cNvPr id="19" name="圆角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650" y="3760470"/>
                <a:ext cx="1143000" cy="438150"/>
              </a:xfrm>
              <a:prstGeom prst="roundRect">
                <a:avLst>
                  <a:gd name="adj" fmla="val 10526"/>
                </a:avLst>
              </a:prstGeom>
              <a:blipFill rotWithShape="1">
                <a:blip r:embed="rId1"/>
                <a:stretch>
                  <a:fillRect l="-667" t="-1739" r="-667" b="-1739"/>
                </a:stretch>
              </a:blipFill>
              <a:ln w="15240">
                <a:solidFill>
                  <a:srgbClr val="047857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8" name="组合 177"/>
          <p:cNvGrpSpPr/>
          <p:nvPr/>
        </p:nvGrpSpPr>
        <p:grpSpPr>
          <a:xfrm>
            <a:off x="2228850" y="4446270"/>
            <a:ext cx="1390650" cy="628650"/>
            <a:chOff x="3425" y="6222"/>
            <a:chExt cx="2190" cy="990"/>
          </a:xfrm>
        </p:grpSpPr>
        <p:grpSp>
          <p:nvGrpSpPr>
            <p:cNvPr id="177" name="组合 176"/>
            <p:cNvGrpSpPr/>
            <p:nvPr/>
          </p:nvGrpSpPr>
          <p:grpSpPr>
            <a:xfrm>
              <a:off x="3995" y="6222"/>
              <a:ext cx="974" cy="554"/>
              <a:chOff x="3995" y="6222"/>
              <a:chExt cx="974" cy="554"/>
            </a:xfrm>
          </p:grpSpPr>
          <p:sp>
            <p:nvSpPr>
              <p:cNvPr id="20" name="矩形 19"/>
              <p:cNvSpPr>
                <a:spLocks noGrp="1"/>
              </p:cNvSpPr>
              <p:nvPr/>
            </p:nvSpPr>
            <p:spPr>
              <a:xfrm>
                <a:off x="3995" y="6222"/>
                <a:ext cx="135" cy="135"/>
              </a:xfrm>
              <a:prstGeom prst="rect">
                <a:avLst/>
              </a:prstGeom>
              <a:solidFill>
                <a:srgbClr val="D1FAE5"/>
              </a:solidFill>
              <a:ln w="9525">
                <a:solidFill>
                  <a:srgbClr val="10B981"/>
                </a:solidFill>
                <a:prstDash val="solid"/>
              </a:ln>
            </p:spPr>
          </p:sp>
          <p:sp>
            <p:nvSpPr>
              <p:cNvPr id="21" name="矩形 20"/>
              <p:cNvSpPr>
                <a:spLocks noGrp="1"/>
              </p:cNvSpPr>
              <p:nvPr/>
            </p:nvSpPr>
            <p:spPr>
              <a:xfrm>
                <a:off x="4205" y="6222"/>
                <a:ext cx="135" cy="135"/>
              </a:xfrm>
              <a:prstGeom prst="rect">
                <a:avLst/>
              </a:prstGeom>
              <a:solidFill>
                <a:srgbClr val="D1FAE5"/>
              </a:solidFill>
              <a:ln w="9525">
                <a:solidFill>
                  <a:srgbClr val="10B981"/>
                </a:solidFill>
                <a:prstDash val="solid"/>
              </a:ln>
            </p:spPr>
          </p:sp>
          <p:sp>
            <p:nvSpPr>
              <p:cNvPr id="22" name="矩形 21"/>
              <p:cNvSpPr>
                <a:spLocks noGrp="1"/>
              </p:cNvSpPr>
              <p:nvPr/>
            </p:nvSpPr>
            <p:spPr>
              <a:xfrm>
                <a:off x="4415" y="6222"/>
                <a:ext cx="135" cy="135"/>
              </a:xfrm>
              <a:prstGeom prst="rect">
                <a:avLst/>
              </a:prstGeom>
              <a:solidFill>
                <a:srgbClr val="D1FAE5"/>
              </a:solidFill>
              <a:ln w="9525">
                <a:solidFill>
                  <a:srgbClr val="10B981"/>
                </a:solidFill>
                <a:prstDash val="solid"/>
              </a:ln>
            </p:spPr>
          </p:sp>
          <p:sp>
            <p:nvSpPr>
              <p:cNvPr id="23" name="矩形 22"/>
              <p:cNvSpPr>
                <a:spLocks noGrp="1"/>
              </p:cNvSpPr>
              <p:nvPr/>
            </p:nvSpPr>
            <p:spPr>
              <a:xfrm>
                <a:off x="4625" y="6222"/>
                <a:ext cx="135" cy="135"/>
              </a:xfrm>
              <a:prstGeom prst="rect">
                <a:avLst/>
              </a:prstGeom>
              <a:solidFill>
                <a:srgbClr val="D1FAE5"/>
              </a:solidFill>
              <a:ln w="9525">
                <a:solidFill>
                  <a:srgbClr val="10B981"/>
                </a:solidFill>
                <a:prstDash val="solid"/>
              </a:ln>
            </p:spPr>
          </p:sp>
          <p:sp>
            <p:nvSpPr>
              <p:cNvPr id="24" name="矩形 23"/>
              <p:cNvSpPr>
                <a:spLocks noGrp="1"/>
              </p:cNvSpPr>
              <p:nvPr/>
            </p:nvSpPr>
            <p:spPr>
              <a:xfrm>
                <a:off x="4835" y="6222"/>
                <a:ext cx="135" cy="135"/>
              </a:xfrm>
              <a:prstGeom prst="rect">
                <a:avLst/>
              </a:prstGeom>
              <a:solidFill>
                <a:srgbClr val="D1FAE5"/>
              </a:solidFill>
              <a:ln w="9525">
                <a:solidFill>
                  <a:srgbClr val="10B981"/>
                </a:solidFill>
                <a:prstDash val="solid"/>
              </a:ln>
            </p:spPr>
          </p:sp>
          <p:sp>
            <p:nvSpPr>
              <p:cNvPr id="25" name="矩形 24"/>
              <p:cNvSpPr>
                <a:spLocks noGrp="1"/>
              </p:cNvSpPr>
              <p:nvPr/>
            </p:nvSpPr>
            <p:spPr>
              <a:xfrm>
                <a:off x="3995" y="6432"/>
                <a:ext cx="135" cy="135"/>
              </a:xfrm>
              <a:prstGeom prst="rect">
                <a:avLst/>
              </a:prstGeom>
              <a:solidFill>
                <a:srgbClr val="D1FAE5"/>
              </a:solidFill>
              <a:ln w="9525">
                <a:solidFill>
                  <a:srgbClr val="10B981"/>
                </a:solidFill>
                <a:prstDash val="solid"/>
              </a:ln>
            </p:spPr>
          </p:sp>
          <p:sp>
            <p:nvSpPr>
              <p:cNvPr id="26" name="矩形 25"/>
              <p:cNvSpPr>
                <a:spLocks noGrp="1"/>
              </p:cNvSpPr>
              <p:nvPr/>
            </p:nvSpPr>
            <p:spPr>
              <a:xfrm>
                <a:off x="4205" y="6432"/>
                <a:ext cx="135" cy="135"/>
              </a:xfrm>
              <a:prstGeom prst="rect">
                <a:avLst/>
              </a:prstGeom>
              <a:solidFill>
                <a:srgbClr val="D1FAE5"/>
              </a:solidFill>
              <a:ln w="9525">
                <a:solidFill>
                  <a:srgbClr val="10B981"/>
                </a:solidFill>
                <a:prstDash val="solid"/>
              </a:ln>
            </p:spPr>
          </p:sp>
          <p:sp>
            <p:nvSpPr>
              <p:cNvPr id="27" name="矩形 26"/>
              <p:cNvSpPr>
                <a:spLocks noGrp="1"/>
              </p:cNvSpPr>
              <p:nvPr/>
            </p:nvSpPr>
            <p:spPr>
              <a:xfrm>
                <a:off x="4415" y="6432"/>
                <a:ext cx="135" cy="135"/>
              </a:xfrm>
              <a:prstGeom prst="rect">
                <a:avLst/>
              </a:prstGeom>
              <a:solidFill>
                <a:srgbClr val="D1FAE5"/>
              </a:solidFill>
              <a:ln w="9525">
                <a:solidFill>
                  <a:srgbClr val="10B981"/>
                </a:solidFill>
                <a:prstDash val="solid"/>
              </a:ln>
            </p:spPr>
          </p:sp>
          <p:sp>
            <p:nvSpPr>
              <p:cNvPr id="28" name="矩形 27"/>
              <p:cNvSpPr>
                <a:spLocks noGrp="1"/>
              </p:cNvSpPr>
              <p:nvPr/>
            </p:nvSpPr>
            <p:spPr>
              <a:xfrm>
                <a:off x="4625" y="6432"/>
                <a:ext cx="135" cy="135"/>
              </a:xfrm>
              <a:prstGeom prst="rect">
                <a:avLst/>
              </a:prstGeom>
              <a:solidFill>
                <a:srgbClr val="D1FAE5"/>
              </a:solidFill>
              <a:ln w="9525">
                <a:solidFill>
                  <a:srgbClr val="10B981"/>
                </a:solidFill>
                <a:prstDash val="solid"/>
              </a:ln>
            </p:spPr>
          </p:sp>
          <p:sp>
            <p:nvSpPr>
              <p:cNvPr id="29" name="矩形 28"/>
              <p:cNvSpPr>
                <a:spLocks noGrp="1"/>
              </p:cNvSpPr>
              <p:nvPr/>
            </p:nvSpPr>
            <p:spPr>
              <a:xfrm>
                <a:off x="4835" y="6432"/>
                <a:ext cx="135" cy="135"/>
              </a:xfrm>
              <a:prstGeom prst="rect">
                <a:avLst/>
              </a:prstGeom>
              <a:solidFill>
                <a:srgbClr val="D1FAE5"/>
              </a:solidFill>
              <a:ln w="9525">
                <a:solidFill>
                  <a:srgbClr val="10B981"/>
                </a:solidFill>
                <a:prstDash val="solid"/>
              </a:ln>
            </p:spPr>
          </p:sp>
          <p:sp>
            <p:nvSpPr>
              <p:cNvPr id="30" name="矩形 29"/>
              <p:cNvSpPr>
                <a:spLocks noGrp="1"/>
              </p:cNvSpPr>
              <p:nvPr/>
            </p:nvSpPr>
            <p:spPr>
              <a:xfrm>
                <a:off x="3995" y="6642"/>
                <a:ext cx="135" cy="135"/>
              </a:xfrm>
              <a:prstGeom prst="rect">
                <a:avLst/>
              </a:prstGeom>
              <a:solidFill>
                <a:srgbClr val="D1FAE5"/>
              </a:solidFill>
              <a:ln w="9525">
                <a:solidFill>
                  <a:srgbClr val="10B981"/>
                </a:solidFill>
                <a:prstDash val="solid"/>
              </a:ln>
            </p:spPr>
          </p:sp>
          <p:sp>
            <p:nvSpPr>
              <p:cNvPr id="31" name="矩形 30"/>
              <p:cNvSpPr>
                <a:spLocks noGrp="1"/>
              </p:cNvSpPr>
              <p:nvPr/>
            </p:nvSpPr>
            <p:spPr>
              <a:xfrm>
                <a:off x="4205" y="6642"/>
                <a:ext cx="135" cy="135"/>
              </a:xfrm>
              <a:prstGeom prst="rect">
                <a:avLst/>
              </a:prstGeom>
              <a:solidFill>
                <a:srgbClr val="D1FAE5"/>
              </a:solidFill>
              <a:ln w="9525">
                <a:solidFill>
                  <a:srgbClr val="10B981"/>
                </a:solidFill>
                <a:prstDash val="solid"/>
              </a:ln>
            </p:spPr>
          </p:sp>
          <p:sp>
            <p:nvSpPr>
              <p:cNvPr id="32" name="矩形 31"/>
              <p:cNvSpPr>
                <a:spLocks noGrp="1"/>
              </p:cNvSpPr>
              <p:nvPr/>
            </p:nvSpPr>
            <p:spPr>
              <a:xfrm>
                <a:off x="4415" y="6642"/>
                <a:ext cx="135" cy="135"/>
              </a:xfrm>
              <a:prstGeom prst="rect">
                <a:avLst/>
              </a:prstGeom>
              <a:solidFill>
                <a:srgbClr val="D1FAE5"/>
              </a:solidFill>
              <a:ln w="9525">
                <a:solidFill>
                  <a:srgbClr val="10B981"/>
                </a:solidFill>
                <a:prstDash val="solid"/>
              </a:ln>
            </p:spPr>
          </p:sp>
          <p:sp>
            <p:nvSpPr>
              <p:cNvPr id="33" name="矩形 32"/>
              <p:cNvSpPr>
                <a:spLocks noGrp="1"/>
              </p:cNvSpPr>
              <p:nvPr/>
            </p:nvSpPr>
            <p:spPr>
              <a:xfrm>
                <a:off x="4625" y="6642"/>
                <a:ext cx="135" cy="135"/>
              </a:xfrm>
              <a:prstGeom prst="rect">
                <a:avLst/>
              </a:prstGeom>
              <a:solidFill>
                <a:srgbClr val="D1FAE5"/>
              </a:solidFill>
              <a:ln w="9525">
                <a:solidFill>
                  <a:srgbClr val="10B981"/>
                </a:solidFill>
                <a:prstDash val="solid"/>
              </a:ln>
            </p:spPr>
          </p:sp>
          <p:sp>
            <p:nvSpPr>
              <p:cNvPr id="34" name="矩形 33"/>
              <p:cNvSpPr>
                <a:spLocks noGrp="1"/>
              </p:cNvSpPr>
              <p:nvPr/>
            </p:nvSpPr>
            <p:spPr>
              <a:xfrm>
                <a:off x="4835" y="6642"/>
                <a:ext cx="135" cy="135"/>
              </a:xfrm>
              <a:prstGeom prst="rect">
                <a:avLst/>
              </a:prstGeom>
              <a:solidFill>
                <a:srgbClr val="D1FAE5"/>
              </a:solidFill>
              <a:ln w="9525">
                <a:solidFill>
                  <a:srgbClr val="10B981"/>
                </a:solidFill>
                <a:prstDash val="solid"/>
              </a:ln>
            </p:spPr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矩形 34"/>
                <p:cNvSpPr>
                  <a:spLocks noGrp="1"/>
                </p:cNvSpPr>
                <p:nvPr/>
              </p:nvSpPr>
              <p:spPr>
                <a:xfrm>
                  <a:off x="3425" y="6882"/>
                  <a:ext cx="2190" cy="33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algn="ctr">
                    <a:defRPr sz="1050" b="0">
                      <a:solidFill>
                        <a:srgbClr val="047857"/>
                      </a:solidFill>
                    </a:defRPr>
                  </a:pPr>
                  <a:r>
                    <a:rPr sz="1050" b="0">
                      <a:solidFill>
                        <a:srgbClr val="047857"/>
                      </a:solidFill>
                      <a:latin typeface="Comic Sans MS" panose="030F0702030302020204" charset="0"/>
                      <a:cs typeface="Comic Sans MS" panose="030F0702030302020204" charset="0"/>
                    </a:rPr>
                    <a:t>B×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050" b="0" i="1">
                              <a:solidFill>
                                <a:srgbClr val="047857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sz="1050" b="0" i="1">
                              <a:solidFill>
                                <a:srgbClr val="047857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e>
                        <m:sub>
                          <m:r>
                            <a:rPr lang="en-US" sz="1050" b="0" i="1">
                              <a:solidFill>
                                <a:srgbClr val="047857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</m:t>
                          </m:r>
                        </m:sub>
                      </m:sSub>
                    </m:oMath>
                  </a14:m>
                  <a:r>
                    <a:rPr sz="1050" b="0">
                      <a:solidFill>
                        <a:srgbClr val="047857"/>
                      </a:solidFill>
                      <a:latin typeface="Comic Sans MS" panose="030F0702030302020204" charset="0"/>
                      <a:cs typeface="Comic Sans MS" panose="030F0702030302020204" charset="0"/>
                    </a:rPr>
                    <a:t>×C</a:t>
                  </a:r>
                  <a:endParaRPr sz="1050" b="0">
                    <a:solidFill>
                      <a:srgbClr val="047857"/>
                    </a:solidFill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35" name="矩形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5" y="6882"/>
                  <a:ext cx="2190" cy="330"/>
                </a:xfrm>
                <a:prstGeom prst="rect">
                  <a:avLst/>
                </a:prstGeom>
                <a:blipFill rotWithShape="1">
                  <a:blip r:embed="rId2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矩形 36"/>
          <p:cNvSpPr>
            <a:spLocks noGrp="1"/>
          </p:cNvSpPr>
          <p:nvPr/>
        </p:nvSpPr>
        <p:spPr>
          <a:xfrm>
            <a:off x="4098925" y="137922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47857"/>
                </a:solidFill>
              </a:defRPr>
            </a:pPr>
            <a:r>
              <a:rPr sz="1650" b="1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BPCSCFC</a:t>
            </a:r>
            <a:endParaRPr sz="1650" b="1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603875" y="143637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  <a:latin typeface="Comic Sans MS" panose="030F0702030302020204" charset="0"/>
                <a:cs typeface="Comic Sans MS" panose="030F0702030302020204" charset="0"/>
              </a:rPr>
              <a:t>local windows + global stride</a:t>
            </a:r>
            <a:endParaRPr sz="1050" b="0">
              <a:solidFill>
                <a:srgbClr val="64748B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4079240" y="2474595"/>
            <a:ext cx="628650" cy="361950"/>
            <a:chOff x="8910" y="3810"/>
            <a:chExt cx="990" cy="570"/>
          </a:xfrm>
        </p:grpSpPr>
        <p:sp>
          <p:nvSpPr>
            <p:cNvPr id="41" name="矩形 40"/>
            <p:cNvSpPr>
              <a:spLocks noGrp="1"/>
            </p:cNvSpPr>
            <p:nvPr/>
          </p:nvSpPr>
          <p:spPr>
            <a:xfrm>
              <a:off x="8910" y="3810"/>
              <a:ext cx="180" cy="570"/>
            </a:xfrm>
            <a:prstGeom prst="rect">
              <a:avLst/>
            </a:prstGeom>
            <a:solidFill>
              <a:srgbClr val="D1FAE5"/>
            </a:solidFill>
            <a:ln w="9525">
              <a:solidFill>
                <a:srgbClr val="10B981"/>
              </a:solidFill>
              <a:prstDash val="solid"/>
            </a:ln>
          </p:spPr>
        </p:sp>
        <p:sp>
          <p:nvSpPr>
            <p:cNvPr id="42" name="矩形 41"/>
            <p:cNvSpPr>
              <a:spLocks noGrp="1"/>
            </p:cNvSpPr>
            <p:nvPr/>
          </p:nvSpPr>
          <p:spPr>
            <a:xfrm>
              <a:off x="9180" y="3810"/>
              <a:ext cx="180" cy="5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0B981"/>
              </a:solidFill>
              <a:prstDash val="solid"/>
            </a:ln>
          </p:spPr>
        </p:sp>
        <p:sp>
          <p:nvSpPr>
            <p:cNvPr id="43" name="矩形 42"/>
            <p:cNvSpPr>
              <a:spLocks noGrp="1"/>
            </p:cNvSpPr>
            <p:nvPr/>
          </p:nvSpPr>
          <p:spPr>
            <a:xfrm>
              <a:off x="9450" y="3810"/>
              <a:ext cx="180" cy="570"/>
            </a:xfrm>
            <a:prstGeom prst="rect">
              <a:avLst/>
            </a:prstGeom>
            <a:solidFill>
              <a:srgbClr val="D1FAE5"/>
            </a:solidFill>
            <a:ln w="9525">
              <a:solidFill>
                <a:srgbClr val="10B981"/>
              </a:solidFill>
              <a:prstDash val="solid"/>
            </a:ln>
          </p:spPr>
        </p:sp>
        <p:sp>
          <p:nvSpPr>
            <p:cNvPr id="44" name="矩形 43"/>
            <p:cNvSpPr>
              <a:spLocks noGrp="1"/>
            </p:cNvSpPr>
            <p:nvPr/>
          </p:nvSpPr>
          <p:spPr>
            <a:xfrm>
              <a:off x="9720" y="3810"/>
              <a:ext cx="180" cy="5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0B981"/>
              </a:solidFill>
              <a:prstDash val="solid"/>
            </a:ln>
          </p:spPr>
        </p:sp>
      </p:grpSp>
      <p:grpSp>
        <p:nvGrpSpPr>
          <p:cNvPr id="175" name="组合 174"/>
          <p:cNvGrpSpPr/>
          <p:nvPr/>
        </p:nvGrpSpPr>
        <p:grpSpPr>
          <a:xfrm>
            <a:off x="4212590" y="3798570"/>
            <a:ext cx="561340" cy="408940"/>
            <a:chOff x="9030" y="5910"/>
            <a:chExt cx="884" cy="644"/>
          </a:xfrm>
        </p:grpSpPr>
        <p:sp>
          <p:nvSpPr>
            <p:cNvPr id="45" name="矩形 44"/>
            <p:cNvSpPr>
              <a:spLocks noGrp="1"/>
            </p:cNvSpPr>
            <p:nvPr/>
          </p:nvSpPr>
          <p:spPr>
            <a:xfrm>
              <a:off x="9030" y="5910"/>
              <a:ext cx="165" cy="1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0B981"/>
              </a:solidFill>
              <a:prstDash val="solid"/>
            </a:ln>
          </p:spPr>
        </p:sp>
        <p:sp>
          <p:nvSpPr>
            <p:cNvPr id="46" name="矩形 45"/>
            <p:cNvSpPr>
              <a:spLocks noGrp="1"/>
            </p:cNvSpPr>
            <p:nvPr/>
          </p:nvSpPr>
          <p:spPr>
            <a:xfrm>
              <a:off x="9270" y="5910"/>
              <a:ext cx="165" cy="1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0B981"/>
              </a:solidFill>
              <a:prstDash val="solid"/>
            </a:ln>
          </p:spPr>
        </p:sp>
        <p:sp>
          <p:nvSpPr>
            <p:cNvPr id="47" name="矩形 46"/>
            <p:cNvSpPr>
              <a:spLocks noGrp="1"/>
            </p:cNvSpPr>
            <p:nvPr/>
          </p:nvSpPr>
          <p:spPr>
            <a:xfrm>
              <a:off x="9510" y="5910"/>
              <a:ext cx="165" cy="1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0B981"/>
              </a:solidFill>
              <a:prstDash val="solid"/>
            </a:ln>
          </p:spPr>
        </p:sp>
        <p:sp>
          <p:nvSpPr>
            <p:cNvPr id="48" name="矩形 47"/>
            <p:cNvSpPr>
              <a:spLocks noGrp="1"/>
            </p:cNvSpPr>
            <p:nvPr/>
          </p:nvSpPr>
          <p:spPr>
            <a:xfrm>
              <a:off x="9750" y="5910"/>
              <a:ext cx="165" cy="1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0B981"/>
              </a:solidFill>
              <a:prstDash val="solid"/>
            </a:ln>
          </p:spPr>
        </p:sp>
        <p:sp>
          <p:nvSpPr>
            <p:cNvPr id="49" name="矩形 48"/>
            <p:cNvSpPr>
              <a:spLocks noGrp="1"/>
            </p:cNvSpPr>
            <p:nvPr/>
          </p:nvSpPr>
          <p:spPr>
            <a:xfrm>
              <a:off x="9030" y="6150"/>
              <a:ext cx="165" cy="1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0B981"/>
              </a:solidFill>
              <a:prstDash val="solid"/>
            </a:ln>
          </p:spPr>
        </p:sp>
        <p:sp>
          <p:nvSpPr>
            <p:cNvPr id="50" name="矩形 49"/>
            <p:cNvSpPr>
              <a:spLocks noGrp="1"/>
            </p:cNvSpPr>
            <p:nvPr/>
          </p:nvSpPr>
          <p:spPr>
            <a:xfrm>
              <a:off x="9270" y="6150"/>
              <a:ext cx="165" cy="1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0B981"/>
              </a:solidFill>
              <a:prstDash val="solid"/>
            </a:ln>
          </p:spPr>
        </p:sp>
        <p:sp>
          <p:nvSpPr>
            <p:cNvPr id="51" name="矩形 50"/>
            <p:cNvSpPr>
              <a:spLocks noGrp="1"/>
            </p:cNvSpPr>
            <p:nvPr/>
          </p:nvSpPr>
          <p:spPr>
            <a:xfrm>
              <a:off x="9510" y="6150"/>
              <a:ext cx="165" cy="1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0B981"/>
              </a:solidFill>
              <a:prstDash val="solid"/>
            </a:ln>
          </p:spPr>
        </p:sp>
        <p:sp>
          <p:nvSpPr>
            <p:cNvPr id="52" name="矩形 51"/>
            <p:cNvSpPr>
              <a:spLocks noGrp="1"/>
            </p:cNvSpPr>
            <p:nvPr/>
          </p:nvSpPr>
          <p:spPr>
            <a:xfrm>
              <a:off x="9750" y="6150"/>
              <a:ext cx="165" cy="1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0B981"/>
              </a:solidFill>
              <a:prstDash val="solid"/>
            </a:ln>
          </p:spPr>
        </p:sp>
        <p:sp>
          <p:nvSpPr>
            <p:cNvPr id="53" name="矩形 52"/>
            <p:cNvSpPr>
              <a:spLocks noGrp="1"/>
            </p:cNvSpPr>
            <p:nvPr/>
          </p:nvSpPr>
          <p:spPr>
            <a:xfrm>
              <a:off x="9030" y="6390"/>
              <a:ext cx="165" cy="1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0B981"/>
              </a:solidFill>
              <a:prstDash val="solid"/>
            </a:ln>
          </p:spPr>
        </p:sp>
        <p:sp>
          <p:nvSpPr>
            <p:cNvPr id="54" name="矩形 53"/>
            <p:cNvSpPr>
              <a:spLocks noGrp="1"/>
            </p:cNvSpPr>
            <p:nvPr/>
          </p:nvSpPr>
          <p:spPr>
            <a:xfrm>
              <a:off x="9270" y="6390"/>
              <a:ext cx="165" cy="1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0B981"/>
              </a:solidFill>
              <a:prstDash val="solid"/>
            </a:ln>
          </p:spPr>
        </p:sp>
        <p:sp>
          <p:nvSpPr>
            <p:cNvPr id="55" name="矩形 54"/>
            <p:cNvSpPr>
              <a:spLocks noGrp="1"/>
            </p:cNvSpPr>
            <p:nvPr/>
          </p:nvSpPr>
          <p:spPr>
            <a:xfrm>
              <a:off x="9510" y="6390"/>
              <a:ext cx="165" cy="1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0B981"/>
              </a:solidFill>
              <a:prstDash val="solid"/>
            </a:ln>
          </p:spPr>
        </p:sp>
        <p:sp>
          <p:nvSpPr>
            <p:cNvPr id="56" name="矩形 55"/>
            <p:cNvSpPr>
              <a:spLocks noGrp="1"/>
            </p:cNvSpPr>
            <p:nvPr/>
          </p:nvSpPr>
          <p:spPr>
            <a:xfrm>
              <a:off x="9750" y="6390"/>
              <a:ext cx="165" cy="1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0B981"/>
              </a:solidFill>
              <a:prstDash val="solid"/>
            </a:ln>
          </p:spPr>
        </p:sp>
      </p:grpSp>
      <p:sp>
        <p:nvSpPr>
          <p:cNvPr id="57" name="矩形 56"/>
          <p:cNvSpPr>
            <a:spLocks noGrp="1"/>
          </p:cNvSpPr>
          <p:nvPr/>
        </p:nvSpPr>
        <p:spPr>
          <a:xfrm>
            <a:off x="4784725" y="225552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  <a:latin typeface="Comic Sans MS" panose="030F0702030302020204" charset="0"/>
                <a:cs typeface="Comic Sans MS" panose="030F0702030302020204" charset="0"/>
              </a:rPr>
              <a:t>slice</a:t>
            </a:r>
            <a:endParaRPr sz="900" b="0">
              <a:solidFill>
                <a:srgbClr val="64748B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4784725" y="360807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  <a:latin typeface="Comic Sans MS" panose="030F0702030302020204" charset="0"/>
                <a:cs typeface="Comic Sans MS" panose="030F0702030302020204" charset="0"/>
              </a:rPr>
              <a:t>stride</a:t>
            </a:r>
            <a:endParaRPr sz="900" b="0">
              <a:solidFill>
                <a:srgbClr val="64748B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5165725" y="1893570"/>
            <a:ext cx="1314450" cy="819150"/>
          </a:xfrm>
          <a:prstGeom prst="roundRect">
            <a:avLst>
              <a:gd name="adj" fmla="val 9302"/>
            </a:avLst>
          </a:prstGeom>
          <a:solidFill>
            <a:srgbClr val="F0FDF4"/>
          </a:solidFill>
          <a:ln w="13335">
            <a:solidFill>
              <a:srgbClr val="10B981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矩形 59"/>
              <p:cNvSpPr>
                <a:spLocks noGrp="1"/>
              </p:cNvSpPr>
              <p:nvPr/>
            </p:nvSpPr>
            <p:spPr>
              <a:xfrm>
                <a:off x="5260975" y="1969770"/>
                <a:ext cx="1123950" cy="1905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975" b="1">
                    <a:solidFill>
                      <a:srgbClr val="047857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75" b="1" i="1">
                            <a:solidFill>
                              <a:srgbClr val="047857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975" b="1" i="1">
                            <a:solidFill>
                              <a:srgbClr val="047857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e>
                      <m:sub>
                        <m:r>
                          <a:rPr lang="en-US" sz="975" b="1" i="1">
                            <a:solidFill>
                              <a:srgbClr val="047857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sz="975" b="1">
                    <a:solidFill>
                      <a:srgbClr val="047857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 CfC</a:t>
                </a:r>
                <a:endParaRPr sz="975" b="1">
                  <a:solidFill>
                    <a:srgbClr val="047857"/>
                  </a:solidFill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mc:Choice>
        <mc:Fallback>
          <p:sp>
            <p:nvSpPr>
              <p:cNvPr id="60" name="矩形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75" y="1969770"/>
                <a:ext cx="1123950" cy="190500"/>
              </a:xfrm>
              <a:prstGeom prst="rect">
                <a:avLst/>
              </a:prstGeom>
              <a:blipFill rotWithShape="1">
                <a:blip r:embed="rId3"/>
                <a:stretch>
                  <a:fillRect b="-2333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椭圆 60"/>
          <p:cNvSpPr>
            <a:spLocks noGrp="1"/>
          </p:cNvSpPr>
          <p:nvPr/>
        </p:nvSpPr>
        <p:spPr>
          <a:xfrm>
            <a:off x="5375275" y="2255520"/>
            <a:ext cx="171450" cy="171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47857"/>
            </a:solidFill>
            <a:prstDash val="solid"/>
          </a:ln>
        </p:spPr>
      </p:sp>
      <p:sp>
        <p:nvSpPr>
          <p:cNvPr id="62" name="椭圆 61"/>
          <p:cNvSpPr>
            <a:spLocks noGrp="1"/>
          </p:cNvSpPr>
          <p:nvPr/>
        </p:nvSpPr>
        <p:spPr>
          <a:xfrm>
            <a:off x="5737225" y="2160270"/>
            <a:ext cx="228600" cy="228600"/>
          </a:xfrm>
          <a:prstGeom prst="ellipse">
            <a:avLst/>
          </a:prstGeom>
          <a:solidFill>
            <a:srgbClr val="34D399"/>
          </a:solidFill>
          <a:ln w="13335">
            <a:solidFill>
              <a:srgbClr val="047857"/>
            </a:solidFill>
            <a:prstDash val="solid"/>
          </a:ln>
        </p:spPr>
      </p:sp>
      <p:sp>
        <p:nvSpPr>
          <p:cNvPr id="63" name="椭圆 62"/>
          <p:cNvSpPr>
            <a:spLocks noGrp="1"/>
          </p:cNvSpPr>
          <p:nvPr/>
        </p:nvSpPr>
        <p:spPr>
          <a:xfrm>
            <a:off x="6156325" y="2255520"/>
            <a:ext cx="171450" cy="171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47857"/>
            </a:solidFill>
            <a:prstDash val="solid"/>
          </a:ln>
        </p:spPr>
      </p:sp>
      <p:cxnSp>
        <p:nvCxnSpPr>
          <p:cNvPr id="264" name="直接箭头连接符 263"/>
          <p:cNvCxnSpPr>
            <a:stCxn id="60" idx="6"/>
            <a:endCxn id="61" idx="2"/>
          </p:cNvCxnSpPr>
          <p:nvPr/>
        </p:nvCxnSpPr>
        <p:spPr>
          <a:xfrm flipV="1">
            <a:off x="5546725" y="2274570"/>
            <a:ext cx="190500" cy="66675"/>
          </a:xfrm>
          <a:prstGeom prst="straightConnector1">
            <a:avLst/>
          </a:prstGeom>
          <a:ln w="15240">
            <a:solidFill>
              <a:srgbClr val="04785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65" name="直接箭头连接符 264"/>
          <p:cNvCxnSpPr>
            <a:stCxn id="61" idx="6"/>
            <a:endCxn id="62" idx="2"/>
          </p:cNvCxnSpPr>
          <p:nvPr/>
        </p:nvCxnSpPr>
        <p:spPr>
          <a:xfrm>
            <a:off x="5965825" y="2274570"/>
            <a:ext cx="190500" cy="66675"/>
          </a:xfrm>
          <a:prstGeom prst="straightConnector1">
            <a:avLst/>
          </a:prstGeom>
          <a:ln w="15240">
            <a:solidFill>
              <a:srgbClr val="04785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66" name="曲线连接符 265"/>
          <p:cNvCxnSpPr>
            <a:stCxn id="61" idx="0"/>
            <a:endCxn id="61" idx="4"/>
          </p:cNvCxnSpPr>
          <p:nvPr/>
        </p:nvCxnSpPr>
        <p:spPr>
          <a:xfrm>
            <a:off x="5851525" y="2160270"/>
            <a:ext cx="0" cy="228600"/>
          </a:xfrm>
          <a:prstGeom prst="curvedConnector2">
            <a:avLst/>
          </a:prstGeom>
          <a:ln w="14288">
            <a:solidFill>
              <a:srgbClr val="84CC16"/>
            </a:solidFill>
            <a:prstDash val="solid"/>
            <a:headEnd type="arrow" w="sm" len="sm"/>
          </a:ln>
        </p:spPr>
      </p:cxnSp>
      <p:sp>
        <p:nvSpPr>
          <p:cNvPr id="66" name="椭圆 65"/>
          <p:cNvSpPr>
            <a:spLocks noGrp="1"/>
          </p:cNvSpPr>
          <p:nvPr/>
        </p:nvSpPr>
        <p:spPr>
          <a:xfrm>
            <a:off x="5356225" y="2579370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67" name="椭圆 66"/>
          <p:cNvSpPr>
            <a:spLocks noGrp="1"/>
          </p:cNvSpPr>
          <p:nvPr/>
        </p:nvSpPr>
        <p:spPr>
          <a:xfrm>
            <a:off x="5527675" y="2541270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68" name="椭圆 67"/>
          <p:cNvSpPr>
            <a:spLocks noGrp="1"/>
          </p:cNvSpPr>
          <p:nvPr/>
        </p:nvSpPr>
        <p:spPr>
          <a:xfrm>
            <a:off x="5699125" y="2512695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69" name="椭圆 68"/>
          <p:cNvSpPr>
            <a:spLocks noGrp="1"/>
          </p:cNvSpPr>
          <p:nvPr/>
        </p:nvSpPr>
        <p:spPr>
          <a:xfrm>
            <a:off x="5870575" y="2522220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70" name="椭圆 69"/>
          <p:cNvSpPr>
            <a:spLocks noGrp="1"/>
          </p:cNvSpPr>
          <p:nvPr/>
        </p:nvSpPr>
        <p:spPr>
          <a:xfrm>
            <a:off x="6042025" y="2560320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71" name="椭圆 70"/>
          <p:cNvSpPr>
            <a:spLocks noGrp="1"/>
          </p:cNvSpPr>
          <p:nvPr/>
        </p:nvSpPr>
        <p:spPr>
          <a:xfrm>
            <a:off x="6213475" y="2503170"/>
            <a:ext cx="66675" cy="66675"/>
          </a:xfrm>
          <a:prstGeom prst="ellipse">
            <a:avLst/>
          </a:prstGeom>
          <a:solidFill>
            <a:srgbClr val="047857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6099175" y="244602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Δt</a:t>
            </a:r>
            <a:endParaRPr sz="900" b="1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5280025" y="2474595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  <a:latin typeface="Comic Sans MS" panose="030F0702030302020204" charset="0"/>
                <a:cs typeface="Comic Sans MS" panose="030F0702030302020204" charset="0"/>
              </a:rPr>
              <a:t>h(t)</a:t>
            </a:r>
            <a:endParaRPr sz="825" b="0">
              <a:solidFill>
                <a:srgbClr val="64748B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5165725" y="3246120"/>
            <a:ext cx="1314450" cy="819150"/>
          </a:xfrm>
          <a:prstGeom prst="roundRect">
            <a:avLst>
              <a:gd name="adj" fmla="val 9302"/>
            </a:avLst>
          </a:prstGeom>
          <a:solidFill>
            <a:srgbClr val="F0FDF4"/>
          </a:solidFill>
          <a:ln w="13335">
            <a:solidFill>
              <a:srgbClr val="10B981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矩形 74"/>
              <p:cNvSpPr>
                <a:spLocks noGrp="1"/>
              </p:cNvSpPr>
              <p:nvPr/>
            </p:nvSpPr>
            <p:spPr>
              <a:xfrm>
                <a:off x="5260975" y="3322320"/>
                <a:ext cx="1123950" cy="1905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975" b="1">
                    <a:solidFill>
                      <a:srgbClr val="047857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75" b="1" i="1">
                            <a:solidFill>
                              <a:srgbClr val="047857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975" b="1" i="1">
                            <a:solidFill>
                              <a:srgbClr val="047857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e>
                      <m:sub>
                        <m:r>
                          <a:rPr lang="en-US" sz="975" b="1" i="1">
                            <a:solidFill>
                              <a:srgbClr val="047857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sz="975" b="1">
                    <a:solidFill>
                      <a:srgbClr val="047857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 CfC</a:t>
                </a:r>
                <a:endParaRPr sz="975" b="1">
                  <a:solidFill>
                    <a:srgbClr val="047857"/>
                  </a:solidFill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mc:Choice>
        <mc:Fallback>
          <p:sp>
            <p:nvSpPr>
              <p:cNvPr id="75" name="矩形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75" y="3322320"/>
                <a:ext cx="1123950" cy="190500"/>
              </a:xfrm>
              <a:prstGeom prst="rect">
                <a:avLst/>
              </a:prstGeom>
              <a:blipFill rotWithShape="1">
                <a:blip r:embed="rId4"/>
                <a:stretch>
                  <a:fillRect b="-2333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椭圆 75"/>
          <p:cNvSpPr>
            <a:spLocks noGrp="1"/>
          </p:cNvSpPr>
          <p:nvPr/>
        </p:nvSpPr>
        <p:spPr>
          <a:xfrm>
            <a:off x="5375275" y="3608070"/>
            <a:ext cx="171450" cy="171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47857"/>
            </a:solidFill>
            <a:prstDash val="solid"/>
          </a:ln>
        </p:spPr>
      </p:sp>
      <p:sp>
        <p:nvSpPr>
          <p:cNvPr id="77" name="椭圆 76"/>
          <p:cNvSpPr>
            <a:spLocks noGrp="1"/>
          </p:cNvSpPr>
          <p:nvPr/>
        </p:nvSpPr>
        <p:spPr>
          <a:xfrm>
            <a:off x="5737225" y="3512820"/>
            <a:ext cx="228600" cy="228600"/>
          </a:xfrm>
          <a:prstGeom prst="ellipse">
            <a:avLst/>
          </a:prstGeom>
          <a:solidFill>
            <a:srgbClr val="34D399"/>
          </a:solidFill>
          <a:ln w="13335">
            <a:solidFill>
              <a:srgbClr val="047857"/>
            </a:solidFill>
            <a:prstDash val="solid"/>
          </a:ln>
        </p:spPr>
      </p:sp>
      <p:sp>
        <p:nvSpPr>
          <p:cNvPr id="78" name="椭圆 77"/>
          <p:cNvSpPr>
            <a:spLocks noGrp="1"/>
          </p:cNvSpPr>
          <p:nvPr/>
        </p:nvSpPr>
        <p:spPr>
          <a:xfrm>
            <a:off x="6156325" y="3608070"/>
            <a:ext cx="171450" cy="171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47857"/>
            </a:solidFill>
            <a:prstDash val="solid"/>
          </a:ln>
        </p:spPr>
      </p:sp>
      <p:cxnSp>
        <p:nvCxnSpPr>
          <p:cNvPr id="280" name="直接箭头连接符 279"/>
          <p:cNvCxnSpPr>
            <a:stCxn id="76" idx="6"/>
            <a:endCxn id="77" idx="2"/>
          </p:cNvCxnSpPr>
          <p:nvPr/>
        </p:nvCxnSpPr>
        <p:spPr>
          <a:xfrm flipV="1">
            <a:off x="5546725" y="3627120"/>
            <a:ext cx="190500" cy="66675"/>
          </a:xfrm>
          <a:prstGeom prst="straightConnector1">
            <a:avLst/>
          </a:prstGeom>
          <a:ln w="15240">
            <a:solidFill>
              <a:srgbClr val="04785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81" name="直接箭头连接符 280"/>
          <p:cNvCxnSpPr>
            <a:stCxn id="77" idx="6"/>
            <a:endCxn id="78" idx="2"/>
          </p:cNvCxnSpPr>
          <p:nvPr/>
        </p:nvCxnSpPr>
        <p:spPr>
          <a:xfrm>
            <a:off x="5965825" y="3627120"/>
            <a:ext cx="190500" cy="66675"/>
          </a:xfrm>
          <a:prstGeom prst="straightConnector1">
            <a:avLst/>
          </a:prstGeom>
          <a:ln w="15240">
            <a:solidFill>
              <a:srgbClr val="04785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82" name="曲线连接符 281"/>
          <p:cNvCxnSpPr>
            <a:stCxn id="77" idx="0"/>
            <a:endCxn id="77" idx="4"/>
          </p:cNvCxnSpPr>
          <p:nvPr/>
        </p:nvCxnSpPr>
        <p:spPr>
          <a:xfrm>
            <a:off x="5851525" y="3512820"/>
            <a:ext cx="0" cy="228600"/>
          </a:xfrm>
          <a:prstGeom prst="curvedConnector2">
            <a:avLst/>
          </a:prstGeom>
          <a:ln w="14288">
            <a:solidFill>
              <a:srgbClr val="84CC16"/>
            </a:solidFill>
            <a:prstDash val="solid"/>
            <a:headEnd type="arrow" w="sm" len="sm"/>
          </a:ln>
        </p:spPr>
      </p:cxnSp>
      <p:sp>
        <p:nvSpPr>
          <p:cNvPr id="82" name="椭圆 81"/>
          <p:cNvSpPr>
            <a:spLocks noGrp="1"/>
          </p:cNvSpPr>
          <p:nvPr/>
        </p:nvSpPr>
        <p:spPr>
          <a:xfrm>
            <a:off x="5356225" y="3931920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83" name="椭圆 82"/>
          <p:cNvSpPr>
            <a:spLocks noGrp="1"/>
          </p:cNvSpPr>
          <p:nvPr/>
        </p:nvSpPr>
        <p:spPr>
          <a:xfrm>
            <a:off x="5527675" y="3893820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84" name="椭圆 83"/>
          <p:cNvSpPr>
            <a:spLocks noGrp="1"/>
          </p:cNvSpPr>
          <p:nvPr/>
        </p:nvSpPr>
        <p:spPr>
          <a:xfrm>
            <a:off x="5699125" y="3865245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85" name="椭圆 84"/>
          <p:cNvSpPr>
            <a:spLocks noGrp="1"/>
          </p:cNvSpPr>
          <p:nvPr/>
        </p:nvSpPr>
        <p:spPr>
          <a:xfrm>
            <a:off x="5870575" y="3874770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86" name="椭圆 85"/>
          <p:cNvSpPr>
            <a:spLocks noGrp="1"/>
          </p:cNvSpPr>
          <p:nvPr/>
        </p:nvSpPr>
        <p:spPr>
          <a:xfrm>
            <a:off x="6042025" y="3912870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87" name="椭圆 86"/>
          <p:cNvSpPr>
            <a:spLocks noGrp="1"/>
          </p:cNvSpPr>
          <p:nvPr/>
        </p:nvSpPr>
        <p:spPr>
          <a:xfrm>
            <a:off x="6213475" y="3855720"/>
            <a:ext cx="66675" cy="66675"/>
          </a:xfrm>
          <a:prstGeom prst="ellipse">
            <a:avLst/>
          </a:prstGeom>
          <a:solidFill>
            <a:srgbClr val="047857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6099175" y="379857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Δt</a:t>
            </a:r>
            <a:endParaRPr sz="900" b="1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5280025" y="3827145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  <a:latin typeface="Comic Sans MS" panose="030F0702030302020204" charset="0"/>
                <a:cs typeface="Comic Sans MS" panose="030F0702030302020204" charset="0"/>
              </a:rPr>
              <a:t>h(t)</a:t>
            </a:r>
            <a:endParaRPr sz="825" b="0">
              <a:solidFill>
                <a:srgbClr val="64748B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6994525" y="1893570"/>
            <a:ext cx="1314450" cy="819150"/>
          </a:xfrm>
          <a:prstGeom prst="roundRect">
            <a:avLst>
              <a:gd name="adj" fmla="val 9302"/>
            </a:avLst>
          </a:prstGeom>
          <a:solidFill>
            <a:srgbClr val="F0FDF4"/>
          </a:solidFill>
          <a:ln w="13335">
            <a:solidFill>
              <a:srgbClr val="10B981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 90"/>
              <p:cNvSpPr>
                <a:spLocks noGrp="1"/>
              </p:cNvSpPr>
              <p:nvPr/>
            </p:nvSpPr>
            <p:spPr>
              <a:xfrm>
                <a:off x="7089775" y="1969770"/>
                <a:ext cx="1123950" cy="1905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975" b="1">
                    <a:solidFill>
                      <a:srgbClr val="047857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75" b="1" i="1">
                            <a:solidFill>
                              <a:srgbClr val="047857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975" b="1" i="1">
                            <a:solidFill>
                              <a:srgbClr val="047857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𝑩</m:t>
                        </m:r>
                      </m:e>
                      <m:sub>
                        <m:r>
                          <a:rPr lang="en-US" sz="975" b="1" i="1">
                            <a:solidFill>
                              <a:srgbClr val="047857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sz="975" b="1">
                    <a:solidFill>
                      <a:srgbClr val="047857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 CfC</a:t>
                </a:r>
                <a:endParaRPr sz="975" b="1">
                  <a:solidFill>
                    <a:srgbClr val="047857"/>
                  </a:solidFill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mc:Choice>
        <mc:Fallback>
          <p:sp>
            <p:nvSpPr>
              <p:cNvPr id="91" name="矩形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775" y="1969770"/>
                <a:ext cx="1123950" cy="190500"/>
              </a:xfrm>
              <a:prstGeom prst="rect">
                <a:avLst/>
              </a:prstGeom>
              <a:blipFill rotWithShape="1">
                <a:blip r:embed="rId5"/>
                <a:stretch>
                  <a:fillRect b="-2333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椭圆 91"/>
          <p:cNvSpPr>
            <a:spLocks noGrp="1"/>
          </p:cNvSpPr>
          <p:nvPr/>
        </p:nvSpPr>
        <p:spPr>
          <a:xfrm>
            <a:off x="7204075" y="2255520"/>
            <a:ext cx="171450" cy="171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47857"/>
            </a:solidFill>
            <a:prstDash val="solid"/>
          </a:ln>
        </p:spPr>
      </p:sp>
      <p:sp>
        <p:nvSpPr>
          <p:cNvPr id="93" name="椭圆 92"/>
          <p:cNvSpPr>
            <a:spLocks noGrp="1"/>
          </p:cNvSpPr>
          <p:nvPr/>
        </p:nvSpPr>
        <p:spPr>
          <a:xfrm>
            <a:off x="7566025" y="2160270"/>
            <a:ext cx="228600" cy="228600"/>
          </a:xfrm>
          <a:prstGeom prst="ellipse">
            <a:avLst/>
          </a:prstGeom>
          <a:solidFill>
            <a:srgbClr val="34D399"/>
          </a:solidFill>
          <a:ln w="13335">
            <a:solidFill>
              <a:srgbClr val="047857"/>
            </a:solidFill>
            <a:prstDash val="solid"/>
          </a:ln>
        </p:spPr>
      </p:sp>
      <p:sp>
        <p:nvSpPr>
          <p:cNvPr id="94" name="椭圆 93"/>
          <p:cNvSpPr>
            <a:spLocks noGrp="1"/>
          </p:cNvSpPr>
          <p:nvPr/>
        </p:nvSpPr>
        <p:spPr>
          <a:xfrm>
            <a:off x="7985125" y="2255520"/>
            <a:ext cx="171450" cy="171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47857"/>
            </a:solidFill>
            <a:prstDash val="solid"/>
          </a:ln>
        </p:spPr>
      </p:sp>
      <p:cxnSp>
        <p:nvCxnSpPr>
          <p:cNvPr id="296" name="直接箭头连接符 295"/>
          <p:cNvCxnSpPr>
            <a:stCxn id="92" idx="6"/>
            <a:endCxn id="93" idx="2"/>
          </p:cNvCxnSpPr>
          <p:nvPr/>
        </p:nvCxnSpPr>
        <p:spPr>
          <a:xfrm flipV="1">
            <a:off x="7375525" y="2274570"/>
            <a:ext cx="190500" cy="66675"/>
          </a:xfrm>
          <a:prstGeom prst="straightConnector1">
            <a:avLst/>
          </a:prstGeom>
          <a:ln w="15240">
            <a:solidFill>
              <a:srgbClr val="04785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97" name="直接箭头连接符 296"/>
          <p:cNvCxnSpPr>
            <a:stCxn id="93" idx="6"/>
            <a:endCxn id="94" idx="2"/>
          </p:cNvCxnSpPr>
          <p:nvPr/>
        </p:nvCxnSpPr>
        <p:spPr>
          <a:xfrm>
            <a:off x="7794625" y="2274570"/>
            <a:ext cx="190500" cy="66675"/>
          </a:xfrm>
          <a:prstGeom prst="straightConnector1">
            <a:avLst/>
          </a:prstGeom>
          <a:ln w="15240">
            <a:solidFill>
              <a:srgbClr val="04785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98" name="曲线连接符 297"/>
          <p:cNvCxnSpPr>
            <a:stCxn id="93" idx="0"/>
            <a:endCxn id="93" idx="4"/>
          </p:cNvCxnSpPr>
          <p:nvPr/>
        </p:nvCxnSpPr>
        <p:spPr>
          <a:xfrm>
            <a:off x="7680325" y="2160270"/>
            <a:ext cx="0" cy="228600"/>
          </a:xfrm>
          <a:prstGeom prst="curvedConnector2">
            <a:avLst/>
          </a:prstGeom>
          <a:ln w="14288">
            <a:solidFill>
              <a:srgbClr val="84CC16"/>
            </a:solidFill>
            <a:prstDash val="solid"/>
            <a:headEnd type="arrow" w="sm" len="sm"/>
          </a:ln>
        </p:spPr>
      </p:cxnSp>
      <p:sp>
        <p:nvSpPr>
          <p:cNvPr id="98" name="椭圆 97"/>
          <p:cNvSpPr>
            <a:spLocks noGrp="1"/>
          </p:cNvSpPr>
          <p:nvPr/>
        </p:nvSpPr>
        <p:spPr>
          <a:xfrm>
            <a:off x="7185025" y="2579370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99" name="椭圆 98"/>
          <p:cNvSpPr>
            <a:spLocks noGrp="1"/>
          </p:cNvSpPr>
          <p:nvPr/>
        </p:nvSpPr>
        <p:spPr>
          <a:xfrm>
            <a:off x="7356475" y="2541270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100" name="椭圆 99"/>
          <p:cNvSpPr>
            <a:spLocks noGrp="1"/>
          </p:cNvSpPr>
          <p:nvPr/>
        </p:nvSpPr>
        <p:spPr>
          <a:xfrm>
            <a:off x="7527925" y="2512695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101" name="椭圆 100"/>
          <p:cNvSpPr>
            <a:spLocks noGrp="1"/>
          </p:cNvSpPr>
          <p:nvPr/>
        </p:nvSpPr>
        <p:spPr>
          <a:xfrm>
            <a:off x="7699375" y="2522220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102" name="椭圆 101"/>
          <p:cNvSpPr>
            <a:spLocks noGrp="1"/>
          </p:cNvSpPr>
          <p:nvPr/>
        </p:nvSpPr>
        <p:spPr>
          <a:xfrm>
            <a:off x="7870825" y="2560320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103" name="椭圆 102"/>
          <p:cNvSpPr>
            <a:spLocks noGrp="1"/>
          </p:cNvSpPr>
          <p:nvPr/>
        </p:nvSpPr>
        <p:spPr>
          <a:xfrm>
            <a:off x="8042275" y="2503170"/>
            <a:ext cx="66675" cy="66675"/>
          </a:xfrm>
          <a:prstGeom prst="ellipse">
            <a:avLst/>
          </a:prstGeom>
          <a:solidFill>
            <a:srgbClr val="047857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104" name="矩形 103"/>
          <p:cNvSpPr>
            <a:spLocks noGrp="1"/>
          </p:cNvSpPr>
          <p:nvPr/>
        </p:nvSpPr>
        <p:spPr>
          <a:xfrm>
            <a:off x="7927975" y="244602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Δt</a:t>
            </a:r>
            <a:endParaRPr sz="900" b="1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7108825" y="2474595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  <a:latin typeface="Comic Sans MS" panose="030F0702030302020204" charset="0"/>
                <a:cs typeface="Comic Sans MS" panose="030F0702030302020204" charset="0"/>
              </a:rPr>
              <a:t>h(t)</a:t>
            </a:r>
            <a:endParaRPr sz="825" b="0">
              <a:solidFill>
                <a:srgbClr val="64748B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06" name="圆角矩形 105"/>
          <p:cNvSpPr>
            <a:spLocks noGrp="1"/>
          </p:cNvSpPr>
          <p:nvPr/>
        </p:nvSpPr>
        <p:spPr>
          <a:xfrm>
            <a:off x="6994525" y="3246120"/>
            <a:ext cx="1314450" cy="819150"/>
          </a:xfrm>
          <a:prstGeom prst="roundRect">
            <a:avLst>
              <a:gd name="adj" fmla="val 9302"/>
            </a:avLst>
          </a:prstGeom>
          <a:solidFill>
            <a:srgbClr val="F0FDF4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7089775" y="3322320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47857"/>
                </a:solidFill>
              </a:defRPr>
            </a:pPr>
            <a:r>
              <a:rPr sz="975" b="1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B_G CfC</a:t>
            </a:r>
            <a:endParaRPr sz="975" b="1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08" name="椭圆 107"/>
          <p:cNvSpPr>
            <a:spLocks noGrp="1"/>
          </p:cNvSpPr>
          <p:nvPr/>
        </p:nvSpPr>
        <p:spPr>
          <a:xfrm>
            <a:off x="7204075" y="3608070"/>
            <a:ext cx="171450" cy="171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47857"/>
            </a:solidFill>
            <a:prstDash val="solid"/>
          </a:ln>
        </p:spPr>
      </p:sp>
      <p:sp>
        <p:nvSpPr>
          <p:cNvPr id="109" name="椭圆 108"/>
          <p:cNvSpPr>
            <a:spLocks noGrp="1"/>
          </p:cNvSpPr>
          <p:nvPr/>
        </p:nvSpPr>
        <p:spPr>
          <a:xfrm>
            <a:off x="7566025" y="3512820"/>
            <a:ext cx="228600" cy="228600"/>
          </a:xfrm>
          <a:prstGeom prst="ellipse">
            <a:avLst/>
          </a:prstGeom>
          <a:solidFill>
            <a:srgbClr val="34D399"/>
          </a:solidFill>
          <a:ln w="13335">
            <a:solidFill>
              <a:srgbClr val="047857"/>
            </a:solidFill>
            <a:prstDash val="solid"/>
          </a:ln>
        </p:spPr>
      </p:sp>
      <p:sp>
        <p:nvSpPr>
          <p:cNvPr id="110" name="椭圆 109"/>
          <p:cNvSpPr>
            <a:spLocks noGrp="1"/>
          </p:cNvSpPr>
          <p:nvPr/>
        </p:nvSpPr>
        <p:spPr>
          <a:xfrm>
            <a:off x="7985125" y="3608070"/>
            <a:ext cx="171450" cy="171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047857"/>
            </a:solidFill>
            <a:prstDash val="solid"/>
          </a:ln>
        </p:spPr>
      </p:sp>
      <p:cxnSp>
        <p:nvCxnSpPr>
          <p:cNvPr id="312" name="直接箭头连接符 311"/>
          <p:cNvCxnSpPr>
            <a:stCxn id="108" idx="6"/>
            <a:endCxn id="109" idx="2"/>
          </p:cNvCxnSpPr>
          <p:nvPr/>
        </p:nvCxnSpPr>
        <p:spPr>
          <a:xfrm flipV="1">
            <a:off x="7375525" y="3627120"/>
            <a:ext cx="190500" cy="66675"/>
          </a:xfrm>
          <a:prstGeom prst="straightConnector1">
            <a:avLst/>
          </a:prstGeom>
          <a:ln w="15240">
            <a:solidFill>
              <a:srgbClr val="04785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13" name="直接箭头连接符 312"/>
          <p:cNvCxnSpPr>
            <a:stCxn id="109" idx="6"/>
            <a:endCxn id="110" idx="2"/>
          </p:cNvCxnSpPr>
          <p:nvPr/>
        </p:nvCxnSpPr>
        <p:spPr>
          <a:xfrm>
            <a:off x="7794625" y="3627120"/>
            <a:ext cx="190500" cy="66675"/>
          </a:xfrm>
          <a:prstGeom prst="straightConnector1">
            <a:avLst/>
          </a:prstGeom>
          <a:ln w="15240">
            <a:solidFill>
              <a:srgbClr val="04785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14" name="曲线连接符 313"/>
          <p:cNvCxnSpPr>
            <a:stCxn id="109" idx="0"/>
            <a:endCxn id="109" idx="4"/>
          </p:cNvCxnSpPr>
          <p:nvPr/>
        </p:nvCxnSpPr>
        <p:spPr>
          <a:xfrm>
            <a:off x="7680325" y="3512820"/>
            <a:ext cx="0" cy="228600"/>
          </a:xfrm>
          <a:prstGeom prst="curvedConnector2">
            <a:avLst/>
          </a:prstGeom>
          <a:ln w="14288">
            <a:solidFill>
              <a:srgbClr val="84CC16"/>
            </a:solidFill>
            <a:prstDash val="solid"/>
            <a:headEnd type="arrow" w="sm" len="sm"/>
          </a:ln>
        </p:spPr>
      </p:cxnSp>
      <p:sp>
        <p:nvSpPr>
          <p:cNvPr id="114" name="椭圆 113"/>
          <p:cNvSpPr>
            <a:spLocks noGrp="1"/>
          </p:cNvSpPr>
          <p:nvPr/>
        </p:nvSpPr>
        <p:spPr>
          <a:xfrm>
            <a:off x="7185025" y="3931920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115" name="椭圆 114"/>
          <p:cNvSpPr>
            <a:spLocks noGrp="1"/>
          </p:cNvSpPr>
          <p:nvPr/>
        </p:nvSpPr>
        <p:spPr>
          <a:xfrm>
            <a:off x="7356475" y="3893820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116" name="椭圆 115"/>
          <p:cNvSpPr>
            <a:spLocks noGrp="1"/>
          </p:cNvSpPr>
          <p:nvPr/>
        </p:nvSpPr>
        <p:spPr>
          <a:xfrm>
            <a:off x="7527925" y="3865245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117" name="椭圆 116"/>
          <p:cNvSpPr>
            <a:spLocks noGrp="1"/>
          </p:cNvSpPr>
          <p:nvPr/>
        </p:nvSpPr>
        <p:spPr>
          <a:xfrm>
            <a:off x="7699375" y="3874770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118" name="椭圆 117"/>
          <p:cNvSpPr>
            <a:spLocks noGrp="1"/>
          </p:cNvSpPr>
          <p:nvPr/>
        </p:nvSpPr>
        <p:spPr>
          <a:xfrm>
            <a:off x="7870825" y="3912870"/>
            <a:ext cx="47625" cy="47625"/>
          </a:xfrm>
          <a:prstGeom prst="ellipse">
            <a:avLst/>
          </a:prstGeom>
          <a:solidFill>
            <a:srgbClr val="D1FAE5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119" name="椭圆 118"/>
          <p:cNvSpPr>
            <a:spLocks noGrp="1"/>
          </p:cNvSpPr>
          <p:nvPr/>
        </p:nvSpPr>
        <p:spPr>
          <a:xfrm>
            <a:off x="8042275" y="3855720"/>
            <a:ext cx="66675" cy="66675"/>
          </a:xfrm>
          <a:prstGeom prst="ellipse">
            <a:avLst/>
          </a:prstGeom>
          <a:solidFill>
            <a:srgbClr val="047857"/>
          </a:solidFill>
          <a:ln w="13335">
            <a:solidFill>
              <a:srgbClr val="10B981"/>
            </a:solidFill>
            <a:prstDash val="solid"/>
          </a:ln>
        </p:spPr>
      </p:sp>
      <p:sp>
        <p:nvSpPr>
          <p:cNvPr id="120" name="矩形 119"/>
          <p:cNvSpPr>
            <a:spLocks noGrp="1"/>
          </p:cNvSpPr>
          <p:nvPr/>
        </p:nvSpPr>
        <p:spPr>
          <a:xfrm>
            <a:off x="7927975" y="379857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Δt</a:t>
            </a:r>
            <a:endParaRPr sz="900" b="1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7108825" y="3827145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  <a:latin typeface="Comic Sans MS" panose="030F0702030302020204" charset="0"/>
                <a:cs typeface="Comic Sans MS" panose="030F0702030302020204" charset="0"/>
              </a:rPr>
              <a:t>h(t)</a:t>
            </a:r>
            <a:endParaRPr sz="825" b="0">
              <a:solidFill>
                <a:srgbClr val="64748B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grpSp>
        <p:nvGrpSpPr>
          <p:cNvPr id="180" name="组合 179"/>
          <p:cNvGrpSpPr/>
          <p:nvPr/>
        </p:nvGrpSpPr>
        <p:grpSpPr>
          <a:xfrm>
            <a:off x="4156075" y="2132330"/>
            <a:ext cx="1009650" cy="266700"/>
            <a:chOff x="8700" y="3210"/>
            <a:chExt cx="1590" cy="42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圆角矩形 38"/>
                <p:cNvSpPr>
                  <a:spLocks noGrp="1"/>
                </p:cNvSpPr>
                <p:nvPr/>
              </p:nvSpPr>
              <p:spPr>
                <a:xfrm>
                  <a:off x="8700" y="3210"/>
                  <a:ext cx="990" cy="420"/>
                </a:xfrm>
                <a:prstGeom prst="roundRect">
                  <a:avLst>
                    <a:gd name="adj" fmla="val 21429"/>
                  </a:avLst>
                </a:prstGeom>
                <a:solidFill>
                  <a:srgbClr val="047857"/>
                </a:solidFill>
                <a:ln w="15240">
                  <a:solidFill>
                    <a:srgbClr val="047857"/>
                  </a:solidFill>
                  <a:prstDash val="solid"/>
                </a:ln>
              </p:spPr>
              <p:txBody>
                <a:bodyPr/>
                <a:lstStyle/>
                <a:p>
                  <a:pPr algn="ctr">
                    <a:defRPr sz="1050" b="1">
                      <a:solidFill>
                        <a:srgbClr val="FFFFFF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1" i="1">
                                <a:solidFill>
                                  <a:srgbClr val="FFFFFF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sz="1050" b="1" i="1">
                                <a:solidFill>
                                  <a:srgbClr val="FFFFFF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1050" b="1" i="1">
                                <a:solidFill>
                                  <a:srgbClr val="FFFFFF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𝑳</m:t>
                            </m:r>
                          </m:sub>
                        </m:sSub>
                      </m:oMath>
                    </m:oMathPara>
                  </a14:m>
                  <a:endParaRPr sz="1050" b="1">
                    <a:solidFill>
                      <a:srgbClr val="FFFFFF"/>
                    </a:solidFill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39" name="圆角矩形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00" y="3210"/>
                  <a:ext cx="990" cy="420"/>
                </a:xfrm>
                <a:prstGeom prst="roundRect">
                  <a:avLst>
                    <a:gd name="adj" fmla="val 21429"/>
                  </a:avLst>
                </a:prstGeom>
                <a:blipFill rotWithShape="1">
                  <a:blip r:embed="rId6"/>
                </a:blipFill>
                <a:ln w="15240">
                  <a:solidFill>
                    <a:srgbClr val="047857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3" name="直接箭头连接符 322"/>
            <p:cNvCxnSpPr/>
            <p:nvPr/>
          </p:nvCxnSpPr>
          <p:spPr>
            <a:xfrm>
              <a:off x="9690" y="3420"/>
              <a:ext cx="600" cy="0"/>
            </a:xfrm>
            <a:prstGeom prst="straightConnector1">
              <a:avLst/>
            </a:prstGeom>
            <a:ln w="17145">
              <a:solidFill>
                <a:srgbClr val="047857"/>
              </a:solidFill>
              <a:prstDash val="solid"/>
              <a:headEnd type="none" w="med" len="med"/>
              <a:tailEnd type="arrow" w="med" len="med"/>
            </a:ln>
          </p:spPr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圆角矩形 39"/>
              <p:cNvSpPr>
                <a:spLocks noGrp="1"/>
              </p:cNvSpPr>
              <p:nvPr/>
            </p:nvSpPr>
            <p:spPr>
              <a:xfrm>
                <a:off x="4151630" y="3474720"/>
                <a:ext cx="62865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047857"/>
              </a:solidFill>
              <a:ln w="15240">
                <a:solidFill>
                  <a:srgbClr val="0478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1050" b="1">
                    <a:solidFill>
                      <a:srgbClr val="FFFFFF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b="1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sz="1050" b="1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e>
                        <m:sub>
                          <m:r>
                            <a:rPr lang="en-US" sz="1050" b="1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𝑮</m:t>
                          </m:r>
                        </m:sub>
                      </m:sSub>
                    </m:oMath>
                  </m:oMathPara>
                </a14:m>
                <a:endParaRPr sz="1050" b="1">
                  <a:solidFill>
                    <a:srgbClr val="FFFFFF"/>
                  </a:solidFill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mc:Choice>
        <mc:Fallback>
          <p:sp>
            <p:nvSpPr>
              <p:cNvPr id="40" name="圆角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630" y="3474720"/>
                <a:ext cx="628650" cy="266700"/>
              </a:xfrm>
              <a:prstGeom prst="roundRect">
                <a:avLst>
                  <a:gd name="adj" fmla="val 21429"/>
                </a:avLst>
              </a:prstGeom>
              <a:blipFill rotWithShape="1">
                <a:blip r:embed="rId7"/>
                <a:stretch>
                  <a:fillRect l="-1212" t="-2857" r="-1212" b="-2857"/>
                </a:stretch>
              </a:blipFill>
              <a:ln w="15240">
                <a:solidFill>
                  <a:srgbClr val="047857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圆角矩形 123"/>
          <p:cNvSpPr>
            <a:spLocks noGrp="1"/>
          </p:cNvSpPr>
          <p:nvPr/>
        </p:nvSpPr>
        <p:spPr>
          <a:xfrm>
            <a:off x="6356350" y="4665345"/>
            <a:ext cx="704850" cy="457200"/>
          </a:xfrm>
          <a:prstGeom prst="roundRect">
            <a:avLst>
              <a:gd name="adj" fmla="val 16667"/>
            </a:avLst>
          </a:prstGeom>
          <a:solidFill>
            <a:srgbClr val="047857"/>
          </a:solidFill>
          <a:ln w="15240">
            <a:solidFill>
              <a:srgbClr val="047857"/>
            </a:solidFill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Comic Sans MS" panose="030F0702030302020204" charset="0"/>
                <a:cs typeface="Comic Sans MS" panose="030F0702030302020204" charset="0"/>
              </a:rPr>
              <a:t>Σ</a:t>
            </a:r>
            <a:endParaRPr sz="2025" b="1">
              <a:solidFill>
                <a:srgbClr val="FFFFFF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25" name="矩形 124"/>
          <p:cNvSpPr>
            <a:spLocks noGrp="1"/>
          </p:cNvSpPr>
          <p:nvPr/>
        </p:nvSpPr>
        <p:spPr>
          <a:xfrm>
            <a:off x="4556125" y="507492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047857"/>
                </a:solidFill>
              </a:defRPr>
            </a:pPr>
            <a:r>
              <a:rPr sz="1125" b="0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liquid temporal state</a:t>
            </a:r>
            <a:endParaRPr sz="1125" b="0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26" name="直接连接符 125"/>
          <p:cNvSpPr>
            <a:spLocks noGrp="1"/>
          </p:cNvSpPr>
          <p:nvPr/>
        </p:nvSpPr>
        <p:spPr>
          <a:xfrm>
            <a:off x="5832475" y="4484370"/>
            <a:ext cx="2114550" cy="0"/>
          </a:xfrm>
          <a:prstGeom prst="line">
            <a:avLst/>
          </a:prstGeom>
          <a:noFill/>
          <a:ln w="13335">
            <a:solidFill>
              <a:srgbClr val="10B981"/>
            </a:solidFill>
            <a:prstDash val="solid"/>
          </a:ln>
        </p:spPr>
      </p:sp>
      <p:sp>
        <p:nvSpPr>
          <p:cNvPr id="127" name="直接连接符 126"/>
          <p:cNvSpPr>
            <a:spLocks noGrp="1"/>
          </p:cNvSpPr>
          <p:nvPr/>
        </p:nvSpPr>
        <p:spPr>
          <a:xfrm>
            <a:off x="6708775" y="4484370"/>
            <a:ext cx="0" cy="180975"/>
          </a:xfrm>
          <a:prstGeom prst="line">
            <a:avLst/>
          </a:prstGeom>
          <a:noFill/>
          <a:ln w="13335">
            <a:solidFill>
              <a:srgbClr val="10B981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圆角矩形 127"/>
              <p:cNvSpPr>
                <a:spLocks noGrp="1"/>
              </p:cNvSpPr>
              <p:nvPr/>
            </p:nvSpPr>
            <p:spPr>
              <a:xfrm>
                <a:off x="8232775" y="2941320"/>
                <a:ext cx="971550" cy="723900"/>
              </a:xfrm>
              <a:prstGeom prst="roundRect">
                <a:avLst>
                  <a:gd name="adj" fmla="val 10526"/>
                </a:avLst>
              </a:prstGeom>
              <a:solidFill>
                <a:srgbClr val="FFFFFF"/>
              </a:solidFill>
              <a:ln w="15240">
                <a:solidFill>
                  <a:srgbClr val="0478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1650" b="1">
                    <a:solidFill>
                      <a:srgbClr val="113B2A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50" b="1" i="1">
                              <a:solidFill>
                                <a:srgbClr val="113B2A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sz="1650" b="1" i="1">
                              <a:solidFill>
                                <a:srgbClr val="113B2A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e>
                        <m:sub>
                          <m:r>
                            <a:rPr lang="en-US" sz="1650" b="1" i="1">
                              <a:solidFill>
                                <a:srgbClr val="113B2A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𝑺</m:t>
                          </m:r>
                        </m:sub>
                        <m:sup>
                          <m:r>
                            <a:rPr lang="en-US" sz="1650" b="1" i="1">
                              <a:solidFill>
                                <a:srgbClr val="113B2A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sz="1650" b="1">
                  <a:solidFill>
                    <a:srgbClr val="113B2A"/>
                  </a:solidFill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mc:Choice>
        <mc:Fallback>
          <p:sp>
            <p:nvSpPr>
              <p:cNvPr id="128" name="圆角矩形 1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775" y="2941320"/>
                <a:ext cx="971550" cy="723900"/>
              </a:xfrm>
              <a:prstGeom prst="roundRect">
                <a:avLst>
                  <a:gd name="adj" fmla="val 10526"/>
                </a:avLst>
              </a:prstGeom>
              <a:blipFill rotWithShape="1">
                <a:blip r:embed="rId8"/>
                <a:stretch>
                  <a:fillRect l="-784" t="-1053" r="-784" b="-1053"/>
                </a:stretch>
              </a:blipFill>
              <a:ln w="15240">
                <a:solidFill>
                  <a:srgbClr val="047857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矩形 128"/>
          <p:cNvSpPr>
            <a:spLocks noGrp="1"/>
          </p:cNvSpPr>
          <p:nvPr/>
        </p:nvSpPr>
        <p:spPr>
          <a:xfrm>
            <a:off x="8423275" y="3950970"/>
            <a:ext cx="85725" cy="85725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0" name="矩形 129"/>
          <p:cNvSpPr>
            <a:spLocks noGrp="1"/>
          </p:cNvSpPr>
          <p:nvPr/>
        </p:nvSpPr>
        <p:spPr>
          <a:xfrm>
            <a:off x="8556625" y="3950970"/>
            <a:ext cx="85725" cy="85725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1" name="矩形 130"/>
          <p:cNvSpPr>
            <a:spLocks noGrp="1"/>
          </p:cNvSpPr>
          <p:nvPr/>
        </p:nvSpPr>
        <p:spPr>
          <a:xfrm>
            <a:off x="8689975" y="3950970"/>
            <a:ext cx="85725" cy="85725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2" name="矩形 131"/>
          <p:cNvSpPr>
            <a:spLocks noGrp="1"/>
          </p:cNvSpPr>
          <p:nvPr/>
        </p:nvSpPr>
        <p:spPr>
          <a:xfrm>
            <a:off x="8823325" y="3950970"/>
            <a:ext cx="85725" cy="85725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3" name="矩形 132"/>
          <p:cNvSpPr>
            <a:spLocks noGrp="1"/>
          </p:cNvSpPr>
          <p:nvPr/>
        </p:nvSpPr>
        <p:spPr>
          <a:xfrm>
            <a:off x="8956675" y="3950970"/>
            <a:ext cx="85725" cy="85725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4" name="矩形 133"/>
          <p:cNvSpPr>
            <a:spLocks noGrp="1"/>
          </p:cNvSpPr>
          <p:nvPr/>
        </p:nvSpPr>
        <p:spPr>
          <a:xfrm>
            <a:off x="8423275" y="4084320"/>
            <a:ext cx="85725" cy="85725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5" name="矩形 134"/>
          <p:cNvSpPr>
            <a:spLocks noGrp="1"/>
          </p:cNvSpPr>
          <p:nvPr/>
        </p:nvSpPr>
        <p:spPr>
          <a:xfrm>
            <a:off x="8556625" y="4084320"/>
            <a:ext cx="85725" cy="85725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6" name="矩形 135"/>
          <p:cNvSpPr>
            <a:spLocks noGrp="1"/>
          </p:cNvSpPr>
          <p:nvPr/>
        </p:nvSpPr>
        <p:spPr>
          <a:xfrm>
            <a:off x="8689975" y="4084320"/>
            <a:ext cx="85725" cy="85725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7" name="矩形 136"/>
          <p:cNvSpPr>
            <a:spLocks noGrp="1"/>
          </p:cNvSpPr>
          <p:nvPr/>
        </p:nvSpPr>
        <p:spPr>
          <a:xfrm>
            <a:off x="8823325" y="4084320"/>
            <a:ext cx="85725" cy="85725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8" name="矩形 137"/>
          <p:cNvSpPr>
            <a:spLocks noGrp="1"/>
          </p:cNvSpPr>
          <p:nvPr/>
        </p:nvSpPr>
        <p:spPr>
          <a:xfrm>
            <a:off x="8956675" y="4084320"/>
            <a:ext cx="85725" cy="85725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9" name="矩形 138"/>
          <p:cNvSpPr>
            <a:spLocks noGrp="1"/>
          </p:cNvSpPr>
          <p:nvPr/>
        </p:nvSpPr>
        <p:spPr>
          <a:xfrm>
            <a:off x="8423275" y="4217670"/>
            <a:ext cx="85725" cy="85725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40" name="矩形 139"/>
          <p:cNvSpPr>
            <a:spLocks noGrp="1"/>
          </p:cNvSpPr>
          <p:nvPr/>
        </p:nvSpPr>
        <p:spPr>
          <a:xfrm>
            <a:off x="8556625" y="4217670"/>
            <a:ext cx="85725" cy="85725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41" name="矩形 140"/>
          <p:cNvSpPr>
            <a:spLocks noGrp="1"/>
          </p:cNvSpPr>
          <p:nvPr/>
        </p:nvSpPr>
        <p:spPr>
          <a:xfrm>
            <a:off x="8689975" y="4217670"/>
            <a:ext cx="85725" cy="85725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42" name="矩形 141"/>
          <p:cNvSpPr>
            <a:spLocks noGrp="1"/>
          </p:cNvSpPr>
          <p:nvPr/>
        </p:nvSpPr>
        <p:spPr>
          <a:xfrm>
            <a:off x="8823325" y="4217670"/>
            <a:ext cx="85725" cy="85725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43" name="矩形 142"/>
          <p:cNvSpPr>
            <a:spLocks noGrp="1"/>
          </p:cNvSpPr>
          <p:nvPr/>
        </p:nvSpPr>
        <p:spPr>
          <a:xfrm>
            <a:off x="8956675" y="4217670"/>
            <a:ext cx="85725" cy="85725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44" name="矩形 143"/>
          <p:cNvSpPr>
            <a:spLocks noGrp="1"/>
          </p:cNvSpPr>
          <p:nvPr/>
        </p:nvSpPr>
        <p:spPr>
          <a:xfrm>
            <a:off x="8023225" y="4370070"/>
            <a:ext cx="139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047857"/>
                </a:solidFill>
              </a:defRPr>
            </a:pPr>
            <a:r>
              <a:rPr sz="1050" b="0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B×T_S×C</a:t>
            </a:r>
            <a:endParaRPr sz="1050" b="0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5" name="圆角矩形 144"/>
          <p:cNvSpPr>
            <a:spLocks noGrp="1"/>
          </p:cNvSpPr>
          <p:nvPr/>
        </p:nvSpPr>
        <p:spPr>
          <a:xfrm>
            <a:off x="9413875" y="2198370"/>
            <a:ext cx="1143000" cy="200025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7145">
            <a:solidFill>
              <a:srgbClr val="047857"/>
            </a:solidFill>
            <a:prstDash val="solid"/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9528175" y="235077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DRASP</a:t>
            </a:r>
            <a:endParaRPr sz="1350" b="1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7" name="圆角矩形 146"/>
          <p:cNvSpPr>
            <a:spLocks noGrp="1"/>
          </p:cNvSpPr>
          <p:nvPr/>
        </p:nvSpPr>
        <p:spPr>
          <a:xfrm>
            <a:off x="9566275" y="2750820"/>
            <a:ext cx="3810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47857"/>
                </a:solidFill>
              </a:defRPr>
            </a:pPr>
            <a:r>
              <a:rPr sz="1200" b="1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G</a:t>
            </a:r>
            <a:endParaRPr sz="1200" b="1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8" name="矩形 147"/>
          <p:cNvSpPr>
            <a:spLocks noGrp="1"/>
          </p:cNvSpPr>
          <p:nvPr/>
        </p:nvSpPr>
        <p:spPr>
          <a:xfrm>
            <a:off x="10042525" y="2988945"/>
            <a:ext cx="57150" cy="95250"/>
          </a:xfrm>
          <a:prstGeom prst="rect">
            <a:avLst/>
          </a:prstGeom>
          <a:solidFill>
            <a:srgbClr val="047857"/>
          </a:solidFill>
          <a:ln w="0">
            <a:noFill/>
            <a:prstDash val="solid"/>
          </a:ln>
        </p:spPr>
      </p:sp>
      <p:sp>
        <p:nvSpPr>
          <p:cNvPr id="149" name="矩形 148"/>
          <p:cNvSpPr>
            <a:spLocks noGrp="1"/>
          </p:cNvSpPr>
          <p:nvPr/>
        </p:nvSpPr>
        <p:spPr>
          <a:xfrm>
            <a:off x="10147300" y="2912745"/>
            <a:ext cx="57150" cy="171450"/>
          </a:xfrm>
          <a:prstGeom prst="rect">
            <a:avLst/>
          </a:prstGeom>
          <a:solidFill>
            <a:srgbClr val="047857"/>
          </a:solidFill>
          <a:ln w="0">
            <a:noFill/>
            <a:prstDash val="solid"/>
          </a:ln>
        </p:spPr>
      </p:sp>
      <p:sp>
        <p:nvSpPr>
          <p:cNvPr id="150" name="矩形 149"/>
          <p:cNvSpPr>
            <a:spLocks noGrp="1"/>
          </p:cNvSpPr>
          <p:nvPr/>
        </p:nvSpPr>
        <p:spPr>
          <a:xfrm>
            <a:off x="10252075" y="2836545"/>
            <a:ext cx="57150" cy="247650"/>
          </a:xfrm>
          <a:prstGeom prst="rect">
            <a:avLst/>
          </a:prstGeom>
          <a:solidFill>
            <a:srgbClr val="047857"/>
          </a:solidFill>
          <a:ln w="0">
            <a:noFill/>
            <a:prstDash val="solid"/>
          </a:ln>
        </p:spPr>
      </p:sp>
      <p:sp>
        <p:nvSpPr>
          <p:cNvPr id="151" name="矩形 150"/>
          <p:cNvSpPr>
            <a:spLocks noGrp="1"/>
          </p:cNvSpPr>
          <p:nvPr/>
        </p:nvSpPr>
        <p:spPr>
          <a:xfrm>
            <a:off x="10356850" y="2941320"/>
            <a:ext cx="57150" cy="142875"/>
          </a:xfrm>
          <a:prstGeom prst="rect">
            <a:avLst/>
          </a:prstGeom>
          <a:solidFill>
            <a:srgbClr val="047857"/>
          </a:solidFill>
          <a:ln w="0">
            <a:noFill/>
            <a:prstDash val="solid"/>
          </a:ln>
        </p:spPr>
      </p:sp>
      <p:sp>
        <p:nvSpPr>
          <p:cNvPr id="152" name="圆角矩形 151"/>
          <p:cNvSpPr>
            <a:spLocks noGrp="1"/>
          </p:cNvSpPr>
          <p:nvPr/>
        </p:nvSpPr>
        <p:spPr>
          <a:xfrm>
            <a:off x="9566275" y="3322320"/>
            <a:ext cx="3810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47857"/>
                </a:solidFill>
              </a:defRPr>
            </a:pPr>
            <a:r>
              <a:rPr sz="1200" b="1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L</a:t>
            </a:r>
            <a:endParaRPr sz="1200" b="1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10042525" y="3417570"/>
            <a:ext cx="57150" cy="2286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</p:sp>
      <p:sp>
        <p:nvSpPr>
          <p:cNvPr id="154" name="矩形 153"/>
          <p:cNvSpPr>
            <a:spLocks noGrp="1"/>
          </p:cNvSpPr>
          <p:nvPr/>
        </p:nvSpPr>
        <p:spPr>
          <a:xfrm>
            <a:off x="10147300" y="3531870"/>
            <a:ext cx="57150" cy="1143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</p:sp>
      <p:sp>
        <p:nvSpPr>
          <p:cNvPr id="155" name="矩形 154"/>
          <p:cNvSpPr>
            <a:spLocks noGrp="1"/>
          </p:cNvSpPr>
          <p:nvPr/>
        </p:nvSpPr>
        <p:spPr>
          <a:xfrm>
            <a:off x="10252075" y="3455670"/>
            <a:ext cx="57150" cy="1905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</p:sp>
      <p:sp>
        <p:nvSpPr>
          <p:cNvPr id="156" name="矩形 155"/>
          <p:cNvSpPr>
            <a:spLocks noGrp="1"/>
          </p:cNvSpPr>
          <p:nvPr/>
        </p:nvSpPr>
        <p:spPr>
          <a:xfrm>
            <a:off x="10356850" y="3379470"/>
            <a:ext cx="57150" cy="2667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</p:sp>
      <p:sp>
        <p:nvSpPr>
          <p:cNvPr id="157" name="矩形 156"/>
          <p:cNvSpPr>
            <a:spLocks noGrp="1"/>
          </p:cNvSpPr>
          <p:nvPr/>
        </p:nvSpPr>
        <p:spPr>
          <a:xfrm>
            <a:off x="9490075" y="385572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047857"/>
                </a:solidFill>
              </a:defRPr>
            </a:pPr>
            <a:r>
              <a:rPr sz="1050" b="0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B×4C</a:t>
            </a:r>
            <a:endParaRPr sz="1050" b="0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58" name="圆角矩形 157"/>
          <p:cNvSpPr>
            <a:spLocks noGrp="1"/>
          </p:cNvSpPr>
          <p:nvPr/>
        </p:nvSpPr>
        <p:spPr>
          <a:xfrm>
            <a:off x="9408160" y="4789170"/>
            <a:ext cx="1257300" cy="514350"/>
          </a:xfrm>
          <a:prstGeom prst="roundRect">
            <a:avLst>
              <a:gd name="adj" fmla="val 14815"/>
            </a:avLst>
          </a:prstGeom>
          <a:solidFill>
            <a:srgbClr val="047857"/>
          </a:solidFill>
          <a:ln w="15240">
            <a:solidFill>
              <a:srgbClr val="047857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Comic Sans MS" panose="030F0702030302020204" charset="0"/>
                <a:cs typeface="Comic Sans MS" panose="030F0702030302020204" charset="0"/>
              </a:rPr>
              <a:t>Classifier</a:t>
            </a:r>
            <a:endParaRPr sz="1350" b="1">
              <a:solidFill>
                <a:srgbClr val="FFFFFF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圆角矩形 158"/>
              <p:cNvSpPr>
                <a:spLocks noGrp="1"/>
              </p:cNvSpPr>
              <p:nvPr/>
            </p:nvSpPr>
            <p:spPr>
              <a:xfrm>
                <a:off x="9471025" y="5703570"/>
                <a:ext cx="106680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FFFFFF"/>
              </a:solidFill>
              <a:ln w="15240">
                <a:solidFill>
                  <a:srgbClr val="0478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1500" b="1">
                    <a:solidFill>
                      <a:srgbClr val="113B2A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1" i="1">
                              <a:solidFill>
                                <a:srgbClr val="113B2A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solidFill>
                                <a:srgbClr val="113B2A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𝒁</m:t>
                          </m:r>
                        </m:e>
                        <m:sub>
                          <m:r>
                            <a:rPr lang="en-US" sz="1500" b="1" i="1">
                              <a:solidFill>
                                <a:srgbClr val="113B2A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sz="1500" b="1">
                  <a:solidFill>
                    <a:srgbClr val="113B2A"/>
                  </a:solidFill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mc:Choice>
        <mc:Fallback>
          <p:sp>
            <p:nvSpPr>
              <p:cNvPr id="159" name="圆角矩形 1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1025" y="5703570"/>
                <a:ext cx="1066800" cy="419100"/>
              </a:xfrm>
              <a:prstGeom prst="roundRect">
                <a:avLst>
                  <a:gd name="adj" fmla="val 18182"/>
                </a:avLst>
              </a:prstGeom>
              <a:blipFill rotWithShape="1">
                <a:blip r:embed="rId9"/>
                <a:stretch>
                  <a:fillRect l="-714" t="-1818" r="-714" b="-1818"/>
                </a:stretch>
              </a:blipFill>
              <a:ln w="15240">
                <a:solidFill>
                  <a:srgbClr val="047857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矩形 159"/>
          <p:cNvSpPr>
            <a:spLocks noGrp="1"/>
          </p:cNvSpPr>
          <p:nvPr/>
        </p:nvSpPr>
        <p:spPr>
          <a:xfrm>
            <a:off x="9509125" y="616077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  <a:latin typeface="Comic Sans MS" panose="030F0702030302020204" charset="0"/>
                <a:cs typeface="Comic Sans MS" panose="030F0702030302020204" charset="0"/>
              </a:rPr>
              <a:t>B×K</a:t>
            </a:r>
            <a:endParaRPr sz="1050" b="0">
              <a:solidFill>
                <a:srgbClr val="64748B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1" name="圆角矩形 160"/>
          <p:cNvSpPr>
            <a:spLocks noGrp="1"/>
          </p:cNvSpPr>
          <p:nvPr/>
        </p:nvSpPr>
        <p:spPr>
          <a:xfrm>
            <a:off x="770890" y="4726940"/>
            <a:ext cx="8953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84CC16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47857"/>
                </a:solidFill>
              </a:defRPr>
            </a:pPr>
            <a:r>
              <a:rPr sz="1200" b="1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MemKD</a:t>
            </a:r>
            <a:endParaRPr sz="1200" b="1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2" name="圆角矩形 161"/>
          <p:cNvSpPr>
            <a:spLocks noGrp="1"/>
          </p:cNvSpPr>
          <p:nvPr/>
        </p:nvSpPr>
        <p:spPr>
          <a:xfrm>
            <a:off x="9737725" y="579120"/>
            <a:ext cx="8001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84CC16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47857"/>
                </a:solidFill>
              </a:defRPr>
            </a:pPr>
            <a:r>
              <a:rPr sz="1200" b="1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TS-T</a:t>
            </a:r>
            <a:endParaRPr sz="1200" b="1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圆角矩形 162"/>
              <p:cNvSpPr>
                <a:spLocks noGrp="1"/>
              </p:cNvSpPr>
              <p:nvPr/>
            </p:nvSpPr>
            <p:spPr>
              <a:xfrm>
                <a:off x="9737725" y="1226820"/>
                <a:ext cx="80010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FFFFFF"/>
              </a:solidFill>
              <a:ln w="15240">
                <a:solidFill>
                  <a:srgbClr val="10B981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1350" b="1">
                    <a:solidFill>
                      <a:srgbClr val="047857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350" b="1" i="1">
                              <a:solidFill>
                                <a:srgbClr val="047857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sz="1350" b="1" i="1">
                              <a:solidFill>
                                <a:srgbClr val="047857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𝒁</m:t>
                          </m:r>
                        </m:e>
                        <m:sub>
                          <m:r>
                            <a:rPr lang="en-US" sz="1350" b="1" i="1">
                              <a:solidFill>
                                <a:srgbClr val="047857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𝑺</m:t>
                          </m:r>
                        </m:sub>
                        <m:sup>
                          <m:r>
                            <a:rPr lang="en-US" sz="1350" b="1" i="1">
                              <a:solidFill>
                                <a:srgbClr val="047857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sz="1350" b="1">
                  <a:solidFill>
                    <a:srgbClr val="047857"/>
                  </a:solidFill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mc:Choice>
        <mc:Fallback>
          <p:sp>
            <p:nvSpPr>
              <p:cNvPr id="163" name="圆角矩形 1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7725" y="1226820"/>
                <a:ext cx="800100" cy="419100"/>
              </a:xfrm>
              <a:prstGeom prst="roundRect">
                <a:avLst>
                  <a:gd name="adj" fmla="val 18182"/>
                </a:avLst>
              </a:prstGeom>
              <a:blipFill rotWithShape="1">
                <a:blip r:embed="rId10"/>
                <a:stretch>
                  <a:fillRect l="-952" t="-1818" r="-952" b="-1818"/>
                </a:stretch>
              </a:blipFill>
              <a:ln w="15240">
                <a:solidFill>
                  <a:srgbClr val="10B981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矩形 163"/>
          <p:cNvSpPr>
            <a:spLocks noGrp="1"/>
          </p:cNvSpPr>
          <p:nvPr/>
        </p:nvSpPr>
        <p:spPr>
          <a:xfrm>
            <a:off x="9204325" y="1741170"/>
            <a:ext cx="1257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  <a:latin typeface="Comic Sans MS" panose="030F0702030302020204" charset="0"/>
                <a:cs typeface="Comic Sans MS" panose="030F0702030302020204" charset="0"/>
              </a:rPr>
              <a:t>B×T_S×K</a:t>
            </a:r>
            <a:endParaRPr sz="1050" b="0">
              <a:solidFill>
                <a:srgbClr val="64748B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5" name="矩形 164"/>
          <p:cNvSpPr>
            <a:spLocks noGrp="1"/>
          </p:cNvSpPr>
          <p:nvPr/>
        </p:nvSpPr>
        <p:spPr>
          <a:xfrm>
            <a:off x="9852025" y="2160270"/>
            <a:ext cx="66675" cy="9525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</p:sp>
      <p:sp>
        <p:nvSpPr>
          <p:cNvPr id="166" name="矩形 165"/>
          <p:cNvSpPr>
            <a:spLocks noGrp="1"/>
          </p:cNvSpPr>
          <p:nvPr/>
        </p:nvSpPr>
        <p:spPr>
          <a:xfrm>
            <a:off x="9966325" y="2084070"/>
            <a:ext cx="66675" cy="17145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</p:sp>
      <p:sp>
        <p:nvSpPr>
          <p:cNvPr id="167" name="矩形 166"/>
          <p:cNvSpPr>
            <a:spLocks noGrp="1"/>
          </p:cNvSpPr>
          <p:nvPr/>
        </p:nvSpPr>
        <p:spPr>
          <a:xfrm>
            <a:off x="10080625" y="2026920"/>
            <a:ext cx="66675" cy="2286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</p:sp>
      <p:sp>
        <p:nvSpPr>
          <p:cNvPr id="168" name="矩形 167"/>
          <p:cNvSpPr>
            <a:spLocks noGrp="1"/>
          </p:cNvSpPr>
          <p:nvPr/>
        </p:nvSpPr>
        <p:spPr>
          <a:xfrm>
            <a:off x="10194925" y="2122170"/>
            <a:ext cx="66675" cy="13335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</p:sp>
      <p:sp>
        <p:nvSpPr>
          <p:cNvPr id="169" name="矩形 168"/>
          <p:cNvSpPr>
            <a:spLocks noGrp="1"/>
          </p:cNvSpPr>
          <p:nvPr/>
        </p:nvSpPr>
        <p:spPr>
          <a:xfrm>
            <a:off x="10309225" y="1988820"/>
            <a:ext cx="66675" cy="2667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</p:sp>
      <p:cxnSp>
        <p:nvCxnSpPr>
          <p:cNvPr id="371" name="直接箭头连接符 370"/>
          <p:cNvCxnSpPr>
            <a:endCxn id="12" idx="0"/>
          </p:cNvCxnSpPr>
          <p:nvPr/>
        </p:nvCxnSpPr>
        <p:spPr>
          <a:xfrm flipH="1">
            <a:off x="1270000" y="3068955"/>
            <a:ext cx="1270" cy="539115"/>
          </a:xfrm>
          <a:prstGeom prst="straightConnector1">
            <a:avLst/>
          </a:prstGeom>
          <a:ln w="22860">
            <a:solidFill>
              <a:srgbClr val="04785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73" name="直接箭头连接符 372"/>
          <p:cNvCxnSpPr/>
          <p:nvPr/>
        </p:nvCxnSpPr>
        <p:spPr>
          <a:xfrm flipV="1">
            <a:off x="3442335" y="3979545"/>
            <a:ext cx="575310" cy="0"/>
          </a:xfrm>
          <a:prstGeom prst="straightConnector1">
            <a:avLst/>
          </a:prstGeom>
          <a:ln w="22860">
            <a:solidFill>
              <a:srgbClr val="04785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75" name="直接箭头连接符 374"/>
          <p:cNvCxnSpPr>
            <a:stCxn id="128" idx="3"/>
            <a:endCxn id="145" idx="1"/>
          </p:cNvCxnSpPr>
          <p:nvPr/>
        </p:nvCxnSpPr>
        <p:spPr>
          <a:xfrm flipV="1">
            <a:off x="9204325" y="3198495"/>
            <a:ext cx="209550" cy="104775"/>
          </a:xfrm>
          <a:prstGeom prst="straightConnector1">
            <a:avLst/>
          </a:prstGeom>
          <a:ln w="22860">
            <a:solidFill>
              <a:srgbClr val="04785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76" name="肘形连接符 375"/>
          <p:cNvCxnSpPr>
            <a:stCxn id="145" idx="2"/>
          </p:cNvCxnSpPr>
          <p:nvPr/>
        </p:nvCxnSpPr>
        <p:spPr>
          <a:xfrm>
            <a:off x="9985375" y="4198620"/>
            <a:ext cx="0" cy="590550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04785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77" name="直接箭头连接符 376"/>
          <p:cNvCxnSpPr>
            <a:endCxn id="159" idx="0"/>
          </p:cNvCxnSpPr>
          <p:nvPr/>
        </p:nvCxnSpPr>
        <p:spPr>
          <a:xfrm>
            <a:off x="10004425" y="5303520"/>
            <a:ext cx="0" cy="400050"/>
          </a:xfrm>
          <a:prstGeom prst="straightConnector1">
            <a:avLst/>
          </a:prstGeom>
          <a:ln w="20955">
            <a:solidFill>
              <a:srgbClr val="04785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79" name="直接连接符 178"/>
          <p:cNvSpPr>
            <a:spLocks noGrp="1"/>
          </p:cNvSpPr>
          <p:nvPr/>
        </p:nvSpPr>
        <p:spPr>
          <a:xfrm>
            <a:off x="7880350" y="941070"/>
            <a:ext cx="0" cy="38100"/>
          </a:xfrm>
          <a:prstGeom prst="line">
            <a:avLst/>
          </a:prstGeom>
          <a:noFill/>
          <a:ln w="17145">
            <a:solidFill>
              <a:srgbClr val="84CC16"/>
            </a:solidFill>
            <a:prstDash val="dash"/>
          </a:ln>
        </p:spPr>
      </p:sp>
      <p:cxnSp>
        <p:nvCxnSpPr>
          <p:cNvPr id="381" name="肘形连接符 380"/>
          <p:cNvCxnSpPr>
            <a:stCxn id="128" idx="0"/>
            <a:endCxn id="163" idx="1"/>
          </p:cNvCxnSpPr>
          <p:nvPr/>
        </p:nvCxnSpPr>
        <p:spPr>
          <a:xfrm flipV="1">
            <a:off x="8718550" y="1436370"/>
            <a:ext cx="1019175" cy="1504950"/>
          </a:xfrm>
          <a:prstGeom prst="bentConnector3">
            <a:avLst>
              <a:gd name="adj1" fmla="val 0"/>
            </a:avLst>
          </a:prstGeom>
          <a:ln w="17145">
            <a:solidFill>
              <a:srgbClr val="10B98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82" name="直接箭头连接符 381"/>
          <p:cNvCxnSpPr>
            <a:stCxn id="163" idx="0"/>
          </p:cNvCxnSpPr>
          <p:nvPr/>
        </p:nvCxnSpPr>
        <p:spPr>
          <a:xfrm flipV="1">
            <a:off x="10137775" y="941070"/>
            <a:ext cx="0" cy="285750"/>
          </a:xfrm>
          <a:prstGeom prst="straightConnector1">
            <a:avLst/>
          </a:prstGeom>
          <a:ln w="15240">
            <a:solidFill>
              <a:srgbClr val="84CC16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99" name="圆角矩形 198"/>
          <p:cNvSpPr>
            <a:spLocks noGrp="1"/>
          </p:cNvSpPr>
          <p:nvPr/>
        </p:nvSpPr>
        <p:spPr>
          <a:xfrm>
            <a:off x="419100" y="615315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green = student path</a:t>
            </a:r>
            <a:endParaRPr sz="1050" b="1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00" name="圆角矩形 199"/>
          <p:cNvSpPr>
            <a:spLocks noGrp="1"/>
          </p:cNvSpPr>
          <p:nvPr/>
        </p:nvSpPr>
        <p:spPr>
          <a:xfrm>
            <a:off x="2343150" y="6153150"/>
            <a:ext cx="201930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84CC16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dashed = distillation taps</a:t>
            </a:r>
            <a:endParaRPr sz="1050" b="1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01" name="圆角矩形 200"/>
          <p:cNvSpPr>
            <a:spLocks noGrp="1"/>
          </p:cNvSpPr>
          <p:nvPr/>
        </p:nvSpPr>
        <p:spPr>
          <a:xfrm>
            <a:off x="4533900" y="6153150"/>
            <a:ext cx="257175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Δt loops = liquid temporal memory</a:t>
            </a:r>
            <a:endParaRPr sz="1050" b="1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grpSp>
        <p:nvGrpSpPr>
          <p:cNvPr id="173" name="组合 172"/>
          <p:cNvGrpSpPr/>
          <p:nvPr/>
        </p:nvGrpSpPr>
        <p:grpSpPr>
          <a:xfrm>
            <a:off x="2279650" y="1446530"/>
            <a:ext cx="1545590" cy="1421130"/>
            <a:chOff x="3363" y="1515"/>
            <a:chExt cx="2434" cy="2238"/>
          </a:xfrm>
        </p:grpSpPr>
        <p:grpSp>
          <p:nvGrpSpPr>
            <p:cNvPr id="65" name="组合 64"/>
            <p:cNvGrpSpPr/>
            <p:nvPr/>
          </p:nvGrpSpPr>
          <p:grpSpPr>
            <a:xfrm>
              <a:off x="3363" y="1515"/>
              <a:ext cx="2435" cy="2239"/>
              <a:chOff x="901" y="1541"/>
              <a:chExt cx="2435" cy="2239"/>
            </a:xfrm>
          </p:grpSpPr>
          <p:sp>
            <p:nvSpPr>
              <p:cNvPr id="79" name="圆角矩形 97"/>
              <p:cNvSpPr>
                <a:spLocks noGrp="1"/>
              </p:cNvSpPr>
              <p:nvPr/>
            </p:nvSpPr>
            <p:spPr>
              <a:xfrm>
                <a:off x="901" y="1541"/>
                <a:ext cx="2435" cy="2239"/>
              </a:xfrm>
              <a:prstGeom prst="roundRect">
                <a:avLst>
                  <a:gd name="adj" fmla="val 5682"/>
                </a:avLst>
              </a:prstGeom>
              <a:solidFill>
                <a:srgbClr val="ECFDF5"/>
              </a:solidFill>
              <a:ln w="13335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grpSp>
            <p:nvGrpSpPr>
              <p:cNvPr id="80" name="组合 79"/>
              <p:cNvGrpSpPr/>
              <p:nvPr/>
            </p:nvGrpSpPr>
            <p:grpSpPr>
              <a:xfrm>
                <a:off x="1171" y="2057"/>
                <a:ext cx="1771" cy="1590"/>
                <a:chOff x="20174" y="7755"/>
                <a:chExt cx="1771" cy="1590"/>
              </a:xfrm>
            </p:grpSpPr>
            <p:grpSp>
              <p:nvGrpSpPr>
                <p:cNvPr id="81" name="组合 80"/>
                <p:cNvGrpSpPr/>
                <p:nvPr/>
              </p:nvGrpSpPr>
              <p:grpSpPr>
                <a:xfrm>
                  <a:off x="20190" y="7755"/>
                  <a:ext cx="1755" cy="1455"/>
                  <a:chOff x="20190" y="7755"/>
                  <a:chExt cx="1755" cy="1455"/>
                </a:xfrm>
              </p:grpSpPr>
              <p:sp>
                <p:nvSpPr>
                  <p:cNvPr id="95" name="任意多边形 99"/>
                  <p:cNvSpPr>
                    <a:spLocks noGrp="1"/>
                  </p:cNvSpPr>
                  <p:nvPr/>
                </p:nvSpPr>
                <p:spPr>
                  <a:xfrm>
                    <a:off x="20325" y="7890"/>
                    <a:ext cx="615" cy="33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0525" h="209550">
                        <a:moveTo>
                          <a:pt x="0" y="209550"/>
                        </a:moveTo>
                        <a:lnTo>
                          <a:pt x="390525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>
                      <a:latin typeface="Comic Sans MS" panose="030F0702030302020204" charset="0"/>
                      <a:cs typeface="Comic Sans MS" panose="030F0702030302020204" charset="0"/>
                    </a:endParaRPr>
                  </a:p>
                </p:txBody>
              </p:sp>
              <p:sp>
                <p:nvSpPr>
                  <p:cNvPr id="96" name="任意多边形 100"/>
                  <p:cNvSpPr>
                    <a:spLocks noGrp="1"/>
                  </p:cNvSpPr>
                  <p:nvPr/>
                </p:nvSpPr>
                <p:spPr>
                  <a:xfrm>
                    <a:off x="20940" y="7890"/>
                    <a:ext cx="660" cy="3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9100" h="228600">
                        <a:moveTo>
                          <a:pt x="0" y="0"/>
                        </a:moveTo>
                        <a:lnTo>
                          <a:pt x="419100" y="228600"/>
                        </a:ln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>
                      <a:latin typeface="Comic Sans MS" panose="030F0702030302020204" charset="0"/>
                      <a:cs typeface="Comic Sans MS" panose="030F0702030302020204" charset="0"/>
                    </a:endParaRPr>
                  </a:p>
                </p:txBody>
              </p:sp>
              <p:sp>
                <p:nvSpPr>
                  <p:cNvPr id="97" name="任意多边形 101"/>
                  <p:cNvSpPr>
                    <a:spLocks noGrp="1"/>
                  </p:cNvSpPr>
                  <p:nvPr/>
                </p:nvSpPr>
                <p:spPr>
                  <a:xfrm>
                    <a:off x="20325" y="8220"/>
                    <a:ext cx="600" cy="5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00" h="323850">
                        <a:moveTo>
                          <a:pt x="0" y="0"/>
                        </a:moveTo>
                        <a:lnTo>
                          <a:pt x="381000" y="323850"/>
                        </a:ln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>
                      <a:latin typeface="Comic Sans MS" panose="030F0702030302020204" charset="0"/>
                      <a:cs typeface="Comic Sans MS" panose="030F0702030302020204" charset="0"/>
                    </a:endParaRPr>
                  </a:p>
                </p:txBody>
              </p:sp>
              <p:sp>
                <p:nvSpPr>
                  <p:cNvPr id="122" name="任意多边形 102"/>
                  <p:cNvSpPr>
                    <a:spLocks noGrp="1"/>
                  </p:cNvSpPr>
                  <p:nvPr/>
                </p:nvSpPr>
                <p:spPr>
                  <a:xfrm>
                    <a:off x="20925" y="8250"/>
                    <a:ext cx="675" cy="4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8625" h="304800">
                        <a:moveTo>
                          <a:pt x="0" y="304800"/>
                        </a:moveTo>
                        <a:lnTo>
                          <a:pt x="428625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>
                      <a:latin typeface="Comic Sans MS" panose="030F0702030302020204" charset="0"/>
                      <a:cs typeface="Comic Sans MS" panose="030F0702030302020204" charset="0"/>
                    </a:endParaRPr>
                  </a:p>
                </p:txBody>
              </p:sp>
              <p:sp>
                <p:nvSpPr>
                  <p:cNvPr id="123" name="任意多边形 103"/>
                  <p:cNvSpPr>
                    <a:spLocks noGrp="1"/>
                  </p:cNvSpPr>
                  <p:nvPr/>
                </p:nvSpPr>
                <p:spPr>
                  <a:xfrm>
                    <a:off x="20925" y="8730"/>
                    <a:ext cx="885" cy="27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61975" h="171450">
                        <a:moveTo>
                          <a:pt x="0" y="0"/>
                        </a:moveTo>
                        <a:lnTo>
                          <a:pt x="561975" y="171450"/>
                        </a:ln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>
                      <a:latin typeface="Comic Sans MS" panose="030F0702030302020204" charset="0"/>
                      <a:cs typeface="Comic Sans MS" panose="030F0702030302020204" charset="0"/>
                    </a:endParaRPr>
                  </a:p>
                </p:txBody>
              </p:sp>
              <p:sp>
                <p:nvSpPr>
                  <p:cNvPr id="111" name="任意多边形 104"/>
                  <p:cNvSpPr>
                    <a:spLocks noGrp="1"/>
                  </p:cNvSpPr>
                  <p:nvPr/>
                </p:nvSpPr>
                <p:spPr>
                  <a:xfrm>
                    <a:off x="20400" y="8730"/>
                    <a:ext cx="525" cy="4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33375" h="304800">
                        <a:moveTo>
                          <a:pt x="0" y="304800"/>
                        </a:moveTo>
                        <a:lnTo>
                          <a:pt x="333375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>
                      <a:latin typeface="Comic Sans MS" panose="030F0702030302020204" charset="0"/>
                      <a:cs typeface="Comic Sans MS" panose="030F0702030302020204" charset="0"/>
                    </a:endParaRPr>
                  </a:p>
                </p:txBody>
              </p:sp>
              <p:sp>
                <p:nvSpPr>
                  <p:cNvPr id="112" name="任意多边形 105"/>
                  <p:cNvSpPr>
                    <a:spLocks noGrp="1"/>
                  </p:cNvSpPr>
                  <p:nvPr/>
                </p:nvSpPr>
                <p:spPr>
                  <a:xfrm>
                    <a:off x="20940" y="7890"/>
                    <a:ext cx="870" cy="11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52450" h="704850">
                        <a:moveTo>
                          <a:pt x="0" y="0"/>
                        </a:moveTo>
                        <a:lnTo>
                          <a:pt x="552450" y="704850"/>
                        </a:ln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>
                      <a:latin typeface="Comic Sans MS" panose="030F0702030302020204" charset="0"/>
                      <a:cs typeface="Comic Sans MS" panose="030F0702030302020204" charset="0"/>
                    </a:endParaRPr>
                  </a:p>
                </p:txBody>
              </p:sp>
              <p:sp>
                <p:nvSpPr>
                  <p:cNvPr id="113" name="任意多边形 106"/>
                  <p:cNvSpPr>
                    <a:spLocks noGrp="1"/>
                  </p:cNvSpPr>
                  <p:nvPr/>
                </p:nvSpPr>
                <p:spPr>
                  <a:xfrm>
                    <a:off x="20325" y="8220"/>
                    <a:ext cx="0" cy="99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7625" h="628650">
                        <a:moveTo>
                          <a:pt x="0" y="0"/>
                        </a:moveTo>
                        <a:lnTo>
                          <a:pt x="47625" y="628650"/>
                        </a:ln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  <a:prstDash val="sysDot"/>
                  </a:ln>
                </p:spPr>
                <p:txBody>
                  <a:bodyPr/>
                  <a:lstStyle/>
                  <a:p>
                    <a:endParaRPr lang="zh-CN" altLang="en-US">
                      <a:latin typeface="Comic Sans MS" panose="030F0702030302020204" charset="0"/>
                      <a:cs typeface="Comic Sans MS" panose="030F0702030302020204" charset="0"/>
                    </a:endParaRPr>
                  </a:p>
                </p:txBody>
              </p:sp>
              <p:sp>
                <p:nvSpPr>
                  <p:cNvPr id="170" name="椭圆 169"/>
                  <p:cNvSpPr>
                    <a:spLocks noGrp="1"/>
                  </p:cNvSpPr>
                  <p:nvPr/>
                </p:nvSpPr>
                <p:spPr>
                  <a:xfrm>
                    <a:off x="20190" y="8085"/>
                    <a:ext cx="270" cy="270"/>
                  </a:xfrm>
                  <a:prstGeom prst="ellipse">
                    <a:avLst/>
                  </a:prstGeom>
                  <a:solidFill>
                    <a:srgbClr val="34D399"/>
                  </a:solidFill>
                  <a:ln w="11430">
                    <a:solidFill>
                      <a:srgbClr val="00B05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>
                      <a:latin typeface="Comic Sans MS" panose="030F0702030302020204" charset="0"/>
                      <a:cs typeface="Comic Sans MS" panose="030F0702030302020204" charset="0"/>
                    </a:endParaRPr>
                  </a:p>
                </p:txBody>
              </p:sp>
              <p:sp>
                <p:nvSpPr>
                  <p:cNvPr id="192" name="椭圆 191"/>
                  <p:cNvSpPr>
                    <a:spLocks noGrp="1"/>
                  </p:cNvSpPr>
                  <p:nvPr/>
                </p:nvSpPr>
                <p:spPr>
                  <a:xfrm>
                    <a:off x="20805" y="7755"/>
                    <a:ext cx="270" cy="270"/>
                  </a:xfrm>
                  <a:prstGeom prst="ellipse">
                    <a:avLst/>
                  </a:prstGeom>
                  <a:solidFill>
                    <a:srgbClr val="34D399"/>
                  </a:solidFill>
                  <a:ln w="11430">
                    <a:solidFill>
                      <a:srgbClr val="00B05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>
                      <a:latin typeface="Comic Sans MS" panose="030F0702030302020204" charset="0"/>
                      <a:cs typeface="Comic Sans MS" panose="030F0702030302020204" charset="0"/>
                    </a:endParaRPr>
                  </a:p>
                </p:txBody>
              </p:sp>
              <p:sp>
                <p:nvSpPr>
                  <p:cNvPr id="193" name="椭圆 192"/>
                  <p:cNvSpPr>
                    <a:spLocks noGrp="1"/>
                  </p:cNvSpPr>
                  <p:nvPr/>
                </p:nvSpPr>
                <p:spPr>
                  <a:xfrm>
                    <a:off x="21465" y="8115"/>
                    <a:ext cx="270" cy="270"/>
                  </a:xfrm>
                  <a:prstGeom prst="ellipse">
                    <a:avLst/>
                  </a:prstGeom>
                  <a:solidFill>
                    <a:srgbClr val="34D399"/>
                  </a:solidFill>
                  <a:ln w="11430">
                    <a:solidFill>
                      <a:srgbClr val="00B05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>
                      <a:latin typeface="Comic Sans MS" panose="030F0702030302020204" charset="0"/>
                      <a:cs typeface="Comic Sans MS" panose="030F0702030302020204" charset="0"/>
                    </a:endParaRPr>
                  </a:p>
                </p:txBody>
              </p:sp>
              <p:sp>
                <p:nvSpPr>
                  <p:cNvPr id="194" name="椭圆 193"/>
                  <p:cNvSpPr>
                    <a:spLocks noGrp="1"/>
                  </p:cNvSpPr>
                  <p:nvPr/>
                </p:nvSpPr>
                <p:spPr>
                  <a:xfrm>
                    <a:off x="20790" y="8595"/>
                    <a:ext cx="270" cy="270"/>
                  </a:xfrm>
                  <a:prstGeom prst="ellipse">
                    <a:avLst/>
                  </a:prstGeom>
                  <a:solidFill>
                    <a:srgbClr val="34D399"/>
                  </a:solidFill>
                  <a:ln w="11430">
                    <a:solidFill>
                      <a:srgbClr val="00B05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>
                      <a:latin typeface="Comic Sans MS" panose="030F0702030302020204" charset="0"/>
                      <a:cs typeface="Comic Sans MS" panose="030F0702030302020204" charset="0"/>
                    </a:endParaRPr>
                  </a:p>
                </p:txBody>
              </p:sp>
              <p:sp>
                <p:nvSpPr>
                  <p:cNvPr id="195" name="椭圆 194"/>
                  <p:cNvSpPr>
                    <a:spLocks noGrp="1"/>
                  </p:cNvSpPr>
                  <p:nvPr/>
                </p:nvSpPr>
                <p:spPr>
                  <a:xfrm>
                    <a:off x="21675" y="8865"/>
                    <a:ext cx="270" cy="270"/>
                  </a:xfrm>
                  <a:prstGeom prst="ellipse">
                    <a:avLst/>
                  </a:prstGeom>
                  <a:solidFill>
                    <a:srgbClr val="34D399"/>
                  </a:solidFill>
                  <a:ln w="11430">
                    <a:solidFill>
                      <a:srgbClr val="00B05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zh-CN" altLang="en-US">
                      <a:latin typeface="Comic Sans MS" panose="030F0702030302020204" charset="0"/>
                      <a:cs typeface="Comic Sans MS" panose="030F0702030302020204" charset="0"/>
                    </a:endParaRPr>
                  </a:p>
                </p:txBody>
              </p:sp>
            </p:grpSp>
            <p:sp>
              <p:nvSpPr>
                <p:cNvPr id="171" name="椭圆 170"/>
                <p:cNvSpPr>
                  <a:spLocks noGrp="1"/>
                </p:cNvSpPr>
                <p:nvPr/>
              </p:nvSpPr>
              <p:spPr>
                <a:xfrm>
                  <a:off x="20174" y="9075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</p:grpSp>
        <p:sp>
          <p:nvSpPr>
            <p:cNvPr id="183" name="矩形 182"/>
            <p:cNvSpPr>
              <a:spLocks noGrp="1"/>
            </p:cNvSpPr>
            <p:nvPr/>
          </p:nvSpPr>
          <p:spPr>
            <a:xfrm>
              <a:off x="3703" y="1575"/>
              <a:ext cx="177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125" b="1">
                  <a:solidFill>
                    <a:srgbClr val="047857"/>
                  </a:solidFill>
                </a:defRPr>
              </a:pPr>
              <a:r>
                <a:rPr sz="1125" b="1">
                  <a:solidFill>
                    <a:srgbClr val="047857"/>
                  </a:solidFill>
                  <a:latin typeface="Comic Sans MS" panose="030F0702030302020204" charset="0"/>
                  <a:cs typeface="Comic Sans MS" panose="030F0702030302020204" charset="0"/>
                </a:rPr>
                <a:t>AutoNCP</a:t>
              </a:r>
              <a:endParaRPr sz="1125" b="1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cxnSp>
        <p:nvCxnSpPr>
          <p:cNvPr id="181" name="直接箭头连接符 180"/>
          <p:cNvCxnSpPr/>
          <p:nvPr/>
        </p:nvCxnSpPr>
        <p:spPr>
          <a:xfrm>
            <a:off x="4784725" y="3608070"/>
            <a:ext cx="381000" cy="0"/>
          </a:xfrm>
          <a:prstGeom prst="straightConnector1">
            <a:avLst/>
          </a:prstGeom>
          <a:ln w="17145">
            <a:solidFill>
              <a:srgbClr val="047857"/>
            </a:solidFill>
            <a:prstDash val="solid"/>
            <a:headEnd type="none" w="med" len="med"/>
            <a:tailEnd type="arrow" w="med" len="med"/>
          </a:ln>
        </p:spPr>
      </p:cxnSp>
      <p:grpSp>
        <p:nvGrpSpPr>
          <p:cNvPr id="5" name="组合 4"/>
          <p:cNvGrpSpPr/>
          <p:nvPr/>
        </p:nvGrpSpPr>
        <p:grpSpPr>
          <a:xfrm>
            <a:off x="669925" y="1435735"/>
            <a:ext cx="1200150" cy="1061720"/>
            <a:chOff x="1055" y="2261"/>
            <a:chExt cx="1890" cy="1672"/>
          </a:xfrm>
        </p:grpSpPr>
        <p:sp>
          <p:nvSpPr>
            <p:cNvPr id="4" name="圆角矩形 3"/>
            <p:cNvSpPr>
              <a:spLocks noGrp="1"/>
            </p:cNvSpPr>
            <p:nvPr/>
          </p:nvSpPr>
          <p:spPr>
            <a:xfrm>
              <a:off x="1055" y="2261"/>
              <a:ext cx="1890" cy="1561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524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pPr algn="ctr">
                <a:defRPr sz="1350" b="1">
                  <a:solidFill>
                    <a:srgbClr val="113B2A"/>
                  </a:solidFill>
                </a:defRPr>
              </a:pPr>
              <a:r>
                <a:rPr sz="1350" b="1">
                  <a:solidFill>
                    <a:srgbClr val="113B2A"/>
                  </a:solidFill>
                  <a:latin typeface="Comic Sans MS" panose="030F0702030302020204" charset="0"/>
                  <a:cs typeface="Comic Sans MS" panose="030F0702030302020204" charset="0"/>
                </a:rPr>
                <a:t>Raw</a:t>
              </a:r>
              <a:r>
                <a:rPr lang="en-US" sz="1350" b="1">
                  <a:solidFill>
                    <a:srgbClr val="113B2A"/>
                  </a:solidFill>
                  <a:latin typeface="Comic Sans MS" panose="030F0702030302020204" charset="0"/>
                  <a:cs typeface="Comic Sans MS" panose="030F0702030302020204" charset="0"/>
                </a:rPr>
                <a:t> Waveform</a:t>
              </a:r>
              <a:endParaRPr sz="1350" b="1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endParaRPr>
            </a:p>
            <a:p>
              <a:pPr algn="ctr">
                <a:defRPr sz="1350" b="1">
                  <a:solidFill>
                    <a:srgbClr val="113B2A"/>
                  </a:solidFill>
                </a:defRPr>
              </a:pPr>
              <a:endParaRPr sz="1350" b="1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  <p:pic>
          <p:nvPicPr>
            <p:cNvPr id="355" name="图片 35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69" y="2929"/>
              <a:ext cx="1463" cy="1005"/>
            </a:xfrm>
            <a:prstGeom prst="rect">
              <a:avLst/>
            </a:prstGeom>
          </p:spPr>
        </p:pic>
      </p:grpSp>
      <p:sp>
        <p:nvSpPr>
          <p:cNvPr id="172" name="平行四边形 171"/>
          <p:cNvSpPr/>
          <p:nvPr/>
        </p:nvSpPr>
        <p:spPr>
          <a:xfrm>
            <a:off x="874395" y="3903345"/>
            <a:ext cx="791845" cy="360045"/>
          </a:xfrm>
          <a:prstGeom prst="parallelogram">
            <a:avLst/>
          </a:prstGeom>
          <a:solidFill>
            <a:srgbClr val="34D399"/>
          </a:solidFill>
          <a:ln>
            <a:solidFill>
              <a:srgbClr val="18B76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6" name="直接连接符 175"/>
          <p:cNvCxnSpPr>
            <a:stCxn id="355" idx="2"/>
            <a:endCxn id="18" idx="0"/>
          </p:cNvCxnSpPr>
          <p:nvPr/>
        </p:nvCxnSpPr>
        <p:spPr>
          <a:xfrm>
            <a:off x="1270000" y="2498090"/>
            <a:ext cx="0" cy="338455"/>
          </a:xfrm>
          <a:prstGeom prst="line">
            <a:avLst/>
          </a:prstGeom>
          <a:ln>
            <a:solidFill>
              <a:srgbClr val="23896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>
            <a:endCxn id="19" idx="1"/>
          </p:cNvCxnSpPr>
          <p:nvPr/>
        </p:nvCxnSpPr>
        <p:spPr>
          <a:xfrm flipV="1">
            <a:off x="1870075" y="3979545"/>
            <a:ext cx="409575" cy="0"/>
          </a:xfrm>
          <a:prstGeom prst="straightConnector1">
            <a:avLst/>
          </a:prstGeom>
          <a:ln w="22860">
            <a:solidFill>
              <a:srgbClr val="047857"/>
            </a:solidFill>
            <a:prstDash val="solid"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WPS 演示</Application>
  <PresentationFormat>Converted Presentation</PresentationFormat>
  <Paragraphs>89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Comic Sans MS</vt:lpstr>
      <vt:lpstr>Cambria Math</vt:lpstr>
      <vt:lpstr>MS Mincho</vt:lpstr>
      <vt:lpstr>Calibri</vt:lpstr>
      <vt:lpstr>微软雅黑</vt:lpstr>
      <vt:lpstr>Arial Unicode MS</vt:lpstr>
      <vt:lpstr>Segoe Print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28</cp:revision>
  <dcterms:created xsi:type="dcterms:W3CDTF">2026-07-07T08:50:00Z</dcterms:created>
  <dcterms:modified xsi:type="dcterms:W3CDTF">2026-07-09T13:26:14Z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6B41B3C56CCE4F9C9A50ED233F457F3F_12</vt:lpwstr>
  </property>
  <property fmtid="{D5CDD505-2E9C-101B-9397-08002B2CF9AE}" pid="3" name="KSOProductBuildVer">
    <vt:lpwstr>2052-12.1.0.23542</vt:lpwstr>
  </property>
</Properties>
</file>