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10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aw waveform&#10;s (B×L)"/>
          <p:cNvSpPr>
            <a:spLocks noGrp="1"/>
          </p:cNvSpPr>
          <p:nvPr/>
        </p:nvSpPr>
        <p:spPr>
          <a:xfrm>
            <a:off x="400050" y="3219450"/>
            <a:ext cx="1409700" cy="6858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13335">
            <a:solidFill>
              <a:srgbClr val="A8A8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Raw waveform</a:t>
            </a:r>
            <a:endParaRPr sz="1350" b="1" dirty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 (B×L)</a:t>
            </a:r>
            <a:endParaRPr sz="1350" b="1" dirty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1D CNN&#10;Encoder"/>
          <p:cNvSpPr>
            <a:spLocks noGrp="1"/>
          </p:cNvSpPr>
          <p:nvPr/>
        </p:nvSpPr>
        <p:spPr>
          <a:xfrm>
            <a:off x="2152650" y="3219450"/>
            <a:ext cx="12954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A8A8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1D CNN</a:t>
            </a:r>
            <a:endParaRPr sz="13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</a:t>
            </a:r>
            <a:endParaRPr sz="13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H_S"/>
          <p:cNvSpPr>
            <a:spLocks noGrp="1"/>
          </p:cNvSpPr>
          <p:nvPr/>
        </p:nvSpPr>
        <p:spPr>
          <a:xfrm>
            <a:off x="3790950" y="3219450"/>
            <a:ext cx="1143000" cy="6858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13335">
            <a:solidFill>
              <a:srgbClr val="A8A8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75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H_S</a:t>
            </a:r>
            <a:endParaRPr sz="1275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5029200" y="1790700"/>
            <a:ext cx="3638550" cy="2914650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524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0" y="18669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1275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BPCSCfC</a:t>
            </a:r>
            <a:endParaRPr sz="1275" b="1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: 圆角 5"/>
          <p:cNvSpPr>
            <a:spLocks noGrp="1"/>
          </p:cNvSpPr>
          <p:nvPr/>
        </p:nvSpPr>
        <p:spPr>
          <a:xfrm>
            <a:off x="5219700" y="2266950"/>
            <a:ext cx="1295400" cy="723900"/>
          </a:xfrm>
          <a:prstGeom prst="roundRect">
            <a:avLst>
              <a:gd name="adj" fmla="val 10526"/>
            </a:avLst>
          </a:prstGeom>
          <a:solidFill>
            <a:srgbClr val="F8FBFE"/>
          </a:solidFill>
          <a:ln w="1333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76850" y="2305050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125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Local slice</a:t>
            </a:r>
            <a:endParaRPr sz="1125" b="1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0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400675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467350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34025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05425" y="2524125"/>
            <a:ext cx="304800" cy="247650"/>
          </a:xfrm>
          <a:prstGeom prst="rect">
            <a:avLst/>
          </a:prstGeom>
          <a:noFill/>
          <a:ln w="10478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657850" y="2552700"/>
            <a:ext cx="47625" cy="190500"/>
          </a:xfrm>
          <a:prstGeom prst="rect">
            <a:avLst/>
          </a:prstGeom>
          <a:solidFill>
            <a:srgbClr val="FFFFFF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24525" y="2552700"/>
            <a:ext cx="47625" cy="190500"/>
          </a:xfrm>
          <a:prstGeom prst="rect">
            <a:avLst/>
          </a:prstGeom>
          <a:solidFill>
            <a:srgbClr val="FFFFFF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791200" y="2552700"/>
            <a:ext cx="47625" cy="190500"/>
          </a:xfrm>
          <a:prstGeom prst="rect">
            <a:avLst/>
          </a:prstGeom>
          <a:solidFill>
            <a:srgbClr val="FFFFFF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857875" y="2552700"/>
            <a:ext cx="47625" cy="190500"/>
          </a:xfrm>
          <a:prstGeom prst="rect">
            <a:avLst/>
          </a:prstGeom>
          <a:solidFill>
            <a:srgbClr val="FFFFFF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29275" y="2524125"/>
            <a:ext cx="304800" cy="247650"/>
          </a:xfrm>
          <a:prstGeom prst="rect">
            <a:avLst/>
          </a:prstGeom>
          <a:noFill/>
          <a:ln w="10478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81700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48375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15050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81725" y="2552700"/>
            <a:ext cx="47625" cy="190500"/>
          </a:xfrm>
          <a:prstGeom prst="rect">
            <a:avLst/>
          </a:prstGeom>
          <a:solidFill>
            <a:srgbClr val="EAF4FC"/>
          </a:solidFill>
          <a:ln w="762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53125" y="2524125"/>
            <a:ext cx="304800" cy="247650"/>
          </a:xfrm>
          <a:prstGeom prst="rect">
            <a:avLst/>
          </a:prstGeom>
          <a:noFill/>
          <a:ln w="10478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5219700" y="3543300"/>
            <a:ext cx="12954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76850" y="3581400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125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slice</a:t>
            </a:r>
            <a:endParaRPr sz="1125" b="1">
              <a:solidFill>
                <a:srgbClr val="6A51A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91150" y="3829050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62600" y="3829050"/>
            <a:ext cx="123825" cy="76200"/>
          </a:xfrm>
          <a:prstGeom prst="rect">
            <a:avLst/>
          </a:prstGeom>
          <a:solidFill>
            <a:srgbClr val="EFEAF8"/>
          </a:solidFill>
          <a:ln w="12383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734050" y="3829050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905500" y="3829050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391150" y="3933825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562600" y="3933825"/>
            <a:ext cx="123825" cy="76200"/>
          </a:xfrm>
          <a:prstGeom prst="rect">
            <a:avLst/>
          </a:prstGeom>
          <a:solidFill>
            <a:srgbClr val="EFEAF8"/>
          </a:solidFill>
          <a:ln w="12383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734050" y="3933825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905500" y="3933825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391150" y="4038600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62600" y="4038600"/>
            <a:ext cx="123825" cy="76200"/>
          </a:xfrm>
          <a:prstGeom prst="rect">
            <a:avLst/>
          </a:prstGeom>
          <a:solidFill>
            <a:srgbClr val="EFEAF8"/>
          </a:solidFill>
          <a:ln w="12383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734050" y="4038600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905500" y="4038600"/>
            <a:ext cx="123825" cy="76200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34025" y="3800475"/>
            <a:ext cx="180975" cy="342900"/>
          </a:xfrm>
          <a:prstGeom prst="rect">
            <a:avLst/>
          </a:prstGeom>
          <a:noFill/>
          <a:ln w="12383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Bi-CfC&#10;F_local / B_local"/>
          <p:cNvSpPr>
            <a:spLocks noGrp="1"/>
          </p:cNvSpPr>
          <p:nvPr/>
        </p:nvSpPr>
        <p:spPr>
          <a:xfrm>
            <a:off x="6648450" y="2362200"/>
            <a:ext cx="10668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335">
            <a:solidFill>
              <a:srgbClr val="1F77B4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Bi-CfC</a:t>
            </a:r>
            <a:endParaRPr sz="1200" b="1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00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F_local / B_local</a:t>
            </a:r>
            <a:endParaRPr sz="1200" b="1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Bi-CfC&#10;F_global / B_global"/>
          <p:cNvSpPr>
            <a:spLocks noGrp="1"/>
          </p:cNvSpPr>
          <p:nvPr/>
        </p:nvSpPr>
        <p:spPr>
          <a:xfrm>
            <a:off x="6648450" y="3600450"/>
            <a:ext cx="10668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335">
            <a:solidFill>
              <a:srgbClr val="6A51A3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Bi-CfC</a:t>
            </a:r>
            <a:endParaRPr sz="1200" b="1">
              <a:solidFill>
                <a:srgbClr val="6A51A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00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F_global / B_global</a:t>
            </a:r>
            <a:endParaRPr sz="1200" b="1">
              <a:solidFill>
                <a:srgbClr val="6A51A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Fuse"/>
          <p:cNvSpPr>
            <a:spLocks noGrp="1"/>
          </p:cNvSpPr>
          <p:nvPr/>
        </p:nvSpPr>
        <p:spPr>
          <a:xfrm>
            <a:off x="7905750" y="2971800"/>
            <a:ext cx="628650" cy="70485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 w="13335">
            <a:solidFill>
              <a:srgbClr val="A8A8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Fuse</a:t>
            </a:r>
            <a:endParaRPr sz="12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F_S^t"/>
          <p:cNvSpPr>
            <a:spLocks noGrp="1"/>
          </p:cNvSpPr>
          <p:nvPr/>
        </p:nvSpPr>
        <p:spPr>
          <a:xfrm>
            <a:off x="8877300" y="3219450"/>
            <a:ext cx="952500" cy="685800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3335">
            <a:solidFill>
              <a:srgbClr val="1F77B4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75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F_S^t</a:t>
            </a:r>
            <a:endParaRPr sz="1275" b="1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矩形: 圆角 41"/>
          <p:cNvSpPr>
            <a:spLocks noGrp="1"/>
          </p:cNvSpPr>
          <p:nvPr/>
        </p:nvSpPr>
        <p:spPr>
          <a:xfrm>
            <a:off x="9925050" y="2781300"/>
            <a:ext cx="2133600" cy="188595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039350" y="28575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127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DRASP</a:t>
            </a:r>
            <a:endParaRPr sz="1275" b="1">
              <a:solidFill>
                <a:srgbClr val="2E7D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矩形: 圆角 43"/>
          <p:cNvSpPr>
            <a:spLocks noGrp="1"/>
          </p:cNvSpPr>
          <p:nvPr/>
        </p:nvSpPr>
        <p:spPr>
          <a:xfrm>
            <a:off x="10077450" y="3257550"/>
            <a:ext cx="990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134600" y="329565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12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ASP</a:t>
            </a:r>
            <a:endParaRPr sz="1125" b="1">
              <a:solidFill>
                <a:srgbClr val="2E7D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210800" y="3629025"/>
            <a:ext cx="57150" cy="85725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325100" y="3571875"/>
            <a:ext cx="57150" cy="142875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439400" y="3648075"/>
            <a:ext cx="57150" cy="66675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553700" y="3524250"/>
            <a:ext cx="57150" cy="19050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668000" y="3600450"/>
            <a:ext cx="57150" cy="11430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782300" y="3552825"/>
            <a:ext cx="57150" cy="161925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: 圆角 51"/>
          <p:cNvSpPr>
            <a:spLocks noGrp="1"/>
          </p:cNvSpPr>
          <p:nvPr/>
        </p:nvSpPr>
        <p:spPr>
          <a:xfrm>
            <a:off x="10077450" y="3943350"/>
            <a:ext cx="990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0134600" y="398145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125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Local ASP</a:t>
            </a:r>
            <a:endParaRPr sz="1125" b="1">
              <a:solidFill>
                <a:srgbClr val="E66A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220325" y="4248150"/>
            <a:ext cx="171450" cy="161925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258425" y="4305300"/>
            <a:ext cx="38100" cy="85725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0448925" y="4248150"/>
            <a:ext cx="171450" cy="161925"/>
          </a:xfrm>
          <a:prstGeom prst="rect">
            <a:avLst/>
          </a:prstGeom>
          <a:solidFill>
            <a:srgbClr val="FFF0E8"/>
          </a:solidFill>
          <a:ln w="12383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0487025" y="4286250"/>
            <a:ext cx="38100" cy="104775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0677525" y="4248150"/>
            <a:ext cx="171450" cy="161925"/>
          </a:xfrm>
          <a:prstGeom prst="rect">
            <a:avLst/>
          </a:prstGeom>
          <a:solidFill>
            <a:srgbClr val="FFFFFF"/>
          </a:solidFill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0715625" y="4267200"/>
            <a:ext cx="38100" cy="123825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F_pool"/>
          <p:cNvSpPr>
            <a:spLocks noGrp="1"/>
          </p:cNvSpPr>
          <p:nvPr/>
        </p:nvSpPr>
        <p:spPr>
          <a:xfrm>
            <a:off x="11201400" y="3619500"/>
            <a:ext cx="742950" cy="53340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3335">
            <a:solidFill>
              <a:srgbClr val="A8A8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F_pool</a:t>
            </a:r>
            <a:endParaRPr sz="12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Classifier"/>
          <p:cNvSpPr>
            <a:spLocks noGrp="1"/>
          </p:cNvSpPr>
          <p:nvPr/>
        </p:nvSpPr>
        <p:spPr>
          <a:xfrm>
            <a:off x="10363200" y="5257800"/>
            <a:ext cx="1181100" cy="552450"/>
          </a:xfrm>
          <a:prstGeom prst="roundRect">
            <a:avLst>
              <a:gd name="adj" fmla="val 13793"/>
            </a:avLst>
          </a:prstGeom>
          <a:solidFill>
            <a:srgbClr val="111111"/>
          </a:solidFill>
          <a:ln w="13335">
            <a:solidFill>
              <a:srgbClr val="111111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Classifier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Z_S"/>
          <p:cNvSpPr>
            <a:spLocks noGrp="1"/>
          </p:cNvSpPr>
          <p:nvPr/>
        </p:nvSpPr>
        <p:spPr>
          <a:xfrm>
            <a:off x="10363200" y="6057900"/>
            <a:ext cx="1181100" cy="47625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3335">
            <a:solidFill>
              <a:srgbClr val="A8A8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Z_S</a:t>
            </a:r>
            <a:endParaRPr sz="12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Temporal&#10;Classifier"/>
          <p:cNvSpPr>
            <a:spLocks noGrp="1"/>
          </p:cNvSpPr>
          <p:nvPr/>
        </p:nvSpPr>
        <p:spPr>
          <a:xfrm>
            <a:off x="9982200" y="1123950"/>
            <a:ext cx="12001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E66A2C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Temporal</a:t>
            </a:r>
            <a:endParaRPr sz="1200" b="1">
              <a:solidFill>
                <a:srgbClr val="E66A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00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Classifier</a:t>
            </a:r>
            <a:endParaRPr sz="1200" b="1">
              <a:solidFill>
                <a:srgbClr val="E66A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" name="Z_S^t"/>
          <p:cNvSpPr>
            <a:spLocks noGrp="1"/>
          </p:cNvSpPr>
          <p:nvPr/>
        </p:nvSpPr>
        <p:spPr>
          <a:xfrm>
            <a:off x="11315700" y="1123950"/>
            <a:ext cx="742950" cy="533400"/>
          </a:xfrm>
          <a:prstGeom prst="roundRect">
            <a:avLst>
              <a:gd name="adj" fmla="val 14286"/>
            </a:avLst>
          </a:prstGeom>
          <a:solidFill>
            <a:srgbClr val="FFF7F2"/>
          </a:solidFill>
          <a:ln w="13335">
            <a:solidFill>
              <a:srgbClr val="E66A2C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Z_S^t</a:t>
            </a:r>
            <a:endParaRPr sz="1200" b="1">
              <a:solidFill>
                <a:srgbClr val="E66A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TS-T"/>
          <p:cNvSpPr>
            <a:spLocks noGrp="1"/>
          </p:cNvSpPr>
          <p:nvPr/>
        </p:nvSpPr>
        <p:spPr>
          <a:xfrm>
            <a:off x="11315700" y="381000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E66A2C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75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TS-T</a:t>
            </a:r>
            <a:endParaRPr sz="1275" b="1">
              <a:solidFill>
                <a:srgbClr val="E66A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MemKD"/>
          <p:cNvSpPr>
            <a:spLocks noGrp="1"/>
          </p:cNvSpPr>
          <p:nvPr/>
        </p:nvSpPr>
        <p:spPr>
          <a:xfrm>
            <a:off x="8724900" y="381000"/>
            <a:ext cx="952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6A51A3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75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6A51A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MemKD</a:t>
            </a:r>
            <a:endParaRPr sz="1275" b="1">
              <a:solidFill>
                <a:srgbClr val="6A51A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485775" y="40005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1200" b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B: batch    L: waveform length    T_S: student time steps    C: channels    K: classes    W: window</a:t>
            </a:r>
            <a:endParaRPr sz="1200" b="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00100" y="5057775"/>
            <a:ext cx="47625" cy="104775"/>
          </a:xfrm>
          <a:prstGeom prst="rect">
            <a:avLst/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85825" y="4991100"/>
            <a:ext cx="47625" cy="171450"/>
          </a:xfrm>
          <a:prstGeom prst="rect">
            <a:avLst/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71550" y="5086350"/>
            <a:ext cx="47625" cy="76200"/>
          </a:xfrm>
          <a:prstGeom prst="rect">
            <a:avLst/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1057275" y="4953000"/>
            <a:ext cx="47625" cy="209550"/>
          </a:xfrm>
          <a:prstGeom prst="rect">
            <a:avLst/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143000" y="5029200"/>
            <a:ext cx="47625" cy="133350"/>
          </a:xfrm>
          <a:prstGeom prst="rect">
            <a:avLst/>
          </a:prstGeom>
          <a:solidFill>
            <a:srgbClr val="666666"/>
          </a:solidFill>
          <a:ln w="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B×L waveform"/>
          <p:cNvSpPr>
            <a:spLocks noGrp="1"/>
          </p:cNvSpPr>
          <p:nvPr/>
        </p:nvSpPr>
        <p:spPr>
          <a:xfrm>
            <a:off x="400050" y="5219700"/>
            <a:ext cx="14668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B×L waveform</a:t>
            </a:r>
            <a:endParaRPr sz="1200" b="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152900" y="49339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4257675" y="49339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4362450" y="49339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4467225" y="49339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4152900" y="50387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4257675" y="50387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362450" y="50387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467225" y="50387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B×T_S×C feature"/>
          <p:cNvSpPr>
            <a:spLocks noGrp="1"/>
          </p:cNvSpPr>
          <p:nvPr/>
        </p:nvSpPr>
        <p:spPr>
          <a:xfrm>
            <a:off x="3543300" y="5219700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0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B×T_S×C feature</a:t>
            </a:r>
            <a:endParaRPr sz="1200" b="0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724650" y="50101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829425" y="50101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6934200" y="50101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038975" y="501015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6724650" y="51149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829425" y="51149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934200" y="51149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7038975" y="511492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N=T_S/W slices"/>
          <p:cNvSpPr>
            <a:spLocks noGrp="1"/>
          </p:cNvSpPr>
          <p:nvPr/>
        </p:nvSpPr>
        <p:spPr>
          <a:xfrm>
            <a:off x="6324600" y="5295900"/>
            <a:ext cx="167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0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N=T_S/W slices</a:t>
            </a:r>
            <a:endParaRPr sz="1200" b="0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9105900" y="495300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9210675" y="495300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9315450" y="495300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9420225" y="4953000"/>
            <a:ext cx="762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105900" y="505777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9210675" y="505777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9315450" y="505777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9420225" y="5057775"/>
            <a:ext cx="76200" cy="76200"/>
          </a:xfrm>
          <a:prstGeom prst="rect">
            <a:avLst/>
          </a:prstGeom>
          <a:solidFill>
            <a:srgbClr val="F2F2F2"/>
          </a:solidFill>
          <a:ln w="9525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temporal hidden states"/>
          <p:cNvSpPr>
            <a:spLocks noGrp="1"/>
          </p:cNvSpPr>
          <p:nvPr/>
        </p:nvSpPr>
        <p:spPr>
          <a:xfrm>
            <a:off x="8534400" y="5219700"/>
            <a:ext cx="19431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0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F77B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temporal hidden states</a:t>
            </a:r>
            <a:endParaRPr sz="1200" b="0">
              <a:solidFill>
                <a:srgbClr val="1F77B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11410950" y="2009775"/>
            <a:ext cx="47625" cy="104775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1496675" y="1943100"/>
            <a:ext cx="47625" cy="171450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11582400" y="2038350"/>
            <a:ext cx="47625" cy="76200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11668125" y="1905000"/>
            <a:ext cx="47625" cy="209550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11753850" y="1981200"/>
            <a:ext cx="47625" cy="133350"/>
          </a:xfrm>
          <a:prstGeom prst="rect">
            <a:avLst/>
          </a:prstGeom>
          <a:solidFill>
            <a:srgbClr val="E66A2C"/>
          </a:solidFill>
          <a:ln w="0">
            <a:solidFill>
              <a:srgbClr val="E66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B×T_S×K logits"/>
          <p:cNvSpPr>
            <a:spLocks noGrp="1"/>
          </p:cNvSpPr>
          <p:nvPr/>
        </p:nvSpPr>
        <p:spPr>
          <a:xfrm>
            <a:off x="10725150" y="2152650"/>
            <a:ext cx="13525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0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6A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B×T_S×K logits</a:t>
            </a:r>
            <a:endParaRPr sz="1200" b="0">
              <a:solidFill>
                <a:srgbClr val="E66A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11201400" y="4524375"/>
            <a:ext cx="47625" cy="104775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11287125" y="4457700"/>
            <a:ext cx="47625" cy="17145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11372850" y="4552950"/>
            <a:ext cx="47625" cy="7620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11458575" y="4419600"/>
            <a:ext cx="47625" cy="20955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11544300" y="4495800"/>
            <a:ext cx="47625" cy="13335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B×4C statistics"/>
          <p:cNvSpPr>
            <a:spLocks noGrp="1"/>
          </p:cNvSpPr>
          <p:nvPr/>
        </p:nvSpPr>
        <p:spPr>
          <a:xfrm>
            <a:off x="10572750" y="4724400"/>
            <a:ext cx="14287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0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B×4C statistics</a:t>
            </a:r>
            <a:endParaRPr sz="1200" b="0">
              <a:solidFill>
                <a:srgbClr val="2E7D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B×K logits"/>
          <p:cNvSpPr>
            <a:spLocks noGrp="1"/>
          </p:cNvSpPr>
          <p:nvPr/>
        </p:nvSpPr>
        <p:spPr>
          <a:xfrm>
            <a:off x="10363200" y="6572250"/>
            <a:ext cx="11811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B×K logits</a:t>
            </a:r>
            <a:endParaRPr sz="12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46" name="直接箭头连接符 245"/>
          <p:cNvCxnSpPr>
            <a:stCxn id="1" idx="3"/>
            <a:endCxn id="2" idx="1"/>
          </p:cNvCxnSpPr>
          <p:nvPr/>
        </p:nvCxnSpPr>
        <p:spPr>
          <a:xfrm>
            <a:off x="1809750" y="3562350"/>
            <a:ext cx="342900" cy="0"/>
          </a:xfrm>
          <a:prstGeom prst="straightConnector1">
            <a:avLst/>
          </a:prstGeom>
          <a:ln w="19050">
            <a:solidFill>
              <a:srgbClr val="77777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7" name="直接箭头连接符 246"/>
          <p:cNvCxnSpPr>
            <a:stCxn id="2" idx="3"/>
            <a:endCxn id="3" idx="1"/>
          </p:cNvCxnSpPr>
          <p:nvPr/>
        </p:nvCxnSpPr>
        <p:spPr>
          <a:xfrm>
            <a:off x="3448050" y="3562350"/>
            <a:ext cx="342900" cy="0"/>
          </a:xfrm>
          <a:prstGeom prst="straightConnector1">
            <a:avLst/>
          </a:prstGeom>
          <a:ln w="19050">
            <a:solidFill>
              <a:srgbClr val="77777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8" name="连接符: 肘形 247"/>
          <p:cNvCxnSpPr>
            <a:stCxn id="3" idx="3"/>
            <a:endCxn id="6" idx="1"/>
          </p:cNvCxnSpPr>
          <p:nvPr/>
        </p:nvCxnSpPr>
        <p:spPr>
          <a:xfrm flipV="1">
            <a:off x="4933950" y="2628900"/>
            <a:ext cx="285750" cy="933450"/>
          </a:xfrm>
          <a:prstGeom prst="bentConnector3">
            <a:avLst>
              <a:gd name="adj1" fmla="val 50000"/>
            </a:avLst>
          </a:prstGeom>
          <a:ln w="19050">
            <a:solidFill>
              <a:srgbClr val="1F77B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9" name="连接符: 肘形 248"/>
          <p:cNvCxnSpPr>
            <a:stCxn id="3" idx="3"/>
            <a:endCxn id="23" idx="1"/>
          </p:cNvCxnSpPr>
          <p:nvPr/>
        </p:nvCxnSpPr>
        <p:spPr>
          <a:xfrm>
            <a:off x="4933950" y="3562350"/>
            <a:ext cx="285750" cy="342900"/>
          </a:xfrm>
          <a:prstGeom prst="bentConnector3">
            <a:avLst>
              <a:gd name="adj1" fmla="val 50000"/>
            </a:avLst>
          </a:prstGeom>
          <a:ln w="19050">
            <a:solidFill>
              <a:srgbClr val="6A51A3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0" name="直接箭头连接符 249"/>
          <p:cNvCxnSpPr>
            <a:stCxn id="6" idx="3"/>
            <a:endCxn id="38" idx="1"/>
          </p:cNvCxnSpPr>
          <p:nvPr/>
        </p:nvCxnSpPr>
        <p:spPr>
          <a:xfrm>
            <a:off x="6515100" y="2628900"/>
            <a:ext cx="133350" cy="47625"/>
          </a:xfrm>
          <a:prstGeom prst="straightConnector1">
            <a:avLst/>
          </a:prstGeom>
          <a:ln w="19050">
            <a:solidFill>
              <a:srgbClr val="1F77B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1" name="直接箭头连接符 250"/>
          <p:cNvCxnSpPr>
            <a:stCxn id="23" idx="3"/>
            <a:endCxn id="39" idx="1"/>
          </p:cNvCxnSpPr>
          <p:nvPr/>
        </p:nvCxnSpPr>
        <p:spPr>
          <a:xfrm>
            <a:off x="6515100" y="3905250"/>
            <a:ext cx="133350" cy="9525"/>
          </a:xfrm>
          <a:prstGeom prst="straightConnector1">
            <a:avLst/>
          </a:prstGeom>
          <a:ln w="19050">
            <a:solidFill>
              <a:srgbClr val="6A51A3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2" name="连接符: 肘形 251"/>
          <p:cNvCxnSpPr>
            <a:stCxn id="38" idx="3"/>
            <a:endCxn id="40" idx="1"/>
          </p:cNvCxnSpPr>
          <p:nvPr/>
        </p:nvCxnSpPr>
        <p:spPr>
          <a:xfrm>
            <a:off x="7715250" y="2676525"/>
            <a:ext cx="190500" cy="647700"/>
          </a:xfrm>
          <a:prstGeom prst="bentConnector3">
            <a:avLst>
              <a:gd name="adj1" fmla="val 50000"/>
            </a:avLst>
          </a:prstGeom>
          <a:ln w="17145">
            <a:solidFill>
              <a:srgbClr val="66666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3" name="连接符: 肘形 252"/>
          <p:cNvCxnSpPr>
            <a:stCxn id="39" idx="3"/>
            <a:endCxn id="40" idx="1"/>
          </p:cNvCxnSpPr>
          <p:nvPr/>
        </p:nvCxnSpPr>
        <p:spPr>
          <a:xfrm flipV="1">
            <a:off x="7715250" y="3324225"/>
            <a:ext cx="190500" cy="590550"/>
          </a:xfrm>
          <a:prstGeom prst="bentConnector3">
            <a:avLst>
              <a:gd name="adj1" fmla="val 50000"/>
            </a:avLst>
          </a:prstGeom>
          <a:ln w="17145">
            <a:solidFill>
              <a:srgbClr val="66666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4" name="直接箭头连接符 253"/>
          <p:cNvCxnSpPr>
            <a:stCxn id="40" idx="3"/>
            <a:endCxn id="41" idx="1"/>
          </p:cNvCxnSpPr>
          <p:nvPr/>
        </p:nvCxnSpPr>
        <p:spPr>
          <a:xfrm>
            <a:off x="8534400" y="3324225"/>
            <a:ext cx="342900" cy="238125"/>
          </a:xfrm>
          <a:prstGeom prst="straightConnector1">
            <a:avLst/>
          </a:prstGeom>
          <a:ln w="19050">
            <a:solidFill>
              <a:srgbClr val="1F77B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5" name="连接符: 肘形 254"/>
          <p:cNvCxnSpPr>
            <a:stCxn id="41" idx="3"/>
            <a:endCxn id="44" idx="1"/>
          </p:cNvCxnSpPr>
          <p:nvPr/>
        </p:nvCxnSpPr>
        <p:spPr>
          <a:xfrm flipV="1">
            <a:off x="9829800" y="3533775"/>
            <a:ext cx="247650" cy="28575"/>
          </a:xfrm>
          <a:prstGeom prst="bentConnector3">
            <a:avLst>
              <a:gd name="adj1" fmla="val 50000"/>
            </a:avLst>
          </a:prstGeom>
          <a:ln w="19050">
            <a:solidFill>
              <a:srgbClr val="2E7D32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6" name="连接符: 肘形 255"/>
          <p:cNvCxnSpPr>
            <a:stCxn id="41" idx="3"/>
            <a:endCxn id="52" idx="1"/>
          </p:cNvCxnSpPr>
          <p:nvPr/>
        </p:nvCxnSpPr>
        <p:spPr>
          <a:xfrm>
            <a:off x="9829800" y="3562350"/>
            <a:ext cx="247650" cy="657225"/>
          </a:xfrm>
          <a:prstGeom prst="bentConnector3">
            <a:avLst>
              <a:gd name="adj1" fmla="val 50000"/>
            </a:avLst>
          </a:prstGeom>
          <a:ln w="19050">
            <a:solidFill>
              <a:srgbClr val="E66A2C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7" name="连接符: 肘形 256"/>
          <p:cNvCxnSpPr>
            <a:stCxn id="41" idx="0"/>
            <a:endCxn id="63" idx="2"/>
          </p:cNvCxnSpPr>
          <p:nvPr/>
        </p:nvCxnSpPr>
        <p:spPr>
          <a:xfrm flipV="1">
            <a:off x="9353550" y="1657350"/>
            <a:ext cx="1228725" cy="15621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E66A2C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8" name="直接箭头连接符 257"/>
          <p:cNvCxnSpPr>
            <a:stCxn id="63" idx="3"/>
            <a:endCxn id="64" idx="1"/>
          </p:cNvCxnSpPr>
          <p:nvPr/>
        </p:nvCxnSpPr>
        <p:spPr>
          <a:xfrm>
            <a:off x="11182350" y="1390650"/>
            <a:ext cx="133350" cy="0"/>
          </a:xfrm>
          <a:prstGeom prst="straightConnector1">
            <a:avLst/>
          </a:prstGeom>
          <a:ln w="19050">
            <a:solidFill>
              <a:srgbClr val="E66A2C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9" name="直接箭头连接符 258"/>
          <p:cNvCxnSpPr>
            <a:stCxn id="64" idx="0"/>
            <a:endCxn id="65" idx="2"/>
          </p:cNvCxnSpPr>
          <p:nvPr/>
        </p:nvCxnSpPr>
        <p:spPr>
          <a:xfrm flipV="1">
            <a:off x="11687175" y="781050"/>
            <a:ext cx="0" cy="342900"/>
          </a:xfrm>
          <a:prstGeom prst="straightConnector1">
            <a:avLst/>
          </a:prstGeom>
          <a:ln w="19050">
            <a:solidFill>
              <a:srgbClr val="E66A2C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260" name="连接符: 肘形 259"/>
          <p:cNvCxnSpPr>
            <a:stCxn id="41" idx="0"/>
            <a:endCxn id="66" idx="2"/>
          </p:cNvCxnSpPr>
          <p:nvPr/>
        </p:nvCxnSpPr>
        <p:spPr>
          <a:xfrm flipH="1" flipV="1">
            <a:off x="9201150" y="781050"/>
            <a:ext cx="152400" cy="2438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A51A3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261" name="直接箭头连接符 260"/>
          <p:cNvCxnSpPr>
            <a:stCxn id="44" idx="3"/>
            <a:endCxn id="60" idx="1"/>
          </p:cNvCxnSpPr>
          <p:nvPr/>
        </p:nvCxnSpPr>
        <p:spPr>
          <a:xfrm>
            <a:off x="11068050" y="3533775"/>
            <a:ext cx="133350" cy="352425"/>
          </a:xfrm>
          <a:prstGeom prst="straightConnector1">
            <a:avLst/>
          </a:prstGeom>
          <a:ln w="19050">
            <a:solidFill>
              <a:srgbClr val="2E7D32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2" name="直接箭头连接符 261"/>
          <p:cNvCxnSpPr>
            <a:stCxn id="52" idx="3"/>
            <a:endCxn id="60" idx="1"/>
          </p:cNvCxnSpPr>
          <p:nvPr/>
        </p:nvCxnSpPr>
        <p:spPr>
          <a:xfrm flipV="1">
            <a:off x="11068050" y="3886200"/>
            <a:ext cx="133350" cy="333375"/>
          </a:xfrm>
          <a:prstGeom prst="straightConnector1">
            <a:avLst/>
          </a:prstGeom>
          <a:ln w="19050">
            <a:solidFill>
              <a:srgbClr val="E66A2C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3" name="连接符: 肘形 262"/>
          <p:cNvCxnSpPr>
            <a:stCxn id="60" idx="2"/>
            <a:endCxn id="61" idx="0"/>
          </p:cNvCxnSpPr>
          <p:nvPr/>
        </p:nvCxnSpPr>
        <p:spPr>
          <a:xfrm flipH="1">
            <a:off x="10953750" y="4152900"/>
            <a:ext cx="619125" cy="11049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111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4" name="直接箭头连接符 263"/>
          <p:cNvCxnSpPr>
            <a:stCxn id="61" idx="2"/>
            <a:endCxn id="62" idx="0"/>
          </p:cNvCxnSpPr>
          <p:nvPr/>
        </p:nvCxnSpPr>
        <p:spPr>
          <a:xfrm>
            <a:off x="10953750" y="5810250"/>
            <a:ext cx="0" cy="24765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128" name="组合 127"/>
          <p:cNvGrpSpPr/>
          <p:nvPr/>
        </p:nvGrpSpPr>
        <p:grpSpPr>
          <a:xfrm>
            <a:off x="572135" y="847090"/>
            <a:ext cx="1545590" cy="1855470"/>
            <a:chOff x="901" y="1334"/>
            <a:chExt cx="2434" cy="2922"/>
          </a:xfrm>
        </p:grpSpPr>
        <p:sp>
          <p:nvSpPr>
            <p:cNvPr id="115" name="圆角矩形 97"/>
            <p:cNvSpPr>
              <a:spLocks noGrp="1"/>
            </p:cNvSpPr>
            <p:nvPr/>
          </p:nvSpPr>
          <p:spPr>
            <a:xfrm>
              <a:off x="901" y="1334"/>
              <a:ext cx="2435" cy="2922"/>
            </a:xfrm>
            <a:prstGeom prst="roundRect">
              <a:avLst>
                <a:gd name="adj" fmla="val 5682"/>
              </a:avLst>
            </a:prstGeom>
            <a:solidFill>
              <a:srgbClr val="FBFFF8"/>
            </a:solidFill>
            <a:ln w="13335">
              <a:solidFill>
                <a:srgbClr val="CFE0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1187" y="2057"/>
              <a:ext cx="1754" cy="1590"/>
              <a:chOff x="20190" y="7755"/>
              <a:chExt cx="1754" cy="1590"/>
            </a:xfrm>
          </p:grpSpPr>
          <p:grpSp>
            <p:nvGrpSpPr>
              <p:cNvPr id="117" name="组合 116"/>
              <p:cNvGrpSpPr/>
              <p:nvPr/>
            </p:nvGrpSpPr>
            <p:grpSpPr>
              <a:xfrm>
                <a:off x="20190" y="7755"/>
                <a:ext cx="1755" cy="1455"/>
                <a:chOff x="20190" y="7755"/>
                <a:chExt cx="1755" cy="1455"/>
              </a:xfrm>
            </p:grpSpPr>
            <p:sp>
              <p:nvSpPr>
                <p:cNvPr id="119" name="任意多边形 99"/>
                <p:cNvSpPr>
                  <a:spLocks noGrp="1"/>
                </p:cNvSpPr>
                <p:nvPr/>
              </p:nvSpPr>
              <p:spPr>
                <a:xfrm>
                  <a:off x="20325" y="7890"/>
                  <a:ext cx="615" cy="3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90525" h="209550">
                      <a:moveTo>
                        <a:pt x="0" y="209550"/>
                      </a:moveTo>
                      <a:lnTo>
                        <a:pt x="390525" y="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" name="任意多边形 100"/>
                <p:cNvSpPr>
                  <a:spLocks noGrp="1"/>
                </p:cNvSpPr>
                <p:nvPr/>
              </p:nvSpPr>
              <p:spPr>
                <a:xfrm>
                  <a:off x="20940" y="7890"/>
                  <a:ext cx="660" cy="3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19100" h="228600">
                      <a:moveTo>
                        <a:pt x="0" y="0"/>
                      </a:moveTo>
                      <a:lnTo>
                        <a:pt x="419100" y="22860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任意多边形 101"/>
                <p:cNvSpPr>
                  <a:spLocks noGrp="1"/>
                </p:cNvSpPr>
                <p:nvPr/>
              </p:nvSpPr>
              <p:spPr>
                <a:xfrm>
                  <a:off x="20325" y="8220"/>
                  <a:ext cx="600" cy="5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1000" h="323850">
                      <a:moveTo>
                        <a:pt x="0" y="0"/>
                      </a:moveTo>
                      <a:lnTo>
                        <a:pt x="381000" y="32385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任意多边形 102"/>
                <p:cNvSpPr>
                  <a:spLocks noGrp="1"/>
                </p:cNvSpPr>
                <p:nvPr/>
              </p:nvSpPr>
              <p:spPr>
                <a:xfrm>
                  <a:off x="20925" y="8250"/>
                  <a:ext cx="675" cy="4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8625" h="304800">
                      <a:moveTo>
                        <a:pt x="0" y="304800"/>
                      </a:moveTo>
                      <a:lnTo>
                        <a:pt x="428625" y="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任意多边形 103"/>
                <p:cNvSpPr>
                  <a:spLocks noGrp="1"/>
                </p:cNvSpPr>
                <p:nvPr/>
              </p:nvSpPr>
              <p:spPr>
                <a:xfrm>
                  <a:off x="20925" y="8730"/>
                  <a:ext cx="885" cy="27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61975" h="171450">
                      <a:moveTo>
                        <a:pt x="0" y="0"/>
                      </a:moveTo>
                      <a:lnTo>
                        <a:pt x="561975" y="17145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" name="任意多边形 104"/>
                <p:cNvSpPr>
                  <a:spLocks noGrp="1"/>
                </p:cNvSpPr>
                <p:nvPr/>
              </p:nvSpPr>
              <p:spPr>
                <a:xfrm>
                  <a:off x="20400" y="8730"/>
                  <a:ext cx="525" cy="4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33375" h="304800">
                      <a:moveTo>
                        <a:pt x="0" y="304800"/>
                      </a:moveTo>
                      <a:lnTo>
                        <a:pt x="333375" y="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" name="任意多边形 105"/>
                <p:cNvSpPr>
                  <a:spLocks noGrp="1"/>
                </p:cNvSpPr>
                <p:nvPr/>
              </p:nvSpPr>
              <p:spPr>
                <a:xfrm>
                  <a:off x="20940" y="7890"/>
                  <a:ext cx="870" cy="11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52450" h="704850">
                      <a:moveTo>
                        <a:pt x="0" y="0"/>
                      </a:moveTo>
                      <a:lnTo>
                        <a:pt x="552450" y="70485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任意多边形 106"/>
                <p:cNvSpPr>
                  <a:spLocks noGrp="1"/>
                </p:cNvSpPr>
                <p:nvPr/>
              </p:nvSpPr>
              <p:spPr>
                <a:xfrm>
                  <a:off x="20325" y="8220"/>
                  <a:ext cx="75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55A83C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" name="椭圆 126"/>
                <p:cNvSpPr>
                  <a:spLocks noGrp="1"/>
                </p:cNvSpPr>
                <p:nvPr/>
              </p:nvSpPr>
              <p:spPr>
                <a:xfrm>
                  <a:off x="20190" y="8085"/>
                  <a:ext cx="270" cy="270"/>
                </a:xfrm>
                <a:prstGeom prst="ellipse">
                  <a:avLst/>
                </a:prstGeom>
                <a:solidFill>
                  <a:srgbClr val="A4D197"/>
                </a:solidFill>
                <a:ln w="11430">
                  <a:solidFill>
                    <a:srgbClr val="A4D197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" name="椭圆 191"/>
                <p:cNvSpPr>
                  <a:spLocks noGrp="1"/>
                </p:cNvSpPr>
                <p:nvPr/>
              </p:nvSpPr>
              <p:spPr>
                <a:xfrm>
                  <a:off x="20805" y="7755"/>
                  <a:ext cx="270" cy="270"/>
                </a:xfrm>
                <a:prstGeom prst="ellipse">
                  <a:avLst/>
                </a:prstGeom>
                <a:solidFill>
                  <a:srgbClr val="A4D197"/>
                </a:solidFill>
                <a:ln w="11430">
                  <a:solidFill>
                    <a:srgbClr val="A4D197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" name="椭圆 192"/>
                <p:cNvSpPr>
                  <a:spLocks noGrp="1"/>
                </p:cNvSpPr>
                <p:nvPr/>
              </p:nvSpPr>
              <p:spPr>
                <a:xfrm>
                  <a:off x="21465" y="8115"/>
                  <a:ext cx="270" cy="270"/>
                </a:xfrm>
                <a:prstGeom prst="ellipse">
                  <a:avLst/>
                </a:prstGeom>
                <a:solidFill>
                  <a:srgbClr val="A4D197"/>
                </a:solidFill>
                <a:ln w="11430">
                  <a:solidFill>
                    <a:srgbClr val="A4D197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" name="椭圆 193"/>
                <p:cNvSpPr>
                  <a:spLocks noGrp="1"/>
                </p:cNvSpPr>
                <p:nvPr/>
              </p:nvSpPr>
              <p:spPr>
                <a:xfrm>
                  <a:off x="20790" y="8595"/>
                  <a:ext cx="270" cy="270"/>
                </a:xfrm>
                <a:prstGeom prst="ellipse">
                  <a:avLst/>
                </a:prstGeom>
                <a:solidFill>
                  <a:srgbClr val="A4D197"/>
                </a:solidFill>
                <a:ln w="11430">
                  <a:solidFill>
                    <a:srgbClr val="A4D197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椭圆 194"/>
                <p:cNvSpPr>
                  <a:spLocks noGrp="1"/>
                </p:cNvSpPr>
                <p:nvPr/>
              </p:nvSpPr>
              <p:spPr>
                <a:xfrm>
                  <a:off x="21675" y="8865"/>
                  <a:ext cx="270" cy="270"/>
                </a:xfrm>
                <a:prstGeom prst="ellipse">
                  <a:avLst/>
                </a:prstGeom>
                <a:solidFill>
                  <a:srgbClr val="A4D197"/>
                </a:solidFill>
                <a:ln w="11430">
                  <a:solidFill>
                    <a:srgbClr val="A4D197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8" name="椭圆 117"/>
              <p:cNvSpPr>
                <a:spLocks noGrp="1"/>
              </p:cNvSpPr>
              <p:nvPr/>
            </p:nvSpPr>
            <p:spPr>
              <a:xfrm>
                <a:off x="20265" y="9075"/>
                <a:ext cx="270" cy="270"/>
              </a:xfrm>
              <a:prstGeom prst="ellipse">
                <a:avLst/>
              </a:prstGeom>
              <a:solidFill>
                <a:srgbClr val="A4D197"/>
              </a:solidFill>
              <a:ln w="11430">
                <a:solidFill>
                  <a:srgbClr val="A4D197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96" name="矩形 195"/>
          <p:cNvSpPr>
            <a:spLocks noGrp="1"/>
          </p:cNvSpPr>
          <p:nvPr/>
        </p:nvSpPr>
        <p:spPr>
          <a:xfrm>
            <a:off x="441325" y="901147"/>
            <a:ext cx="1711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00" b="1" dirty="0" err="1">
                <a:solidFill>
                  <a:srgbClr val="0B1F2A"/>
                </a:solidFill>
                <a:latin typeface="Aptos"/>
                <a:ea typeface="Aptos"/>
                <a:cs typeface="Aptos"/>
              </a:rPr>
              <a:t>AutoNCP</a:t>
            </a:r>
            <a:r>
              <a:rPr sz="9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 sparse</a:t>
            </a:r>
            <a:endParaRPr sz="900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liquid dynamics</a:t>
            </a:r>
            <a:endParaRPr sz="900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97" name="组合 196"/>
          <p:cNvGrpSpPr/>
          <p:nvPr/>
        </p:nvGrpSpPr>
        <p:grpSpPr>
          <a:xfrm>
            <a:off x="2581275" y="1095375"/>
            <a:ext cx="1752600" cy="1295400"/>
            <a:chOff x="5355" y="11250"/>
            <a:chExt cx="2760" cy="2040"/>
          </a:xfrm>
        </p:grpSpPr>
        <p:sp>
          <p:nvSpPr>
            <p:cNvPr id="198" name="module-BPCSCfC"/>
            <p:cNvSpPr>
              <a:spLocks noGrp="1"/>
            </p:cNvSpPr>
            <p:nvPr/>
          </p:nvSpPr>
          <p:spPr>
            <a:xfrm>
              <a:off x="5370" y="11250"/>
              <a:ext cx="2715" cy="2040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9" name="module-title-BPCSCfC"/>
            <p:cNvSpPr>
              <a:spLocks noGrp="1"/>
            </p:cNvSpPr>
            <p:nvPr/>
          </p:nvSpPr>
          <p:spPr>
            <a:xfrm>
              <a:off x="5460" y="11400"/>
              <a:ext cx="253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BPCSCfC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00" name="tr-top"/>
            <p:cNvSpPr>
              <a:spLocks noGrp="1"/>
            </p:cNvSpPr>
            <p:nvPr/>
          </p:nvSpPr>
          <p:spPr>
            <a:xfrm>
              <a:off x="5811" y="12027"/>
              <a:ext cx="447" cy="225"/>
            </a:xfrm>
            <a:prstGeom prst="rect">
              <a:avLst/>
            </a:prstGeom>
            <a:solidFill>
              <a:srgbClr val="55A83C">
                <a:alpha val="53333"/>
              </a:srgbClr>
            </a:solidFill>
            <a:ln w="1333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1" name="anchor"/>
            <p:cNvSpPr>
              <a:spLocks noGrp="1"/>
            </p:cNvSpPr>
            <p:nvPr/>
          </p:nvSpPr>
          <p:spPr>
            <a:xfrm>
              <a:off x="5880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2" name="anchor"/>
            <p:cNvSpPr>
              <a:spLocks noGrp="1"/>
            </p:cNvSpPr>
            <p:nvPr/>
          </p:nvSpPr>
          <p:spPr>
            <a:xfrm>
              <a:off x="645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3" name="anchor"/>
            <p:cNvSpPr>
              <a:spLocks noGrp="1"/>
            </p:cNvSpPr>
            <p:nvPr/>
          </p:nvSpPr>
          <p:spPr>
            <a:xfrm>
              <a:off x="6450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4" name="anchor"/>
            <p:cNvSpPr>
              <a:spLocks noGrp="1"/>
            </p:cNvSpPr>
            <p:nvPr/>
          </p:nvSpPr>
          <p:spPr>
            <a:xfrm>
              <a:off x="588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5" name="anchor"/>
            <p:cNvSpPr>
              <a:spLocks noGrp="1"/>
            </p:cNvSpPr>
            <p:nvPr/>
          </p:nvSpPr>
          <p:spPr>
            <a:xfrm>
              <a:off x="6450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6" name="anchor"/>
            <p:cNvSpPr>
              <a:spLocks noGrp="1"/>
            </p:cNvSpPr>
            <p:nvPr/>
          </p:nvSpPr>
          <p:spPr>
            <a:xfrm>
              <a:off x="700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7" name="anchor"/>
            <p:cNvSpPr>
              <a:spLocks noGrp="1"/>
            </p:cNvSpPr>
            <p:nvPr/>
          </p:nvSpPr>
          <p:spPr>
            <a:xfrm>
              <a:off x="700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8" name="anchor"/>
            <p:cNvSpPr>
              <a:spLocks noGrp="1"/>
            </p:cNvSpPr>
            <p:nvPr/>
          </p:nvSpPr>
          <p:spPr>
            <a:xfrm>
              <a:off x="645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9" name="anchor"/>
            <p:cNvSpPr>
              <a:spLocks noGrp="1"/>
            </p:cNvSpPr>
            <p:nvPr/>
          </p:nvSpPr>
          <p:spPr>
            <a:xfrm>
              <a:off x="700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0" name="anchor"/>
            <p:cNvSpPr>
              <a:spLocks noGrp="1"/>
            </p:cNvSpPr>
            <p:nvPr/>
          </p:nvSpPr>
          <p:spPr>
            <a:xfrm>
              <a:off x="781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1" name="anchor"/>
            <p:cNvSpPr>
              <a:spLocks noGrp="1"/>
            </p:cNvSpPr>
            <p:nvPr/>
          </p:nvSpPr>
          <p:spPr>
            <a:xfrm>
              <a:off x="781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2" name="anchor"/>
            <p:cNvSpPr>
              <a:spLocks noGrp="1"/>
            </p:cNvSpPr>
            <p:nvPr/>
          </p:nvSpPr>
          <p:spPr>
            <a:xfrm>
              <a:off x="700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3" name="anchor"/>
            <p:cNvSpPr>
              <a:spLocks noGrp="1"/>
            </p:cNvSpPr>
            <p:nvPr/>
          </p:nvSpPr>
          <p:spPr>
            <a:xfrm>
              <a:off x="535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4" name="anchor"/>
            <p:cNvSpPr>
              <a:spLocks noGrp="1"/>
            </p:cNvSpPr>
            <p:nvPr/>
          </p:nvSpPr>
          <p:spPr>
            <a:xfrm>
              <a:off x="808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5" name="tr-top"/>
            <p:cNvSpPr>
              <a:spLocks noGrp="1"/>
            </p:cNvSpPr>
            <p:nvPr/>
          </p:nvSpPr>
          <p:spPr>
            <a:xfrm>
              <a:off x="7311" y="12027"/>
              <a:ext cx="447" cy="225"/>
            </a:xfrm>
            <a:prstGeom prst="rect">
              <a:avLst/>
            </a:prstGeom>
            <a:solidFill>
              <a:srgbClr val="55A83C">
                <a:alpha val="53333"/>
              </a:srgbClr>
            </a:solidFill>
            <a:ln w="1333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6" name="tr-top"/>
            <p:cNvSpPr>
              <a:spLocks noGrp="1"/>
            </p:cNvSpPr>
            <p:nvPr/>
          </p:nvSpPr>
          <p:spPr>
            <a:xfrm>
              <a:off x="5814" y="12672"/>
              <a:ext cx="447" cy="225"/>
            </a:xfrm>
            <a:prstGeom prst="rect">
              <a:avLst/>
            </a:prstGeom>
            <a:solidFill>
              <a:srgbClr val="55A83C">
                <a:alpha val="53333"/>
              </a:srgbClr>
            </a:solidFill>
            <a:ln w="1333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7" name="tr-top"/>
            <p:cNvSpPr>
              <a:spLocks noGrp="1"/>
            </p:cNvSpPr>
            <p:nvPr/>
          </p:nvSpPr>
          <p:spPr>
            <a:xfrm>
              <a:off x="7299" y="12648"/>
              <a:ext cx="447" cy="225"/>
            </a:xfrm>
            <a:prstGeom prst="rect">
              <a:avLst/>
            </a:prstGeom>
            <a:solidFill>
              <a:srgbClr val="55A83C">
                <a:alpha val="53333"/>
              </a:srgbClr>
            </a:solidFill>
            <a:ln w="1333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218" name="直接箭头连接符 217"/>
            <p:cNvCxnSpPr/>
            <p:nvPr/>
          </p:nvCxnSpPr>
          <p:spPr>
            <a:xfrm flipH="1">
              <a:off x="6297" y="12140"/>
              <a:ext cx="246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箭头连接符 218"/>
            <p:cNvCxnSpPr/>
            <p:nvPr/>
          </p:nvCxnSpPr>
          <p:spPr>
            <a:xfrm flipH="1">
              <a:off x="6303" y="12773"/>
              <a:ext cx="246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/>
            <p:cNvCxnSpPr/>
            <p:nvPr/>
          </p:nvCxnSpPr>
          <p:spPr>
            <a:xfrm>
              <a:off x="7008" y="12143"/>
              <a:ext cx="246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箭头连接符 220"/>
            <p:cNvCxnSpPr/>
            <p:nvPr/>
          </p:nvCxnSpPr>
          <p:spPr>
            <a:xfrm>
              <a:off x="6990" y="12776"/>
              <a:ext cx="246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acher dots"/>
            <p:cNvSpPr>
              <a:spLocks noGrp="1"/>
            </p:cNvSpPr>
            <p:nvPr/>
          </p:nvSpPr>
          <p:spPr>
            <a:xfrm>
              <a:off x="6530" y="11856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3" name="teacher dots"/>
            <p:cNvSpPr>
              <a:spLocks noGrp="1"/>
            </p:cNvSpPr>
            <p:nvPr/>
          </p:nvSpPr>
          <p:spPr>
            <a:xfrm>
              <a:off x="6498" y="12480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24" name="组合 223"/>
          <p:cNvGrpSpPr/>
          <p:nvPr/>
        </p:nvGrpSpPr>
        <p:grpSpPr>
          <a:xfrm>
            <a:off x="2038350" y="5410200"/>
            <a:ext cx="1409700" cy="1295400"/>
            <a:chOff x="8430" y="11250"/>
            <a:chExt cx="2220" cy="2040"/>
          </a:xfrm>
        </p:grpSpPr>
        <p:sp>
          <p:nvSpPr>
            <p:cNvPr id="225" name="module-DRASP"/>
            <p:cNvSpPr>
              <a:spLocks noGrp="1"/>
            </p:cNvSpPr>
            <p:nvPr/>
          </p:nvSpPr>
          <p:spPr>
            <a:xfrm>
              <a:off x="8445" y="11250"/>
              <a:ext cx="2175" cy="2040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6" name="module-title-DRASP"/>
            <p:cNvSpPr>
              <a:spLocks noGrp="1"/>
            </p:cNvSpPr>
            <p:nvPr/>
          </p:nvSpPr>
          <p:spPr>
            <a:xfrm>
              <a:off x="8535" y="11400"/>
              <a:ext cx="199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DRASP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7" name="bar-0"/>
            <p:cNvSpPr>
              <a:spLocks noGrp="1"/>
            </p:cNvSpPr>
            <p:nvPr/>
          </p:nvSpPr>
          <p:spPr>
            <a:xfrm>
              <a:off x="8713" y="12822"/>
              <a:ext cx="135" cy="304"/>
            </a:xfrm>
            <a:prstGeom prst="rect">
              <a:avLst/>
            </a:prstGeom>
            <a:solidFill>
              <a:srgbClr val="A4D197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8" name="bar-1"/>
            <p:cNvSpPr>
              <a:spLocks noGrp="1"/>
            </p:cNvSpPr>
            <p:nvPr/>
          </p:nvSpPr>
          <p:spPr>
            <a:xfrm>
              <a:off x="8925" y="12591"/>
              <a:ext cx="135" cy="539"/>
            </a:xfrm>
            <a:prstGeom prst="rect">
              <a:avLst/>
            </a:prstGeom>
            <a:solidFill>
              <a:srgbClr val="A4D197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9" name="bar-2"/>
            <p:cNvSpPr>
              <a:spLocks noGrp="1"/>
            </p:cNvSpPr>
            <p:nvPr/>
          </p:nvSpPr>
          <p:spPr>
            <a:xfrm>
              <a:off x="9135" y="12299"/>
              <a:ext cx="135" cy="827"/>
            </a:xfrm>
            <a:prstGeom prst="rect">
              <a:avLst/>
            </a:prstGeom>
            <a:solidFill>
              <a:srgbClr val="A4D197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0" name="anchor"/>
            <p:cNvSpPr>
              <a:spLocks noGrp="1"/>
            </p:cNvSpPr>
            <p:nvPr/>
          </p:nvSpPr>
          <p:spPr>
            <a:xfrm>
              <a:off x="8430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1" name="anchor"/>
            <p:cNvSpPr>
              <a:spLocks noGrp="1"/>
            </p:cNvSpPr>
            <p:nvPr/>
          </p:nvSpPr>
          <p:spPr>
            <a:xfrm>
              <a:off x="10620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232" name="直接连接符 231"/>
            <p:cNvCxnSpPr/>
            <p:nvPr/>
          </p:nvCxnSpPr>
          <p:spPr>
            <a:xfrm>
              <a:off x="8576" y="13128"/>
              <a:ext cx="788" cy="0"/>
            </a:xfrm>
            <a:prstGeom prst="line">
              <a:avLst/>
            </a:prstGeom>
            <a:ln>
              <a:solidFill>
                <a:srgbClr val="A4D1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组合 232"/>
            <p:cNvGrpSpPr/>
            <p:nvPr/>
          </p:nvGrpSpPr>
          <p:grpSpPr>
            <a:xfrm>
              <a:off x="9394" y="13020"/>
              <a:ext cx="284" cy="28"/>
              <a:chOff x="5916930" y="8255000"/>
              <a:chExt cx="180340" cy="17780"/>
            </a:xfrm>
          </p:grpSpPr>
          <p:sp>
            <p:nvSpPr>
              <p:cNvPr id="238" name="椭圆 237"/>
              <p:cNvSpPr/>
              <p:nvPr/>
            </p:nvSpPr>
            <p:spPr>
              <a:xfrm>
                <a:off x="5916930" y="8255000"/>
                <a:ext cx="17780" cy="177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39" name="椭圆 238"/>
              <p:cNvSpPr/>
              <p:nvPr/>
            </p:nvSpPr>
            <p:spPr>
              <a:xfrm>
                <a:off x="6002655" y="8255000"/>
                <a:ext cx="17780" cy="177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40" name="椭圆 239"/>
              <p:cNvSpPr/>
              <p:nvPr/>
            </p:nvSpPr>
            <p:spPr>
              <a:xfrm>
                <a:off x="6079490" y="8255000"/>
                <a:ext cx="17780" cy="177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234" name="bar-0"/>
            <p:cNvSpPr>
              <a:spLocks noGrp="1"/>
            </p:cNvSpPr>
            <p:nvPr/>
          </p:nvSpPr>
          <p:spPr>
            <a:xfrm>
              <a:off x="9793" y="12690"/>
              <a:ext cx="135" cy="448"/>
            </a:xfrm>
            <a:prstGeom prst="rect">
              <a:avLst/>
            </a:prstGeom>
            <a:solidFill>
              <a:srgbClr val="A4D197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5" name="bar-1"/>
            <p:cNvSpPr>
              <a:spLocks noGrp="1"/>
            </p:cNvSpPr>
            <p:nvPr/>
          </p:nvSpPr>
          <p:spPr>
            <a:xfrm>
              <a:off x="10005" y="12912"/>
              <a:ext cx="135" cy="227"/>
            </a:xfrm>
            <a:prstGeom prst="rect">
              <a:avLst/>
            </a:prstGeom>
            <a:solidFill>
              <a:srgbClr val="A4D197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6" name="bar-2"/>
            <p:cNvSpPr>
              <a:spLocks noGrp="1"/>
            </p:cNvSpPr>
            <p:nvPr/>
          </p:nvSpPr>
          <p:spPr>
            <a:xfrm>
              <a:off x="10215" y="12567"/>
              <a:ext cx="135" cy="571"/>
            </a:xfrm>
            <a:prstGeom prst="rect">
              <a:avLst/>
            </a:prstGeom>
            <a:solidFill>
              <a:srgbClr val="A4D197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>
            <a:xfrm>
              <a:off x="9689" y="13140"/>
              <a:ext cx="788" cy="0"/>
            </a:xfrm>
            <a:prstGeom prst="line">
              <a:avLst/>
            </a:prstGeom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WPS 演示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Aptos</vt:lpstr>
      <vt:lpstr>Segoe UI</vt:lpstr>
      <vt:lpstr>Calibri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4</cp:revision>
  <dcterms:created xsi:type="dcterms:W3CDTF">2026-07-05T15:55:00Z</dcterms:created>
  <dcterms:modified xsi:type="dcterms:W3CDTF">2026-07-07T11:55:41Z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D24C0266D09E4ADEBF6D2AE282DFAA2C_12</vt:lpwstr>
  </property>
  <property fmtid="{D5CDD505-2E9C-101B-9397-08002B2CF9AE}" pid="3" name="KSOProductBuildVer">
    <vt:lpwstr>2052-12.1.0.23542</vt:lpwstr>
  </property>
</Properties>
</file>